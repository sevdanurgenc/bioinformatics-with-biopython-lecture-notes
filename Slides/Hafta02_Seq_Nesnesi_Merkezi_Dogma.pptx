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Geçen hafta Seq nesnesini yalnızca tanıttık; bu hafta onu bir veri yapısı olarak derinlemesine inceliyoruz.
Haftanın omurgası merkezi dogmanın ikinci ve üçüncü okları: transkripsiyon ve translasyon. Genetik kodu bir sözlük (dict) olarak ele alacağız.
Son saat sayısal büyüklüklere ayrıldı: GC oranı, erime sıcaklığı ve molekül ağırlığı. Bunlar 5. haftadaki primer tasarımının temelidir.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Hedefleri okuyun ve özellikle altı okuma çerçevesinin bir sonraki haftalarda gen bulma (ORF arama) için temel olduğunu söyleyin. Geçen haftanın kapanış sorusunu hatırlatın: tek baz değişimi proteini hangi olasılıkla değiştirmez? Bugün tam sayısını bulacağız.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Birinci saatin başı. Seq'in bir Python dizgisi gibi davrandığını ama değiştirilemez olduğunu vurgulayacağız. Öğrencilere sorun: str ile Seq arasında hangi farkı beklersiniz?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Vurgulu satır en sık yapılan hata: s[::-1] ters tamamlayıcı değildir. Tahtada ATGGCC için üç sonucu alt alta yazın: tamamlayıcı TACCGG, ters çevrilmiş CCGGTA, ters tamamlayıcı GGCCAT. Öğrencilere hangisinin biyolojik olarak anlamlı bir iplik olduğunu sorun: yalnızca ters tamamlayıcı 5'→3' yönünde gerçek karşı ipliktir.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 ile count_overlap farkını AA konumlarıyla gösterin: 11. konumdaki AA (ATTGTAA'daki) ve 23–25'teki AAA. AAA içinde iki örtüşen AA vardır; count bunlardan yalnızca birini sayar. Motif sayımında hangisini istediğimize göre seçim yapmalıyız.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Burada mutasyon konusuna bir ön izleme yapıyoruz: aynı kodonda üçüncü konum değişimi sessiz, ikinci konum değişimi anlamlı. Neden böyle olduğunu 4. bölümde tüm kodonları sayarak göstereceğiz. Öğrencilere 0 tabanlı indekslemeyi tekrar hatırlatın; hafta 3'te GenBank'ın 1 tabanlı koordinatlarıyla karşılaşacağız.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Merkezi dogmaya geri dönüyoruz; bu kez yöntemlerin arkasındaki biyolojiyi ve genetik kodun tablo yapısını inceleyeceğiz. Tahtaya 64 → 21 eşlemesini yazın.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Tahtada iki ipliği ve üstte mRNA'yı çizin: RNA polimeraz kalıp ipliği 3'→5' okur, üretilen mRNA kodlayan ipliğin T→U hâlidir (hafta 1'deki merkezi dogma şeması). Sık yapılan hata: kalıp ipliği doğrudan transcribe etmek. Bu kod hiçbir hata vermez ama biyolojik olarak yanlış sonuç üretir; bu tür sessiz hatalar biyoenformatikte en tehlikeli olanlardır. Geri transkripsiyonun biyolojik karşılığı ters transkriptaz enzimidir (retrovirüsler, RNA-seq kütüphane hazırlığı).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Tabloyu nasıl okuyacaklarını gösterin: satır bloğu 1. baz, sütun 2. baz, blok içindeki satır 3. baz. Birkaç kutuyu işaret edin: GCN kutusunun tamamı Ala, GGN tamamı Gly. Buna karşın CAN kutusu ikiye bölünmüş: His ve Gln. Öğrencilere sorun: hangi amino asitler 6 kodonla kodlanır ve neden bu amino asitler iki farklı kutuya yayılır?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Öğrencilere ilk 4 kodonu kendilerinin çevirmesini söyleyin, sonra tabloyla kontrol edin. Dur kodonundan sonra çevirinin sürmesi biyolojik değil, yalnızca hesaplama kolaylığıdır. İkinci ATG'nin kendi başına bir başlangıç olmadığını vurgulayın: başlangıç kodonu bağlamına (Kozak dizisi, Shine–Dalgarno) bağlıdır.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cds=True özellikle GenBank'tan aldığımız CDS özelliklerini doğrulamak için kullanışlı (hafta 3). Öğrencilere 39 bazlık dizide cds=True'nun neden hata verdiğini sorun: 8. kodonda iç dur kodonu var. Notebook'ta 24 bazlık geçerli CDS örneği çalışıyor.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akış, doğrulama (validation) fonksiyonu yazmanın iyi bir örneği: her koşul erken hata ile sonlanıyor. Başlangıç kodonu inceliğini vurgulayın: bakteriyel genlerin yaklaşık onda biri ATG dışındaki kodonlarla başlar; ribozom bunları yine de metiyonin (fMet) ile başlatır.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Farklar notebook'ta iki sözlüğün karşılaştırılmasıyla bulunuyor; bu küme farkı işlemi öğrenciler için iyi bir Python alıştırması. Genetik kodun evrensel olmadığını, ama çok az istisna içerdiğini vurgulayın. Pratik uyarı: insan mitokondri genomunu analiz ederken table=2 unutulursa COX1 gibi genler yanlış kısa çevrilir.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fonksiyonu tahtada birlikte yazın. Dur kodonlarının forward_table'da olmaması öğrencileri şaşırtır; KeyError almamak için get kullanıyoruz. Biopython aslında belirsiz (ambiguous) kodonları da çözebilir: örneğin GCN her durumda Ala'dır; bizim fonksiyonumuz bunun için X döndürür.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İkinci saatin ortası. Bilinmeyen bir DNA parçasında proteini hangi iplikte ve hangi kaydırmada arayacağımızı sistematik hale getiriyoruz.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Görseldeki pembe kutular +1 çerçevesinin kodonları. Ters çerçevelerin ters tamamlayıcı üzerinde, yani orijinal diziye göre sağdan sola okunduğunu vurgulayın.
Her çerçeve 3'ün katına kırpılır; gerçek gen genellikle uzun ve dur kodonsuz bir çerçevede (ORF) bulunur. Öğrencilere sorun: kaydırma 3 olsaydı ne olurdu? (+1 ile aynı çerçeve, bir kodon eksik.)
Bazı araçlar (ör. EMBOSS) −1 çerçevesini farklı tanımlar: dizinin sonundan hizalar. Biz notebook'taki tanımı kullanıyoruz: ters tamamlayıcının başından kaydırma.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Öğrencileri gruplara bölün, her grup bir çerçeveyi elle çevirsin. Kısa dizilerde birden fazla çerçeve dur kodonsuz olabilir; bu yüzden bir ORF'u tanımlamak için başlangıç kodonu ve yeterli uzunluk birlikte aranır. Dizi uzadıkça rastgele çerçevelerde dur kodonu çıkma olasılığı hızla artar; birkaç slayt sonra bunu hesaplayacağız.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Kırpma yapılmazsa Biopython 'Partial codon' uyarısı verir. Öğrencilere +3 ve −3 çerçevelerinin hiç dur kodonu içermediğini gösterin: kısa dizide bu şaşırtıcı değil. Bir sonraki slayt bunun olasılığını hesaplıyor.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Bu, gen bulmanın en basit istatistiksel temelidir. Geometrik dağılımın beklentisini (1−p)/p olarak hatırlatın. Simülasyonla teorinin küçük farkı örneklem değişkenliğinden kaynaklanıyor. Gerçek genomlarda AT'ce zengin bölgelerde dur kodonları (TAA, TGA, TAG hepsi A/T içerir) daha sık, GC'ce zengin bölgelerde daha seyrektir; öğrencilere bunu düşündürün.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Geçen haftanın kapanış sorusuna burada cevap vereceğiz. Önce mutasyon türlerini tanımlayıp sonra tüm kodonları sayacağız.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Çerçeve kayması örneğini notebook dışında hesapladık: ATGGCC'den sonra bir A eklenince ATG GCC AAT TGT AAT ... okunur ve dur kodonu ortadan kalkar. Öğrencilere sorun: 3 baz silinirse ne olur? Cevap: bir amino asit kaybolur ama çerçeve korunur (ör. kistik fibrozdaki ΔF508).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Tabloyu tahtada iki satır hâlinde yazın: ekleme noktasına kadar kodonların aynı kaldığını, sonrasında hepsinin değiştiğini gösterin. 7. kodondaki G (Gly → Gly) değişmemiş görünse de bu tesadüftür; kodon farklıdır (GGC → GGG).
Silme örneğinde protein bir amino asit kısalır ama geri kalanı aynı kalır. Kistik fibrozdaki ΔF508 mutasyonu tam olarak böyle bir 3 bazlık silmedir; Duchenne kas distrofisindeki silmelerin çoğu ise çerçeveyi kaydırır ve çok daha ağır tablo oluşturur.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Bu, 1. konumdaki %4'lük sinonim oranının nereden geldiğini açıklıyor: 6 kodonlu Leu ve Arg. Bir uç örnek olarak TGG (Trp) kodonunu sorun: 9 değişimin hiçbiri sinonim değil, ikisi (TAG, TGA) dur kodonu üretir. Tüm kodonlar için bu sayımı bir sonraki slaytta kodla yapıyoruz.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Geçen haftanın kapanış sorusunun cevabı: rastgele bir tek-baz değişimi yaklaşık yüzde 24 olasılıkla sessizdir (tüm kodonlar eşit sıklıkta varsayımıyla). 3. konumun %69 toleransı, genetik kodun hata tamponu olarak evrimleştiği hipotezini destekler. Bu sayılar dN/dS analizlerinin temelidir (seçilim baskısı ölçümü).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Grafik, önceki slayttaki sayımın ayrıntılı dağılımı. 2. konumun kimyasal önemi: kodonun ortadaki bazı amino asidin hidrofobik/hidrofilik karakterini büyük ölçüde belirler (ör. xTx kodonları hep hidrofobik). Tahtada tablo üzerinden ikinci sütunu (T) gösterin: F, L, I, M, V hepsi hidrofobik.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Üçüncü saat. Primer tasarımında kullanılan sayısal büyüklükleri önce elle, sonra Biopython ile hesaplayacağız. Hesap makinelerini hazır tutmalarını söyleyin.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doğru yöntem en yakın komşu (nearest-neighbor) modeli: ardışık baz çiftlerinin entalpi ve entropi değerlerini toplar. Formülünü vermiyoruz; Biopython'da Tm_NN hazır. MW formülü Biopython'un kullandığı yöntemle aynıdır; ders notundaki farklı yaklaşık formüllerin (anhidro kütleler) sonuçları birkaç yüz Da farklı çıkabilir.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Hesabı tahtada adım adım yapın; öğrencilerin hesap makinesiyle takip etmesini isteyin. GC formülündeki 16.4 sabitinin anlamı: çok kısa dizilerde Tm'yi aşağı çeken bir uç düzeltmesi. Pratik kural: PCR primerlerinin Tm'si 55–65 °C aralığında ve iki primer arasında en fazla 2–3 °C fark olmalı.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Grafik, GC oranı yüzde 50 olan rastgele primerlerin (her uzunlukta 200 örnek) ortalamalarını gösteriyor. 14 nt'de üç yöntem 4 °C içinde; 30 nt'de Wallace 90 °C tahmin ederken NN yaklaşık 62 °C veriyor. Öğrencilere sorun: Wallace'ı kullanarak primer seçsek hangi sorunu yaşarız? Cevap: bağlanma sıcaklığını çok yüksek seçer, PCR çalışmaz.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hesap oligo siparişlerinde konsantrasyon dönüşümü için kullanılır (ng/µl → µM). Pratik kısayol: ortalama bir nükleotit yaklaşık 330 Da, bir baz çifti yaklaşık 660 Da; 14 × 330 = 4620, gerçek değere yakın. Çift ipliği hesaplarken tamamlayıcıdaki baz sayılarının yer değiştirdiğine (A↔T, G↔C) dikkat çekin.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Biopython 1.80 sonrası GC() fonksiyonu kaldırıldı, gc_fraction kullanılıyor; eski internet örneklerinde GC() görürlerse bu yüzden hata alırlar. Tm_NN parametrelerini değiştirerek (Na=100, dnac1=250) Tm'nin nasıl değiştiğini canlı gösterebilirsiniz.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Pencere boyu seçimi bir önyargı-varyans dengesidir; bunu sinyal işlemedeki hareketli ortalama filtresiyle ilişkilendirin. İleri öğrenciler için: önek toplamı (prefix sum) dizisi bir kez hesaplanırsa her pencerenin GC sayısı O(1)'de bulunur.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Sentetik dizinin ağırlıklarından beklenen GC oranlarını öğrencilere hesaplatın: kenarlar (2+2)/10, orta (4+4)/10. Grafikte gözlenen değerlerin bu seviyeler etrafında dalgalandığını gösterin. Hafta 3'te gerçek bir GenBank kaydında aynı profili çizebilirler.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hataların hepsi hata mesajı üretmeden yanlış sonuç verir (uyarı veren yalnızca artık bazlar). Öğrencilere hangisini daha önce yaptıklarını sorun. Bu slayt sınav öncesi tekrar için de iyi bir kontrol listesi.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soruyu önce öğrencilere 10 dakika çözdürün. En sık hata ters çerçeveleri ters tamamlayıcı yerine yalnızca ters çevrilmiş diziden okumak. Dikkatli öğrenciler CATG'nin kendi ters tamamlayıcısı olduğunu fark eder; bu yüzden her iki iplikte de ATG görünüyor (NlaIII kesim yeri).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 sorunun cevabı: TGG için 2 (TAG, TGA), ATG için 0. Dur kodonu sayılarının 12 ile 19 arasında dağılması Poisson değişkenliğiyle uyumlu (σ ≈ 3.9). Çözümler notebook'un sonunda.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Kapanışta öğrencilere şunu sorun: Elimizde yalnızca dizi var; genin nerede başladığını, hangi iplikte olduğunu ve adını nereden öğreniriz? Cevap: açıklamalı (annotated) kayıtlardan, yani GenBank dosyalarından. Gelecek haftanın konusu bu.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143000" cy="1143000"/>
          </a:xfrm>
          <a:prstGeom prst="roundRect">
            <a:avLst>
              <a:gd name="adj" fmla="val 9600"/>
            </a:avLst>
          </a:prstGeom>
          <a:solidFill>
            <a:srgbClr val="B71C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1887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</a:t>
            </a:r>
            <a:endParaRPr lang="en-US" sz="12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Nesnesi, Merkezi Dogma ve Genetik Kod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DNA'dan proteine: dizgi işlemleri, altı okuma çerçevesi, mutasyonlar ve primer büyüklükleri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Python ve Biopython ile uygulamalı ders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Colab: hafta02_seq_nesnesi_merkezi_dogma.ipynb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hedefleri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4983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MutableSeq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nesnelerini kullanmak;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değiştirilemezlik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kavramını anlamak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Kodlayan / kalıp iplik ayrımıyla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transkripsiyonu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doğru uygulamak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Genetik kodu tablo olarak okumak;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translate()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parametrelerini ve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 kodları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tanımak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 okuma çerçevesini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elle ve kodla çıkarmak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Sinonim, anlamlı, anlamsız ve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çerçeve kayması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mutasyonlarını ayırt etmek</a:t>
            </a:r>
            <a:endParaRPr lang="en-US" sz="18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oranı,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(Wallace, GC, en yakın komşu) ve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molekül ağırlığını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hesaplamak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1234440"/>
            <a:ext cx="5242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Ders akışı (3 saat)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242255" cy="914400"/>
        </p:xfrm>
        <a:graphic>
          <a:graphicData uri="http://schemas.openxmlformats.org/drawingml/2006/table">
            <a:tbl>
              <a:tblPr/>
              <a:tblGrid>
                <a:gridCol w="1048451"/>
                <a:gridCol w="419380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İçerik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 yöntemleri; kodlayan/kalıp iplik; genetik kod tablosu; elle çeviri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translate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parametreleri, kendi çeviri fonksiyonumuz, alternatif kodlar, altı çerçeve, mutasyonlar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GC, Tm, MW, kayan pencere; notebook bölüm 5–7 ve alıştırmalar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nesnesi derinlemesine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dizgisi gibi davranan, biyolojik yöntemlerle donatılmış değiştirilemez bir dizi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yöntemleri: tek bakışta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dizi: </a:t>
            </a:r>
            <a:r>
              <a:rPr lang="en-US" sz="14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Seq("ATGGCC")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4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arayüzünü (dilim, </a:t>
            </a:r>
            <a:r>
              <a:rPr lang="en-US" sz="14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korur ve üstüne biyolojik yöntemler ekler.</a:t>
            </a:r>
            <a:endParaRPr lang="en-US" sz="14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3349257"/>
                <a:gridCol w="4605229"/>
                <a:gridCol w="313992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 / işlem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Anlamı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Sonuç (</a:t>
                      </a:r>
                      <a:r>
                        <a:rPr lang="en-US" sz="1600" b="1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ATGGCC</a:t>
                      </a: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s.complement()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Tamamlayıcı (yön </a:t>
                      </a: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değişmez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TACCGG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s.reverse_complement()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Ters tamamlayıcı (5'→3' karşı iplik)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GGCCAT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s[::-1]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Yalnızca ters çevirme — tamamlama </a:t>
                      </a: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CCGGTA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s.transcribe()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→ U (kodlayan iplikten mRNA)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AUGGCC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s.translate()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Kodon → amino asit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s.count("G")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s.find("GC")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Sayım, ilk konum (0 tabanlı)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s.count_overlap("AA")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Örtüşmeli sayım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AAAA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için 3 (count: 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str(s)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Düz Python dizgisine dönüşüm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'ATGGCC'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9379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5193792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nesneleri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doğrudan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karşılaştırılabilir: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Seq("ATG") == "ATG"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Ama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bir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sözlük anahtarı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olarak kullanılırken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str(s)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dönüştürmek daha güvenlidir.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ile dizgi işlemleri (notebook bölüm 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07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36592"/>
            <a:ext cx="6656649" cy="1527048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4809744"/>
            <a:ext cx="6437193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Uzunluk      : 39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Dilim [3:12] : GCCATTGTA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 3. baz   : AGAGAGCTAGGCT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'ATG' sayısı : 2 | ilk konum: 0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Örtüşmeli 'AA': 3 | örtüşmesiz: 2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Birleştirme  : ATGGCCNNNNCGATAG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656649" cy="3227832"/>
          </a:xfrm>
          <a:prstGeom prst="roundRect">
            <a:avLst>
              <a:gd name="adj" fmla="val 2266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6437193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Bio.Seq import Seq, MutableSeq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 = Seq("ATGGCCATTGTAATGGGCCGCTGAAAGGGTGCCCGATAG")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print("Uzunluk      :", len(gen))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print("Dilim [3:12] :", gen[3:12])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print("Her 3. baz   :", gen[::3])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print("'ATG' sayısı :", gen.count("ATG"),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"| ilk konum:", gen.find("ATG"))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print("Örtüşmeli 'AA':", gen.count_overlap("AA"),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"| örtüşmesiz:", gen.count("AA"))</a:t>
            </a:r>
            <a:endParaRPr lang="en-US" sz="14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print("Birleştirme  :", gen[:6] + Seq("NNNN") + gen[-6:])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525329" y="1234440"/>
            <a:ext cx="411772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baz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kodon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dersin boyunca bu diziyi kullanacağız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gen[3:12]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3, 4, …, 11. indeksler (bitiş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dahil değil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gen[::3]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her kodonun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ilk bazı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konumları: 11, 23, 24 → 23–24 örtüşüyor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soldan tarar, bulduğunun sonrasından devam eder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Değiştirilemezlik: Seq ve MutableSeq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64328" cy="5029200"/>
          </a:xfrm>
          <a:prstGeom prst="roundRect">
            <a:avLst>
              <a:gd name="adj" fmla="val 145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44168"/>
            <a:ext cx="499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238"/>
                </a:solidFill>
              </a:rPr>
              <a:t>Neden değiştirilemez?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5090008" cy="42976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tıpkı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gibi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gen[5] = "T"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Değiştirilemez nesneler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sözlük anahtarı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olabilir ve güvenle paylaşılır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Nokta mutasyonu için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MutableSeq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kullanılır; iş bitince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Seq(m)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geri dönülür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Alternatif: dilimle yeni nesne üret: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gen[:5] + "T" + gen[6:]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dizilerde çok sayıda değişiklik →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MutableSeq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(yerinde) daha verimli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Dikkat: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indeks 5 = 6. baz (0 tabanlı) → 2. kodonun (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konumu; indeks 4 aynı kodonun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konumu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78728" y="1234440"/>
            <a:ext cx="5364328" cy="5029200"/>
          </a:xfrm>
          <a:prstGeom prst="roundRect">
            <a:avLst>
              <a:gd name="adj" fmla="val 145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61608" y="1344168"/>
            <a:ext cx="499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238"/>
                </a:solidFill>
              </a:rPr>
              <a:t>Notebook: iki mutasyon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61608" y="1828800"/>
            <a:ext cx="4998568" cy="4297680"/>
          </a:xfrm>
          <a:prstGeom prst="roundRect">
            <a:avLst>
              <a:gd name="adj" fmla="val 1702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71336" y="1901952"/>
            <a:ext cx="4779112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MutableSeq(str(gen))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m[5] = "T"   # GCC -&gt; GCT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print(m[:12])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ATGGCTATTGTA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print(Seq(m).translate())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MAIVMGR*KGAR*   (sessiz)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m[4] = "A"   # GCT -&gt; GAT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print(Seq(m).translate())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MDIVMGR*KGAR*   (Ala -&gt; Asp)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 dogma ve genetik kod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Transkripsiyon: T → U;  translasyon: kodon → amino asit (64 → 21 eşleme)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Kodlayan ve kalıp iplikten mRNA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937760"/>
            <a:ext cx="6656649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5010912"/>
            <a:ext cx="6437193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Kodlayan iplik : ATGGCCATTGTAATGGGCCGCTGA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Kalıp (5'-&gt;3') : TCAGCGGCCCATTACAATGGCCAT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mRNA           : AUGGCCAUUGUAAUGGGCCGCUGA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Kalıptan mRNA  : AUGGCCAUUGUAAUGGGCCGCUGA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Geri transkr.  : ATGGCCATTGTAATGGGCCGCTGA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656649" cy="3429000"/>
          </a:xfrm>
          <a:prstGeom prst="roundRect">
            <a:avLst>
              <a:gd name="adj" fmla="val 2133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6437193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kodlayan = Seq("ATGGCCATTGTAATGGGCCGCTGA")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kalip = kodlayan.reverse_complement()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print("Kodlayan iplik :", kodlayan)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print("Kalıp (5'-&gt;3') :", kalip)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mrna = kodlayan.transcribe()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print("mRNA           :", mrna)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print("Kalıptan mRNA  :",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kalip.reverse_complement().transcribe())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print("Geri transkr.  :", mrna.back_transcribe())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525329" y="1234440"/>
            <a:ext cx="411772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Kalıptan doğru mRNA: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 tamamla → T→U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kalip.transcribe()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yanlış olurdu: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UCAGCG…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(anlamsız)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back_transcribe()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→ T (cDNA'nın dizisi)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Hepsi O(N) işlemler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genetik kod (NCBI tablo 1)</a:t>
            </a:r>
            <a:endParaRPr lang="en-US" sz="3000" dirty="0"/>
          </a:p>
        </p:txBody>
      </p:sp>
      <p:pic>
        <p:nvPicPr>
          <p:cNvPr id="3" name="Image 0" descr="p02_genetik_k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0263"/>
            <a:ext cx="6656649" cy="485755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525329" y="1234440"/>
            <a:ext cx="411772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4³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kodon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20 amino asit + dur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anlamlı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dur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kodonu: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TGA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Başlangıç: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(Met); bakterilerde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TTG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CTG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Dejenerasyon: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Leu, Ser, Arg → 6 kodon; Met, Trp → 1 kodon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Dejenerasyon çoğunlukla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bazda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aynı kutudaki 4 kodon çoğu zaman aynı amino asit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Python'da: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CodonTable.unambiguous_dna_by_id[1].forward_table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(dict)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çeviri: 39 bazlık gen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ATGGCCATTGTAATGGGCCGCTGAAAGGGTGCCCGATAG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dizisini kodonlara bölüp standart kodla çevirin.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translate()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to_stop=True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 verir?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610192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Uzunluk 39 → 39 / 3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kodon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artık baz yok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Çerçeve +1: 0. indeksten başla, üçer üçer böl (tablo)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kodonu genetik kod tablosunda ara: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→M,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→A, …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kodon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TGA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13. kodon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çeviri: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MAIVMGR*KGAR*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to_stop=True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ilk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'da kes →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MAIVMGR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(7 aa)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70608" y="2779776"/>
          <a:ext cx="4672447" cy="914400"/>
        </p:xfrm>
        <a:graphic>
          <a:graphicData uri="http://schemas.openxmlformats.org/drawingml/2006/table">
            <a:tbl>
              <a:tblPr/>
              <a:tblGrid>
                <a:gridCol w="638479"/>
                <a:gridCol w="1059264"/>
                <a:gridCol w="638479"/>
                <a:gridCol w="638479"/>
                <a:gridCol w="1059264"/>
                <a:gridCol w="63847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4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4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TGA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4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GCC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4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4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4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GGT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4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4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GCC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4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4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CGA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4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GGC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4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4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CGC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MAIVMGR*KGAR*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(13 sembol); biyolojik protein ilk dur kodonunda biter →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MAIVMGR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5. kodondaki ikinci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iç metiyonindir.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translate() parametreleri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dizi: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ATGGCCATTGTAATGGGCCGCTGAAAGGGTGCCCGATAG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4910643"/>
                <a:gridCol w="3637513"/>
                <a:gridCol w="254625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Çağrı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Etkisi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Sonuç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translate()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kodonları çevirir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MAIVMGR*KGAR*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translate(to_stop=True)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İlk dur kodonunda durur (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eklenmez)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MAIVMGR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translate(stop_symbol="@")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 sembolünü değiştirir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MAIVMGR@KGAR@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translate(table=2)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Omurgalı mitokondriyal kod (TGA → W)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MAIVMGRWKGAR*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translate(cds=True)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 gen denetimi; hatalıysa istisna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TranslationError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iç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TGA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kodlayan.translate(cds=True)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nt geçerli CDS: son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atılır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MAIVMGR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Seq("ATGGCCATTG").translate(cds=True)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baz, 3'ün katı değil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TranslationError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cds=True: Biopython hangi denetimleri yapar?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889699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417320"/>
            <a:ext cx="17433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Uzunluk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3'ün katı mı?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484059" y="2331720"/>
            <a:ext cx="3200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849819" y="1417320"/>
            <a:ext cx="1889699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22971" y="1417320"/>
            <a:ext cx="17433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kodon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tablonun başlangıç kodonu mu? (tablo 1: ATG, TTG, CTG)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85238" y="2331720"/>
            <a:ext cx="3200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150998" y="1417320"/>
            <a:ext cx="1889699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24150" y="1417320"/>
            <a:ext cx="17433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kodon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 kodonu mu?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86417" y="2331720"/>
            <a:ext cx="3200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52177" y="1417320"/>
            <a:ext cx="1889699" cy="1828800"/>
          </a:xfrm>
          <a:prstGeom prst="roundRect">
            <a:avLst>
              <a:gd name="adj" fmla="val 4000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25329" y="1417320"/>
            <a:ext cx="17433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kodonlar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hiçbiri dur olmamalı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387596" y="2331720"/>
            <a:ext cx="3200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753356" y="1417320"/>
            <a:ext cx="1889699" cy="1828800"/>
          </a:xfrm>
          <a:prstGeom prst="roundRect">
            <a:avLst>
              <a:gd name="adj" fmla="val 4000"/>
            </a:avLst>
          </a:prstGeom>
          <a:solidFill>
            <a:srgbClr val="FDECEA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26508" y="1417320"/>
            <a:ext cx="17433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Çevir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başlangıç her zaman M; son * atılır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94760"/>
            <a:ext cx="11094415" cy="24688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Herhangi bir denetim başarısız olursa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TranslationError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fırlatılır → hatalı açıklamayı (annotation) erken yakalarız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 başlangıç kodonu (ör.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TTG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cds=True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olarak çevrilir; normal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translate()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Mitokondriyal genler için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table=2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birlikte kullanılmalı; yoksa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 kodonları tanınmaz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Seq("TTGGCCTAA")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translate()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LA*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translate(cds=True)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 genetik kodlar: standart ve mitokondriyal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CodonTable.unambiguous_dna_by_id[n]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tablolarının karşılaştırılması: yalnızca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olan kodonlar gösteriliyor.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775106"/>
                <a:gridCol w="1242575"/>
                <a:gridCol w="1597596"/>
                <a:gridCol w="1420085"/>
                <a:gridCol w="2130128"/>
                <a:gridCol w="1686351"/>
                <a:gridCol w="124257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Standart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Omurgalı mito.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Maya mito.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Küf mito. / Mikoplazma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Omurgasız mito.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Bakteri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AGA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 (dur)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CTN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(4 kodon)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TGA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 (dur)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 (dur)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Başlangıç sayısı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20768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4620768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ATGTGGTGA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standart kodla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MW*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mitokondriyal kodla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MWW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Mitokondriyal bir geni tablo 1 ile çevirirsek protein ilk </a:t>
            </a:r>
            <a:r>
              <a:rPr lang="en-US" sz="15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TGA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'da </a:t>
            </a:r>
            <a:r>
              <a:rPr lang="en-US" sz="15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 biter</a:t>
            </a:r>
            <a:r>
              <a:rPr lang="en-US" sz="15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NCBI'da 30'dan fazla kod tablosu vardır (bakteriyel = 11, maya mito. = 3 …).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Algoritmayı anlamak: kendi çeviri fonksiyonumuz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126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541264"/>
            <a:ext cx="6656649" cy="722376"/>
          </a:xfrm>
          <a:prstGeom prst="roundRect">
            <a:avLst>
              <a:gd name="adj" fmla="val 10127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5614416"/>
            <a:ext cx="6437193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MAIVMGR*KGAR*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Biopython ile aynı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656649" cy="4032504"/>
          </a:xfrm>
          <a:prstGeom prst="roundRect">
            <a:avLst>
              <a:gd name="adj" fmla="val 1814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6437193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Bio.Data import CodonTable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standart = CodonTable.unambiguous_dna_by_id[1]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cevir(dizi, tablo=standart):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protein = []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range(0, len(dizi) - len(dizi) % 3, 3):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kodon = str(dizi[i:i+3])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kodon in tablo.stop_codons: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protein.append("*")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aa = tablo.forward_table.get(kodon, "X")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protein.append(aa)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"".join(protein)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dizi = Seq("ATGGCCATTGTAATGGGCCGCTGAAAGGGTGCCCGATAG")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print(cevir(dizi))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cevir(dizi) == str(dizi.translate())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print("Biopython ile aynı")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525329" y="1234440"/>
            <a:ext cx="411772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 - len % 3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artık bazları at (3'ün katına kırp)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forward_table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61 anlamlı kodon → aa sözlüğü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 kodonları sözlükte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ayrı listede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get(kodon, "X")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içeren kodon →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(bilinmeyen)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Karmaşıklık: N/3 sözlük araması →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 okuma çerçevesi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iplikte, hangi kaydırmada protein kodlandığını bilmiyorsak: 3 ileri + 3 ters çerçeve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 okuma çerçevesi</a:t>
            </a:r>
            <a:endParaRPr lang="en-US" sz="3000" dirty="0"/>
          </a:p>
        </p:txBody>
      </p:sp>
      <p:pic>
        <p:nvPicPr>
          <p:cNvPr id="3" name="Image 0" descr="f02_alti_cerce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8645"/>
            <a:ext cx="11094415" cy="376930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501107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46E7A"/>
                </a:solidFill>
              </a:rPr>
              <a:t>+1, +2, +3: verilen iplikte 0, 1, 2 baz kaydırma  ·  −1, −2, −3: ters tamamlayıcı üzerinde 0, 1, 2 kaydırma  ·  kaydırma ≥ 3 yeni çerçeve üretmez (mod 3)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 çerçeveyi elle çıkarma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bazlık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ATGGCCATTGTAATGGGCCGCTGA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dizisinin altı okuma çerçevesindeki kodonları ve çevirileri bulun. Hangisi dur kodonsuz en uzun okumayı verir?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554720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 tamamlayıcı: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TCAGCGGCCCATTACAATGGCCAT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+1: 24 baz → 8 kodon; +2, +3: 23, 22 baz →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kodon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(artık kırpılır)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−1: ters tamamlayıcının 0. indeksinden →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TCA GCG GCC …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SAAHYNGH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+2'de 4. kodon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TAA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dur; +1'de dur yalnızca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+3, −1, −2, −3 de dur kodonsuz, ama hiçbiri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başlamaz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(−2'deki </a:t>
            </a:r>
            <a:r>
              <a:rPr lang="en-US" sz="16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dizinin içinde)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5888" y="2779776"/>
          <a:ext cx="5227168" cy="914400"/>
        </p:xfrm>
        <a:graphic>
          <a:graphicData uri="http://schemas.openxmlformats.org/drawingml/2006/table">
            <a:tbl>
              <a:tblPr/>
              <a:tblGrid>
                <a:gridCol w="1306792"/>
                <a:gridCol w="2426899"/>
                <a:gridCol w="149347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Çerçeve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İlk kodonlar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ATG GCC ATT 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MAIVMGR*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TGG CCA TTG 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WPL*WAA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GGC CAT TGT 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GHCNGPL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TCA GCG GCC 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SAAHYNGH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CAG CGG CCC 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QRPITMA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AGC GGC CCA 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SGPLQWP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çerçevesi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başlayıp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sonda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 kodonuyla biter → gerçek gen adayı (ORF):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MAIVMGR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 çerçeve fonksiyonu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07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36592"/>
            <a:ext cx="6656649" cy="1527048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4809744"/>
            <a:ext cx="6437193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+1: MAIVMGR*KGAR*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+2: WPL*WAAERVPD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+3: GHCNGPLKGCPI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-1: LSGTLSAAHYNGH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-2: YRAPFQRPITMA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-3: IGHPFSGPLQWP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656649" cy="3227832"/>
          </a:xfrm>
          <a:prstGeom prst="roundRect">
            <a:avLst>
              <a:gd name="adj" fmla="val 2266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6437193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alti_cerceve(dizi):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sonuc = {}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iplik, d in [("+", dizi),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("-", dizi.reverse_complement())]: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kaydirma in range(3):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parca = d[kaydirma:]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parca = parca[: len(parca) - len(parca) % 3]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sonuc[f"{iplik}{kaydirma+1}"] = parca.translate()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sonuc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dizi = Seq("ATGGCCATTGTAATGGGCCGCTGAAAGGGTGCCCGATAG")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cerceve, prot in alti_cerceve(dizi).items():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print(f"{cerceve}: {prot}")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525329" y="1234440"/>
            <a:ext cx="411772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3'ün katına kırpma Biopython'un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uyarısını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önler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Sözlük anahtarları: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 … -3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dışında hiçbir çerçevede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başlayan uzun bir okuma yok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ORF bulucu: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'den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kadar olan parçaları ara (hafta 5)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DNA'da dur kodonları ve ORF uzunluğu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(yeni) — neden uzun ORF bir gen işaretidir?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i.i.d. rastgele DNA'da bir kodonun dur olma olasılığı nedir? İki dur kodonu arasında ortalama kaç kodon vardır? ≥ 100 kodonluk dur kodonsuz okuma olasılığı nedir?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5214375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p(dur) = 3/64 =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0.0469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 kodonuna kadarki anlamlı kodon sayısı ~ geometrik: E = (1 − p)/p = 61/3 ≈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20.3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P(100 kodon art arda dur değil) = (61/64)¹⁰⁰ ≈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0.0082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 baz = 333 kodon → çerçeve başına beklenen dur: 333 × 3/64 ≈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Simülasyon (300 kbp): ortalama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20.7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≥ 100 oranı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0.0091</a:t>
            </a:r>
            <a:endParaRPr lang="en-US" sz="1600" dirty="0"/>
          </a:p>
        </p:txBody>
      </p:sp>
      <p:pic>
        <p:nvPicPr>
          <p:cNvPr id="7" name="Image 0" descr="p02_orf_uzunlu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230" y="2779776"/>
            <a:ext cx="5505651" cy="2615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DNA'da okumalar ~20 kodonda kesilir;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bazlık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 kodonsuz çerçeve şans eseri nadirdir (&lt; %1) → gen adayı.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Mutasyonların etkisi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baz değişimi proteini ne kadar değiştirir? Genetik kodun dejenerasyonu bir tampon işlevi görür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Mutasyon türleri: 39 bazlık gen üzerinde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10048" cy="1920240"/>
          </a:xfrm>
          <a:prstGeom prst="roundRect">
            <a:avLst>
              <a:gd name="adj" fmla="val 3810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44168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</a:rPr>
              <a:t>Sinonim (sessiz)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01368"/>
            <a:ext cx="5227168" cy="126187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→ GCT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(6. baz)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 → Ala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MAIVMGR*…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değişmez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Çoğunlukla 3. konum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33008" y="1234440"/>
            <a:ext cx="5410048" cy="1920240"/>
          </a:xfrm>
          <a:prstGeom prst="roundRect">
            <a:avLst>
              <a:gd name="adj" fmla="val 3810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15888" y="1344168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238"/>
                </a:solidFill>
              </a:rPr>
              <a:t>Anlamlı (missense)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324448" y="1801368"/>
            <a:ext cx="5227168" cy="126187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GCT → GAT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(5. baz)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 → Asp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MDIVMGR*…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Etkisi aa benzerliğine bağlı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5410048" cy="1920240"/>
          </a:xfrm>
          <a:prstGeom prst="roundRect">
            <a:avLst>
              <a:gd name="adj" fmla="val 3810"/>
            </a:avLst>
          </a:prstGeom>
          <a:solidFill>
            <a:srgbClr val="FDECE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538728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</a:rPr>
              <a:t>Anlamsız (nonsense)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995928"/>
            <a:ext cx="5227168" cy="126187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GTA → TAA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(10–11. baz)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→ dur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MAI*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protein kesilir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Genellikle ciddi etki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33008" y="3429000"/>
            <a:ext cx="5410048" cy="1920240"/>
          </a:xfrm>
          <a:prstGeom prst="roundRect">
            <a:avLst>
              <a:gd name="adj" fmla="val 3810"/>
            </a:avLst>
          </a:prstGeom>
          <a:solidFill>
            <a:srgbClr val="FDECE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5888" y="3538728"/>
            <a:ext cx="504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</a:rPr>
              <a:t>Çerçeve kayması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324448" y="3995928"/>
            <a:ext cx="5227168" cy="126187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bazdan sonra 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eklenmesi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MANCNGPLKGCPI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kodonlar değişir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Ekleme/silme 3'ün katı değilse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44068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544068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Nokta mutasyonları (ilk üç) yalnızca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kodonu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etkiler; ekleme/silme (indel) 3'ün katı değilse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okuma çerçevesini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kaydırır.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Çerçeve kayması adım adım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bazlık gende 6. bazdan sonra bir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eklenirse (ekleme) ve 4–6. bazlar (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silinirse (3 bazlık silme) protein nasıl değişir?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5103431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Orijinal: 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 GCC ATT GTA ATG GGC CGC TGA …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MAIVMGR*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Ekleme: 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ATGGCC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ATTGTA…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40 baz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Yeniden üçer böl: 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 GCC AAT TGT AAT GGG CCG CTG …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kodondan itibaren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kodon değişir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TGA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 kodonu kaybolur → 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MANCNGPLKGCPI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(13 aa, 1 artık baz)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bazlık silme: 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 ATT GTA ATG …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5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MIVMGR*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yalnızca </a:t>
            </a: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 kaybolur</a:t>
            </a: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çerçeve korunur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72111" y="2779776"/>
          <a:ext cx="5670944" cy="914400"/>
        </p:xfrm>
        <a:graphic>
          <a:graphicData uri="http://schemas.openxmlformats.org/drawingml/2006/table">
            <a:tbl>
              <a:tblPr/>
              <a:tblGrid>
                <a:gridCol w="1088363"/>
                <a:gridCol w="572823"/>
                <a:gridCol w="572823"/>
                <a:gridCol w="572823"/>
                <a:gridCol w="572823"/>
                <a:gridCol w="572823"/>
                <a:gridCol w="572823"/>
                <a:gridCol w="572823"/>
                <a:gridCol w="57282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Kodon #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Orijinal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GGC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+A sonrası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TGT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GGG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3'ün katı olmayan indel → okuma çerçevesi kayar, sonraki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kodonlar değişir; 3'ün katı indel → yalnızca amino asit eklenir/silinir (ör. ΔF508).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kodonun sinonim değişim oranı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795528"/>
          </a:xfrm>
          <a:prstGeom prst="roundRect">
            <a:avLst>
              <a:gd name="adj" fmla="val 9195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(Ala) ve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(Leu) kodonlarının 9 olası tek-baz değişiminden kaçı sinonimdir? Konumlara göre ayırın.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87168"/>
            <a:ext cx="5547208" cy="290779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konumda 3 alternatif baz → 3 × 3 = </a:t>
            </a:r>
            <a:r>
              <a:rPr lang="en-US" sz="17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mutant</a:t>
            </a:r>
            <a:endParaRPr lang="en-US" sz="17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</a:t>
            </a: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3. konum: </a:t>
            </a:r>
            <a:r>
              <a:rPr lang="en-US" sz="17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GCA</a:t>
            </a: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GCG</a:t>
            </a: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GCT</a:t>
            </a: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hepsi Ala → </a:t>
            </a:r>
            <a:r>
              <a:rPr lang="en-US" sz="17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17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</a:t>
            </a: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1. ve 2. konum: T, P, S / D, G, V → </a:t>
            </a:r>
            <a:r>
              <a:rPr lang="en-US" sz="17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0/6</a:t>
            </a:r>
            <a:endParaRPr lang="en-US" sz="17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CTA</a:t>
            </a: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3. konum: </a:t>
            </a:r>
            <a:r>
              <a:rPr lang="en-US" sz="17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CTC</a:t>
            </a: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CTG</a:t>
            </a: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CTT</a:t>
            </a: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hepsi Leu → </a:t>
            </a:r>
            <a:r>
              <a:rPr lang="en-US" sz="17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17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CTA</a:t>
            </a: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1. konum: </a:t>
            </a:r>
            <a:r>
              <a:rPr lang="en-US" sz="17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TTA</a:t>
            </a: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7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Leu!</a:t>
            </a: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(ATA → I, GTA → V) → </a:t>
            </a:r>
            <a:r>
              <a:rPr lang="en-US" sz="17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</a:t>
            </a:r>
            <a:endParaRPr lang="en-US" sz="17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Oranlar: GCC </a:t>
            </a:r>
            <a:r>
              <a:rPr lang="en-US" sz="17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3/9 = 0.33</a:t>
            </a: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CTA </a:t>
            </a:r>
            <a:r>
              <a:rPr lang="en-US" sz="17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4/9 = 0.44</a:t>
            </a:r>
            <a:endParaRPr lang="en-US" sz="17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5888" y="2487168"/>
          <a:ext cx="5227168" cy="914400"/>
        </p:xfrm>
        <a:graphic>
          <a:graphicData uri="http://schemas.openxmlformats.org/drawingml/2006/table">
            <a:tbl>
              <a:tblPr/>
              <a:tblGrid>
                <a:gridCol w="813115"/>
                <a:gridCol w="2207026"/>
                <a:gridCol w="220702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b="1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GCC</a:t>
                      </a: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(Ala)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b="1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CTA</a:t>
                      </a: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(Leu)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 T, CCC P, TCC 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 I, GTA V, </a:t>
                      </a: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TTA 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GAC D, GGC G, GTC 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CAA Q, CCA P, CGA 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GCA A, GCG A, GCT 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CTC L, CTG L, CTT 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Sinonim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Leu'nun 6 kodonu iki kutuya yayıldığı için (</a:t>
            </a:r>
            <a:r>
              <a:rPr lang="en-US" sz="17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CTN</a:t>
            </a: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17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TTA/TTG</a:t>
            </a:r>
            <a:r>
              <a:rPr lang="en-US" sz="17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1. konumda da sinonim değişim mümkündür.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kodonlar için sinonim oranı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114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340096"/>
            <a:ext cx="6656649" cy="923544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5413248"/>
            <a:ext cx="643719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Kodonun 1. bazı: sinonim oranı = 0.04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Kodonun 2. bazı: sinonim oranı = 0.00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Kodonun 3. bazı: sinonim oranı = 0.69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656649" cy="3831336"/>
          </a:xfrm>
          <a:prstGeom prst="roundRect">
            <a:avLst>
              <a:gd name="adj" fmla="val 1909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6437193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collections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sayac, toplam = collections.Counter(), collections.Counter()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kodon, aa in standart.forward_table.items():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konum in range(3):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yeni in "ACGT":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yeni == kodon[konum]: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continue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mutant = kodon[:konum] + yeni + kodon[konum+1:]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aa2 = standart.forward_table.get(mutant, "*")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toplam[konum] += 1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aa2 == aa: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sayac[konum] += 1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range(3):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print(f"Kodonun {k+1}. bazı: sinonim oranı = "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f"{sayac[k]/toplam[k]:.2f}")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525329" y="1234440"/>
            <a:ext cx="411772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kodon × 3 konum × 3 baz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549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mutasyon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 başına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mutasyon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Sinonim sayıları: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8, 0, 126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8/183, 0/183, 126/183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Toplamda 134/549 ≈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sinonim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 kodonundan başlayan mutasyonlar dahil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Konuma göre mutasyon sonuçları</a:t>
            </a:r>
            <a:endParaRPr lang="en-US" sz="3000" dirty="0"/>
          </a:p>
        </p:txBody>
      </p:sp>
      <p:pic>
        <p:nvPicPr>
          <p:cNvPr id="3" name="Image 0" descr="p02_mutasyon_kon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62689"/>
            <a:ext cx="7100426" cy="337270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969106" y="1234440"/>
            <a:ext cx="3673949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konum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hiç tolerans göstermez: tüm değişimler aa'yı değiştirir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konum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toleranslı: 126 / 183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 kodonu oluşturan değişimler: 9 + 7 + 7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(%4.2)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Uygulama: kodon optimizasyonu,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dN/dS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oranı ile seçilim tespiti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2103120"/>
            <a:ext cx="8808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Sayısal büyüklükler: GC, Tm, MW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3200400"/>
            <a:ext cx="8808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tasarımı ve genom karşılaştırmasında kullanılan temel ölçüler; kayan pencere profili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oranı, erime sıcaklığı ve molekül ağırlığı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GC oranı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23444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 = (n_G + n_C) / 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123444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3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gc_fraction(s)</a:t>
            </a: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N bazları paydadan çıkarılabilir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0886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0886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Wallace kuralı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30886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 = 2·(A + T) + 4·(G + C) °C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30886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</a:t>
            </a:r>
            <a:r>
              <a:rPr lang="en-US" sz="13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14 nt</a:t>
            </a: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primerler; </a:t>
            </a:r>
            <a:r>
              <a:rPr lang="en-US" sz="13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Tm_Wallace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38328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GC formülü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38328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 = 64.9 + 41·(G + C − 16.4) / 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38328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uzun diziler; Biopython </a:t>
            </a:r>
            <a:r>
              <a:rPr lang="en-US" sz="13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Tm_GC</a:t>
            </a: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tuz düzeltmesi ekler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57700"/>
            <a:ext cx="11094415" cy="891540"/>
          </a:xfrm>
          <a:prstGeom prst="roundRect">
            <a:avLst>
              <a:gd name="adj" fmla="val 8205"/>
            </a:avLst>
          </a:prstGeom>
          <a:solidFill>
            <a:srgbClr val="F7F9FA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457700"/>
            <a:ext cx="26517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</a:rPr>
              <a:t>Molekül ağırlığı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4457700"/>
            <a:ext cx="47548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MW = Σ nᵢ·mᵢ − (N − 1)·18.015 Da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457700"/>
            <a:ext cx="304769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mᵢ: dNMP kütleleri (A 331.2, C 307.2, G 347.2, T 322.2); her fosfodiester bağı bir </a:t>
            </a:r>
            <a:r>
              <a:rPr lang="en-US" sz="13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kaybı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ECE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44068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Tm, DNA çift sarmalının yarısının ayrıştığı sıcaklıktır. G–C çifti 3, A–T çifti 2 hidrojen bağı yapar ve daha güçlü </a:t>
            </a: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istiflenme</a:t>
            </a: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etkileşimine sahiptir → GC arttıkça Tm artar.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nt primer: GC, Wallace ve GC formülü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5'-AGCTTAGCGATCGT-3'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(14 nt) primeri için GC oranı, Wallace Tm ve GC-formülü Tm'yi hesaplayın; Biopython ile karşılaştırın.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610192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 sayıları: A = 3, C = 3, G = 4, T = 4 → N = 14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= (4 + 3) / 14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Wallace: 2·(3 + 4) + 4·(4 + 3) = 14 + 28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°C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formülü: 41·(7 − 16.4) / 14 = 41·(−9.4) / 14 = −27.53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= 64.9 − 27.53 ≈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37.4 °C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yakın komşu (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Tm_NN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13 ardışık baz çifti adımının ΔH, ΔS toplamı →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41.4 °C</a:t>
            </a:r>
            <a:endParaRPr lang="en-US" sz="17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70608" y="2779776"/>
          <a:ext cx="4672447" cy="914400"/>
        </p:xfrm>
        <a:graphic>
          <a:graphicData uri="http://schemas.openxmlformats.org/drawingml/2006/table">
            <a:tbl>
              <a:tblPr/>
              <a:tblGrid>
                <a:gridCol w="2180475"/>
                <a:gridCol w="1090238"/>
                <a:gridCol w="140173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Biopython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 oranı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Wallace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°C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 °C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 formülü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37.4 °C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 °C 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yakın komşu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41.4 °C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primerde yöntemler birbirine yakın (37–42 °C). *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Tm_GC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tuz (Na⁺ = 50 mM) düzeltmesi içerdiği için 0.1 °C farklı.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nt primer: Wallace neden yanılır?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(yeni) — alıştırma 3'ün elle çözümü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GCGTACGTTAGCATGCATGC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 nt) primeri için üç Tm yöntemini karşılaştırın. Hangi yöntem bu uzunluk için uygun değildir?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554720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 sayıları: A = 4, C = 5, G = 6, T = 5 → G + C = 11, GC = 11/20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Wallace: 2·9 + 4·11 = 18 + 44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°C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formülü: 64.9 + 41·(11 − 16.4)/20 = 64.9 − 11.07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53.8 °C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Biopython: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Tm_GC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 °C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Tm_NN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55.1 °C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Wallace, NN'den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 °C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yüksek → 14 nt'den uzun primerlerde güvenilmez</a:t>
            </a:r>
            <a:endParaRPr lang="en-US" sz="1800" dirty="0"/>
          </a:p>
        </p:txBody>
      </p:sp>
      <p:pic>
        <p:nvPicPr>
          <p:cNvPr id="7" name="Image 0" descr="p02_tm_uzunlu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5888" y="2845916"/>
            <a:ext cx="5227168" cy="24829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Wallace uzunlukla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artar (2–4 °C/baz), gerçek Tm ise doyuma gider. 20+ nt için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Tm_NN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kullanın.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Molekül ağırlığını elle hesaplama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(yeni) — Biopython'un kullandığı yöntem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795528"/>
          </a:xfrm>
          <a:prstGeom prst="roundRect">
            <a:avLst>
              <a:gd name="adj" fmla="val 9195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AGCTTAGCGATCGT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tek iplikli DNA'nın molekül ağırlığını dNMP kütlelerinden hesaplayın. Çift iplik ne olur?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87168"/>
            <a:ext cx="11094415" cy="2907792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Kütleler (Da): dAMP 331.22, dCMP 307.20, dGMP 347.22, dTMP 322.21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Toplam: 3·331.22 + 3·307.20 + 4·347.22 + 4·322.21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993.67 + 921.59 + 1388.88 + 1288.83 ≈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4592.98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fosfodiester bağı → 13 su kaybı: 13 × 18.015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234.20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ssDNA MW = 4592.98 − 234.20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4358.8 Da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dsDNA: tamamlayıcı iplik (A 4, C 4, G 3, T 3) eklenir →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8686.5 Da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molecular_weight(p, "DNA")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4358.8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Da;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double_stranded=True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8686.5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Da. Protein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MAIVMGR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için 777.0 Da.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Bio.SeqUtils ile hepsi birden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3068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Çıktı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535424"/>
            <a:ext cx="6656649" cy="1728216"/>
          </a:xfrm>
          <a:prstGeom prst="roundRect">
            <a:avLst>
              <a:gd name="adj" fmla="val 4233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4608576"/>
            <a:ext cx="643719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{'A': 3, 'C': 3, 'G': 4, 'T': 4}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 oranı : 0.500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Wallace  : 42.0 °C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Tm_GC    : 37.5 °C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Tm_NN    : 41.4 °C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ssDNA MW : 4358.8 Da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dsDNA MW : 8686.5 Da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656649" cy="3026664"/>
          </a:xfrm>
          <a:prstGeom prst="roundRect">
            <a:avLst>
              <a:gd name="adj" fmla="val 2417"/>
            </a:avLst>
          </a:prstGeom>
          <a:solidFill>
            <a:srgbClr val="F4F6F7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07592"/>
            <a:ext cx="6437193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Bio.SeqUtils import gc_fraction, molecular_weight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Bio.SeqUtils import MeltingTemp as mt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primer = Seq("AGCTTAGCGATCGT")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print({b: primer.count(b) for b in "ACGT"})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print(f"GC oranı : {gc_fraction(primer):.3f}")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print(f"Wallace  : {mt.Tm_Wallace(primer):.1f} °C")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print(f"Tm_GC    : {mt.Tm_GC(primer, Na=50, valueset=7):.1f} °C")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print(f"Tm_NN    : {mt.Tm_NN(primer):.1f} °C")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print(f"ssDNA MW : {molecular_weight(primer, 'DNA'):.1f} Da")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 = molecular_weight(primer, "DNA", double_stranded=True)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print(f"dsDNA MW : {ds:.1f} Da")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525329" y="1234440"/>
            <a:ext cx="4117726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gc_fraction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0–1 arası oran döndürür (eski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GC()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yüzde döndürürdü)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Tm_NN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varsayılanı: 50 mM Na⁺, 25 nM primer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 ve primer konsantrasyonu Tm'yi birkaç °C değiştirir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sonuçlar elle hesapla uyumlu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Kayan pencere: pencere sayısı ve küçük bir profil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4000 bp dizide pencere w = 200, adım s = 50 ile kaç pencere olur? (b)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ATGCGCGCATATATGC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(16 bp) için w = 4, s = 4 profili nedir?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5769096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Pencere başlangıçları: 0, s, 2s, … ≤ L − w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 = ⌊(L − w)/s⌋ + 1 = ⌊3800/50⌋ + 1 =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pencerenin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 + w/2) x eksenine yazılır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⌊(16 − 4)/4⌋ + 1 = 4 pencere; her birinde (G + C)/4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Profil: 0.5 →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0.5: GC'ce zengin ve AT'ce zengin bölge ayrışır</a:t>
            </a:r>
            <a:endParaRPr lang="en-US" sz="1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37776" y="2779776"/>
          <a:ext cx="5005279" cy="914400"/>
        </p:xfrm>
        <a:graphic>
          <a:graphicData uri="http://schemas.openxmlformats.org/drawingml/2006/table">
            <a:tbl>
              <a:tblPr/>
              <a:tblGrid>
                <a:gridCol w="635075"/>
                <a:gridCol w="1390520"/>
                <a:gridCol w="993228"/>
                <a:gridCol w="794583"/>
                <a:gridCol w="119187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Pencere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+ 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Merkez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ATGC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GCGC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ATGC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büyüdükçe profil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düzleşir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(gürültü azalır, çözünürlük düşer); s küçüldükçe nokta sayısı artar. Naif hesap O(N·w/s); birikimli toplam ile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Kayan pencere GC profili (notebook bölüm 6)</a:t>
            </a:r>
            <a:endParaRPr lang="en-US" sz="3000" dirty="0"/>
          </a:p>
        </p:txBody>
      </p:sp>
      <p:pic>
        <p:nvPicPr>
          <p:cNvPr id="3" name="Image 0" descr="g02_kayan_g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82577"/>
            <a:ext cx="7100426" cy="232144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969106" y="1234440"/>
            <a:ext cx="3673949" cy="50292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Kenar bölgelerin beklenen GC'si: 4/10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bölgenin beklenen GC'si: 8/10 =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Geçişler pencere boyu (200 bp) kadar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yumuşar</a:t>
            </a:r>
            <a:endParaRPr lang="en-US" sz="17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uygulamalar: CpG adaları, yatay gen transferi adaları, izokorlar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777175"/>
            <a:ext cx="71004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46E7A"/>
                </a:solidFill>
              </a:rPr>
              <a:t>4000 bp sentetik dizi; 1500–2500 arası GC'ce zengin (ağırlıklar A:C:G:T = 1:4:4:1), kenarlar 3:2:2:3; w = 200, s = 50 → 77 nokta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 yapılan hatalar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3443094"/>
                <a:gridCol w="4208226"/>
                <a:gridCol w="344309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olur?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Ters çevirmeyi ters tamamlayıcı sanmak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s[::-1]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biyolojik olarak anlamsız bir iplik verir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s.reverse_complement()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Kalıp ipliği doğrudan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transcribe()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etmek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Hata yok, ama mRNA </a:t>
                      </a: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yanlış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Önce ters tamamlayıcı, sonra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transcribe()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Yanlış kod tablosu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Mitokondriyal genler erken dur kodonuyla </a:t>
                      </a: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kısalır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Mito.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table=2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bakteri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table=11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Artık bazları unutmak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translate()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i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codon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uyarısı verir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Çerçeveyi 3'ün katına kırpın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ile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count_overlap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'ı karıştırmak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​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"AAAA".count("AA")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2, örtüşmeli = 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 sayımında örtüşmeyi düşünün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Wallace'ı uzun primerde kullanmak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nt'de Tm'yi ≈ 7 °C </a:t>
                      </a: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abartır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nt'den uzunsa </a:t>
                      </a:r>
                      <a:r>
                        <a:rPr lang="en-US" sz="1600" dirty="0">
                          <a:solidFill>
                            <a:srgbClr val="455A6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Tm_NN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 tipi soru: ORF avı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(yeni) — kâğıt kalemle 10 dakika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88136"/>
          </a:xfrm>
          <a:prstGeom prst="roundRect">
            <a:avLst>
              <a:gd name="adj" fmla="val 6723"/>
            </a:avLst>
          </a:prstGeom>
          <a:solidFill>
            <a:srgbClr val="EC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10820095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  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5'-TTACATGGCTTGA-3'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(13 nt) dizisinin altı çerçevesinde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başlayıp dur kodonuyla biten ORF'ları bulun ve çevirin.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79776"/>
            <a:ext cx="5547208" cy="26151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 tamamlayıcı: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TCAAGCCATGTAA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 çerçeveler: diziyi 0, 1, 2 baz kaydırıp üçer böl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 çerçeveler: ters tamamlayıcıyı 0, 1, 2 baz kaydırıp üçer böl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çerçevede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ara; ondan sonraki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ilk dur kodonuna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kadar oku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+2: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 GCT TGA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MA*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 −2: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 TAA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M*</a:t>
            </a:r>
            <a:endParaRPr lang="en-US" sz="1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5888" y="2779776"/>
          <a:ext cx="5227168" cy="914400"/>
        </p:xfrm>
        <a:graphic>
          <a:graphicData uri="http://schemas.openxmlformats.org/drawingml/2006/table">
            <a:tbl>
              <a:tblPr/>
              <a:tblGrid>
                <a:gridCol w="917047"/>
                <a:gridCol w="2384322"/>
                <a:gridCol w="1008752"/>
                <a:gridCol w="91704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Çerçeve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Kodonlar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Çeviri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3E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TTA CAT GGC TTG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LHGL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 </a:t>
                      </a: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ATG GCT TGA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YMA*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 TGG CTT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TCA AGC CAT GTA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CAA GCC </a:t>
                      </a: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ATG TAA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QAM*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AAG CCA TGT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 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ORF: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çerçevesinde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(9 nt, 0 tabanlı indeks 4–12) ve </a:t>
            </a:r>
            <a:r>
              <a:rPr lang="en-US" sz="17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çerçevesinde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 nt). Aynı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'yi iki iplikte de okuyoruz: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CATG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↔ </a:t>
            </a:r>
            <a:r>
              <a:rPr lang="en-US" sz="17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CATG</a:t>
            </a:r>
            <a:r>
              <a:rPr lang="en-US" sz="17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palindromik.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Laboratuvar alıştırmaları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hafta02_seq_nesnesi_merkezi_dogma.ipynb  —  çözümler notebook'un sonunda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47548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ATGAAACCCGGGTTTTAA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dizisinin mRNA'sını, proteinini (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MKPGF*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ve ters tamamlayıcısını (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TTAAAACCCGGGTTTCAT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elle bulun, kodla kontrol edin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​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ATGTGGTGA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dizisini standart ve mitokondriyal kodla çevirin (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MW*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MWW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 farkı açıklayın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nt'lik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GCGTACGTTAGCATGCATGC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primeri için Wallace, GC ve NN Tm değerlerini karşılaştırın (62.0 / 52.5 / 55.1 °C)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999 bazlık dizide (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random.seed(3)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altı çerçevedeki dur kodonlarını sayın; beklenen ≈ 333 × 3/64 ≈ </a:t>
            </a: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(notebook: 13, 12, 16, 15, 12, 19)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Ek: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TGG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(Trp) ve </a:t>
            </a:r>
            <a:r>
              <a:rPr lang="en-US" sz="180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ATG</a:t>
            </a: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(Met) kodonlarının 9 tek-baz değişiminden kaçı dur kodonu üretir?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Biyoenformatiğe Giriş  ·  Hafta 2: Seq nesnesi ve genetik kod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Özet ve sonraki hafta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değiştirilemez dizgi + biyolojik yöntemler; nokta değişikliği için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MutableSeq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= kodlayan ipliğin T→U hâli; kalıptan başlanırsa önce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 tamamlayıcı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kodon → 20 aa + dur; translate() parametreleri: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to_stop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 okuma çerçevesi; rastgele DNA'da dur kodonları ~20 kodonda bir →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ORF = gen adayı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Sinonim oranı: 1./2./3. konum =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 / 0.00 / 0.69</a:t>
            </a:r>
            <a:endParaRPr lang="en-US" sz="20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GC, Tm (Wallace ≤ 14 nt; uzunlarda </a:t>
            </a:r>
            <a:r>
              <a:rPr lang="en-US" sz="20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Tm_NN</a:t>
            </a:r>
            <a:r>
              <a:rPr lang="en-US" sz="2000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MW = Σ dNMP − (N−1)·su; kayan pencere profili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3747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553212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DD2"/>
                </a:solidFill>
              </a:rPr>
              <a:t>Sonraki hafta  </a:t>
            </a:r>
            <a:r>
              <a:rPr lang="en-US" sz="1600" dirty="0">
                <a:solidFill>
                  <a:srgbClr val="FFFFFF"/>
                </a:solidFill>
              </a:rPr>
              <a:t>Dosya formatları: FASTA ve GenBank, SeqRecord / SeqFeature, SeqIO ile okuma-yazma, koordinatlar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2: Seq Nesnesi, Merkezi Dogma ve Genetik Kod</dc:title>
  <dc:subject>PptxGenJS Presentation</dc:subject>
  <dc:creator>Biyoenformatiğe Giriş</dc:creator>
  <cp:lastModifiedBy>Biyoenformatiğe Giriş</cp:lastModifiedBy>
  <cp:revision>1</cp:revision>
  <dcterms:created xsi:type="dcterms:W3CDTF">2026-09-23T18:59:23Z</dcterms:created>
  <dcterms:modified xsi:type="dcterms:W3CDTF">2026-09-23T18:59:23Z</dcterms:modified>
</cp:coreProperties>
</file>