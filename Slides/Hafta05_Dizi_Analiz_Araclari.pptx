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Temeller bloğunun son haftası. Şimdiye kadar diziyi okuduk, dönüştürdük ve kalitesini ölçtük; bu hafta diziden bilgi çıkaran klasik araçları kuruyoruz.
Tüm örnekler aynı sentetik plazmit (pORNEK1, 3000 bp) üzerinde; böylece öğrenciler her aracın aynı veride ne söylediğini karşılaştırabilir.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çok sayıda küçük araç var; ortak tema şu: her araç bir sayı üretir ve bu sayıyı rastgele dizi beklentisiyle karşılaştırmadan yorumlayamayız. Bu 'beklenen ile kıyasla' fikrini her bölümde tekrar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saat. Diziyi k uzunluklu parçalara bölüp saymak, bu haftanın en basit ama en genel aracı; sayımları her zaman rastgele dizi beklentisiyle karşılaştıracağız.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soldan sağa okuyun. Kritik gözlem: k = 4'te 256 olası 4-mer'in hepsi 3000 bp'de görülüyor; k = 6'da 4096 olası 6-mer 2995 konuma dağıldığından çoğu hiç görülmez. Öğrencilere log₄(3000) ≈ 5.8 hesabını yaptırın: k-mer'lerin 'özgün' olmaya başladığı eşik. 12–15. haftalarda k-mer'leri makine öğrenmesi özelliği olarak kullanacağımızı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Çıktıyı beklentiyle karşılaştırın: 64 3-mer için ortalama 46.8; en sık olan 66. Bu fark anlamlı mı? Poisson yaklaşımıyla σ ≈ √46.8 ≈ 6.8, yani yaklaşık 2.8σ; 64 3-mer arasında birinin bu kadar sapması şaşırtıcı değil (çoklu karşılaştırma). Bu 11. haftanın çoklu test konusuna küçük bir ön izleme.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CG ile GC'yi karıştırmamaları konusunda uyarın: CpG, C'nin hemen ardından G gelmesidir (5'→3'). Son formül alıştırma 1'in cevabı: 256 · (255/256)^2997 ≈ 0.002, yani 3000 bp'lik rastgele dizide tüm 4-mer'lerin görülmesi beklenir; plazmitte de 0 eksik 4-mer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(a) dizisini yazıp CG çiftlerinin altını çizin. (b) dizisi insan genlerinden alınmış gibi görünen tipik bir GC'ce zengin ama CpG'siz bölge. CpG adası tanımı (Gardiner-Garden &amp; Frommer): ≥ 200 bp, GC &gt; %50, o/e &gt; 0.6. Soru: 20 bp'lik pencereyle bu tanımı uygulamak neden sorunlu?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Isı haritasının köşegenini değil, CG hücresini gösterin. Biyolojik mekanizmayı bir cümleyle verin: metilasyon + deaminasyon. Bu, i.i.d. modelin gerçek genomlarda neden bozulduğunun en klasik örneği; 1. haftadaki tartışma sorusuna geri dönün (EcoRI beklentisi).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Motifi önce tek bir dizgi, sonra esnek bir desen, en sonunda olasılıksal bir model olarak temsil edeceğiz. PSSM hesabını tahtada elle yapacağımızı, hesap makinelerini hazır tutmalarını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Hepsini ezberletmeyin; B/D/H/V için 'hangi harf eksik' kuralı yeterli (B = A değil, çünkü alfabede A'dan sonra gelir). IUPAC arama, 'ya hep ya hiç' eşleşmedir: desene uyan her konum aynı değerdedir. PSSM bu ikili kararı sürekli bir skora çevirecek.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hesap notebook'taki 'Beklenen (rastgele): 5.9' çıktısıyla aynı. Öğrencilere sorun: N yerine 8 yazılsaydı (TATRNT yerine TATRAT) beklenen kaç olurdu? Cevap 2995/2048 ≈ 1.46. Her N 'bilgi kaybettirir', her kesin harf 2 bit bilgi ekler — PSSM'deki bit kavramına köprü.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Akışı soldan sağa, üst satırdan alt satıra anlatın. Vurgulanan kutu (PSSM) bu bölümün merkezi. Sahte sayımın Bayesçi yorumu: Dirichlet önseli; ayrıntıya girmeden 'her bazı α kez görmüş gibi davranıyoruz' deyin.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Sekans logolarını (WebLogo) öğrencilerin çoğu makalelerde görmüştür; harf yüksekliği p · IC'dir. Bizim örnekte 4 sayımlı sütunlarda IC = 0.79 bit, 3+1 sütunlarda 0.45 bit; sahte sayım yüzünden 2 bite ulaşamıyor. Bunu bir sonraki slayttaki sayılarla karşılaştırın.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4 × 6'lık sayım matrisini öğrencilerle birlikte doldurun: her sütunda dört örneğin o konumdaki harflerini sayın. Sonra yalnızca dört farklı sayım değeri (0, 1, 3, 4) olduğunu fark ettirin; dolayısıyla yalnızca dört log-odds hesabı yapmak yeterli. Sahte sayım olmasaydı sayım 0 hücreleri log₂0 = −∞ olurdu; bunu soru olarak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Skorun olasılık oranının logaritması olduğunu hatırlatın: 8.78 bit, konsensüs dizisinin motif modeli altında arka plana göre 2^8.78 ≈ 440 kat daha olası olduğu anlamına gelir. 7.56 bit ise yaklaşık 190 kat. Öğrencilere sorun: TACAAT ile GATAAT neden aynı skoru alıyor? Her ikisinde de tek gözlenmiş ikincil baz (0 bit) konsensüs bazının (1.22) yerini alıyor.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sütunu seçip dört değerin olasılıklara geri çevrilebileceğini gösterin: p = 0.25 · 2^s. Örneğin 1.585 → 0.75. Bu, PSSM'in PWM'den bilgi kaybetmeden türetildiğini gösterir. Soru: α = 0 olsaydı hangi hücreler −∞ olurdu? (Kırmızı olmayan ve 0 olmayan tüm hücreler.)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adımı bilerek tartışmaya açık bıraktık: öğrencilere TAATGC penceresini sütun sütun yazdırın (T,A,A,T,G,C): 1.22 + 1.585 − 1.58 + (−1.58) + (−1.58) + (−1.58) = −3.53. Yaygın hata, sütun indeksini kaydırmak. Konum 6'nın (ATGCTA) −9.51 yani minimum olduğunu fark ettirin: her sütunda motife en aykırı baz.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 kayan pencerenin tam dökümüdür: bir satır, bir pencere. Öğrencilere birkaç satırı sütun sütun kontrol ettirin; özellikle 4. satırda (TAATGC) 3. sütundaki A'nın −1.58 aldığını, çünkü 3. konumda A hiç gözlenmediğini gösterin. Aynı skorların birden çok kez tekrarlandığına (−6.34, −1.95) dikkat çekin: PSSM'de yalnızca dört farklı hücre değeri olduğu için olası toplamlar sınırlıdır.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Çıktıyı notebook'tan kısaltarak tek satırlara yerleştirdik. Toplam 8 isabet: 4 + iplik, 4 − iplik. Negatif konum sözleşmesini mutlaka açıklayın; öğrenciler bunu sıkça dizin hatası sanıyor.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 skorların büyük çoğunluğunun negatif olduğunu, ancak eşik üstünde birkaç tepe bulunduğunu gösterin. Soru: eşiği 8 bite çıkarırsak kaç isabet kalır? (203, 812 ve ters iplikte 2692: üçü de tam konsensüs; yine yalnızca biri gerçek.) Bu, eşiği yükseltmenin tek başına yetmediğini gösterir. Grafik + iplik skorlarını gösterir (pssm.calculate).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saatin ikinci yarısı. 2. haftadaki altı okuma çerçevesi şeklini hatırlatın; bugün bu çerçevelerde gen adaylarını otomatik olarak bulan algoritmayı yazacağız.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bir çerçeve için kısa bir örnek yürütün: ATG AAA TGA → KAPALI, AÇIK, AÇIK, kaydet. Durum makinesi yaklaşımı 12. haftada gizli Markov modellerine (gen bulucular) doğal bir köprü. Koordinat dönüşümünü 2. haftadaki altı çerçeve şekliyle ilişkilendirin.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 satır satır okumayın; durum makinesi slaytındaki iki geçişi koddaki if/elif ile eşleştirin. ornB'nin neden daha uzun çıktığını sorun: algoritma ilk ATG'yi alıyor, gerçek başlangıç ise ribozom bağlanma yerine (RBS) göre seçiliyor. Sahte ORF ters ipliğin ters çerçevesinde 'dur kodonu içermeyen' bir bölge; uzun genlerin karşı ipliğinde sık görülür.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Geometrik dağılımın beklentisini (1/p) hatırlatın. Eşik seçimi bir duyarlılık–özgüllük dengesidir; 14. haftada ROC eğrileriyle bu dengeyi resmîleştireceğiz. Soru: GC oranı yüksek genomlarda dur kodonları (AT'ce zengin: TAA, TAG, TGA) daha seyrek olur; bu, rastgele ORF uzunluğunu nasıl etkiler? (Uzar → eşik yükseltilmeli.) Grafik: log eksende düz çizgi üstel azalmanın imzası; sağda plazmitte eşik–ORF sayısı. L = 150'de sahte ORF (118 aa) elenir ama 150 kodondan kısa gerçek genler de elenirdi. Alıştırma 3'te GTG/TTG eklenince L = 100'de ORF sayısı 3'ten 4'e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 paneli önceki slayttaki hesapla eşleştirin: her 50 kodonluk artış olasılığı yaklaşık 11 kat azaltıyor. Sağ panelde eşiği yükselttikçe sahte ORF'lerin hızla elendiğini, ancak 150 kodonda sayının 2'ye inip gerçek genlerde durduğunu gösterin. Soru: 150 kodonluk eşikte hangi ORF elendi? Cevap: 118 aa'lık sahte ORF.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saat. Moleküler biyoloji laboratuvarında yapılan bir deneyi (sindirim + jel) bilgisayarda önceden tahmin edeceğiz; öğrencilere bu tahminin laboratuvarda hangi hatayı yakalamaya yarayacağını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Haritayı saat yönünde okuyun; 0 noktası tepede. İki EcoRI yeri plazmiti iki parçaya ayıracak. Yapışkan uçların klonlamadaki önemini bir cümleyle anın: aynı enzimle kesilen iki parça birbirine yapışır. 3000 bp'de 6-mer enzim başına beklenen 0.73 yer; EcoRI'nin 2 yeri biraz fazla ama olağan dışı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Tahtaya bir daire çizip kesimleri işaretleyin; sarmal parçanın 0 noktasını 'aştığını' gösterin. Öğrencilerin en sık hatası sarmal parçayı unutup n − 1 parça yazmak veya L − cₙ ile c₁'i ayrı parçalar saymak. dairesel_parcalar fonksiyonunun son terimi tam olarak sarmal parçadır.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örnek, fonksiyon parametrelerinin biyolojik anlamını vurgulamak için. 19 bp'lik parça jelde görünmez bile; ama hesapta yanlış bant sayısı verir. Soru: BamHI + SmaI için dairesel parçalar? (153 ve 2847.)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şekli notebook'taki grafikten farklı olarak yeniden çizdik: notebook sürümünde y ekseni ters olduğundan büyük parçalar alta düşüyordu; gerçek jelde büyük parçalar kuyuya yakın kalır. Öğrencilere bu hatayı bulmalarını ödev olarak verebilirsiniz. Log ilişkisi yaklaşık bir kalibrasyondur; çok büyük parçalarda (&gt; 20 kb) bozulur.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bölüm kısa: ORF'lerden elde ettiğimiz proteinlerin fizikokimyasal özelliklerini hesaplayacağız ve kayan pencere fikrini bir kez daha (hidropati, GC eğimi) kullanacağız.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ornB hidrofilik (GRAVY &lt; 0), bazik (pI 10.2) ve kararsız görünüyor; ornA hafif hidrofobik ve kararlı. Magainin-2 katyonik antimikrobiyal peptit: pozitif yük bakteri zarına bağlanmasını sağlar. Kararsızlık indeksinin deneysel olarak zayıf bir gösterge olduğunu, yalnızca tarama amaçlı kullanıldığını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Hidropati profili, bu hesabın kayan pencereyle tekrarlanmasıdır: her pencere için bir GRAVY. En hidrofobik amino asitler I (4.5), V (4.2), L (3.8); en hidrofilik R (−4.5), K (−3.9). Transmembran heliks ≈ 20 aa uzunluğundadır, bu yüzden pencere 19–21 de sık kullanılır.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ornA'da 20 pencere 1.6'yı aşıyor, en yüksek değer 2.58. Ancak bunlar kısa tepeler; gerçek bir TM heliks 20 kalıntılık kesintisiz yüksek bir plato olarak görünür. Sentetik protein olduğu için biyolojik bir zar proteini beklemiyoruz. Öğrencilere sorun: pencereyi 19'a çıkarırsak tepeler ne olur? (Düzleşir; kısa tepeler kaybolur.)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Elle örnek: GGGCATGCGG penceresinde G = 6, C = 2 → (6 − 2)/(6 + 2) = 0.5.
Sol panel gerçek notebook çıktısı: 3 kb'lık sentetik plazmitte anlamlı bir sinyal yok. Sağ panel eğitim amaçlı simülasyon: öncü iplikte G hafif fazla (%27 G / %23 C) olacak şekilde üretilmiş 200 kb'lık dizi; kümülatif eğri 50 kb'de minimum (ori), 150 kb'de maksimum (ter) veriyor.
Biyolojik neden: öncü ve geri kalan iplikler replikasyon sırasında farklı mutasyon baskılarına maruz kalır. Gerçek bakteri genomlarında (E. coli) aynı V şekli görülür.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kartı bir öğrenciye okutup 'bunu nasıl test ederdiniz?' diye sorun. str.count örtüşmeyi saymaz: 'CGCG'.count('CG') = 2 doğru, ama 'AAA'.count('AA') = 1 (örtüşen sayım 2). k-mer sayımında bu yüzden kayan pencere kullanıyoruz.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soru sınavdaki tipik 'hesap + yorum' formatında. Öğrencilere 5 dakika verin. (c)'de dairesel molekülde konum sayısının N olduğuna dikkat (N − k + 1 değil); fark önemsiz ama kavramsal olarak doğru olan budur.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saatin son kısmı bu alıştırmalara. Ek soru: −35 kutusu 180'de başlıyor ve 6 bp → 186'da bitiyor; −10 kutusu 203'te başlıyor → aradaki boşluk 203 − 186 = 17 bp, tipik aralıkta. Birleşik sinyalin (iki kutu + doğru aralık) tek kutudan çok daha özgül olduğunu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haftanın tüm araçları diziyi tek başına inceledi. Gelecek hafta iki diziyi karşılaştırmaya geçiyoruz: 'bu iki gen ne kadar benzer?' sorusunun cevabı dinamik programlama. Öğrencilerden 2. yıl algoritma dersindeki DP örneklerini (en uzun ortak alt dizi, düzenleme uzaklığı) hatırlamalarını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B7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2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Analiz Araçları: k-mer, Motif, ORF, Restriksiyon ve Protein Özellikleri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diziye sorulabilecek ilk sorular: neyi sık içeriyor, nerede motif var, hangi geni kodluyor, nereden kesilir?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Python ve Biopython ile uygulamalı 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hafta05_dizi_analiz_araclari.ipynb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hedefleri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sayımı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gözlenen/beklenen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oranlarıyla dizi imzası çıkarmak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 kodlarıyla esnek arama yapmak; beklenen isabet sayısını hesaplamak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örneklerinden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→ PSSM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kurmak ve bir diziyi elle skorlamak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çerçevede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 bulucu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yazmak; uzunluk eşiğini olasılıkla gerekçelendirmek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DNA'da restriksiyon parçalarını hesaplamak,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sanal jel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çizmek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ProteinAnalysis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MW, pI, GRAVY; GC eğimi ile replikasyon orijini ipucu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3444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Ders akışı (3 saat)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42255" cy="914400"/>
        </p:xfrm>
        <a:graphic>
          <a:graphicData uri="http://schemas.openxmlformats.org/drawingml/2006/table">
            <a:tbl>
              <a:tblPr/>
              <a:tblGrid>
                <a:gridCol w="1048451"/>
                <a:gridCol w="41938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k-mer, CpG o/e, IUPAC, PWM → PSSM (tahtada elle hesap)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Bio.motifs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tarama; ORF algoritması ve uzunluk eşiği (Notebook 5: bölüm 1–3)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Bio.Restriction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sanal jel,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ProteinAnalysis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GC skew (Notebook 5: bölüm 4–7)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analizi ve dizi imzaları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→ beklenen değer → gözlenen/beklenen oranı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k-mer: dizinin tüm k uzunluklu alt dizgileri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Uzunluğu N olan dizide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k + 1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k-mer vardır; olası farklı k-mer sayısı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4^k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Plazmitte N = 3000.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765132"/>
                <a:gridCol w="1912830"/>
                <a:gridCol w="2104113"/>
                <a:gridCol w="1912830"/>
                <a:gridCol w="439950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 (4^k)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Plazmitte konum (N−k+1)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Plazmitte görülen farklı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kullanım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 kompozisyonu, GC oranı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Dinükleotit (CpG) analizi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/ 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 kullanımı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/ 256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motifler, dizi imzası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4 096 – 65 536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seyrek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Restriksiyon yeri, TF motifi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4·10¹² – 4.6·10¹⁸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hemen hepsi tekil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 birleştirme (de Bruijn), hizalamasız karşılaştırma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7433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974336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büyüdükçe olası k-mer sayısı dizi uzunluğunu aşar: k ≥ log₄N (plazmitte ≈ 5.8) olunca k-mer'lerin çoğu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kez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görülür. Bu yüzden k seçimi, amaç ve veri boyutuna göre yapılır.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sayımı: tek satırlık Counter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656649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4371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k=1: 4/4 [('C', 785), ('G', 755), ('T', 735)]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k=2: 16/16 [('CC', 216), ('CA', 204), ('GG', 202)]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k=3: 64/64 [('ACC', 66), ('CGT', 62), ('CCC', 61)]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 import SeqIO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plazmit = SeqIO.read("veri/ornek_plazmit.gb", "genbank")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dizi = plazmit.seq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kmer_say(dizi, k):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dizi = str(dizi)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Counter(dizi[i:i + k]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for i in range(len(dizi) - k + 1))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[1, 2, 3]: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kmer_say(dizi, k)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print(f"k={k}: {len(c)}/{4**k}", c.most_common(3))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Kayan pencere: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k + 1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dilim, her biri O(k) → toplam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O(N·k)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 sınıfıdır; görülmeyen k-mer için 0 döner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sayıları: A 725, C 785, G 755, T 735 → GC = 1540/3000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%51.3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beklenti k = 3 için 2998/64 ≈ 46.8; en sık 3-mer 66 kez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Gözlenen/beklenen (o/e) oranları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Beklenen dinükleotit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E(ab) = n(a) · n(b) / 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Bazlar bağımsızsa; tek baz frekanslarından türetilir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o/e oranı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o/e(ab) = n(ab) · N / (n(a) · n(b))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beklendiği kadar; &lt; 1 → baskılanmış; &gt; 1 → zenginleşmiş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CpG o/e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n(CG) · N / (n(C) · n(G))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Omurgalılarda ≈ 0.2–0.25; CpG adalarında ≈ 1 ve üstü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Görülmeyen k-mer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4^k · (1 − 4^−k)^(N−k+1)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dizide hiç görülmeyen k-mer sayısının beklentisi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Plazmit: n(CG) = 199, n(C) = 785, n(G) = 755, N = 3000 → o/e = 199 · 3000 / (785 · 755)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rastgele dizi beklentisiyle uyumlu.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 o/e oranını elle hesaplama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kısa dizi için CpG o/e oranını hesaplayın: (a)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ATCGATTGCAAGCTTACGGC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(b)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CAGGCTCCAGGTGCCTGGAC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Hangisi CpG adası benzeri, hangisi baskılanmış?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N = 20; C = 5, G = 5; CG geçen konumlar (0 tabanlı): 2 ve 16 → n(CG) = 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Beklenen: 5 · 5 / 20 = 1.25; o/e = 2 / 1.25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 = 20; C = 7, G = 7; dizide hiç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yok → n(CG) = 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Beklenen: 7 · 7 / 20 = 2.45; o/e = 0 / 2.45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(b)'de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kez geçer ama CpG sayılmaz; yön 5'→3' önemli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3326379"/>
                <a:gridCol w="950394"/>
                <a:gridCol w="950394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n(CG) gözlenen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E(CG)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o/e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CpG'ce zengin (ada benzeri), (b) CpG'si tamamen baskılanmış — insan genomunun çoğu (b)'ye benzer. Kısa dizide oranlar çok oynaktır; gerçek analizlerde ≥ 200 bp pencere kullanılır.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Plazmitin dinükleotit imzası</a:t>
            </a:r>
            <a:endParaRPr lang="en-US" sz="3000" dirty="0"/>
          </a:p>
        </p:txBody>
      </p:sp>
      <p:pic>
        <p:nvPicPr>
          <p:cNvPr id="3" name="Image 0" descr="p05_dinukleotit_o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8272"/>
            <a:ext cx="4992487" cy="4501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61167" y="1234440"/>
            <a:ext cx="578188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dinükleotidin hepsi için o/e; değerler 0.86–1.12 arasında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 (satır C, sütun G)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sentetik dizide CpG baskılanması yok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Omurgalılarda neden CpG az?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Metillenmiş C (5mC) kendiliğinden deamine olur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CG → TG mutasyonu birikir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insan genomunda CpG o/e ≈ 0.2–0.25; korunmuş CpG adaları promotörlerin ≈ %60'ında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Dinükleotit imzası türe özgüdür → yatay gen aktarımı ve metagenom sınıflandırmada kullanılır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temsili ve arama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dizgi → IUPAC deseni → PWM → PSSM (log-odds)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 belirsizlik kodları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844140"/>
                <a:gridCol w="1688281"/>
                <a:gridCol w="2894195"/>
                <a:gridCol w="844140"/>
                <a:gridCol w="1688281"/>
                <a:gridCol w="31353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Akılda tutma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Akılda tutma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pü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pirimidin (p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rimidine)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/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trong (3 H-bağı)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eak (2 H-bağı)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/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G /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değil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G /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değil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C / 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değil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C / 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değil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herhangi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93801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3938016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nt_search(dizi, "TATRNT")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deseni düzenli ifadeye çevirir: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TAT[AG][GATC]T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Plazmitte + iplikte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isabet: 203, 233, 812, 2048, 2347, 2733 (0 tabanlı).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 deseni kaç kez beklenir?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bp'lik rastgele (i.i.d., eşit baz frekanslı) bir dizide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TATRNT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deseni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iplikte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kaç kez beklenir? Plazmitte gözlenen 6 isabet şaşırtıcı mı?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109441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başına olasılıklar: T, A, T → 1/4 her biri; R (A/G) → 2/4; N → 4/4; T → 1/4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(1/4)⁴ · (1/2) · 1 = 1/256 · 1/2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1/512 ≈ 0.00195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sayısı: N − k + 1 = 3000 − 6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Beklenen: E = 2995 / 512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5.85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isabet (tek iplik)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iplik: desen palindromik değil (ters tamamlayıcısı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ANYATA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Poisson: σ ≈ √5.85 ≈ 2.4 → 6 isabet tamamen beklenen aralıkta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Gözlenen 6 ≈ beklenen 5.85: kısa ve esnek bir desen rastgele dizide de bulunur. Tek başına IUPAC eşleşmesi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kanıtı değildir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Hizalı örneklerden PSSM'e: işlem hattı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Hizalı örnekler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adet, aynı uzunlukta motif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59354" y="203454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25114" y="141732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8266" y="141732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matrisi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n(b, i): i. konumda b kaç kez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35828" y="203454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1588" y="141732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4740" y="141732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sayım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+α: sıfır olasılığı önler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12301" y="203454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78061" y="141732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1213" y="141732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(olasılık)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p(b, i) = (n + α) / (N + 4α)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DECE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20040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 (log-odds)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s(b, i) = log₂( p / q(b) 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59354" y="38176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25114" y="320040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98266" y="320040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skoru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skorlarının toplamı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35828" y="38176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1588" y="320040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4740" y="320040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kayan pencere, iki iplik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12301" y="38176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78061" y="320040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51213" y="3200400"/>
            <a:ext cx="23186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≥ T olan konumlar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983480"/>
            <a:ext cx="11094415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log?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Bağımsız konumların olasılık </a:t>
            </a:r>
            <a:r>
              <a:rPr lang="en-US" sz="17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çarpımı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log'da </a:t>
            </a:r>
            <a:r>
              <a:rPr lang="en-US" sz="17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sayısal taşma da önlenir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sahte sayım?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örnekte hiç görülmeyen baz için p = 0 → log₂0 = −∞; tek bir sapma motifi tamamen dışlardı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ve PSSM formülleri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PWM (olasılık)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p(b, i) = (n(b, i) + α) / (N + 4α)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 sahte sayım (pseudocount); her sütun toplamı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PSSM (log-odds)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s(b, i) = log₂( p(b, i) / q(b) 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q(b): arka plan olasılığı (genelde 0.25); birim: bit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Dizi skoru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S(x) = Σᵢ s(xᵢ, i)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= her sütunun en büyük değerinin toplamı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Bilgi içeriği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IC(i) = 2 + Σ_b p(b, i) · log₂ p(b, i)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(tamamen rastgele) – 2 bit (tamamen korunmuş); sekans logosu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dizi motif modeline arka plandan daha uygun;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arka plana daha uygun. Skor bir olasılık oranının log'udur, olasılık değildir.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PSSM'i elle kurmak (1): sayımdan log-odds'a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— ders notundaki örnek, ara değerlerle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 = 4), sahte sayım α = 0.5, arka plan q = 0.25. Sayım matrisini yazın ve her hücreyi log-odds skora çevirin.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sütun say (sağdaki tablo); her sütun toplamı N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Payda: N + 4α = 4 + 2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4 → p = 4.5/6 = 0.75 → s = log₂(0.75/0.25) = log₂3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1.585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3 → p = 3.5/6 = 0.583 → s = log₂2.333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1 → p = 1.5/6 = 0.25 → s = log₂1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0 → p = 0.5/6 = 0.083 → s = log₂(1/3)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−1.585</a:t>
            </a:r>
            <a:endParaRPr lang="en-US" sz="1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977309"/>
                <a:gridCol w="615856"/>
                <a:gridCol w="615856"/>
                <a:gridCol w="615856"/>
                <a:gridCol w="615856"/>
                <a:gridCol w="615856"/>
                <a:gridCol w="6158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farklı skor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var: sayım 4 → 1.585, 3 → 1.22, 1 → 0, 0 → −1.585. PSSM, sayım matrisinin hücre hücre dönüştürülmüş hâlidir.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PSSM'i elle kurmak (2): dizileri skorlamak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— skor = sütun skorlarının toplamı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Önceki slayttaki PSSM ile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dizilerini skorlayın. Olası en yüksek ve en düşük skor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her sütunda konsensüs → 1.22 + 1.585 + 1.22 + 1.585 + 1.585 + 1.585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TACAAT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3. sütunda T (1.22) yerine C (0) → 8.78 − 1.22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7.56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GATAAT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1. sütunda T (1.22) yerine G (0) →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7.56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Maksimum: her sütunun en büyük değeri → konsensüs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8.78 bit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her sütunda görülmemiş baz var → 6 × (−1.585)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−9.51 bit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932211"/>
                <a:gridCol w="613565"/>
                <a:gridCol w="613565"/>
                <a:gridCol w="613565"/>
                <a:gridCol w="613565"/>
                <a:gridCol w="613565"/>
                <a:gridCol w="613565"/>
                <a:gridCol w="61356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TATAAT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TACAAT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GATAAT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düşük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8.78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min.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−9.51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bit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pssm.max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pssm.min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aynı). Tek sapma skoru yalnızca 1.22 bit düşürür: PSSM, IUPAC'ın "ya hep ya hiç" kararından daha yumuşaktır.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PSSM'in tamamı: 4 × 6 log-odds tablosu</a:t>
            </a:r>
            <a:endParaRPr lang="en-US" sz="3000" dirty="0"/>
          </a:p>
        </p:txBody>
      </p:sp>
      <p:pic>
        <p:nvPicPr>
          <p:cNvPr id="3" name="Image 0" descr="p05_pssm_matr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1055"/>
            <a:ext cx="6101928" cy="48759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70608" y="1234440"/>
            <a:ext cx="4672447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 hücreler: arka plandan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olası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bazlar (s &gt; 0)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Görülmeyen her baz: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−1.58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(sahte sayım sayesinde −∞ değil)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konumda G ve 3. konumda C: tek gözlem → p = 0.25 = q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(nötr)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skor: 6 × (−1.585)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−9.51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maksimum: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8.78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 çıktısı bu tabloyla birebir aynı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print(pssm)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Kayan pencereyle kısa bir diziyi taramak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— yeni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GCTATAATGCTACAATC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(17 bp) dizisini aynı PSSM ile + iplikte tarayın. Kaç pencere var, eşik 6 bit ile hangi konumlar isabet?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109441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sayısı: 17 − 6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(konum 0 … 11)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2: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konsensüs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10: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TACAAT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8.78 − 1.22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7.56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0: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GCTATA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 + (−1.58) + 1.22 + 1.585 + (−1.58) + (−1.58)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−1.95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4: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TAATGC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1.22 + 1.585 − 1.58 − 1.58 − 1.58 − 1.58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−3.53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(sütun sütun eşleştir!)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6 bit → yalnızca konum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isabet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bir konum kaydırılınca 8.78'den −6.34'e düşer: PSSM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konuma duyarlıdır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12 pencerenin tamamı sonraki slaytta; değerler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pssm.calculate(Seq(...))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doğrulanmıştır.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tablosu: 12 pencerenin tamamı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GCTATAATGCTACAATC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+ iplik; her hücre = o sütundaki bazın PSSM skoru (1.58 ≈ 1.585). Eşik 6 bit → yalnız konum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8457"/>
                <a:gridCol w="2087068"/>
                <a:gridCol w="1098457"/>
                <a:gridCol w="1098457"/>
                <a:gridCol w="1098457"/>
                <a:gridCol w="1098457"/>
                <a:gridCol w="1098457"/>
                <a:gridCol w="1098457"/>
                <a:gridCol w="131814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s₄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s₆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GCTATA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CTATAA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TATAAT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ATAATG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TAATGC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AATGCT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ATGCTA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TGCTAC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GCTACA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CTACAA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TACAAT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5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ACAATC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Biopython: Bio.motifs ile PSSM ve tarama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656649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4371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 8.78 -9.51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 + 8.78 | 280 + 7.56 | 470 - 7.56 | 678 - 7.56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812 + 8.78 | 1175 - 7.56 | 1860 - 7.56 | 2692 - 8.78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 import motifs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Bio.Seq import Seq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ornekler = [Seq(s) for s in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["TATAAT", "TATAAT", "TACAAT", "GATAAT"]]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motifs.create(ornekler)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 = m.counts.normalize(pseudocounts=0.5)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pssm = pwm.log_odds()          # arka plan: eşit (0.25)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print(m.consensus, round(pssm.max, 2), round(pssm.min, 2))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konum, skor in pssm.search(dizi, threshold=6.0):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iplik = "+" if konum &gt;= 0 else "-"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konum if konum &gt;= 0 else len(dizi) + konum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print(k, iplik, round(float(skor), 2))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iki ipliği de tarar;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konum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ters iplik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iplik isabeti: konum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+ 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'dan başlayan 6-mer'in ters tamamlayıcısı motife uyar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calculate(dizi)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tüm konumların skor dizisini verir (grafik için)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seçimi: maksimumun ≈ %70'i (6 / 8.78) — keyfî, veriyle ayarlanmalı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 boyunca tarama: 8 isabet, 1 gerçek promotör</a:t>
            </a:r>
            <a:endParaRPr lang="en-US" sz="2800" dirty="0"/>
          </a:p>
        </p:txBody>
      </p:sp>
      <p:pic>
        <p:nvPicPr>
          <p:cNvPr id="3" name="Image 0" descr="p05_pssm_ta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9491"/>
            <a:ext cx="6434761" cy="41790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03441" y="1234440"/>
            <a:ext cx="4339614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iplikte 3 isabet (203, 280, 812), − iplikte 5 → toplam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203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−10 kutusu (açıklamadaki promotör)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≥ 6 olan 6-mer'ler (konsensüs + tek sapmalılar) rastgele dizide de çıkar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sorun: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kısa motif, uzun genom → düşük özgüllük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−35 kutusu + aralık gibi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birleşik sinyaller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korunmuşluk, 13. haftada makine öğrenmesi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okuma çerçevesi (ORF) bulma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çerçeve, bir durum makinesi ve bir olasılık eşiği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 bulucu: iki durumlu bir makine</a:t>
            </a:r>
            <a:endParaRPr lang="en-US" sz="3000" dirty="0"/>
          </a:p>
        </p:txBody>
      </p:sp>
      <p:pic>
        <p:nvPicPr>
          <p:cNvPr id="3" name="Image 0" descr="p05_orf_du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624"/>
            <a:ext cx="5547208" cy="40228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15888" y="1234440"/>
            <a:ext cx="522716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ATG ile başlayıp aynı çerçevedeki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 kodonunda biten, en az L kodonluk bölge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çerçeve için kodonlar sırayla okunur (adım = 3)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çerçeve: ileri iplikte 0, 1, 2; ters tamamlayıcıda 0, 1, 2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iplik koordinatı ileri ipliğe: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− son, N − baş)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durumdayken görülen ATG yok sayılır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uzun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ORF seçilir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orf_bul: altı çerçevede ORF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7100426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8809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(234, 1134, 1)   900 bp → 299 aa   = ornA (234–1134, +)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(1320, 1935, -1) 615 bp → 204 aa   ornB açıklaması: 1320–1920 (−)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(1590, 1947, 1)  357 bp → 118 aa   sahte ORF (ornB ile örtüşür)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100426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88097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 = {"TAA", "TAG", "TGA"}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orf_bul(dizi, min_kodon=100):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dizi = str(dizi).upper(); N = len(dizi)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rc = str(Seq(dizi).reverse_complement())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orfs = []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iplik, d in [(1, dizi), (-1, rc)]: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cerceve in range(3):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 = None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i in range(cerceve, N - 2, 3):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kodon = d[i:i + 3]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bas is None and kodon == "ATG":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bas = i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elif bas is not None and kodon in DUR: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(i + 3 - bas) // 3 &gt;= min_kodon: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if iplik == 1: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orfs.append((bas, i + 3, 1))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else: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orfs.append((N - (i + 3), N - bas, -1))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bas = None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sorted(orfs)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969106" y="1234440"/>
            <a:ext cx="3673949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Karmaşıklık: 6 çerçeve × N/3 kodon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uzunluğu = bp/3 − 1 (dur kodonu hariç)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ornB için bulunan ORF açıklamadan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bp uzun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aynı çerçevede yukarıda başka bir ATG var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ORF ters iplikteki gerçek genin ileri iplikteki 'gölgesi'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Uzunluk eşiği neden gerekli?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bir dizide ATG'den sonra en az L kodon boyunca dur kodonu gelmeme olasılığı nedir? L = 30, 100 için hesaplayın; ortalama rastgele ORF uzunluğunu bulun.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109441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kodonun 3'ü dur → bir kodonun dur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olmama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olasılığı 61/64 = 0.953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Kodonlar bağımsız: P(ORF ≥ L) ≈ (61/64)^L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30: 0.953³⁰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0.237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rastgele ATG'lerin dörtte biri 30 kodonu geçer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100: 0.953¹⁰⁰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0.0082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yaklaşık 120 ATG'de bir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uzunluk: geometrik dağılım, 1/(3/64)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 kodon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(≈ 64 bp)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Plazmit: eşik 30 → 19 ORF, 50 → 10, 100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150 → 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bakteri genleri ortalama ≈ 300 kodon; rastgele ORF'lar ortalama ≈ 21 kodon. L = 100 eşiği yanlış pozitifleri ≈ %99 azaltır ama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gerçek genleri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kaçırır.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Uzunluk eşiği: teori ve plazmit</a:t>
            </a:r>
            <a:endParaRPr lang="en-US" sz="3000" dirty="0"/>
          </a:p>
        </p:txBody>
      </p:sp>
      <p:pic>
        <p:nvPicPr>
          <p:cNvPr id="3" name="Image 0" descr="p05_orf_es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9016"/>
            <a:ext cx="7322314" cy="3460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0994" y="1234440"/>
            <a:ext cx="3452061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Sol: P(ORF ≥ L) = (61/64)^L; log eksende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çizgi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üstel azalma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30: 0.24 · L = 50: 0.091 · L = 100: 0.0082 · L = 150: 0.00075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Sağ: plazmitte eşik 30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ORF, 50 → 10, 100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150 → 2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Plazmitte yalnız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CDS var: L = 100'de 1 sahte ORF kalıyor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Restriksiyon enzimleri ve sanal jel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 yerleri, dairesel DNA'da parça boyları, jel elektroforezi benzetimi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enzim ve plazmitteki kesim yerleri</a:t>
            </a:r>
            <a:endParaRPr lang="en-US" sz="3000" dirty="0"/>
          </a:p>
        </p:txBody>
      </p:sp>
      <p:pic>
        <p:nvPicPr>
          <p:cNvPr id="3" name="Image 0" descr="p05_plazmit_ke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9213"/>
            <a:ext cx="4659654" cy="46596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28334" y="1234440"/>
            <a:ext cx="6114721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G^AATTC, 5' yapışkan → kesim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1196, 2982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BamHI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G^GATCC, 5' yapışkan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HindIII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A^AGCTT, 5' yapışkan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2158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CCC^GGG, küt uç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1849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Dördü 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palindromik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6-mer (ters tamamlayıcısı kendisi)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enz.search(dizi, linear=False)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dairesel molekülde sınırı aşan yerler de bulunur; konum = kesimden sonraki ilk baz (1 tabanlı)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beklenti: 3000 / 4096 ≈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yer / enzim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DNA'da parça boyları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— ders notundaki sindirimler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3000 bp dairesel plazmit. Kesimler c₁ &lt; … &lt; cₙ ise parçalar c₂ − c₁, …, cₙ − cₙ₋₁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sarmal parça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 − cₙ) + c₁. Dört sindirim için parçaları bulun.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769096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 (1196, 2982): 2982 − 1196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1786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sarmal: 3000 − 2982 + 1196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BamHI (2002): tek kesim → dairesel molekül yalnızca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doğrusallaşır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3000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 + HindIII (1196, 2158, 2982): 962, 824, sarmal 1214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Üçlü (1196, 2002, 2158, 2982): 806,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824, 1214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Kontrol: her satırın toplamı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olmalı (ör. 806 + 156 + 824 + 1214 = 3000)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7776" y="2779776"/>
          <a:ext cx="5005279" cy="914400"/>
        </p:xfrm>
        <a:graphic>
          <a:graphicData uri="http://schemas.openxmlformats.org/drawingml/2006/table">
            <a:tbl>
              <a:tblPr/>
              <a:tblGrid>
                <a:gridCol w="2410685"/>
                <a:gridCol w="603158"/>
                <a:gridCol w="19914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Sindirim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Parçalar (bp)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1786, 1214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BamHI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EcoRI + HindIII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962, 824, 1214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EcoRI + BamHI + HindIII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806, 156, 824, 1214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DNA'da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kesim → n parça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doğrusal DNA'da n + 1. Toplam uzunluk korunur — basit ama güçlü bir birim testi.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mı dairesel mi? SmaI + EcoRI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— yeni (alıştırma 4'ün genişletilmişi)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SmaI (1849) + EcoRI (1196, 2982) sindirimini (a) dairesel plazmit, (b) aynı dizinin doğrusal kopyası için hesaplayın. Biopython'da kesim konumu, kesimden sonraki ilk bazdır (1 tabanlı).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Kesimler sıralı: 1196, 1849, 2982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İç parçalar: 1849 − 1196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2982 − 1849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1133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Sarmal: 3000 − 2982 + 1196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1214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 parça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Baş parça: 1196 − 1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1195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son parça: 3000 − 2982 + 1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4 parça: 1195, 653, 1133, 19 (toplam 3000)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Gözlem: doğrusalda 1195 + 19 = 1214 → dairesel sarmal parça ikiye bölünür</a:t>
            </a:r>
            <a:endParaRPr lang="en-US" sz="16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1218899"/>
                <a:gridCol w="1523624"/>
                <a:gridCol w="1929924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Dairesel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Parça sayısı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Parçalar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653, 1133, 1214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1195, 653, 1133, 19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linear=False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unutulursa sonuç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olur: 19 bp'lik yapay bir parça ortaya çıkar ve 1214 bp'lik bant kaybolur.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Sanal agaroz jel</a:t>
            </a:r>
            <a:endParaRPr lang="en-US" sz="3000" dirty="0"/>
          </a:p>
        </p:txBody>
      </p:sp>
      <p:pic>
        <p:nvPicPr>
          <p:cNvPr id="3" name="Image 0" descr="p05_sanal_j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8352"/>
            <a:ext cx="7322314" cy="45813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0994" y="1234440"/>
            <a:ext cx="3452061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negatif yüklü → (+) kutba göç eder; küçük parça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hızlı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Göç mesafesi ≈ a − b · log₁₀(boy) → merdivenle kalibre edilir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806 ve 824 bp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bant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görünür (ayırma sınırı)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bp en uzağa gider; 19 bp gibi parçalar jelden çıkar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tek kesimli BamHI: 3000 bp'lik tek bant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özellikleri ve GC eğimi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ProteinAnalysis</a:t>
            </a: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MW, pI, GRAVY, kararsızlık; hidropati profili; GC skew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ProteinAnalysis sonuçları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4706722"/>
                <a:gridCol w="1344778"/>
                <a:gridCol w="1344778"/>
                <a:gridCol w="16809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magainin-2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Uzunluk (aa)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 kodonuna kadar çeviri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 (kDa)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kalıntı kütleleri + su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yük = 0 olduğu pH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Kyte–Doolittle; &gt; 0 hidrofobik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Aromatiklik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 + W + Y) / uzunluk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Kararsızlık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 in vitro kararsız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 (pH 7.4)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charge_at_pH(7.4)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9158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291584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ProteinAnalysis(str(f.extract(dizi).translate(table=11, to_stop=True)))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bakteriyel kod tablosu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to_stop=True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 kodonunu (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çıkarır, aksi hâlde bazı hesaplar hata verir.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GRAVY'yi elle hesaplamak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— yeni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AKLVIE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heksapeptidinin GRAVY değerini Kyte–Doolittle ölçeğiyle hesaplayın. Peptit hidrofobik mi?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5547208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değerleri: A = 1.8, K = −3.9, L = 3.8, V = 4.2, I = 4.5, E = −3.5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1.8 − 3.9 + 3.8 + 4.2 + 4.5 − 3.5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 = toplam / uzunluk = 6.9 / 6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Yüklü kalıntılar (K, E) toplamı −7.4 düşürür; LVI çekirdeği +12.5 katar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doğrulama: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gravy()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1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487168"/>
          <a:ext cx="5227168" cy="914400"/>
        </p:xfrm>
        <a:graphic>
          <a:graphicData uri="http://schemas.openxmlformats.org/drawingml/2006/table">
            <a:tbl>
              <a:tblPr/>
              <a:tblGrid>
                <a:gridCol w="1469189"/>
                <a:gridCol w="599687"/>
                <a:gridCol w="652973"/>
                <a:gridCol w="599687"/>
                <a:gridCol w="599687"/>
                <a:gridCol w="652973"/>
                <a:gridCol w="65297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Kümülatif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 &gt; 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hidrofobik. Kayan pencerede (w = 9) ortalama ≈ 1.6'yı aşan uzun bölgeler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transmembran heliks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adayıdır.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Hidropati profili: ornA</a:t>
            </a:r>
            <a:endParaRPr lang="en-US" sz="3000" dirty="0"/>
          </a:p>
        </p:txBody>
      </p:sp>
      <p:pic>
        <p:nvPicPr>
          <p:cNvPr id="3" name="Image 0" descr="p05_hidropa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4780"/>
            <a:ext cx="11094415" cy="39170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49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Kyte–Doolittle, pencere = 9; gölgeli alanlar 1.6 eşiğini aşan pencereler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eğimi (GC skew) ve replikasyon orijini</a:t>
            </a:r>
            <a:endParaRPr lang="en-US" sz="3000" dirty="0"/>
          </a:p>
        </p:txBody>
      </p:sp>
      <p:pic>
        <p:nvPicPr>
          <p:cNvPr id="3" name="Image 0" descr="p05_gc_sk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8805"/>
            <a:ext cx="11094415" cy="302898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30947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skew = (G − C) / (G + C); kümülatif eğrinin minimumu ≈ ori, maksimumu ≈ 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hatalar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CG ≠ GC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01368"/>
            <a:ext cx="314949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CpG, 5'→3' yönünde C'nin ardından G'dir.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saymak ya da örtüşen eşleşmeleri kaçırmak (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str.count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örtüşmeyenleri sayar) sonucu bozar.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8218" y="12344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Sahte sayımı unutmak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21098" y="1801368"/>
            <a:ext cx="314949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 ile görülmeyen baz −∞ skor alır; tek bir sapma gerçek bir bağlanma yerini tamamen dışlar.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797" y="12344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Negatif konum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10677" y="1801368"/>
            <a:ext cx="314949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pssm.search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ters iplik isabetlerini negatif konumla verir; doğrudan dilimleme yanlış bölgeyi gösterir.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DECE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959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linear=True varsayılanı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53128"/>
            <a:ext cx="314949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Plazmitte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linear=False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verilmezse sınırı aşan yer kaçar, sarmal parça ikiye bölünür.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38218" y="38862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1098" y="39959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Yanlış kod tablosu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4453128"/>
            <a:ext cx="314949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Bakteriyel CDS için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table=11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to_stop=True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olmadan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karakteri ProteinAnalysis'i bozar.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27797" y="388620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10677" y="399592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İsabet = fonksiyon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10677" y="4453128"/>
            <a:ext cx="314949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IUPAC/PSSM isabeti ve uzun ORF yalnızca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aday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dır; rastgele beklentiyle karşılaştırılmadan yorumlanmaz.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tipi soru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Birleşik soru — birden çok aracı birlikte kullanma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4800 bp'lik dairesel bir plazmitte EcoRI yerleri 400 ve 3100'de, HindIII yeri 1900'de. (a) EcoRI + HindIII parçaları? (b) Jelde kaç bant? (c) Rastgele dizide 4800 bp'de kaç EcoRI yeri beklenirdi?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109441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Sıralı kesimler: 400, 1900, 3100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parçalar: 1900 − 400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3100 − 1900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Sarmal: 4800 − 3100 + 400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kontrol 1500 + 1200 + 2100 = 4800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Üç farklı boy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bant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(yukarıdan: 2100, 1500, 1200)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E = 4800 / 4096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(dairesel: N konum) — 2 yer olağan dışı değil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Parçalar 2100, 1500, 1200 bp; 3 bant; beklenen ≈ 1.2 EcoRI yeri.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alıştırmaları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hafta05_dizi_analiz_araclari.ipynb  —  çözümler notebook'un sonunda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Plazmitte görülmeyen 4-mer'leri bulun. Rastgele 3000 bp'de beklenen: 256 · (1 − 1/256)^2997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(gözlenen: 0)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 kutusu örnekleri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TTGACA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TTGACT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TTGATA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CTGACA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ile PSSM kurun; en yüksek skorlu konum? (Cevap: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TTGACA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8.42 bit — gerçek promotörün −35 kutusu)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orf_bul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 GTG ve TTG başlangıçlarını da kabul edecek şekilde genişletin (L = 100: 3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ORF)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SmaI + EcoRI sindirim parçaları? (Cevap: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653, 1133, 1214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ornB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'nin pI değeri ve pH 7.4'teki net yükü? (Cevap: pI = 10.24, yük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+13.5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−10 (konum 203) ve −35 (konum 180) kutuları arasındaki boşluk kaç bp? Tipik σ⁷⁰ aralığı 16–18 bp ile karşılaştırın.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5: Dizi analiz araçları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Özet ve sonraki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ve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o/e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oranları dizi imzası verir; CpG baskılanması i.i.d. modelin gerçek genomlarda bozulduğunu gösterir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 → ikili eşleşme;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log-odds toplamı; sahte sayım −∞'u önler; isabetleri beklentiyle kıyasla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 bulucu: 6 çerçevede iki durumlu makine;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(61/64)^L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uzunluk eşiğini gerekçelendirir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DNA'da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kesim → n parça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sarmal parçayı ve linear=False'u unutma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ProteinAnalysis: MW, pI, GRAVY, kararsızlık; hidropati profili ve GC skew kayan pencere fikrinin uygulamaları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D2"/>
                </a:solidFill>
              </a:rPr>
              <a:t>Sonraki hafta  </a:t>
            </a:r>
            <a:r>
              <a:rPr lang="en-US" sz="1600" dirty="0">
                <a:solidFill>
                  <a:srgbClr val="FFFFFF"/>
                </a:solidFill>
              </a:rPr>
              <a:t>İkili dizi hizalama I — puanlama, dinamik programlama ve Needleman–Wunsch global hizalama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5: Dizi Analiz Araçları: k-mer, Motif, ORF, Restriksiyon ve Protein Özellikleri</dc:title>
  <dc:subject>PptxGenJS Presentation</dc:subject>
  <dc:creator>Biyoenformatiğe Giriş</dc:creator>
  <cp:lastModifiedBy>Biyoenformatiğe Giriş</cp:lastModifiedBy>
  <cp:revision>1</cp:revision>
  <dcterms:created xsi:type="dcterms:W3CDTF">2026-09-23T18:53:59Z</dcterms:created>
  <dcterms:modified xsi:type="dcterms:W3CDTF">2026-09-23T18:53:59Z</dcterms:modified>
</cp:coreProperties>
</file>