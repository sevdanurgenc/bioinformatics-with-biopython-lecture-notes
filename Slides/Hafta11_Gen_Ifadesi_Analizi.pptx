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dizilerden ayrılıp ilk kez büyük bir sayısal tabloyla (gen × örnek) çalışıyoruz. Dönemin veri analizi ve makine öğrenmesi bloğunun başlangıcı.
İlk saat kavramlar ve elle hesaplar (CPM, TPM, t, BH), ikinci saat keşifsel analiz, üçüncü saat diferansiyel ifade ve değerlendirme.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tahtaya yazın. Bu haftanın son hedefi (kesinlik/duyarlılık) 13. haftadaki sınıflandırma ölçütlerine köprü; bunu şimdiden söyleyin. Öğrencilere sorun: binlerce genden hangilerinin değiştiğine nasıl karar verirsiniz?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bölümde veriyi tanıyoruz: sayım matrisi nedir, neden ham sayımlar doğrudan karşılaştırılamaz ve neden Poisson modeli yetmez. Yaklaşık 20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akışı soldan sağa çizin ve sayım matrisi kutusunu daire içine alın. Gerçek projelerde hizalama için STAR/HISAT2, hızlı sayım için Salmon/kallisto kullanılır; bunları yalnızca adıyla anın. Sentetik veri seçiminin nedeni: gerçek veride hangi genin gerçekten değiştiğini bilemeyiz.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GEN0003 satırını tartışın: T1'de 260, K1'de 50. Bu gerçek bir artış mı, yoksa T1 daha derin dizilendiği için mi? Öğrencilere sorun; cevap normalizasyon bölümüne köprü. Kütüphane büyüklüğü değerleri notebook'taki sayim.sum(axis=0) çıktısından.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panel: derinlik 0.44–0.99 milyon arasında; K6 ve T4 en derin örnekler. Sağ panel: sayımlar birkaç büyüklük mertebesine yayılıyor, dağılım çok çarpık. Bu iki gözlem iki dönüşümü gerektirir: derinlik için normalizasyon, çarpıklık için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Grafikte her nokta bir gen; kesikli kırmızı çizgi Poisson beklentisi. Noktaların hepsi çizginin üstünde ve fark ortalama arttıkça büyüyor: μ² terimi. Mini örneği tahtada hesaplatın. Bu derste NB modeli kurmayacağız; log dönüşümü + t-testi ile yaklaşık ama öğretici bir yol izleyeceğiz.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saatin ikinci yarısı ve ikinci saatin başı. İki elle örnek (CPM/TPM ve medyan-oranlar) tahtada birlikte çözülecek; ardından korelasyon ve PCA ile kalite kontrol.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yöntemin neyi düzelttiğine odaklanın. RPKM/FPKM'yi yalnızca adıyla anın: TPM'e benzer ama örnekler arası toplamı sabit değildir; bu yüzden TPM tercih edilir. Kompozisyon kavramını bir sonraki iki örnek açıklayacak.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Uzun genler daha çok parçaya bölündüğü için daha çok okuma alır; TPM bunu düzeltir. Öğrencilere sorun: C'nin TPM'i neden CPM'inden büyük? (Kısa gen, RPK'sı yüksek.) Doğrulama: notebook hücresi aynı tabloyu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Medyan, dayanıklı (robust) bir istatistiktir: genlerin yarısından azı değişiyorsa boyut faktörünü etkilemez. Sıfır sayım içeren genlerin geometrik ortalaması sıfır olur; bu yüzden hesaplamadan çıkarılır (ders verisinde 59 gen). Hesap Python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haftanın en önemli kavramsal noktalarından biri. Öğrencilere sorun: gerçek biyolojide hangi durumlarda genlerin çoğu değişir? (Ör. global transkripsiyon değişimi.) O zaman medyan-oran varsayımı da bozulur. CPM değerleri Python ile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 notebook'taki tablodan kısaltıldı (8 örnek gösteriliyor, 12'sinde oran 1.166–1.204 arasında). Oranın 1 değil 1.19 olması sorun değil; önemli olan örnekler arasında sabit olması. log/exp kalıbının sayısal kararlılık için neden seçildiğini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Katların simetrisini vurgulayın: iki kat artış ile yarıya iniş doğrusal ölçekte +100 ve −50, log ölçekte +1 ve −1. Filtreleme adımını da burada anın: çok düşük ifadeli genler gürültülüdür ve test sayısını boşuna artırır. Alıştırma 4 log dönüşümü olmadan analizi yaptırıyor.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Keşifsel analiz DE testinden önce yapılmalı: bir örnek yanlış grupta kümeleniyorsa sonuçların hepsi şüphelidir. Korelasyon aralıkları notebook verisinden hesaplandı. PCA'nın matematiğini 12. haftada elle yapacağız; burada yalnızca bir kalite kontrol aracı olarak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saatin ana bölümü: tek bir gen için hipotez testinden tüm genlere geçiyoruz. Öğrencilere t-testini hatırlayıp hatırlamadıklarını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log2FC'nin biyolojik büyüklük, p-değerinin istatistiksel kanıt olduğunu ayırın: çok gürültülü bir gende büyük FC anlamsız olabilir; çok kararlı bir gende küçük FC anlamlı olabilir. Welch df formülünü ezberletmeyin, bir sonraki örnekte bir kez hesaplayacağız. Kutudaki uyarıyı yüksek sesle okuyun: p-değerinin yanlış yorumu bilimsel literatürde bile çok yaygındır.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Grafikte kırmızı kuyruklar p-değerini oluşturan alan; çok küçük olduğu için zor görünüyor, bu da bir mesaj. t dağılımının normalden kalın kuyruklu olduğunu gösterin: küçük n'de daha büyük t gerekir. Öğrencilere n = 3'ün ne kadar az olduğunu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yeni örnek Welch–Satterthwaite formülünü bir kez somutlaştırıyor. Hesap scipy ile doğrulandı: Welch t = 4.099, ν = 3.973, p = 0.0151; Student p = 0.0064. Öğrencilere sorun: gen başına 6 örnekle varyansı ne kadar iyi tahmin edebiliriz? DESeq2/limma bu yüzden genler arası bilgi paylaşır (büzülme).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ham sayımdan p-değerine kadar tüm zinciri tek bir gen için izliyoruz. Değerler notebook verisinden Python ile hesaplandı (tablo iki ondalığa yuvarlanmış). Öğrencilere bir de GEN0003'ü önerin: log2FC = 0.27, p = 0.48 — ham sayımlardaki "artış" derinlik farkından kaynaklanıyordu.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Vektörleştirmenin önemini vurgulayın; Python döngüsüyle 1941 kez ttest_ind çağırmak çok daha yavaştır. Öğrencilere sorun: 281 keşiften kaçı yanlış olabilir? Tahminlerini tahtaya yazın, bölüm 5'te gerçek cevapla karşılaştıracağız (138).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Histogramı her DE analizinde çizmeyi alışkanlık haline getirmelerini söyleyin. Düz tabanın H₀ altındaki düzgün dağılımdan geldiğini tahtada kısaca gösterin: P(p ≤ a) = a. Storey yöntemini yalnızca adıyla 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saatin başı. Bu bölümün sonunda öğrenciler BH prosedürünü elle uygulayabilmeli; sınavda mutlaka bir BH sorusu olacağını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FWER ile FDR arasındaki farkı somut bir cümleyle verin: Bonferroni 'listemde tek bir yanlış bile olmasın' der; BH 'listemin en fazla yüzde 5'i yanlış olsun' der. Keşifsel genomikte ikincisi daha anlamlıdır çünkü listeyi zaten deneyle doğrulayacağız. Bonferroni eşiğini (2.58 × 10⁻⁵) tahtada hesaplayın; birkaç slayt sonra ders verisindeki sınır sıralarında bu eşiği tekrar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Grafikte kesikli kırmızı çizgi BH eşiği; noktaların çizginin altında kaldığı en sağdaki k aranır. 'En büyük k' kuralının önemini vurgulayın: adım yukarı (step-up) prosedürü. Tahtada eşik çizgisini çizip öğrencilere noktaları yerleştirtin.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 BH'nin iki eşdeğer yüzünü yan yana gösteriyor: soldaki eşik sütunu 'kaç keşif?' sorusunu, sağdaki q sütunu 'her genin düzeltilmiş değeri ne?' sorusunu cevaplar. Öğrencilere iki yolun her zaman aynı listeyi verdiğini gösterin: q₍ₖ₎ ≤ α, k'dan büyük ya da eşit bir j için m·p₍ⱼ₎/j ≤ α olmasına denktir.
Kümülatif minimum adımını öğrenciler en sık atlar; o zaman q-değerleri sıra ile monoton olmaz (burada k = 3'te 0.104 &gt; k = 4'te 0.082). q-değeri yorumu: 'bu gene kadar olan listeyi kabul edersem beklenen yanlış keşif oranım'. Değerler notebook ve scipy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küçük örnekteki mantığı gerçek veriye taşıyor: öğrenciler 1941 satırı değil, yalnızca kararın değiştiği sınır sıralarını görüyor. Değerler notebook'taki log2(CPM+1) ve Welch t-testi hattı Python ile yeniden çalıştırılarak hesaplandı; eşiği geçen en büyük k gerçekten 133.
Öğrencilere sorun: 134. genin q-değeri neden 0.05'ten biraz büyük? Sınırda kalan genlerin biyolojik önemi, 0.049 ile 0.051 arasındaki farktan çok etki büyüklüğüne (log2FC) bağlıdır; bu yüzden sonuçlar tablosunda FC eşiğini de ekleyeceğiz.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Kodu satır satır geçin ve önceki slayttaki tabloyla eşleştirin. Ters indeksleme kalıbı (cikti[sira] = ...) öğrencilere yenidir; küçük bir örnekle tahtada gösterin. Kendi yazdığımız fonksiyonu SciPy ile karşılaştırmak yazılım mühendisliğindeki birim testi alışkanlığının bir örneğidir; öğrencilerden aynı testi Bonferroni için yazmalarını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Sentetik veri sayesinde gerçek cevabı bildiğimiz için yöntemleri nesnel olarak karşılaştırabiliyoruz; bu, 13. haftadaki model değerlendirmesinin provası.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Volkan grafiği iki ölçütü birlikte gösterir: yatayda etki büyüklüğü, dikeyde kanıt. Sağ üst ve sol üst köşeler ilginç genler. MA grafiği düşük ifadeli genlerde FC'nin daha dağınık olduğunu gösterir: az okuma, çok gürültü. Öğrencilere sorun: volkanın ortası neden dar ve yüksek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haftanın ana mesajı. Öğrencilerin 'kaçı yanlış?' tahminlerini hatırlatın: 138. BH ile FC eşiğinin birlikte kullanılmasının kesinliği 0.99'a çıkardığını ama birkaç gerçek geni kaybettiğini gösterin. Aynı kavramlar 13. haftada sınıflandırıcılar için geri gelecek.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TN'nin büyüklüğü dengesiz veri problemini tanıtmak için ideal: 1795 negatif, 146 pozitif. Doğruluk (accuracy) = (125 + 1787)/1941 = 0.985; hiçbir gen seçmeyen model bile 0.925 doğruluk alır. Bu nokta 13. haftada tekrar gelecek.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Z-skoru olmadan yüksek ifadeli genler renk ölçeğini domine eder. Isı haritasının DE genlerle çizildiğini, dolayısıyla grupların ayrışmasının kendiliğinden bir kanıt olmadığını (döngüsel akıl yürütme) belirtin. Bu ince nokta sık yapılan hatalardan biri.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Log'suz test ve az tekrar sayıları notebook'taki alıştırma çözümlerinden: CPM üzerinde 101 keşif, duyarlılık 0.658; n = 3'te 1 keşif. Bunları öğrencilere laboratuvarda kendilerinin görmesini söyleyin. DESeq2/edgeR R paketleridir; Python'da PyDESeq2 mevcut.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Sınavda benzer bir soru çıkabileceğini söyleyin. Hesap Python ile doğrulandı. Öğrencilerin sık hatası: BH'de ilk ✗ görünce durmak. Bu örnekte fark yok ama önceki 8'li örnekte en büyük k kuralı önemliydi.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saatin ikinci yarısı. Ek soru yeni: G4'ün oranları 0.707 ve 1.414 olur; dört genin medyanı yine 0.707 ve 1.414 çıkar, çünkü değişmeyen genler çoğunlukta. 3. sorunun cevabı: en küçük p = 2/924 ≈ 0.0022; BH eşiği için yeterince küçük değil, parametrik olmayan testler küçük n'de güçsüzdür.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Özette öğrencilere bir köprü sorusu bırakın: bu hafta etiketleri (kontrol/tedavi) biliyorduk. Etiketler olmasaydı örnekleri nasıl gruplardık? Cevap gelecek haftanın konusu: denetimsiz öğrenme.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11</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Gen İfadesi: Normalizasyon, Keşifsel Analiz ve Diferansiyel İfade</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Sayım matrisinden güvenilir bir diferansiyel ifade gen listesine</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hafta11_gen_ifadesi_analizi.ipynb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RNA-seq iş akışını ve </a:t>
            </a:r>
            <a:r>
              <a:rPr lang="en-US" sz="1800" b="1" dirty="0">
                <a:solidFill>
                  <a:srgbClr val="212121"/>
                </a:solidFill>
                <a:latin typeface="Calibri" pitchFamily="34" charset="0"/>
                <a:ea typeface="Calibri" pitchFamily="34" charset="-122"/>
                <a:cs typeface="Calibri" pitchFamily="34" charset="-120"/>
              </a:rPr>
              <a:t>sayım matrisinin</a:t>
            </a:r>
            <a:r>
              <a:rPr lang="en-US" sz="1800" dirty="0">
                <a:solidFill>
                  <a:srgbClr val="212121"/>
                </a:solidFill>
                <a:latin typeface="Calibri" pitchFamily="34" charset="0"/>
                <a:ea typeface="Calibri" pitchFamily="34" charset="-122"/>
                <a:cs typeface="Calibri" pitchFamily="34" charset="-120"/>
              </a:rPr>
              <a:t> istatistiksel özelliklerini (aşırı yayılım) anlamak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CPM, TPM ve medyan-oranlar</a:t>
            </a:r>
            <a:r>
              <a:rPr lang="en-US" sz="1800" dirty="0">
                <a:solidFill>
                  <a:srgbClr val="212121"/>
                </a:solidFill>
                <a:latin typeface="Calibri" pitchFamily="34" charset="0"/>
                <a:ea typeface="Calibri" pitchFamily="34" charset="-122"/>
                <a:cs typeface="Calibri" pitchFamily="34" charset="-120"/>
              </a:rPr>
              <a:t> normalizasyonunu elle ve kodla hesaplamak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Log dönüşümü, örnek korelasyonu ve </a:t>
            </a:r>
            <a:r>
              <a:rPr lang="en-US" sz="1800" b="1" dirty="0">
                <a:solidFill>
                  <a:srgbClr val="212121"/>
                </a:solidFill>
                <a:latin typeface="Calibri" pitchFamily="34" charset="0"/>
                <a:ea typeface="Calibri" pitchFamily="34" charset="-122"/>
                <a:cs typeface="Calibri" pitchFamily="34" charset="-120"/>
              </a:rPr>
              <a:t>PCA</a:t>
            </a:r>
            <a:r>
              <a:rPr lang="en-US" sz="1800" dirty="0">
                <a:solidFill>
                  <a:srgbClr val="212121"/>
                </a:solidFill>
                <a:latin typeface="Calibri" pitchFamily="34" charset="0"/>
                <a:ea typeface="Calibri" pitchFamily="34" charset="-122"/>
                <a:cs typeface="Calibri" pitchFamily="34" charset="-120"/>
              </a:rPr>
              <a:t> ile veriyi keşfetmek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log2FC</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Welch t-testi</a:t>
            </a:r>
            <a:r>
              <a:rPr lang="en-US" sz="1800" dirty="0">
                <a:solidFill>
                  <a:srgbClr val="212121"/>
                </a:solidFill>
                <a:latin typeface="Calibri" pitchFamily="34" charset="0"/>
                <a:ea typeface="Calibri" pitchFamily="34" charset="-122"/>
                <a:cs typeface="Calibri" pitchFamily="34" charset="-120"/>
              </a:rPr>
              <a:t> ile her gen için hipotez testi yapmak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Çoklu test problemini </a:t>
            </a:r>
            <a:r>
              <a:rPr lang="en-US" sz="1800" b="1" dirty="0">
                <a:solidFill>
                  <a:srgbClr val="212121"/>
                </a:solidFill>
                <a:latin typeface="Calibri" pitchFamily="34" charset="0"/>
                <a:ea typeface="Calibri" pitchFamily="34" charset="-122"/>
                <a:cs typeface="Calibri" pitchFamily="34" charset="-120"/>
              </a:rPr>
              <a:t>Bonferroni</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Benjamini–Hochberg</a:t>
            </a:r>
            <a:r>
              <a:rPr lang="en-US" sz="1800" dirty="0">
                <a:solidFill>
                  <a:srgbClr val="212121"/>
                </a:solidFill>
                <a:latin typeface="Calibri" pitchFamily="34" charset="0"/>
                <a:ea typeface="Calibri" pitchFamily="34" charset="-122"/>
                <a:cs typeface="Calibri" pitchFamily="34" charset="-120"/>
              </a:rPr>
              <a:t> ile çözmek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Sonucu gerçek cevapla karşılaştırıp </a:t>
            </a:r>
            <a:r>
              <a:rPr lang="en-US" sz="1800" b="1" dirty="0">
                <a:solidFill>
                  <a:srgbClr val="212121"/>
                </a:solidFill>
                <a:latin typeface="Calibri" pitchFamily="34" charset="0"/>
                <a:ea typeface="Calibri" pitchFamily="34" charset="-122"/>
                <a:cs typeface="Calibri" pitchFamily="34" charset="-120"/>
              </a:rPr>
              <a:t>kesinlik/duyarlılık</a:t>
            </a:r>
            <a:r>
              <a:rPr lang="en-US" sz="1800" dirty="0">
                <a:solidFill>
                  <a:srgbClr val="212121"/>
                </a:solidFill>
                <a:latin typeface="Calibri" pitchFamily="34" charset="0"/>
                <a:ea typeface="Calibri" pitchFamily="34" charset="-122"/>
                <a:cs typeface="Calibri" pitchFamily="34" charset="-120"/>
              </a:rPr>
              <a:t> hesaplamak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RNA-seq akışı, sayım matrisi, normalizasyon türleri; CPM/TPM ve medyan-oranlar elle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Log dönüşümü, filtreleme, korelasyon, PCA; t-testi elle (Notebook 11: bölüm 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Çoklu test (BH adım adım), volkan/MA, gerçek cevapla karşılaştırma (bölüm 5–7)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RNA-seq ve sayım matrisi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Hangi gen, hangi örnekte, kaç okuma? Tamsayılardan oluşan bir gen × örnek tablosu</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RNA-seq iş akışı: bu hafta nereden başlıyoruz?</a:t>
            </a:r>
            <a:endParaRPr lang="en-US" sz="2800" dirty="0"/>
          </a:p>
        </p:txBody>
      </p:sp>
      <p:sp>
        <p:nvSpPr>
          <p:cNvPr id="3" name="Shape 1"/>
          <p:cNvSpPr/>
          <p:nvPr/>
        </p:nvSpPr>
        <p:spPr>
          <a:xfrm>
            <a:off x="548640" y="1417320"/>
            <a:ext cx="2464994" cy="1234440"/>
          </a:xfrm>
          <a:prstGeom prst="roundRect">
            <a:avLst>
              <a:gd name="adj" fmla="val 5926"/>
            </a:avLst>
          </a:prstGeom>
          <a:solidFill>
            <a:srgbClr val="F7F9FA"/>
          </a:solidFill>
          <a:ln w="12700">
            <a:solidFill>
              <a:srgbClr val="B0BEC5"/>
            </a:solidFill>
            <a:prstDash val="solid"/>
          </a:ln>
        </p:spPr>
      </p:sp>
      <p:sp>
        <p:nvSpPr>
          <p:cNvPr id="4" name="Text 2"/>
          <p:cNvSpPr txBox="1"/>
          <p:nvPr/>
        </p:nvSpPr>
        <p:spPr>
          <a:xfrm>
            <a:off x="621792"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Örnek</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Doku / hücre, RNA izolasyonu</a:t>
            </a:r>
            <a:endParaRPr lang="en-US" sz="1500" dirty="0"/>
          </a:p>
        </p:txBody>
      </p:sp>
      <p:sp>
        <p:nvSpPr>
          <p:cNvPr id="5" name="Shape 3"/>
          <p:cNvSpPr/>
          <p:nvPr/>
        </p:nvSpPr>
        <p:spPr>
          <a:xfrm>
            <a:off x="3059354" y="2034540"/>
            <a:ext cx="320040" cy="0"/>
          </a:xfrm>
          <a:prstGeom prst="line">
            <a:avLst/>
          </a:prstGeom>
          <a:noFill/>
          <a:ln w="19050">
            <a:solidFill>
              <a:srgbClr val="546E7A"/>
            </a:solidFill>
            <a:prstDash val="solid"/>
            <a:tailEnd type="triangle"/>
          </a:ln>
        </p:spPr>
      </p:sp>
      <p:sp>
        <p:nvSpPr>
          <p:cNvPr id="6" name="Shape 4"/>
          <p:cNvSpPr/>
          <p:nvPr/>
        </p:nvSpPr>
        <p:spPr>
          <a:xfrm>
            <a:off x="3425114" y="1417320"/>
            <a:ext cx="2464994" cy="1234440"/>
          </a:xfrm>
          <a:prstGeom prst="roundRect">
            <a:avLst>
              <a:gd name="adj" fmla="val 5926"/>
            </a:avLst>
          </a:prstGeom>
          <a:solidFill>
            <a:srgbClr val="F7F9FA"/>
          </a:solidFill>
          <a:ln w="12700">
            <a:solidFill>
              <a:srgbClr val="B0BEC5"/>
            </a:solidFill>
            <a:prstDash val="solid"/>
          </a:ln>
        </p:spPr>
      </p:sp>
      <p:sp>
        <p:nvSpPr>
          <p:cNvPr id="7" name="Text 5"/>
          <p:cNvSpPr txBox="1"/>
          <p:nvPr/>
        </p:nvSpPr>
        <p:spPr>
          <a:xfrm>
            <a:off x="3498266"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Kütüphane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cDNA + dizileme → FASTQ</a:t>
            </a:r>
            <a:endParaRPr lang="en-US" sz="1500" dirty="0"/>
          </a:p>
        </p:txBody>
      </p:sp>
      <p:sp>
        <p:nvSpPr>
          <p:cNvPr id="8" name="Shape 6"/>
          <p:cNvSpPr/>
          <p:nvPr/>
        </p:nvSpPr>
        <p:spPr>
          <a:xfrm>
            <a:off x="5935828" y="2034540"/>
            <a:ext cx="320040" cy="0"/>
          </a:xfrm>
          <a:prstGeom prst="line">
            <a:avLst/>
          </a:prstGeom>
          <a:noFill/>
          <a:ln w="19050">
            <a:solidFill>
              <a:srgbClr val="546E7A"/>
            </a:solidFill>
            <a:prstDash val="solid"/>
            <a:tailEnd type="triangle"/>
          </a:ln>
        </p:spPr>
      </p:sp>
      <p:sp>
        <p:nvSpPr>
          <p:cNvPr id="9" name="Shape 7"/>
          <p:cNvSpPr/>
          <p:nvPr/>
        </p:nvSpPr>
        <p:spPr>
          <a:xfrm>
            <a:off x="6301588" y="1417320"/>
            <a:ext cx="2464994" cy="1234440"/>
          </a:xfrm>
          <a:prstGeom prst="roundRect">
            <a:avLst>
              <a:gd name="adj" fmla="val 5926"/>
            </a:avLst>
          </a:prstGeom>
          <a:solidFill>
            <a:srgbClr val="F7F9FA"/>
          </a:solidFill>
          <a:ln w="12700">
            <a:solidFill>
              <a:srgbClr val="B0BEC5"/>
            </a:solidFill>
            <a:prstDash val="solid"/>
          </a:ln>
        </p:spPr>
      </p:sp>
      <p:sp>
        <p:nvSpPr>
          <p:cNvPr id="10" name="Text 8"/>
          <p:cNvSpPr txBox="1"/>
          <p:nvPr/>
        </p:nvSpPr>
        <p:spPr>
          <a:xfrm>
            <a:off x="6374740"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QC + hizalama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4. hafta; referansa eşleme</a:t>
            </a:r>
            <a:endParaRPr lang="en-US" sz="1500" dirty="0"/>
          </a:p>
        </p:txBody>
      </p:sp>
      <p:sp>
        <p:nvSpPr>
          <p:cNvPr id="11" name="Shape 9"/>
          <p:cNvSpPr/>
          <p:nvPr/>
        </p:nvSpPr>
        <p:spPr>
          <a:xfrm>
            <a:off x="8812301" y="2034540"/>
            <a:ext cx="320040" cy="0"/>
          </a:xfrm>
          <a:prstGeom prst="line">
            <a:avLst/>
          </a:prstGeom>
          <a:noFill/>
          <a:ln w="19050">
            <a:solidFill>
              <a:srgbClr val="546E7A"/>
            </a:solidFill>
            <a:prstDash val="solid"/>
            <a:tailEnd type="triangle"/>
          </a:ln>
        </p:spPr>
      </p:sp>
      <p:sp>
        <p:nvSpPr>
          <p:cNvPr id="12" name="Shape 10"/>
          <p:cNvSpPr/>
          <p:nvPr/>
        </p:nvSpPr>
        <p:spPr>
          <a:xfrm>
            <a:off x="9178061" y="1417320"/>
            <a:ext cx="2464994" cy="1234440"/>
          </a:xfrm>
          <a:prstGeom prst="roundRect">
            <a:avLst>
              <a:gd name="adj" fmla="val 5926"/>
            </a:avLst>
          </a:prstGeom>
          <a:solidFill>
            <a:srgbClr val="F7F9FA"/>
          </a:solidFill>
          <a:ln w="12700">
            <a:solidFill>
              <a:srgbClr val="B0BEC5"/>
            </a:solidFill>
            <a:prstDash val="solid"/>
          </a:ln>
        </p:spPr>
      </p:sp>
      <p:sp>
        <p:nvSpPr>
          <p:cNvPr id="13" name="Text 11"/>
          <p:cNvSpPr txBox="1"/>
          <p:nvPr/>
        </p:nvSpPr>
        <p:spPr>
          <a:xfrm>
            <a:off x="9251213"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Sayım</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Gen başına okuma sayısı</a:t>
            </a:r>
            <a:endParaRPr lang="en-US" sz="1500" dirty="0"/>
          </a:p>
        </p:txBody>
      </p:sp>
      <p:sp>
        <p:nvSpPr>
          <p:cNvPr id="14" name="Shape 12"/>
          <p:cNvSpPr/>
          <p:nvPr/>
        </p:nvSpPr>
        <p:spPr>
          <a:xfrm>
            <a:off x="548640" y="3200400"/>
            <a:ext cx="2464994" cy="1234440"/>
          </a:xfrm>
          <a:prstGeom prst="roundRect">
            <a:avLst>
              <a:gd name="adj" fmla="val 5926"/>
            </a:avLst>
          </a:prstGeom>
          <a:solidFill>
            <a:srgbClr val="FDECEA"/>
          </a:solidFill>
          <a:ln w="12700">
            <a:solidFill>
              <a:srgbClr val="B71C1C"/>
            </a:solidFill>
            <a:prstDash val="solid"/>
          </a:ln>
        </p:spPr>
      </p:sp>
      <p:sp>
        <p:nvSpPr>
          <p:cNvPr id="15" name="Text 13"/>
          <p:cNvSpPr txBox="1"/>
          <p:nvPr/>
        </p:nvSpPr>
        <p:spPr>
          <a:xfrm>
            <a:off x="621792"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Sayım matrisi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gen × örnek (tamsayı)</a:t>
            </a:r>
            <a:endParaRPr lang="en-US" sz="1500" dirty="0"/>
          </a:p>
        </p:txBody>
      </p:sp>
      <p:sp>
        <p:nvSpPr>
          <p:cNvPr id="16" name="Shape 14"/>
          <p:cNvSpPr/>
          <p:nvPr/>
        </p:nvSpPr>
        <p:spPr>
          <a:xfrm>
            <a:off x="3059354" y="3817620"/>
            <a:ext cx="320040" cy="0"/>
          </a:xfrm>
          <a:prstGeom prst="line">
            <a:avLst/>
          </a:prstGeom>
          <a:noFill/>
          <a:ln w="19050">
            <a:solidFill>
              <a:srgbClr val="546E7A"/>
            </a:solidFill>
            <a:prstDash val="solid"/>
            <a:tailEnd type="triangle"/>
          </a:ln>
        </p:spPr>
      </p:sp>
      <p:sp>
        <p:nvSpPr>
          <p:cNvPr id="17" name="Shape 15"/>
          <p:cNvSpPr/>
          <p:nvPr/>
        </p:nvSpPr>
        <p:spPr>
          <a:xfrm>
            <a:off x="3425114" y="3200400"/>
            <a:ext cx="2464994" cy="1234440"/>
          </a:xfrm>
          <a:prstGeom prst="roundRect">
            <a:avLst>
              <a:gd name="adj" fmla="val 5926"/>
            </a:avLst>
          </a:prstGeom>
          <a:solidFill>
            <a:srgbClr val="F7F9FA"/>
          </a:solidFill>
          <a:ln w="12700">
            <a:solidFill>
              <a:srgbClr val="B0BEC5"/>
            </a:solidFill>
            <a:prstDash val="solid"/>
          </a:ln>
        </p:spPr>
      </p:sp>
      <p:sp>
        <p:nvSpPr>
          <p:cNvPr id="18" name="Text 16"/>
          <p:cNvSpPr txBox="1"/>
          <p:nvPr/>
        </p:nvSpPr>
        <p:spPr>
          <a:xfrm>
            <a:off x="3498266"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Normalizasyon</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CPM, TPM, medyan-oranlar</a:t>
            </a:r>
            <a:endParaRPr lang="en-US" sz="1500" dirty="0"/>
          </a:p>
        </p:txBody>
      </p:sp>
      <p:sp>
        <p:nvSpPr>
          <p:cNvPr id="19" name="Shape 17"/>
          <p:cNvSpPr/>
          <p:nvPr/>
        </p:nvSpPr>
        <p:spPr>
          <a:xfrm>
            <a:off x="5935828" y="3817620"/>
            <a:ext cx="320040" cy="0"/>
          </a:xfrm>
          <a:prstGeom prst="line">
            <a:avLst/>
          </a:prstGeom>
          <a:noFill/>
          <a:ln w="19050">
            <a:solidFill>
              <a:srgbClr val="546E7A"/>
            </a:solidFill>
            <a:prstDash val="solid"/>
            <a:tailEnd type="triangle"/>
          </a:ln>
        </p:spPr>
      </p:sp>
      <p:sp>
        <p:nvSpPr>
          <p:cNvPr id="20" name="Shape 18"/>
          <p:cNvSpPr/>
          <p:nvPr/>
        </p:nvSpPr>
        <p:spPr>
          <a:xfrm>
            <a:off x="6301588" y="3200400"/>
            <a:ext cx="2464994" cy="1234440"/>
          </a:xfrm>
          <a:prstGeom prst="roundRect">
            <a:avLst>
              <a:gd name="adj" fmla="val 5926"/>
            </a:avLst>
          </a:prstGeom>
          <a:solidFill>
            <a:srgbClr val="FDECEA"/>
          </a:solidFill>
          <a:ln w="12700">
            <a:solidFill>
              <a:srgbClr val="B71C1C"/>
            </a:solidFill>
            <a:prstDash val="solid"/>
          </a:ln>
        </p:spPr>
      </p:sp>
      <p:sp>
        <p:nvSpPr>
          <p:cNvPr id="21" name="Text 19"/>
          <p:cNvSpPr txBox="1"/>
          <p:nvPr/>
        </p:nvSpPr>
        <p:spPr>
          <a:xfrm>
            <a:off x="6374740"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DE testi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log2FC, t, BH düzeltmesi</a:t>
            </a:r>
            <a:endParaRPr lang="en-US" sz="1500" dirty="0"/>
          </a:p>
        </p:txBody>
      </p:sp>
      <p:sp>
        <p:nvSpPr>
          <p:cNvPr id="22" name="Shape 20"/>
          <p:cNvSpPr/>
          <p:nvPr/>
        </p:nvSpPr>
        <p:spPr>
          <a:xfrm>
            <a:off x="8812301" y="3817620"/>
            <a:ext cx="320040" cy="0"/>
          </a:xfrm>
          <a:prstGeom prst="line">
            <a:avLst/>
          </a:prstGeom>
          <a:noFill/>
          <a:ln w="19050">
            <a:solidFill>
              <a:srgbClr val="546E7A"/>
            </a:solidFill>
            <a:prstDash val="solid"/>
            <a:tailEnd type="triangle"/>
          </a:ln>
        </p:spPr>
      </p:sp>
      <p:sp>
        <p:nvSpPr>
          <p:cNvPr id="23" name="Shape 21"/>
          <p:cNvSpPr/>
          <p:nvPr/>
        </p:nvSpPr>
        <p:spPr>
          <a:xfrm>
            <a:off x="9178061" y="3200400"/>
            <a:ext cx="2464994" cy="1234440"/>
          </a:xfrm>
          <a:prstGeom prst="roundRect">
            <a:avLst>
              <a:gd name="adj" fmla="val 5926"/>
            </a:avLst>
          </a:prstGeom>
          <a:solidFill>
            <a:srgbClr val="F7F9FA"/>
          </a:solidFill>
          <a:ln w="12700">
            <a:solidFill>
              <a:srgbClr val="B0BEC5"/>
            </a:solidFill>
            <a:prstDash val="solid"/>
          </a:ln>
        </p:spPr>
      </p:sp>
      <p:sp>
        <p:nvSpPr>
          <p:cNvPr id="24" name="Text 22"/>
          <p:cNvSpPr txBox="1"/>
          <p:nvPr/>
        </p:nvSpPr>
        <p:spPr>
          <a:xfrm>
            <a:off x="9251213"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Yorum</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Volkan, ısı haritası, yolaklar</a:t>
            </a:r>
            <a:endParaRPr lang="en-US" sz="1500" dirty="0"/>
          </a:p>
        </p:txBody>
      </p:sp>
      <p:sp>
        <p:nvSpPr>
          <p:cNvPr id="25" name="Text 23"/>
          <p:cNvSpPr txBox="1"/>
          <p:nvPr/>
        </p:nvSpPr>
        <p:spPr>
          <a:xfrm>
            <a:off x="548640" y="4983480"/>
            <a:ext cx="11094415" cy="128016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 hafta </a:t>
            </a:r>
            <a:r>
              <a:rPr lang="en-US" sz="1700" b="1" dirty="0">
                <a:solidFill>
                  <a:srgbClr val="212121"/>
                </a:solidFill>
                <a:latin typeface="Calibri" pitchFamily="34" charset="0"/>
                <a:ea typeface="Calibri" pitchFamily="34" charset="-122"/>
                <a:cs typeface="Calibri" pitchFamily="34" charset="-120"/>
              </a:rPr>
              <a:t>sayım matrisinden sonrasını</a:t>
            </a:r>
            <a:r>
              <a:rPr lang="en-US" sz="1700" dirty="0">
                <a:solidFill>
                  <a:srgbClr val="212121"/>
                </a:solidFill>
                <a:latin typeface="Calibri" pitchFamily="34" charset="0"/>
                <a:ea typeface="Calibri" pitchFamily="34" charset="-122"/>
                <a:cs typeface="Calibri" pitchFamily="34" charset="-120"/>
              </a:rPr>
              <a:t> ele alıyoruz; önceki adımlar 3–4. haftalarda görüldü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Ders verisi (sentetik): </a:t>
            </a:r>
            <a:r>
              <a:rPr lang="en-US" sz="1700" b="1" dirty="0">
                <a:solidFill>
                  <a:srgbClr val="212121"/>
                </a:solidFill>
                <a:latin typeface="Calibri" pitchFamily="34" charset="0"/>
                <a:ea typeface="Calibri" pitchFamily="34" charset="-122"/>
                <a:cs typeface="Calibri" pitchFamily="34" charset="-120"/>
              </a:rPr>
              <a:t>2000 gen × 12 örnek</a:t>
            </a:r>
            <a:r>
              <a:rPr lang="en-US" sz="1700" dirty="0">
                <a:solidFill>
                  <a:srgbClr val="212121"/>
                </a:solidFill>
                <a:latin typeface="Calibri" pitchFamily="34" charset="0"/>
                <a:ea typeface="Calibri" pitchFamily="34" charset="-122"/>
                <a:cs typeface="Calibri" pitchFamily="34" charset="-120"/>
              </a:rPr>
              <a:t> (6 kontrol, 6 tedavi); </a:t>
            </a:r>
            <a:r>
              <a:rPr lang="en-US" sz="1700" b="1" dirty="0">
                <a:solidFill>
                  <a:srgbClr val="212121"/>
                </a:solidFill>
                <a:latin typeface="Calibri" pitchFamily="34" charset="0"/>
                <a:ea typeface="Calibri" pitchFamily="34" charset="-122"/>
                <a:cs typeface="Calibri" pitchFamily="34" charset="-120"/>
              </a:rPr>
              <a:t>150 gen</a:t>
            </a:r>
            <a:r>
              <a:rPr lang="en-US" sz="1700" dirty="0">
                <a:solidFill>
                  <a:srgbClr val="212121"/>
                </a:solidFill>
                <a:latin typeface="Calibri" pitchFamily="34" charset="0"/>
                <a:ea typeface="Calibri" pitchFamily="34" charset="-122"/>
                <a:cs typeface="Calibri" pitchFamily="34" charset="-120"/>
              </a:rPr>
              <a:t> gerçekten farklı ifade ediliyor (75 artan, 75 azalan)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Veri sentetik olduğu için </a:t>
            </a:r>
            <a:r>
              <a:rPr lang="en-US" sz="1700" b="1" dirty="0">
                <a:solidFill>
                  <a:srgbClr val="212121"/>
                </a:solidFill>
                <a:latin typeface="Calibri" pitchFamily="34" charset="0"/>
                <a:ea typeface="Calibri" pitchFamily="34" charset="-122"/>
                <a:cs typeface="Calibri" pitchFamily="34" charset="-120"/>
              </a:rPr>
              <a:t>gerçek cevabı</a:t>
            </a:r>
            <a:r>
              <a:rPr lang="en-US" sz="1700" dirty="0">
                <a:solidFill>
                  <a:srgbClr val="212121"/>
                </a:solidFill>
                <a:latin typeface="Calibri" pitchFamily="34" charset="0"/>
                <a:ea typeface="Calibri" pitchFamily="34" charset="-122"/>
                <a:cs typeface="Calibri" pitchFamily="34" charset="-120"/>
              </a:rPr>
              <a:t> biliyoruz → yöntemleri nesnel olarak değerlendirebiliriz</a:t>
            </a:r>
            <a:endParaRPr lang="en-US" sz="1700" dirty="0"/>
          </a:p>
        </p:txBody>
      </p:sp>
      <p:sp>
        <p:nvSpPr>
          <p:cNvPr id="26" name="Text 2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27" name="Text 2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Sayım matrisinin anatomisi</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400" dirty="0">
                <a:solidFill>
                  <a:srgbClr val="212121"/>
                </a:solidFill>
                <a:latin typeface="Calibri" pitchFamily="34" charset="0"/>
                <a:ea typeface="Calibri" pitchFamily="34" charset="-122"/>
                <a:cs typeface="Calibri" pitchFamily="34" charset="-120"/>
              </a:rPr>
              <a:t>​</a:t>
            </a:r>
            <a:r>
              <a:rPr lang="en-US" sz="1400" dirty="0">
                <a:solidFill>
                  <a:srgbClr val="455A64"/>
                </a:solidFill>
                <a:latin typeface="Courier New" pitchFamily="34" charset="0"/>
                <a:ea typeface="Courier New" pitchFamily="34" charset="-122"/>
                <a:cs typeface="Courier New" pitchFamily="34" charset="-120"/>
              </a:rPr>
              <a:t>ifade_sayimlar.csv</a:t>
            </a:r>
            <a:r>
              <a:rPr lang="en-US" sz="1400" dirty="0">
                <a:solidFill>
                  <a:srgbClr val="212121"/>
                </a:solidFill>
                <a:latin typeface="Calibri" pitchFamily="34" charset="0"/>
                <a:ea typeface="Calibri" pitchFamily="34" charset="-122"/>
                <a:cs typeface="Calibri" pitchFamily="34" charset="-120"/>
              </a:rPr>
              <a:t> ilk beş gen (12 örneğin 6'sı gösteriliyor). Satır = gen, sütun = örnek, hücre = o gene düşen okuma sayısı.</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652360"/>
                <a:gridCol w="944206"/>
                <a:gridCol w="944206"/>
                <a:gridCol w="944206"/>
                <a:gridCol w="944206"/>
                <a:gridCol w="944206"/>
                <a:gridCol w="944206"/>
                <a:gridCol w="3776822"/>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gen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Gözlem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GEN0001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1534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1206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2545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1861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2269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2058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Yüksek ifade</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GEN0002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Neredeyse sıfır → filtrelenecek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GEN0003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260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137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Tedavide artış mı?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GEN0004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Düşük ama ölçülebilir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GEN0005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49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Değişim yok gibi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90288"/>
            <a:ext cx="11094415" cy="822960"/>
          </a:xfrm>
          <a:prstGeom prst="roundRect">
            <a:avLst>
              <a:gd name="adj" fmla="val 8889"/>
            </a:avLst>
          </a:prstGeom>
          <a:solidFill>
            <a:srgbClr val="FDECEA"/>
          </a:solidFill>
          <a:ln/>
        </p:spPr>
      </p:sp>
      <p:sp>
        <p:nvSpPr>
          <p:cNvPr id="6" name="Text 3"/>
          <p:cNvSpPr txBox="1"/>
          <p:nvPr/>
        </p:nvSpPr>
        <p:spPr>
          <a:xfrm>
            <a:off x="731520" y="4590288"/>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Sütun toplamları (kütüphane büyüklüğü) </a:t>
            </a:r>
            <a:r>
              <a:rPr lang="en-US" sz="1600" b="1" dirty="0">
                <a:solidFill>
                  <a:srgbClr val="212121"/>
                </a:solidFill>
                <a:latin typeface="Calibri" pitchFamily="34" charset="0"/>
                <a:ea typeface="Calibri" pitchFamily="34" charset="-122"/>
                <a:cs typeface="Calibri" pitchFamily="34" charset="-120"/>
              </a:rPr>
              <a:t>444 593 – 992 119</a:t>
            </a:r>
            <a:r>
              <a:rPr lang="en-US" sz="1600" dirty="0">
                <a:solidFill>
                  <a:srgbClr val="212121"/>
                </a:solidFill>
                <a:latin typeface="Calibri" pitchFamily="34" charset="0"/>
                <a:ea typeface="Calibri" pitchFamily="34" charset="-122"/>
                <a:cs typeface="Calibri" pitchFamily="34" charset="-120"/>
              </a:rPr>
              <a:t> okuma arasında değişir: T4 örneği K3'ün </a:t>
            </a:r>
            <a:r>
              <a:rPr lang="en-US" sz="1600" b="1" dirty="0">
                <a:solidFill>
                  <a:srgbClr val="212121"/>
                </a:solidFill>
                <a:latin typeface="Calibri" pitchFamily="34" charset="0"/>
                <a:ea typeface="Calibri" pitchFamily="34" charset="-122"/>
                <a:cs typeface="Calibri" pitchFamily="34" charset="-120"/>
              </a:rPr>
              <a:t>2.2 katı</a:t>
            </a:r>
            <a:r>
              <a:rPr lang="en-US" sz="1600" dirty="0">
                <a:solidFill>
                  <a:srgbClr val="212121"/>
                </a:solidFill>
                <a:latin typeface="Calibri" pitchFamily="34" charset="0"/>
                <a:ea typeface="Calibri" pitchFamily="34" charset="-122"/>
                <a:cs typeface="Calibri" pitchFamily="34" charset="-120"/>
              </a:rPr>
              <a:t> derinlikte. Ham sayılar bu yüzden doğrudan karşılaştırılamaz.</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Kütüphane büyüklükleri ve sayımların dağılımı</a:t>
            </a:r>
            <a:endParaRPr lang="en-US" sz="3000" dirty="0"/>
          </a:p>
        </p:txBody>
      </p:sp>
      <p:pic>
        <p:nvPicPr>
          <p:cNvPr id="3" name="Image 0" descr="p11_kutuphane.png">    </p:cNvPr>
          <p:cNvPicPr>
            <a:picLocks noChangeAspect="1"/>
          </p:cNvPicPr>
          <p:nvPr/>
        </p:nvPicPr>
        <p:blipFill>
          <a:blip r:embed="rId1"/>
          <a:stretch>
            <a:fillRect/>
          </a:stretch>
        </p:blipFill>
        <p:spPr>
          <a:xfrm>
            <a:off x="548640" y="1969299"/>
            <a:ext cx="11094415" cy="3148002"/>
          </a:xfrm>
          <a:prstGeom prst="rect">
            <a:avLst/>
          </a:prstGeom>
        </p:spPr>
      </p:pic>
      <p:sp>
        <p:nvSpPr>
          <p:cNvPr id="4" name="Text 1"/>
          <p:cNvSpPr txBox="1"/>
          <p:nvPr/>
        </p:nvSpPr>
        <p:spPr>
          <a:xfrm>
            <a:off x="548640" y="5190453"/>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Sol: örnek başına toplam okuma (gri kontrol, koyu tedavi). Sağ: tüm sayımların log10(sayım + 1) histogramı</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Aşırı yayılım: sayımlar neden Poisson değil?</a:t>
            </a:r>
            <a:endParaRPr lang="en-US" sz="3000" dirty="0"/>
          </a:p>
        </p:txBody>
      </p:sp>
      <p:sp>
        <p:nvSpPr>
          <p:cNvPr id="3" name="Text 1"/>
          <p:cNvSpPr txBox="1"/>
          <p:nvPr/>
        </p:nvSpPr>
        <p:spPr>
          <a:xfrm>
            <a:off x="548640" y="1234440"/>
            <a:ext cx="6114721"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900" b="1" dirty="0">
                <a:solidFill>
                  <a:srgbClr val="212121"/>
                </a:solidFill>
                <a:latin typeface="Calibri" pitchFamily="34" charset="0"/>
                <a:ea typeface="Calibri" pitchFamily="34" charset="-122"/>
                <a:cs typeface="Calibri" pitchFamily="34" charset="-120"/>
              </a:rPr>
              <a:t>Poisson:</a:t>
            </a:r>
            <a:r>
              <a:rPr lang="en-US" sz="1900" dirty="0">
                <a:solidFill>
                  <a:srgbClr val="212121"/>
                </a:solidFill>
                <a:latin typeface="Calibri" pitchFamily="34" charset="0"/>
                <a:ea typeface="Calibri" pitchFamily="34" charset="-122"/>
                <a:cs typeface="Calibri" pitchFamily="34" charset="-120"/>
              </a:rPr>
              <a:t> Var = μ (yalnızca örnekleme gürültüsü)</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Aynı kütüphaneyi tekrar dizilesek beklediğimiz değişkenlik</a:t>
            </a:r>
            <a:endParaRPr lang="en-US" sz="1900" dirty="0"/>
          </a:p>
          <a:p>
            <a:pPr marL="228600" indent="-228600">
              <a:spcAft>
                <a:spcPts val="700"/>
              </a:spcAft>
              <a:buSzPct val="100000"/>
              <a:buChar char="•"/>
            </a:pPr>
            <a:r>
              <a:rPr lang="en-US" sz="1900" b="1" dirty="0">
                <a:solidFill>
                  <a:srgbClr val="212121"/>
                </a:solidFill>
                <a:latin typeface="Calibri" pitchFamily="34" charset="0"/>
                <a:ea typeface="Calibri" pitchFamily="34" charset="-122"/>
                <a:cs typeface="Calibri" pitchFamily="34" charset="-120"/>
              </a:rPr>
              <a:t>Negatif binom:</a:t>
            </a:r>
            <a:r>
              <a:rPr lang="en-US" sz="1900" dirty="0">
                <a:solidFill>
                  <a:srgbClr val="212121"/>
                </a:solidFill>
                <a:latin typeface="Calibri" pitchFamily="34" charset="0"/>
                <a:ea typeface="Calibri" pitchFamily="34" charset="-122"/>
                <a:cs typeface="Calibri" pitchFamily="34" charset="-120"/>
              </a:rPr>
              <a:t> Var = μ + α·μ²</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α (dispersiyon) biyolojik değişkenliği temsil eder</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μ = 100, α = 0.1 → Var = 100 + 1000 = </a:t>
            </a:r>
            <a:r>
              <a:rPr lang="en-US" sz="1700" b="1" dirty="0">
                <a:solidFill>
                  <a:srgbClr val="37474F"/>
                </a:solidFill>
                <a:latin typeface="Calibri" pitchFamily="34" charset="0"/>
                <a:ea typeface="Calibri" pitchFamily="34" charset="-122"/>
                <a:cs typeface="Calibri" pitchFamily="34" charset="-120"/>
              </a:rPr>
              <a:t>1100</a:t>
            </a:r>
            <a:r>
              <a:rPr lang="en-US" sz="1700" dirty="0">
                <a:solidFill>
                  <a:srgbClr val="37474F"/>
                </a:solidFill>
                <a:latin typeface="Calibri" pitchFamily="34" charset="0"/>
                <a:ea typeface="Calibri" pitchFamily="34" charset="-122"/>
                <a:cs typeface="Calibri" pitchFamily="34" charset="-120"/>
              </a:rPr>
              <a:t> (Poisson'da 100)</a:t>
            </a:r>
            <a:endParaRPr lang="en-US" sz="1900" dirty="0"/>
          </a:p>
          <a:p>
            <a:pPr marL="228600" indent="-228600">
              <a:spcAft>
                <a:spcPts val="700"/>
              </a:spcAft>
              <a:buSzPct val="100000"/>
              <a:buChar char="•"/>
            </a:pPr>
            <a:r>
              <a:rPr lang="en-US" sz="1900" b="1" dirty="0">
                <a:solidFill>
                  <a:srgbClr val="212121"/>
                </a:solidFill>
                <a:latin typeface="Calibri" pitchFamily="34" charset="0"/>
                <a:ea typeface="Calibri" pitchFamily="34" charset="-122"/>
                <a:cs typeface="Calibri" pitchFamily="34" charset="-120"/>
              </a:rPr>
              <a:t>Mini örnek:</a:t>
            </a:r>
            <a:r>
              <a:rPr lang="en-US" sz="1900" dirty="0">
                <a:solidFill>
                  <a:srgbClr val="212121"/>
                </a:solidFill>
                <a:latin typeface="Calibri" pitchFamily="34" charset="0"/>
                <a:ea typeface="Calibri" pitchFamily="34" charset="-122"/>
                <a:cs typeface="Calibri" pitchFamily="34" charset="-120"/>
              </a:rPr>
              <a:t> 6 tekrar sayımı 80, 120, 95, 150, 60, 105</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x̄ = 101.7, s² = 986.7 → s²/x̄ ≈ </a:t>
            </a:r>
            <a:r>
              <a:rPr lang="en-US" sz="1700" b="1" dirty="0">
                <a:solidFill>
                  <a:srgbClr val="37474F"/>
                </a:solidFill>
                <a:latin typeface="Calibri" pitchFamily="34" charset="0"/>
                <a:ea typeface="Calibri" pitchFamily="34" charset="-122"/>
                <a:cs typeface="Calibri" pitchFamily="34" charset="-120"/>
              </a:rPr>
              <a:t>9.7</a:t>
            </a:r>
            <a:r>
              <a:rPr lang="en-US" sz="1700" dirty="0">
                <a:solidFill>
                  <a:srgbClr val="37474F"/>
                </a:solidFill>
                <a:latin typeface="Calibri" pitchFamily="34" charset="0"/>
                <a:ea typeface="Calibri" pitchFamily="34" charset="-122"/>
                <a:cs typeface="Calibri" pitchFamily="34" charset="-120"/>
              </a:rPr>
              <a:t> (Poisson'da 1)</a:t>
            </a:r>
            <a:endParaRPr lang="en-US" sz="1900" dirty="0"/>
          </a:p>
          <a:p>
            <a:pPr lvl="1" marL="406400" indent="-203200">
              <a:spcAft>
                <a:spcPts val="300"/>
              </a:spcAft>
              <a:buSzPct val="100000"/>
              <a:buChar char="–"/>
            </a:pPr>
            <a:r>
              <a:rPr lang="en-US" sz="1700" dirty="0">
                <a:solidFill>
                  <a:srgbClr val="37474F"/>
                </a:solidFill>
                <a:latin typeface="Calibri" pitchFamily="34" charset="0"/>
                <a:ea typeface="Calibri" pitchFamily="34" charset="-122"/>
                <a:cs typeface="Calibri" pitchFamily="34" charset="-120"/>
              </a:rPr>
              <a:t>α ≈ (s² − x̄)/x̄² = 885/10 336 ≈ </a:t>
            </a:r>
            <a:r>
              <a:rPr lang="en-US" sz="1700" b="1" dirty="0">
                <a:solidFill>
                  <a:srgbClr val="37474F"/>
                </a:solidFill>
                <a:latin typeface="Calibri" pitchFamily="34" charset="0"/>
                <a:ea typeface="Calibri" pitchFamily="34" charset="-122"/>
                <a:cs typeface="Calibri" pitchFamily="34" charset="-120"/>
              </a:rPr>
              <a:t>0.086</a:t>
            </a:r>
            <a:endParaRPr lang="en-US" sz="1900" dirty="0"/>
          </a:p>
          <a:p>
            <a:pPr marL="228600" indent="-228600">
              <a:spcAft>
                <a:spcPts val="700"/>
              </a:spcAft>
              <a:buSzPct val="100000"/>
              <a:buChar char="•"/>
            </a:pPr>
            <a:r>
              <a:rPr lang="en-US" sz="1900" dirty="0">
                <a:solidFill>
                  <a:srgbClr val="212121"/>
                </a:solidFill>
                <a:latin typeface="Calibri" pitchFamily="34" charset="0"/>
                <a:ea typeface="Calibri" pitchFamily="34" charset="-122"/>
                <a:cs typeface="Calibri" pitchFamily="34" charset="-120"/>
              </a:rPr>
              <a:t>DESeq2 ve edgeR bu yüzden </a:t>
            </a:r>
            <a:r>
              <a:rPr lang="en-US" sz="1900" b="1" dirty="0">
                <a:solidFill>
                  <a:srgbClr val="212121"/>
                </a:solidFill>
                <a:latin typeface="Calibri" pitchFamily="34" charset="0"/>
                <a:ea typeface="Calibri" pitchFamily="34" charset="-122"/>
                <a:cs typeface="Calibri" pitchFamily="34" charset="-120"/>
              </a:rPr>
              <a:t>negatif binom</a:t>
            </a:r>
            <a:r>
              <a:rPr lang="en-US" sz="1900" dirty="0">
                <a:solidFill>
                  <a:srgbClr val="212121"/>
                </a:solidFill>
                <a:latin typeface="Calibri" pitchFamily="34" charset="0"/>
                <a:ea typeface="Calibri" pitchFamily="34" charset="-122"/>
                <a:cs typeface="Calibri" pitchFamily="34" charset="-120"/>
              </a:rPr>
              <a:t> modeli kullanır</a:t>
            </a:r>
            <a:endParaRPr lang="en-US" sz="1900" dirty="0"/>
          </a:p>
        </p:txBody>
      </p:sp>
      <p:pic>
        <p:nvPicPr>
          <p:cNvPr id="4" name="Image 0" descr="p11_asiri_yayilim.png">    </p:cNvPr>
          <p:cNvPicPr>
            <a:picLocks noChangeAspect="1"/>
          </p:cNvPicPr>
          <p:nvPr/>
        </p:nvPicPr>
        <p:blipFill>
          <a:blip r:embed="rId1"/>
          <a:stretch>
            <a:fillRect/>
          </a:stretch>
        </p:blipFill>
        <p:spPr>
          <a:xfrm>
            <a:off x="6983401" y="1944618"/>
            <a:ext cx="4659654" cy="3608844"/>
          </a:xfrm>
          <a:prstGeom prst="rect">
            <a:avLst/>
          </a:prstGeom>
        </p:spPr>
      </p:pic>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Normalizasyon ve keşifsel analiz</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Derinlik, gen uzunluğu ve kompozisyon farklarını düzeltmek; veriye bakmak</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Üç normalizasyon yöntemi</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000632"/>
                <a:gridCol w="3819389"/>
                <a:gridCol w="2182508"/>
                <a:gridCol w="3091886"/>
              </a:tblGrid>
              <a:tr h="0">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Yöntem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Formül</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Düzelttiği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Ne zaman?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CPM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c_gi / Σ_g c_gi × 10⁶</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Dizileme derinliği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Örnekler arası hızlı karşılaştırma, filtreleme</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TPM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RPK = c / (L/1000);  TPM = RPK / ΣRPK × 10⁶</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Derinlik + gen uzunluğu</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Aynı örnekte </a:t>
                      </a:r>
                      <a:r>
                        <a:rPr lang="en-US" sz="1700" b="1" dirty="0">
                          <a:solidFill>
                            <a:srgbClr val="212121"/>
                          </a:solidFill>
                          <a:latin typeface="Calibri" pitchFamily="34" charset="0"/>
                          <a:ea typeface="Calibri" pitchFamily="34" charset="-122"/>
                          <a:cs typeface="Calibri" pitchFamily="34" charset="-120"/>
                        </a:rPr>
                        <a:t>genler arası</a:t>
                      </a:r>
                      <a:r>
                        <a:rPr lang="en-US" sz="1700" dirty="0">
                          <a:solidFill>
                            <a:srgbClr val="212121"/>
                          </a:solidFill>
                          <a:latin typeface="Calibri" pitchFamily="34" charset="0"/>
                          <a:ea typeface="Calibri" pitchFamily="34" charset="-122"/>
                          <a:cs typeface="Calibri" pitchFamily="34" charset="-120"/>
                        </a:rPr>
                        <a:t> karşılaştırma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Medyan-oranlar (DESeq2)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sᵢ = medyan_g [ c_gi / geo_ort_g ]</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Derinlik + </a:t>
                      </a:r>
                      <a:r>
                        <a:rPr lang="en-US" sz="1700" b="1" dirty="0">
                          <a:solidFill>
                            <a:srgbClr val="212121"/>
                          </a:solidFill>
                          <a:latin typeface="Calibri" pitchFamily="34" charset="0"/>
                          <a:ea typeface="Calibri" pitchFamily="34" charset="-122"/>
                          <a:cs typeface="Calibri" pitchFamily="34" charset="-120"/>
                        </a:rPr>
                        <a:t>kompozisyon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Diferansiyel ifade (DE) analizi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715512"/>
            <a:ext cx="11094415" cy="822960"/>
          </a:xfrm>
          <a:prstGeom prst="roundRect">
            <a:avLst>
              <a:gd name="adj" fmla="val 8889"/>
            </a:avLst>
          </a:prstGeom>
          <a:solidFill>
            <a:srgbClr val="FDECEA"/>
          </a:solidFill>
          <a:ln/>
        </p:spPr>
      </p:sp>
      <p:sp>
        <p:nvSpPr>
          <p:cNvPr id="5" name="Text 2"/>
          <p:cNvSpPr txBox="1"/>
          <p:nvPr/>
        </p:nvSpPr>
        <p:spPr>
          <a:xfrm>
            <a:off x="731520" y="3715512"/>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c_gi: gen g'nin örnek i'deki sayımı; L: gen uzunluğu (baz); geo_ort_g: gen g'nin tüm örneklerdeki </a:t>
            </a:r>
            <a:r>
              <a:rPr lang="en-US" sz="1600" b="1" dirty="0">
                <a:solidFill>
                  <a:srgbClr val="212121"/>
                </a:solidFill>
                <a:latin typeface="Calibri" pitchFamily="34" charset="0"/>
                <a:ea typeface="Calibri" pitchFamily="34" charset="-122"/>
                <a:cs typeface="Calibri" pitchFamily="34" charset="-120"/>
              </a:rPr>
              <a:t>geometrik ortalaması</a:t>
            </a:r>
            <a:r>
              <a:rPr lang="en-US" sz="1600" dirty="0">
                <a:solidFill>
                  <a:srgbClr val="212121"/>
                </a:solidFill>
                <a:latin typeface="Calibri" pitchFamily="34" charset="0"/>
                <a:ea typeface="Calibri" pitchFamily="34" charset="-122"/>
                <a:cs typeface="Calibri" pitchFamily="34" charset="-120"/>
              </a:rPr>
              <a:t>. Aynı gen farklı örneklerde karşılaştırılırken uzunluk sabittir → DE için TPM gerekmez.</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CPM ve TPM'i elle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Tek örnekte üç gen: A (2 kb, 200 okuma), B (3 kb, 300 okuma), C (1 kb, 500 okuma). CPM ve TPM değerlerini hesaplayın; A ile B'yi karşılaştırın.</a:t>
            </a:r>
            <a:endParaRPr lang="en-US" sz="1800" dirty="0"/>
          </a:p>
        </p:txBody>
      </p:sp>
      <p:sp>
        <p:nvSpPr>
          <p:cNvPr id="6" name="Text 4"/>
          <p:cNvSpPr txBox="1"/>
          <p:nvPr/>
        </p:nvSpPr>
        <p:spPr>
          <a:xfrm>
            <a:off x="548640" y="2779776"/>
            <a:ext cx="532531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Toplam okuma = 200 + 300 + 500 = </a:t>
            </a:r>
            <a:r>
              <a:rPr lang="en-US" sz="1800" b="1" dirty="0">
                <a:solidFill>
                  <a:srgbClr val="212121"/>
                </a:solidFill>
                <a:latin typeface="Calibri" pitchFamily="34" charset="0"/>
                <a:ea typeface="Calibri" pitchFamily="34" charset="-122"/>
                <a:cs typeface="Calibri" pitchFamily="34" charset="-120"/>
              </a:rPr>
              <a:t>1000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CPM = c / 1000 × 10⁶ → A: 200 000, B: 300 000, C: 500 000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RPK = okuma / uzunluk(kb) → A: 200/2 = 100, B: 300/3 = 100, C: 500/1 = 500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ΣRPK = 700 → TPM = RPK / 700 × 10⁶</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 B = 100/700 × 10⁶ = </a:t>
            </a:r>
            <a:r>
              <a:rPr lang="en-US" sz="1800" b="1" dirty="0">
                <a:solidFill>
                  <a:srgbClr val="212121"/>
                </a:solidFill>
                <a:latin typeface="Calibri" pitchFamily="34" charset="0"/>
                <a:ea typeface="Calibri" pitchFamily="34" charset="-122"/>
                <a:cs typeface="Calibri" pitchFamily="34" charset="-120"/>
              </a:rPr>
              <a:t>142 857</a:t>
            </a:r>
            <a:r>
              <a:rPr lang="en-US" sz="1800" dirty="0">
                <a:solidFill>
                  <a:srgbClr val="212121"/>
                </a:solidFill>
                <a:latin typeface="Calibri" pitchFamily="34" charset="0"/>
                <a:ea typeface="Calibri" pitchFamily="34" charset="-122"/>
                <a:cs typeface="Calibri" pitchFamily="34" charset="-120"/>
              </a:rPr>
              <a:t>; C = </a:t>
            </a:r>
            <a:r>
              <a:rPr lang="en-US" sz="1800" b="1" dirty="0">
                <a:solidFill>
                  <a:srgbClr val="212121"/>
                </a:solidFill>
                <a:latin typeface="Calibri" pitchFamily="34" charset="0"/>
                <a:ea typeface="Calibri" pitchFamily="34" charset="-122"/>
                <a:cs typeface="Calibri" pitchFamily="34" charset="-120"/>
              </a:rPr>
              <a:t>714 286</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93999" y="2779776"/>
          <a:ext cx="5449056" cy="914400"/>
        </p:xfrm>
        <a:graphic>
          <a:graphicData uri="http://schemas.openxmlformats.org/drawingml/2006/table">
            <a:tbl>
              <a:tblPr/>
              <a:tblGrid>
                <a:gridCol w="620852"/>
                <a:gridCol w="943816"/>
                <a:gridCol w="620852"/>
                <a:gridCol w="1321342"/>
                <a:gridCol w="620852"/>
                <a:gridCol w="132134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Okuma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CPM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RPK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TPM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142 857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142 857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714 286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CPM'e göre B, A'dan fazla ifade ediliyor gibi görünür; uzunluk düzeltmesi (TPM) sonrası </a:t>
            </a:r>
            <a:r>
              <a:rPr lang="en-US" sz="1700" b="1" dirty="0">
                <a:solidFill>
                  <a:srgbClr val="212121"/>
                </a:solidFill>
                <a:latin typeface="Calibri" pitchFamily="34" charset="0"/>
                <a:ea typeface="Calibri" pitchFamily="34" charset="-122"/>
                <a:cs typeface="Calibri" pitchFamily="34" charset="-120"/>
              </a:rPr>
              <a:t>eşit</a:t>
            </a:r>
            <a:r>
              <a:rPr lang="en-US" sz="1700" dirty="0">
                <a:solidFill>
                  <a:srgbClr val="212121"/>
                </a:solidFill>
                <a:latin typeface="Calibri" pitchFamily="34" charset="0"/>
                <a:ea typeface="Calibri" pitchFamily="34" charset="-122"/>
                <a:cs typeface="Calibri" pitchFamily="34" charset="-120"/>
              </a:rPr>
              <a:t> oldukları anlaşılır. Her iki ölçüde de sütun toplamı 10⁶'dır.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Medyan-oranlar yöntemi: 3 gen × 2 örnek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G1: (100, 200), G2: (50, 100), G3: (20, 800) sayımları S1 ve S2 örneklerinde. G3 tedaviyle çok artan bir gen. DESeq2 boyut faktörlerini (s₁, s₂) bulun.</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Geometrik ortalama: G1 = √(100·200) = </a:t>
            </a:r>
            <a:r>
              <a:rPr lang="en-US" sz="1500" b="1" dirty="0">
                <a:solidFill>
                  <a:srgbClr val="212121"/>
                </a:solidFill>
                <a:latin typeface="Calibri" pitchFamily="34" charset="0"/>
                <a:ea typeface="Calibri" pitchFamily="34" charset="-122"/>
                <a:cs typeface="Calibri" pitchFamily="34" charset="-120"/>
              </a:rPr>
              <a:t>141.4</a:t>
            </a:r>
            <a:r>
              <a:rPr lang="en-US" sz="1500" dirty="0">
                <a:solidFill>
                  <a:srgbClr val="212121"/>
                </a:solidFill>
                <a:latin typeface="Calibri" pitchFamily="34" charset="0"/>
                <a:ea typeface="Calibri" pitchFamily="34" charset="-122"/>
                <a:cs typeface="Calibri" pitchFamily="34" charset="-120"/>
              </a:rPr>
              <a:t>, G2 = </a:t>
            </a:r>
            <a:r>
              <a:rPr lang="en-US" sz="1500" b="1" dirty="0">
                <a:solidFill>
                  <a:srgbClr val="212121"/>
                </a:solidFill>
                <a:latin typeface="Calibri" pitchFamily="34" charset="0"/>
                <a:ea typeface="Calibri" pitchFamily="34" charset="-122"/>
                <a:cs typeface="Calibri" pitchFamily="34" charset="-120"/>
              </a:rPr>
              <a:t>70.7</a:t>
            </a:r>
            <a:r>
              <a:rPr lang="en-US" sz="1500" dirty="0">
                <a:solidFill>
                  <a:srgbClr val="212121"/>
                </a:solidFill>
                <a:latin typeface="Calibri" pitchFamily="34" charset="0"/>
                <a:ea typeface="Calibri" pitchFamily="34" charset="-122"/>
                <a:cs typeface="Calibri" pitchFamily="34" charset="-120"/>
              </a:rPr>
              <a:t>, G3 = √(20·800) = </a:t>
            </a:r>
            <a:r>
              <a:rPr lang="en-US" sz="1500" b="1" dirty="0">
                <a:solidFill>
                  <a:srgbClr val="212121"/>
                </a:solidFill>
                <a:latin typeface="Calibri" pitchFamily="34" charset="0"/>
                <a:ea typeface="Calibri" pitchFamily="34" charset="-122"/>
                <a:cs typeface="Calibri" pitchFamily="34" charset="-120"/>
              </a:rPr>
              <a:t>126.5</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Oranlar c / geo: G1 ve G2 → 0.707, 1.414; G3 → 0.158, 6.325</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Sütun </a:t>
            </a:r>
            <a:r>
              <a:rPr lang="en-US" sz="1500" b="1" dirty="0">
                <a:solidFill>
                  <a:srgbClr val="212121"/>
                </a:solidFill>
                <a:latin typeface="Calibri" pitchFamily="34" charset="0"/>
                <a:ea typeface="Calibri" pitchFamily="34" charset="-122"/>
                <a:cs typeface="Calibri" pitchFamily="34" charset="-120"/>
              </a:rPr>
              <a:t>medyanı</a:t>
            </a:r>
            <a:r>
              <a:rPr lang="en-US" sz="1500" dirty="0">
                <a:solidFill>
                  <a:srgbClr val="212121"/>
                </a:solidFill>
                <a:latin typeface="Calibri" pitchFamily="34" charset="0"/>
                <a:ea typeface="Calibri" pitchFamily="34" charset="-122"/>
                <a:cs typeface="Calibri" pitchFamily="34" charset="-120"/>
              </a:rPr>
              <a:t>: s₁ = med(0.707, 0.707, 0.158) = </a:t>
            </a:r>
            <a:r>
              <a:rPr lang="en-US" sz="1500" b="1" dirty="0">
                <a:solidFill>
                  <a:srgbClr val="212121"/>
                </a:solidFill>
                <a:latin typeface="Calibri" pitchFamily="34" charset="0"/>
                <a:ea typeface="Calibri" pitchFamily="34" charset="-122"/>
                <a:cs typeface="Calibri" pitchFamily="34" charset="-120"/>
              </a:rPr>
              <a:t>0.707</a:t>
            </a:r>
            <a:r>
              <a:rPr lang="en-US" sz="1500" dirty="0">
                <a:solidFill>
                  <a:srgbClr val="212121"/>
                </a:solidFill>
                <a:latin typeface="Calibri" pitchFamily="34" charset="0"/>
                <a:ea typeface="Calibri" pitchFamily="34" charset="-122"/>
                <a:cs typeface="Calibri" pitchFamily="34" charset="-120"/>
              </a:rPr>
              <a:t>; s₂ = </a:t>
            </a:r>
            <a:r>
              <a:rPr lang="en-US" sz="1500" b="1" dirty="0">
                <a:solidFill>
                  <a:srgbClr val="212121"/>
                </a:solidFill>
                <a:latin typeface="Calibri" pitchFamily="34" charset="0"/>
                <a:ea typeface="Calibri" pitchFamily="34" charset="-122"/>
                <a:cs typeface="Calibri" pitchFamily="34" charset="-120"/>
              </a:rPr>
              <a:t>1.414</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Normalize sayım c / s: G1 → 141.4, 141.4; G2 → 70.7, 70.7; G3 → 28.3, 565.7</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Aykırı G3 medyanı etkilemedi: s₂/s₁ = </a:t>
            </a:r>
            <a:r>
              <a:rPr lang="en-US" sz="1500" b="1" dirty="0">
                <a:solidFill>
                  <a:srgbClr val="212121"/>
                </a:solidFill>
                <a:latin typeface="Calibri" pitchFamily="34" charset="0"/>
                <a:ea typeface="Calibri" pitchFamily="34" charset="-122"/>
                <a:cs typeface="Calibri" pitchFamily="34" charset="-120"/>
              </a:rPr>
              <a:t>2</a:t>
            </a:r>
            <a:r>
              <a:rPr lang="en-US" sz="1500" dirty="0">
                <a:solidFill>
                  <a:srgbClr val="212121"/>
                </a:solidFill>
                <a:latin typeface="Calibri" pitchFamily="34" charset="0"/>
                <a:ea typeface="Calibri" pitchFamily="34" charset="-122"/>
                <a:cs typeface="Calibri" pitchFamily="34" charset="-120"/>
              </a:rPr>
              <a:t> (gerçek derinlik oranı)</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905939"/>
                <a:gridCol w="599840"/>
                <a:gridCol w="599840"/>
                <a:gridCol w="754949"/>
                <a:gridCol w="905939"/>
                <a:gridCol w="90593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geo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S1/geo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S2/geo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0.707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0.707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126.5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0.158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6.325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medyan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0.707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1.414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s₁ = 0.707, s₂ = 1.414. Normalizasyondan sonra G1 ve G2 </a:t>
            </a:r>
            <a:r>
              <a:rPr lang="en-US" sz="1700" b="1" dirty="0">
                <a:solidFill>
                  <a:srgbClr val="212121"/>
                </a:solidFill>
                <a:latin typeface="Calibri" pitchFamily="34" charset="0"/>
                <a:ea typeface="Calibri" pitchFamily="34" charset="-122"/>
                <a:cs typeface="Calibri" pitchFamily="34" charset="-120"/>
              </a:rPr>
              <a:t>değişmiyor</a:t>
            </a:r>
            <a:r>
              <a:rPr lang="en-US" sz="1700" dirty="0">
                <a:solidFill>
                  <a:srgbClr val="212121"/>
                </a:solidFill>
                <a:latin typeface="Calibri" pitchFamily="34" charset="0"/>
                <a:ea typeface="Calibri" pitchFamily="34" charset="-122"/>
                <a:cs typeface="Calibri" pitchFamily="34" charset="-120"/>
              </a:rPr>
              <a:t>, G3 </a:t>
            </a:r>
            <a:r>
              <a:rPr lang="en-US" sz="1700" b="1" dirty="0">
                <a:solidFill>
                  <a:srgbClr val="212121"/>
                </a:solidFill>
                <a:latin typeface="Calibri" pitchFamily="34" charset="0"/>
                <a:ea typeface="Calibri" pitchFamily="34" charset="-122"/>
                <a:cs typeface="Calibri" pitchFamily="34" charset="-120"/>
              </a:rPr>
              <a:t>20 kat</a:t>
            </a:r>
            <a:r>
              <a:rPr lang="en-US" sz="1700" dirty="0">
                <a:solidFill>
                  <a:srgbClr val="212121"/>
                </a:solidFill>
                <a:latin typeface="Calibri" pitchFamily="34" charset="0"/>
                <a:ea typeface="Calibri" pitchFamily="34" charset="-122"/>
                <a:cs typeface="Calibri" pitchFamily="34" charset="-120"/>
              </a:rPr>
              <a:t> artıyor: doğru biyolojik tablo.</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Neden toplam değil medyan? Kompozisyon yanlılığı</a:t>
            </a:r>
            <a:endParaRPr lang="en-US" sz="28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Aynı 3 gen × 2 örnek verisi. CPM örnek toplamına (S1 = 170, S2 = 1100) böler; G3'ün patlaması S2'nin toplamını şişirir.</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861702"/>
                <a:gridCol w="1400266"/>
                <a:gridCol w="1400266"/>
                <a:gridCol w="2585106"/>
                <a:gridCol w="1723404"/>
                <a:gridCol w="1723404"/>
                <a:gridCol w="1400266"/>
              </a:tblGrid>
              <a:tr h="0">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Gen</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CPM S1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CPM S2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CPM oranı S2/S1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Medyan-oran S1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Medyan-oran S2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Oran S2/S1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G1</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588 235</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181 818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0.31</a:t>
                      </a:r>
                      <a:r>
                        <a:rPr lang="en-US" sz="1700" dirty="0">
                          <a:solidFill>
                            <a:srgbClr val="212121"/>
                          </a:solidFill>
                          <a:latin typeface="Calibri" pitchFamily="34" charset="0"/>
                          <a:ea typeface="Calibri" pitchFamily="34" charset="-122"/>
                          <a:cs typeface="Calibri" pitchFamily="34" charset="-120"/>
                        </a:rPr>
                        <a:t> (yanlış azalış)</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141.4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141.4</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G2</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294 118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90 909</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0.31</a:t>
                      </a:r>
                      <a:r>
                        <a:rPr lang="en-US" sz="1700" dirty="0">
                          <a:solidFill>
                            <a:srgbClr val="212121"/>
                          </a:solidFill>
                          <a:latin typeface="Calibri" pitchFamily="34" charset="0"/>
                          <a:ea typeface="Calibri" pitchFamily="34" charset="-122"/>
                          <a:cs typeface="Calibri" pitchFamily="34" charset="-120"/>
                        </a:rPr>
                        <a:t> (yanlış azalış)</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70.7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70.7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G3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117 647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727 273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6.18</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28.3</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565.7</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20.0</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486912"/>
            <a:ext cx="11094415" cy="822960"/>
          </a:xfrm>
          <a:prstGeom prst="roundRect">
            <a:avLst>
              <a:gd name="adj" fmla="val 8889"/>
            </a:avLst>
          </a:prstGeom>
          <a:solidFill>
            <a:srgbClr val="FDECEA"/>
          </a:solidFill>
          <a:ln/>
        </p:spPr>
      </p:sp>
      <p:sp>
        <p:nvSpPr>
          <p:cNvPr id="6" name="Text 3"/>
          <p:cNvSpPr txBox="1"/>
          <p:nvPr/>
        </p:nvSpPr>
        <p:spPr>
          <a:xfrm>
            <a:off x="731520" y="3486912"/>
            <a:ext cx="10728655" cy="822960"/>
          </a:xfrm>
          <a:prstGeom prst="rect">
            <a:avLst/>
          </a:prstGeom>
          <a:noFill/>
          <a:ln/>
        </p:spPr>
        <p:txBody>
          <a:bodyPr wrap="square" lIns="0" tIns="0" rIns="0" bIns="0" rtlCol="0" anchor="ctr"/>
          <a:lstStyle/>
          <a:p>
            <a:pPr indent="0" marL="0">
              <a:buNone/>
            </a:pPr>
            <a:r>
              <a:rPr lang="en-US" sz="1550" dirty="0">
                <a:solidFill>
                  <a:srgbClr val="212121"/>
                </a:solidFill>
                <a:latin typeface="Calibri" pitchFamily="34" charset="0"/>
                <a:ea typeface="Calibri" pitchFamily="34" charset="-122"/>
                <a:cs typeface="Calibri" pitchFamily="34" charset="-120"/>
              </a:rPr>
              <a:t>Birkaç gen okumaların büyük payını "çaldığında", toplam tabanlı yöntemler </a:t>
            </a:r>
            <a:r>
              <a:rPr lang="en-US" sz="1550" b="1" dirty="0">
                <a:solidFill>
                  <a:srgbClr val="212121"/>
                </a:solidFill>
                <a:latin typeface="Calibri" pitchFamily="34" charset="0"/>
                <a:ea typeface="Calibri" pitchFamily="34" charset="-122"/>
                <a:cs typeface="Calibri" pitchFamily="34" charset="-120"/>
              </a:rPr>
              <a:t>değişmeyen genleri azalmış gibi</a:t>
            </a:r>
            <a:r>
              <a:rPr lang="en-US" sz="1550" dirty="0">
                <a:solidFill>
                  <a:srgbClr val="212121"/>
                </a:solidFill>
                <a:latin typeface="Calibri" pitchFamily="34" charset="0"/>
                <a:ea typeface="Calibri" pitchFamily="34" charset="-122"/>
                <a:cs typeface="Calibri" pitchFamily="34" charset="-120"/>
              </a:rPr>
              <a:t> gösterir. Medyan-oranlar "genlerin çoğu değişmez" varsayımıyla bu yanlılığı düzeltir (TMM de benzer mantıktadır).</a:t>
            </a:r>
            <a:endParaRPr lang="en-US" sz="155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Medyan-oranlar kodu ve ders verisindeki sonucu</a:t>
            </a:r>
            <a:endParaRPr lang="en-US" sz="2800" dirty="0"/>
          </a:p>
        </p:txBody>
      </p:sp>
      <p:sp>
        <p:nvSpPr>
          <p:cNvPr id="3" name="Text 1"/>
          <p:cNvSpPr txBox="1"/>
          <p:nvPr/>
        </p:nvSpPr>
        <p:spPr>
          <a:xfrm>
            <a:off x="548640" y="4709160"/>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4937760"/>
            <a:ext cx="6434761" cy="1325880"/>
          </a:xfrm>
          <a:prstGeom prst="roundRect">
            <a:avLst>
              <a:gd name="adj" fmla="val 5517"/>
            </a:avLst>
          </a:prstGeom>
          <a:solidFill>
            <a:srgbClr val="FFFFFF"/>
          </a:solidFill>
          <a:ln w="12700">
            <a:solidFill>
              <a:srgbClr val="B0BEC5"/>
            </a:solidFill>
            <a:prstDash val="solid"/>
          </a:ln>
        </p:spPr>
      </p:sp>
      <p:sp>
        <p:nvSpPr>
          <p:cNvPr id="5" name="Text 3"/>
          <p:cNvSpPr txBox="1"/>
          <p:nvPr/>
        </p:nvSpPr>
        <p:spPr>
          <a:xfrm>
            <a:off x="658368" y="5010912"/>
            <a:ext cx="6215305" cy="1179576"/>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       s   oran          s   oran</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K1 0.776  1.170   T1 1.286  1.186</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K2 0.805  1.198   T2 0.750  1.166</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K3 0.783  1.192   T3 0.913  1.203</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K6 1.650  1.193   T4 1.603  1.202</a:t>
            </a:r>
            <a:endParaRPr lang="en-US" sz="1300" dirty="0"/>
          </a:p>
        </p:txBody>
      </p:sp>
      <p:sp>
        <p:nvSpPr>
          <p:cNvPr id="6" name="Shape 4"/>
          <p:cNvSpPr/>
          <p:nvPr/>
        </p:nvSpPr>
        <p:spPr>
          <a:xfrm>
            <a:off x="548640" y="1234440"/>
            <a:ext cx="6434761" cy="3429000"/>
          </a:xfrm>
          <a:prstGeom prst="roundRect">
            <a:avLst>
              <a:gd name="adj" fmla="val 2133"/>
            </a:avLst>
          </a:prstGeom>
          <a:solidFill>
            <a:srgbClr val="F4F6F7"/>
          </a:solidFill>
          <a:ln w="12700">
            <a:solidFill>
              <a:srgbClr val="B0BEC5"/>
            </a:solidFill>
            <a:prstDash val="solid"/>
          </a:ln>
        </p:spPr>
      </p:sp>
      <p:sp>
        <p:nvSpPr>
          <p:cNvPr id="7" name="Text 5"/>
          <p:cNvSpPr txBox="1"/>
          <p:nvPr/>
        </p:nvSpPr>
        <p:spPr>
          <a:xfrm>
            <a:off x="658368" y="1307592"/>
            <a:ext cx="6215305" cy="3282696"/>
          </a:xfrm>
          <a:prstGeom prst="rect">
            <a:avLst/>
          </a:prstGeom>
          <a:noFill/>
          <a:ln/>
        </p:spPr>
        <p:txBody>
          <a:bodyPr wrap="square" lIns="0" tIns="0" rIns="0" bIns="0" rtlCol="0" anchor="t"/>
          <a:lstStyle/>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def medyan_oranlar(c):</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log_c = np.log(c.replace(0, np.nan))</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log_geo = log_c.mean(axis=1)   # log-geo. ort.</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gecerli = log_geo.notna()      # sıfırsız genler</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oran = log_c[gecerli].sub(log_geo[gecerli],</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axis=0)</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return np.exp(oran.median(axis=0))</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s = medyan_oranlar(sayim)</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gercek = bilgi.set_index("ornek").kutuphane_carpani</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oran = s / gercek</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print(pd.DataFrame({"s": s, "oran": oran}).round(3))</a:t>
            </a:r>
            <a:endParaRPr lang="en-US" sz="1550" dirty="0"/>
          </a:p>
        </p:txBody>
      </p:sp>
      <p:sp>
        <p:nvSpPr>
          <p:cNvPr id="8" name="Text 6"/>
          <p:cNvSpPr txBox="1"/>
          <p:nvPr/>
        </p:nvSpPr>
        <p:spPr>
          <a:xfrm>
            <a:off x="7303441" y="1234440"/>
            <a:ext cx="4339614"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Geometrik ortalama = </a:t>
            </a:r>
            <a:r>
              <a:rPr lang="en-US" sz="1700" b="1" dirty="0">
                <a:solidFill>
                  <a:srgbClr val="212121"/>
                </a:solidFill>
                <a:latin typeface="Calibri" pitchFamily="34" charset="0"/>
                <a:ea typeface="Calibri" pitchFamily="34" charset="-122"/>
                <a:cs typeface="Calibri" pitchFamily="34" charset="-120"/>
              </a:rPr>
              <a:t>log ölçekte aritmetik ortalama</a:t>
            </a:r>
            <a:r>
              <a:rPr lang="en-US" sz="1700" dirty="0">
                <a:solidFill>
                  <a:srgbClr val="212121"/>
                </a:solidFill>
                <a:latin typeface="Calibri" pitchFamily="34" charset="0"/>
                <a:ea typeface="Calibri" pitchFamily="34" charset="-122"/>
                <a:cs typeface="Calibri" pitchFamily="34" charset="-120"/>
              </a:rPr>
              <a:t> (taşma olmaz)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Tahmini sᵢ, verinin üretiminde kullanılan gerçek çarpanla </a:t>
            </a:r>
            <a:r>
              <a:rPr lang="en-US" sz="1700" b="1" dirty="0">
                <a:solidFill>
                  <a:srgbClr val="212121"/>
                </a:solidFill>
                <a:latin typeface="Calibri" pitchFamily="34" charset="0"/>
                <a:ea typeface="Calibri" pitchFamily="34" charset="-122"/>
                <a:cs typeface="Calibri" pitchFamily="34" charset="-120"/>
              </a:rPr>
              <a:t>sabit bir oran</a:t>
            </a:r>
            <a:r>
              <a:rPr lang="en-US" sz="1700" dirty="0">
                <a:solidFill>
                  <a:srgbClr val="212121"/>
                </a:solidFill>
                <a:latin typeface="Calibri" pitchFamily="34" charset="0"/>
                <a:ea typeface="Calibri" pitchFamily="34" charset="-122"/>
                <a:cs typeface="Calibri" pitchFamily="34" charset="-120"/>
              </a:rPr>
              <a:t> (≈ 1.19) dışında örtüşüyor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Ölçek önemsizdir: tüm sᵢ'ler aynı sabitle çarpılabilir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Oranlardaki küçük sapmalar DE genlerin kompozisyon etkisidir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Log dönüşümü: neden log2(CPM + 1)?</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Sayımlar çok çarpık (0 – 10⁵) ve varyans ortalamayla büyür. log₂ dönüşümü ölçeği sıkıştırır ve katları farka çevirir.</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92913"/>
                <a:gridCol w="1740300"/>
                <a:gridCol w="1740300"/>
                <a:gridCol w="1740300"/>
                <a:gridCol w="1740300"/>
                <a:gridCol w="1740300"/>
              </a:tblGrid>
              <a:tr h="0">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x (CPM)</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1023</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10⁶</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log₂(x + 1)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19.93</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Değişim</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 → 200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 → 50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 → 400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 → 25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7 → 7</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Doğrusal fark</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+100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−50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+300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−75</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log₂ kat (log2FC)</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b="1" dirty="0">
                          <a:solidFill>
                            <a:srgbClr val="212121"/>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900" dirty="0">
                          <a:solidFill>
                            <a:srgbClr val="212121"/>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5" name="Shape 2"/>
          <p:cNvSpPr/>
          <p:nvPr/>
        </p:nvSpPr>
        <p:spPr>
          <a:xfrm>
            <a:off x="548640" y="4008120"/>
            <a:ext cx="11094415" cy="822960"/>
          </a:xfrm>
          <a:prstGeom prst="roundRect">
            <a:avLst>
              <a:gd name="adj" fmla="val 8889"/>
            </a:avLst>
          </a:prstGeom>
          <a:solidFill>
            <a:srgbClr val="FDECEA"/>
          </a:solidFill>
          <a:ln/>
        </p:spPr>
      </p:sp>
      <p:sp>
        <p:nvSpPr>
          <p:cNvPr id="6" name="Text 3"/>
          <p:cNvSpPr txBox="1"/>
          <p:nvPr/>
        </p:nvSpPr>
        <p:spPr>
          <a:xfrm>
            <a:off x="731520" y="4008120"/>
            <a:ext cx="10728655" cy="822960"/>
          </a:xfrm>
          <a:prstGeom prst="rect">
            <a:avLst/>
          </a:prstGeom>
          <a:noFill/>
          <a:ln/>
        </p:spPr>
        <p:txBody>
          <a:bodyPr wrap="square" lIns="0" tIns="0" rIns="0" bIns="0" rtlCol="0" anchor="ctr"/>
          <a:lstStyle/>
          <a:p>
            <a:pPr indent="0" marL="0">
              <a:buNone/>
            </a:pPr>
            <a:r>
              <a:rPr lang="en-US" sz="1600" b="1" dirty="0">
                <a:solidFill>
                  <a:srgbClr val="212121"/>
                </a:solidFill>
                <a:latin typeface="Calibri" pitchFamily="34" charset="0"/>
                <a:ea typeface="Calibri" pitchFamily="34" charset="-122"/>
                <a:cs typeface="Calibri" pitchFamily="34" charset="-120"/>
              </a:rPr>
              <a:t>+1 sözde sayım</a:t>
            </a:r>
            <a:r>
              <a:rPr lang="en-US" sz="1600" dirty="0">
                <a:solidFill>
                  <a:srgbClr val="212121"/>
                </a:solidFill>
                <a:latin typeface="Calibri" pitchFamily="34" charset="0"/>
                <a:ea typeface="Calibri" pitchFamily="34" charset="-122"/>
                <a:cs typeface="Calibri" pitchFamily="34" charset="-120"/>
              </a:rPr>
              <a:t> (pseudo-count) log(0)'ı önler. log ölçekte artış ve azalış </a:t>
            </a:r>
            <a:r>
              <a:rPr lang="en-US" sz="1600" b="1" dirty="0">
                <a:solidFill>
                  <a:srgbClr val="212121"/>
                </a:solidFill>
                <a:latin typeface="Calibri" pitchFamily="34" charset="0"/>
                <a:ea typeface="Calibri" pitchFamily="34" charset="-122"/>
                <a:cs typeface="Calibri" pitchFamily="34" charset="-120"/>
              </a:rPr>
              <a:t>simetriktir</a:t>
            </a:r>
            <a:r>
              <a:rPr lang="en-US" sz="1600" dirty="0">
                <a:solidFill>
                  <a:srgbClr val="212121"/>
                </a:solidFill>
                <a:latin typeface="Calibri" pitchFamily="34" charset="0"/>
                <a:ea typeface="Calibri" pitchFamily="34" charset="-122"/>
                <a:cs typeface="Calibri" pitchFamily="34" charset="-120"/>
              </a:rPr>
              <a:t>; t-testinin normallik varsayımı log ölçekte daha makuldür. Filtre: en az 3 örnekte CPM ≥ 10 → 2000 genden </a:t>
            </a:r>
            <a:r>
              <a:rPr lang="en-US" sz="1600" b="1" dirty="0">
                <a:solidFill>
                  <a:srgbClr val="212121"/>
                </a:solidFill>
                <a:latin typeface="Calibri" pitchFamily="34" charset="0"/>
                <a:ea typeface="Calibri" pitchFamily="34" charset="-122"/>
                <a:cs typeface="Calibri" pitchFamily="34" charset="-120"/>
              </a:rPr>
              <a:t>1941</a:t>
            </a:r>
            <a:r>
              <a:rPr lang="en-US" sz="1600" dirty="0">
                <a:solidFill>
                  <a:srgbClr val="212121"/>
                </a:solidFill>
                <a:latin typeface="Calibri" pitchFamily="34" charset="0"/>
                <a:ea typeface="Calibri" pitchFamily="34" charset="-122"/>
                <a:cs typeface="Calibri" pitchFamily="34" charset="-120"/>
              </a:rPr>
              <a:t> gen kalır.</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Örnekler arası korelasyon ve PCA</a:t>
            </a:r>
            <a:endParaRPr lang="en-US" sz="3000" dirty="0"/>
          </a:p>
        </p:txBody>
      </p:sp>
      <p:pic>
        <p:nvPicPr>
          <p:cNvPr id="3" name="Image 0" descr="g11_kor_pca.png">    </p:cNvPr>
          <p:cNvPicPr>
            <a:picLocks noChangeAspect="1"/>
          </p:cNvPicPr>
          <p:nvPr/>
        </p:nvPicPr>
        <p:blipFill>
          <a:blip r:embed="rId1"/>
          <a:stretch>
            <a:fillRect/>
          </a:stretch>
        </p:blipFill>
        <p:spPr>
          <a:xfrm>
            <a:off x="548640" y="1892562"/>
            <a:ext cx="8209867" cy="3301477"/>
          </a:xfrm>
          <a:prstGeom prst="rect">
            <a:avLst/>
          </a:prstGeom>
        </p:spPr>
      </p:pic>
      <p:sp>
        <p:nvSpPr>
          <p:cNvPr id="4" name="Text 1"/>
          <p:cNvSpPr txBox="1"/>
          <p:nvPr/>
        </p:nvSpPr>
        <p:spPr>
          <a:xfrm>
            <a:off x="9078547" y="1234440"/>
            <a:ext cx="256450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Grup içi r = </a:t>
            </a:r>
            <a:r>
              <a:rPr lang="en-US" sz="1700" b="1" dirty="0">
                <a:solidFill>
                  <a:srgbClr val="212121"/>
                </a:solidFill>
                <a:latin typeface="Calibri" pitchFamily="34" charset="0"/>
                <a:ea typeface="Calibri" pitchFamily="34" charset="-122"/>
                <a:cs typeface="Calibri" pitchFamily="34" charset="-120"/>
              </a:rPr>
              <a:t>0.943–0.961</a:t>
            </a:r>
            <a:r>
              <a:rPr lang="en-US" sz="1700" dirty="0">
                <a:solidFill>
                  <a:srgbClr val="212121"/>
                </a:solidFill>
                <a:latin typeface="Calibri" pitchFamily="34" charset="0"/>
                <a:ea typeface="Calibri" pitchFamily="34" charset="-122"/>
                <a:cs typeface="Calibri" pitchFamily="34" charset="-120"/>
              </a:rPr>
              <a:t>; gruplar arası r = </a:t>
            </a:r>
            <a:r>
              <a:rPr lang="en-US" sz="1700" b="1" dirty="0">
                <a:solidFill>
                  <a:srgbClr val="212121"/>
                </a:solidFill>
                <a:latin typeface="Calibri" pitchFamily="34" charset="0"/>
                <a:ea typeface="Calibri" pitchFamily="34" charset="-122"/>
                <a:cs typeface="Calibri" pitchFamily="34" charset="-120"/>
              </a:rPr>
              <a:t>0.913–0.928</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PC1 (%50)</a:t>
            </a:r>
            <a:r>
              <a:rPr lang="en-US" sz="1700" dirty="0">
                <a:solidFill>
                  <a:srgbClr val="212121"/>
                </a:solidFill>
                <a:latin typeface="Calibri" pitchFamily="34" charset="0"/>
                <a:ea typeface="Calibri" pitchFamily="34" charset="-122"/>
                <a:cs typeface="Calibri" pitchFamily="34" charset="-120"/>
              </a:rPr>
              <a:t> grupları tamamen ayırıyor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PC2 (%7): K1 ve K3 uçta → kaliteyi kontrol et</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Aykırı örnek, etiket karışıklığı, </a:t>
            </a:r>
            <a:r>
              <a:rPr lang="en-US" sz="1700" b="1" dirty="0">
                <a:solidFill>
                  <a:srgbClr val="212121"/>
                </a:solidFill>
                <a:latin typeface="Calibri" pitchFamily="34" charset="0"/>
                <a:ea typeface="Calibri" pitchFamily="34" charset="-122"/>
                <a:cs typeface="Calibri" pitchFamily="34" charset="-120"/>
              </a:rPr>
              <a:t>yığın etkisi</a:t>
            </a:r>
            <a:r>
              <a:rPr lang="en-US" sz="1700" dirty="0">
                <a:solidFill>
                  <a:srgbClr val="212121"/>
                </a:solidFill>
                <a:latin typeface="Calibri" pitchFamily="34" charset="0"/>
                <a:ea typeface="Calibri" pitchFamily="34" charset="-122"/>
                <a:cs typeface="Calibri" pitchFamily="34" charset="-120"/>
              </a:rPr>
              <a:t> burada yakalanır</a:t>
            </a:r>
            <a:endParaRPr lang="en-US" sz="1700" dirty="0"/>
          </a:p>
        </p:txBody>
      </p:sp>
      <p:sp>
        <p:nvSpPr>
          <p:cNvPr id="5" name="Text 2"/>
          <p:cNvSpPr txBox="1"/>
          <p:nvPr/>
        </p:nvSpPr>
        <p:spPr>
          <a:xfrm>
            <a:off x="548640" y="5267190"/>
            <a:ext cx="8209867" cy="320040"/>
          </a:xfrm>
          <a:prstGeom prst="rect">
            <a:avLst/>
          </a:prstGeom>
          <a:noFill/>
          <a:ln/>
        </p:spPr>
        <p:txBody>
          <a:bodyPr wrap="square" lIns="0" tIns="0" rIns="0" bIns="0" rtlCol="0" anchor="ctr"/>
          <a:lstStyle/>
          <a:p>
            <a:pPr algn="ctr" indent="0" marL="0">
              <a:buNone/>
            </a:pPr>
            <a:r>
              <a:rPr lang="en-US" sz="1100" i="1" dirty="0">
                <a:solidFill>
                  <a:srgbClr val="546E7A"/>
                </a:solidFill>
              </a:rPr>
              <a:t>log2(CPM+1), filtrelenmiş 1941 gen; PCA en değişken 500 gen üzerinde</a:t>
            </a:r>
            <a:endParaRPr lang="en-US" sz="11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Diferansiyel ifade</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Her gen için bir hipotez testi: H₀ — iki grubun ortalama ifadesi eşittir</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Katlanma değişimi ve Welch t-testi</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log2 katlanma değişimi</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log2FC = x̄_tedavi − x̄_kontrol</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x log₂ ölçekte; +1 → 2 kat artış, −1 → yarıya iniş</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Welch t istatistiği</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t = (x̄₁ − x̄₂) / √(s₁²/n₁ + s₂²/n₂)</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Varyansların eşit olduğunu </a:t>
            </a:r>
            <a:r>
              <a:rPr lang="en-US" sz="1300" b="1" dirty="0">
                <a:solidFill>
                  <a:srgbClr val="546E7A"/>
                </a:solidFill>
                <a:latin typeface="Calibri" pitchFamily="34" charset="0"/>
                <a:ea typeface="Calibri" pitchFamily="34" charset="-122"/>
                <a:cs typeface="Calibri" pitchFamily="34" charset="-120"/>
              </a:rPr>
              <a:t>varsaymaz</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Welch serbestlik derecesi</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ν = (s₁²/n₁ + s₂²/n₂)² / [ (s₁²/n₁)²/(n₁−1) + (s₂²/n₂)²/(n₂−1) ]</a:t>
            </a:r>
            <a:endParaRPr lang="en-US" sz="15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Welch–Satterthwaite yaklaşımı; eşit varyansta ν = n₁+n₂−2</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İki yönlü p-değeri</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p = 2 · P(T_ν &gt; |t|)</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H₀ doğruyken en az bu kadar uç bir t görme olasılığı</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p-değeri "genin DE olmama olasılığı" </a:t>
            </a:r>
            <a:r>
              <a:rPr lang="en-US" sz="1600" b="1" dirty="0">
                <a:solidFill>
                  <a:srgbClr val="212121"/>
                </a:solidFill>
                <a:latin typeface="Calibri" pitchFamily="34" charset="0"/>
                <a:ea typeface="Calibri" pitchFamily="34" charset="-122"/>
                <a:cs typeface="Calibri" pitchFamily="34" charset="-120"/>
              </a:rPr>
              <a:t>değildir</a:t>
            </a:r>
            <a:r>
              <a:rPr lang="en-US" sz="1600" dirty="0">
                <a:solidFill>
                  <a:srgbClr val="212121"/>
                </a:solidFill>
                <a:latin typeface="Calibri" pitchFamily="34" charset="0"/>
                <a:ea typeface="Calibri" pitchFamily="34" charset="-122"/>
                <a:cs typeface="Calibri" pitchFamily="34" charset="-120"/>
              </a:rPr>
              <a:t>. H₀ doğruysa p-değerleri [0, 1] aralığında </a:t>
            </a:r>
            <a:r>
              <a:rPr lang="en-US" sz="1600" b="1" dirty="0">
                <a:solidFill>
                  <a:srgbClr val="212121"/>
                </a:solidFill>
                <a:latin typeface="Calibri" pitchFamily="34" charset="0"/>
                <a:ea typeface="Calibri" pitchFamily="34" charset="-122"/>
                <a:cs typeface="Calibri" pitchFamily="34" charset="-120"/>
              </a:rPr>
              <a:t>düzgün</a:t>
            </a:r>
            <a:r>
              <a:rPr lang="en-US" sz="1600" dirty="0">
                <a:solidFill>
                  <a:srgbClr val="212121"/>
                </a:solidFill>
                <a:latin typeface="Calibri" pitchFamily="34" charset="0"/>
                <a:ea typeface="Calibri" pitchFamily="34" charset="-122"/>
                <a:cs typeface="Calibri" pitchFamily="34" charset="-120"/>
              </a:rPr>
              <a:t> dağılır; bu gözlem çoklu test düzeltmesinin temelidir.</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t-testi elle: eşit varyanslı küçük örnek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Bir genin log₂ ifadesi — kontrol: 5, 6, 7; tedavi: 9, 10, 11. log2FC, Welch t ve p-değeri nedir?</a:t>
            </a:r>
            <a:endParaRPr lang="en-US" sz="1800" dirty="0"/>
          </a:p>
        </p:txBody>
      </p:sp>
      <p:sp>
        <p:nvSpPr>
          <p:cNvPr id="6" name="Text 4"/>
          <p:cNvSpPr txBox="1"/>
          <p:nvPr/>
        </p:nvSpPr>
        <p:spPr>
          <a:xfrm>
            <a:off x="548640" y="2487168"/>
            <a:ext cx="5547208"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Ortalamalar: x̄_K = 6, x̄_T = 10 → log2FC = </a:t>
            </a:r>
            <a:r>
              <a:rPr lang="en-US" sz="1750" b="1" dirty="0">
                <a:solidFill>
                  <a:srgbClr val="212121"/>
                </a:solidFill>
                <a:latin typeface="Calibri" pitchFamily="34" charset="0"/>
                <a:ea typeface="Calibri" pitchFamily="34" charset="-122"/>
                <a:cs typeface="Calibri" pitchFamily="34" charset="-120"/>
              </a:rPr>
              <a:t>4</a:t>
            </a:r>
            <a:r>
              <a:rPr lang="en-US" sz="1750" dirty="0">
                <a:solidFill>
                  <a:srgbClr val="212121"/>
                </a:solidFill>
                <a:latin typeface="Calibri" pitchFamily="34" charset="0"/>
                <a:ea typeface="Calibri" pitchFamily="34" charset="-122"/>
                <a:cs typeface="Calibri" pitchFamily="34" charset="-120"/>
              </a:rPr>
              <a:t> (2⁴ = 16 kat)</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Varyanslar (n − 1 ile): s_K² = (1 + 0 + 1)/2 = 1; s_T² = 1</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Standart hata: √(1/3 + 1/3) = √0.667 = </a:t>
            </a:r>
            <a:r>
              <a:rPr lang="en-US" sz="1750" b="1" dirty="0">
                <a:solidFill>
                  <a:srgbClr val="212121"/>
                </a:solidFill>
                <a:latin typeface="Calibri" pitchFamily="34" charset="0"/>
                <a:ea typeface="Calibri" pitchFamily="34" charset="-122"/>
                <a:cs typeface="Calibri" pitchFamily="34" charset="-120"/>
              </a:rPr>
              <a:t>0.8165</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t = 4 / 0.8165 = </a:t>
            </a:r>
            <a:r>
              <a:rPr lang="en-US" sz="1750" b="1" dirty="0">
                <a:solidFill>
                  <a:srgbClr val="212121"/>
                </a:solidFill>
                <a:latin typeface="Calibri" pitchFamily="34" charset="0"/>
                <a:ea typeface="Calibri" pitchFamily="34" charset="-122"/>
                <a:cs typeface="Calibri" pitchFamily="34" charset="-120"/>
              </a:rPr>
              <a:t>4.90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Varyanslar eşit → ν = 4; %5 iki yönlü kritik değer t = 2.78 &lt; 4.90</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p = 2·P(T₄ &gt; 4.90) ≈ </a:t>
            </a:r>
            <a:r>
              <a:rPr lang="en-US" sz="1750" b="1" dirty="0">
                <a:solidFill>
                  <a:srgbClr val="212121"/>
                </a:solidFill>
                <a:latin typeface="Calibri" pitchFamily="34" charset="0"/>
                <a:ea typeface="Calibri" pitchFamily="34" charset="-122"/>
                <a:cs typeface="Calibri" pitchFamily="34" charset="-120"/>
              </a:rPr>
              <a:t>0.008</a:t>
            </a:r>
            <a:endParaRPr lang="en-US" sz="1750" dirty="0"/>
          </a:p>
        </p:txBody>
      </p:sp>
      <p:pic>
        <p:nvPicPr>
          <p:cNvPr id="7" name="Image 0" descr="p11_t_dagilimi.png">    </p:cNvPr>
          <p:cNvPicPr>
            <a:picLocks noChangeAspect="1"/>
          </p:cNvPicPr>
          <p:nvPr/>
        </p:nvPicPr>
        <p:blipFill>
          <a:blip r:embed="rId1"/>
          <a:stretch>
            <a:fillRect/>
          </a:stretch>
        </p:blipFill>
        <p:spPr>
          <a:xfrm>
            <a:off x="6525539" y="2487168"/>
            <a:ext cx="5007864" cy="2907792"/>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 = 4.90, ν = 4, p ≈ 0.0080, log2FC = 4.  </a:t>
            </a:r>
            <a:r>
              <a:rPr lang="en-US" sz="1700" dirty="0">
                <a:solidFill>
                  <a:srgbClr val="455A64"/>
                </a:solidFill>
                <a:latin typeface="Courier New" pitchFamily="34" charset="0"/>
                <a:ea typeface="Courier New" pitchFamily="34" charset="-122"/>
                <a:cs typeface="Courier New" pitchFamily="34" charset="-120"/>
              </a:rPr>
              <a:t>stats.ttest_ind([9,10,11], [5,6,7], equal_var=False)</a:t>
            </a:r>
            <a:r>
              <a:rPr lang="en-US" sz="1700" dirty="0">
                <a:solidFill>
                  <a:srgbClr val="212121"/>
                </a:solidFill>
                <a:latin typeface="Calibri" pitchFamily="34" charset="0"/>
                <a:ea typeface="Calibri" pitchFamily="34" charset="-122"/>
                <a:cs typeface="Calibri" pitchFamily="34" charset="-120"/>
              </a:rPr>
              <a:t> → t = 4.899, p = 0.0080</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Welch t-testi: varyanslar farklı olduğunda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Kontrol (n = 4): 6.0, 6.4, 5.8, 6.2; tedavi (n = 4): 7.1, 8.3, 6.9, 7.7. Welch t, serbestlik derecesi ve p-değerini hesaplayın; Student t-testiyle karşılaştırın.</a:t>
            </a:r>
            <a:endParaRPr lang="en-US" sz="1800" dirty="0"/>
          </a:p>
        </p:txBody>
      </p:sp>
      <p:sp>
        <p:nvSpPr>
          <p:cNvPr id="6" name="Text 4"/>
          <p:cNvSpPr txBox="1"/>
          <p:nvPr/>
        </p:nvSpPr>
        <p:spPr>
          <a:xfrm>
            <a:off x="548640" y="2779776"/>
            <a:ext cx="6878537"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x̄_K = 6.1, x̄_T = 7.5 → log2FC = </a:t>
            </a:r>
            <a:r>
              <a:rPr lang="en-US" sz="1700" b="1" dirty="0">
                <a:solidFill>
                  <a:srgbClr val="212121"/>
                </a:solidFill>
                <a:latin typeface="Calibri" pitchFamily="34" charset="0"/>
                <a:ea typeface="Calibri" pitchFamily="34" charset="-122"/>
                <a:cs typeface="Calibri" pitchFamily="34" charset="-120"/>
              </a:rPr>
              <a:t>1.4</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s_K² = 0.0667, s_T² = 0.400 (tedavi 6 kat daha değişken)</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s²/n: 0.0667/4 = 0.0167; 0.400/4 = 0.100 → SE = √0.1167 = </a:t>
            </a:r>
            <a:r>
              <a:rPr lang="en-US" sz="1700" b="1" dirty="0">
                <a:solidFill>
                  <a:srgbClr val="212121"/>
                </a:solidFill>
                <a:latin typeface="Calibri" pitchFamily="34" charset="0"/>
                <a:ea typeface="Calibri" pitchFamily="34" charset="-122"/>
                <a:cs typeface="Calibri" pitchFamily="34" charset="-120"/>
              </a:rPr>
              <a:t>0.3416</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t = 1.4 / 0.3416 = </a:t>
            </a:r>
            <a:r>
              <a:rPr lang="en-US" sz="1700" b="1" dirty="0">
                <a:solidFill>
                  <a:srgbClr val="212121"/>
                </a:solidFill>
                <a:latin typeface="Calibri" pitchFamily="34" charset="0"/>
                <a:ea typeface="Calibri" pitchFamily="34" charset="-122"/>
                <a:cs typeface="Calibri" pitchFamily="34" charset="-120"/>
              </a:rPr>
              <a:t>4.10</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ν = 0.1167² / (0.0167²/3 + 0.100²/3) = 0.01361 / 0.003426 = </a:t>
            </a:r>
            <a:r>
              <a:rPr lang="en-US" sz="1700" b="1" dirty="0">
                <a:solidFill>
                  <a:srgbClr val="212121"/>
                </a:solidFill>
                <a:latin typeface="Calibri" pitchFamily="34" charset="0"/>
                <a:ea typeface="Calibri" pitchFamily="34" charset="-122"/>
                <a:cs typeface="Calibri" pitchFamily="34" charset="-120"/>
              </a:rPr>
              <a:t>3.97</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p (Welch, ν = 3.97) = </a:t>
            </a:r>
            <a:r>
              <a:rPr lang="en-US" sz="1700" b="1" dirty="0">
                <a:solidFill>
                  <a:srgbClr val="212121"/>
                </a:solidFill>
                <a:latin typeface="Calibri" pitchFamily="34" charset="0"/>
                <a:ea typeface="Calibri" pitchFamily="34" charset="-122"/>
                <a:cs typeface="Calibri" pitchFamily="34" charset="-120"/>
              </a:rPr>
              <a:t>0.0151</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47217" y="2779776"/>
          <a:ext cx="3895838" cy="914400"/>
        </p:xfrm>
        <a:graphic>
          <a:graphicData uri="http://schemas.openxmlformats.org/drawingml/2006/table">
            <a:tbl>
              <a:tblPr/>
              <a:tblGrid>
                <a:gridCol w="730470"/>
                <a:gridCol w="1460939"/>
                <a:gridCol w="1704429"/>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Welch</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Student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ν</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3.97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0.0151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0.0064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n₁ = n₂ olduğunda t aynıdır, fark </a:t>
            </a:r>
            <a:r>
              <a:rPr lang="en-US" sz="1700" b="1" dirty="0">
                <a:solidFill>
                  <a:srgbClr val="212121"/>
                </a:solidFill>
                <a:latin typeface="Calibri" pitchFamily="34" charset="0"/>
                <a:ea typeface="Calibri" pitchFamily="34" charset="-122"/>
                <a:cs typeface="Calibri" pitchFamily="34" charset="-120"/>
              </a:rPr>
              <a:t>serbestlik derecesindedir</a:t>
            </a:r>
            <a:r>
              <a:rPr lang="en-US" sz="1700" dirty="0">
                <a:solidFill>
                  <a:srgbClr val="212121"/>
                </a:solidFill>
                <a:latin typeface="Calibri" pitchFamily="34" charset="0"/>
                <a:ea typeface="Calibri" pitchFamily="34" charset="-122"/>
                <a:cs typeface="Calibri" pitchFamily="34" charset="-120"/>
              </a:rPr>
              <a:t>. Varyanslar farklıyken Student testi p'yi olduğundan küçük gösterir; Welch daha güvenlidir.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bir gen: GEN0130</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GEN0130'un ham sayımları K1 = 234 (kütüphane 455 486) … T1 = 3015 (kütüphane 780 637). log2(CPM+1) değerlerinden log2FC ve Welch t'yi hesaplayın.</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CPM(K1) = 234 / 455 486 × 10⁶ = 513.7 → log₂(514.7) = </a:t>
            </a:r>
            <a:r>
              <a:rPr lang="en-US" sz="1750" b="1" dirty="0">
                <a:solidFill>
                  <a:srgbClr val="212121"/>
                </a:solidFill>
                <a:latin typeface="Calibri" pitchFamily="34" charset="0"/>
                <a:ea typeface="Calibri" pitchFamily="34" charset="-122"/>
                <a:cs typeface="Calibri" pitchFamily="34" charset="-120"/>
              </a:rPr>
              <a:t>9.01</a:t>
            </a:r>
            <a:r>
              <a:rPr lang="en-US" sz="1750" dirty="0">
                <a:solidFill>
                  <a:srgbClr val="212121"/>
                </a:solidFill>
                <a:latin typeface="Calibri" pitchFamily="34" charset="0"/>
                <a:ea typeface="Calibri" pitchFamily="34" charset="-122"/>
                <a:cs typeface="Calibri" pitchFamily="34" charset="-120"/>
              </a:rPr>
              <a:t>; CPM(T1) = 3862.2 → </a:t>
            </a:r>
            <a:r>
              <a:rPr lang="en-US" sz="1750" b="1" dirty="0">
                <a:solidFill>
                  <a:srgbClr val="212121"/>
                </a:solidFill>
                <a:latin typeface="Calibri" pitchFamily="34" charset="0"/>
                <a:ea typeface="Calibri" pitchFamily="34" charset="-122"/>
                <a:cs typeface="Calibri" pitchFamily="34" charset="-120"/>
              </a:rPr>
              <a:t>11.92</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Kontrol ortalaması = 8.40; tedavi ortalaması = 11.66 → log2FC = </a:t>
            </a:r>
            <a:r>
              <a:rPr lang="en-US" sz="1750" b="1" dirty="0">
                <a:solidFill>
                  <a:srgbClr val="212121"/>
                </a:solidFill>
                <a:latin typeface="Calibri" pitchFamily="34" charset="0"/>
                <a:ea typeface="Calibri" pitchFamily="34" charset="-122"/>
                <a:cs typeface="Calibri" pitchFamily="34" charset="-120"/>
              </a:rPr>
              <a:t>3.26</a:t>
            </a:r>
            <a:r>
              <a:rPr lang="en-US" sz="1750" dirty="0">
                <a:solidFill>
                  <a:srgbClr val="212121"/>
                </a:solidFill>
                <a:latin typeface="Calibri" pitchFamily="34" charset="0"/>
                <a:ea typeface="Calibri" pitchFamily="34" charset="-122"/>
                <a:cs typeface="Calibri" pitchFamily="34" charset="-120"/>
              </a:rPr>
              <a:t> (≈ 9.6 kat)</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s_K² = 0.139, s_T² = 0.051 → SE = √(0.139/6 + 0.051/6) = </a:t>
            </a:r>
            <a:r>
              <a:rPr lang="en-US" sz="1750" b="1" dirty="0">
                <a:solidFill>
                  <a:srgbClr val="212121"/>
                </a:solidFill>
                <a:latin typeface="Calibri" pitchFamily="34" charset="0"/>
                <a:ea typeface="Calibri" pitchFamily="34" charset="-122"/>
                <a:cs typeface="Calibri" pitchFamily="34" charset="-120"/>
              </a:rPr>
              <a:t>0.178</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t = 3.26 / 0.178 = </a:t>
            </a:r>
            <a:r>
              <a:rPr lang="en-US" sz="1750" b="1" dirty="0">
                <a:solidFill>
                  <a:srgbClr val="212121"/>
                </a:solidFill>
                <a:latin typeface="Calibri" pitchFamily="34" charset="0"/>
                <a:ea typeface="Calibri" pitchFamily="34" charset="-122"/>
                <a:cs typeface="Calibri" pitchFamily="34" charset="-120"/>
              </a:rPr>
              <a:t>18.3</a:t>
            </a:r>
            <a:r>
              <a:rPr lang="en-US" sz="1750" dirty="0">
                <a:solidFill>
                  <a:srgbClr val="212121"/>
                </a:solidFill>
                <a:latin typeface="Calibri" pitchFamily="34" charset="0"/>
                <a:ea typeface="Calibri" pitchFamily="34" charset="-122"/>
                <a:cs typeface="Calibri" pitchFamily="34" charset="-120"/>
              </a:rPr>
              <a:t>; ν ≈ 8.3</a:t>
            </a:r>
            <a:endParaRPr lang="en-US" sz="1750" dirty="0"/>
          </a:p>
          <a:p>
            <a:pPr marL="342900" indent="-342900">
              <a:spcAft>
                <a:spcPts val="600"/>
              </a:spcAft>
              <a:buSzPct val="100000"/>
              <a:buFont typeface="+mj-lt"/>
              <a:buAutoNum type="arabicPeriod" startAt="1"/>
            </a:pPr>
            <a:r>
              <a:rPr lang="en-US" sz="1750" dirty="0">
                <a:solidFill>
                  <a:srgbClr val="212121"/>
                </a:solidFill>
                <a:latin typeface="Calibri" pitchFamily="34" charset="0"/>
                <a:ea typeface="Calibri" pitchFamily="34" charset="-122"/>
                <a:cs typeface="Calibri" pitchFamily="34" charset="-120"/>
              </a:rPr>
              <a:t>p ≈ </a:t>
            </a:r>
            <a:r>
              <a:rPr lang="en-US" sz="1750" b="1" dirty="0">
                <a:solidFill>
                  <a:srgbClr val="212121"/>
                </a:solidFill>
                <a:latin typeface="Calibri" pitchFamily="34" charset="0"/>
                <a:ea typeface="Calibri" pitchFamily="34" charset="-122"/>
                <a:cs typeface="Calibri" pitchFamily="34" charset="-120"/>
              </a:rPr>
              <a:t>5.4 × 10⁻⁸</a:t>
            </a:r>
            <a:r>
              <a:rPr lang="en-US" sz="1750" dirty="0">
                <a:solidFill>
                  <a:srgbClr val="212121"/>
                </a:solidFill>
                <a:latin typeface="Calibri" pitchFamily="34" charset="0"/>
                <a:ea typeface="Calibri" pitchFamily="34" charset="-122"/>
                <a:cs typeface="Calibri" pitchFamily="34" charset="-120"/>
              </a:rPr>
              <a:t> → notebook'taki en anlamlı 10 genden biri</a:t>
            </a:r>
            <a:endParaRPr lang="en-US" sz="17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857860"/>
                <a:gridCol w="1201003"/>
                <a:gridCol w="857860"/>
                <a:gridCol w="1201003"/>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Örnek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log₂CPM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Örnek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log₂CPM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11.92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8.09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11.84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8.23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8.56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11.59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8.51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11.27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log2FC = 3.26, t = 18.35, p = 5.4 × 10⁻⁸: iki grubun değerleri </a:t>
            </a:r>
            <a:r>
              <a:rPr lang="en-US" sz="1700" b="1" dirty="0">
                <a:solidFill>
                  <a:srgbClr val="212121"/>
                </a:solidFill>
                <a:latin typeface="Calibri" pitchFamily="34" charset="0"/>
                <a:ea typeface="Calibri" pitchFamily="34" charset="-122"/>
                <a:cs typeface="Calibri" pitchFamily="34" charset="-120"/>
              </a:rPr>
              <a:t>hiç örtüşmüyor</a:t>
            </a:r>
            <a:r>
              <a:rPr lang="en-US" sz="1700" dirty="0">
                <a:solidFill>
                  <a:srgbClr val="212121"/>
                </a:solidFill>
                <a:latin typeface="Calibri" pitchFamily="34" charset="0"/>
                <a:ea typeface="Calibri" pitchFamily="34" charset="-122"/>
                <a:cs typeface="Calibri" pitchFamily="34" charset="-120"/>
              </a:rPr>
              <a:t>; bu gen gerçek DE listesinde yer alıyor.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Tüm genler için tek satırda test</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656649"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437193"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p &lt; 0.05: 281 | şansla beklenen ≈ 97</a:t>
            </a:r>
            <a:endParaRPr lang="en-US" sz="1300" dirty="0"/>
          </a:p>
        </p:txBody>
      </p:sp>
      <p:sp>
        <p:nvSpPr>
          <p:cNvPr id="6" name="Shape 4"/>
          <p:cNvSpPr/>
          <p:nvPr/>
        </p:nvSpPr>
        <p:spPr>
          <a:xfrm>
            <a:off x="548640" y="1234440"/>
            <a:ext cx="6656649"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437193" cy="4087368"/>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kontrol = X.columns[bilgi.grup == "kontrol"]</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tedavi  = X.columns[bilgi.grup == "tedavi"]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sonuc = pd.DataFrame(index=X.index)</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sonuc["ortalama_logCPM"] = X.mean(axis=1)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sonuc["log2FC"] = (X[tedavi].mean(axis=1)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 X[kontrol].mean(axis=1))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t_ist, p_deg = stats.ttest_ind(X[tedavi], X[kontrol],</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axis=1, equal_var=False)</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sonuc["t"], sonuc["p"] = t_ist, p_deg</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print("p &lt; 0.05:", (sonuc.p &lt; 0.05).sum(),</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 şansla beklenen ≈", round(0.05 * len(sonuc)))</a:t>
            </a:r>
            <a:endParaRPr lang="en-US" sz="150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axis=1</a:t>
            </a:r>
            <a:r>
              <a:rPr lang="en-US" sz="1700" dirty="0">
                <a:solidFill>
                  <a:srgbClr val="212121"/>
                </a:solidFill>
                <a:latin typeface="Calibri" pitchFamily="34" charset="0"/>
                <a:ea typeface="Calibri" pitchFamily="34" charset="-122"/>
                <a:cs typeface="Calibri" pitchFamily="34" charset="-120"/>
              </a:rPr>
              <a:t>: her satır (gen) için ayrı test, </a:t>
            </a:r>
            <a:r>
              <a:rPr lang="en-US" sz="1700" b="1" dirty="0">
                <a:solidFill>
                  <a:srgbClr val="212121"/>
                </a:solidFill>
                <a:latin typeface="Calibri" pitchFamily="34" charset="0"/>
                <a:ea typeface="Calibri" pitchFamily="34" charset="-122"/>
                <a:cs typeface="Calibri" pitchFamily="34" charset="-120"/>
              </a:rPr>
              <a:t>vektörel</a:t>
            </a:r>
            <a:r>
              <a:rPr lang="en-US" sz="1700" dirty="0">
                <a:solidFill>
                  <a:srgbClr val="212121"/>
                </a:solidFill>
                <a:latin typeface="Calibri" pitchFamily="34" charset="0"/>
                <a:ea typeface="Calibri" pitchFamily="34" charset="-122"/>
                <a:cs typeface="Calibri" pitchFamily="34" charset="-120"/>
              </a:rPr>
              <a:t> — döngü yok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1941 test ≈ milisaniyeler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281 genin </a:t>
            </a:r>
            <a:r>
              <a:rPr lang="en-US" sz="1700" b="1" dirty="0">
                <a:solidFill>
                  <a:srgbClr val="212121"/>
                </a:solidFill>
                <a:latin typeface="Calibri" pitchFamily="34" charset="0"/>
                <a:ea typeface="Calibri" pitchFamily="34" charset="-122"/>
                <a:cs typeface="Calibri" pitchFamily="34" charset="-120"/>
              </a:rPr>
              <a:t>hepsi</a:t>
            </a:r>
            <a:r>
              <a:rPr lang="en-US" sz="1700" dirty="0">
                <a:solidFill>
                  <a:srgbClr val="212121"/>
                </a:solidFill>
                <a:latin typeface="Calibri" pitchFamily="34" charset="0"/>
                <a:ea typeface="Calibri" pitchFamily="34" charset="-122"/>
                <a:cs typeface="Calibri" pitchFamily="34" charset="-120"/>
              </a:rPr>
              <a:t> DE değil: yaklaşık 97'si yalnızca şansla eşiği geçer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 sayı bir sonraki bölümün motivasyonu</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p-değeri histogramı: bir tanı aracı</a:t>
            </a:r>
            <a:endParaRPr lang="en-US" sz="3000" dirty="0"/>
          </a:p>
        </p:txBody>
      </p:sp>
      <p:pic>
        <p:nvPicPr>
          <p:cNvPr id="3" name="Image 0" descr="p11_p_histogram.png">    </p:cNvPr>
          <p:cNvPicPr>
            <a:picLocks noChangeAspect="1"/>
          </p:cNvPicPr>
          <p:nvPr/>
        </p:nvPicPr>
        <p:blipFill>
          <a:blip r:embed="rId1"/>
          <a:stretch>
            <a:fillRect/>
          </a:stretch>
        </p:blipFill>
        <p:spPr>
          <a:xfrm>
            <a:off x="548640" y="1943367"/>
            <a:ext cx="6101928" cy="3611345"/>
          </a:xfrm>
          <a:prstGeom prst="rect">
            <a:avLst/>
          </a:prstGeom>
        </p:spPr>
      </p:pic>
      <p:sp>
        <p:nvSpPr>
          <p:cNvPr id="4" name="Text 1"/>
          <p:cNvSpPr txBox="1"/>
          <p:nvPr/>
        </p:nvSpPr>
        <p:spPr>
          <a:xfrm>
            <a:off x="6970608" y="1234440"/>
            <a:ext cx="4672447"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Düz taban:</a:t>
            </a:r>
            <a:r>
              <a:rPr lang="en-US" sz="1700" dirty="0">
                <a:solidFill>
                  <a:srgbClr val="212121"/>
                </a:solidFill>
                <a:latin typeface="Calibri" pitchFamily="34" charset="0"/>
                <a:ea typeface="Calibri" pitchFamily="34" charset="-122"/>
                <a:cs typeface="Calibri" pitchFamily="34" charset="-120"/>
              </a:rPr>
              <a:t> H₀'ın doğru olduğu genler → p düzgün dağılır (her kutuda ≈ aynı sayı)</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Sıfırdaki tepe:</a:t>
            </a:r>
            <a:r>
              <a:rPr lang="en-US" sz="1700" dirty="0">
                <a:solidFill>
                  <a:srgbClr val="212121"/>
                </a:solidFill>
                <a:latin typeface="Calibri" pitchFamily="34" charset="0"/>
                <a:ea typeface="Calibri" pitchFamily="34" charset="-122"/>
                <a:cs typeface="Calibri" pitchFamily="34" charset="-120"/>
              </a:rPr>
              <a:t> gerçek DE genler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Taban yüksekliğinden yanlış pozitif sayısı kestirilebilir (Storey π₀ yaklaşımı)</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Sorunlu biçimler:</a:t>
            </a:r>
            <a:endParaRPr lang="en-US" sz="1700" dirty="0"/>
          </a:p>
          <a:p>
            <a:pPr lvl="1" marL="406400" indent="-203200">
              <a:spcAft>
                <a:spcPts val="300"/>
              </a:spcAft>
              <a:buSzPct val="100000"/>
              <a:buChar char="–"/>
            </a:pPr>
            <a:r>
              <a:rPr lang="en-US" sz="1500" dirty="0">
                <a:solidFill>
                  <a:srgbClr val="37474F"/>
                </a:solidFill>
                <a:latin typeface="Calibri" pitchFamily="34" charset="0"/>
                <a:ea typeface="Calibri" pitchFamily="34" charset="-122"/>
                <a:cs typeface="Calibri" pitchFamily="34" charset="-120"/>
              </a:rPr>
              <a:t>Sağa yığılma → test varsayımı bozuk</a:t>
            </a:r>
            <a:endParaRPr lang="en-US" sz="1700" dirty="0"/>
          </a:p>
          <a:p>
            <a:pPr lvl="1" marL="406400" indent="-203200">
              <a:spcAft>
                <a:spcPts val="300"/>
              </a:spcAft>
              <a:buSzPct val="100000"/>
              <a:buChar char="–"/>
            </a:pPr>
            <a:r>
              <a:rPr lang="en-US" sz="1500" dirty="0">
                <a:solidFill>
                  <a:srgbClr val="37474F"/>
                </a:solidFill>
                <a:latin typeface="Calibri" pitchFamily="34" charset="0"/>
                <a:ea typeface="Calibri" pitchFamily="34" charset="-122"/>
                <a:cs typeface="Calibri" pitchFamily="34" charset="-120"/>
              </a:rPr>
              <a:t>Tümsekli / dalgalı → normalizasyon veya yığın etkisi sorunu</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Çoklu test düzeltmesi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1941 test yaptığımızda "p &lt; 0.05" ne anlama gelir?</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Bonferroni ve Benjamini–Hochberg</a:t>
            </a:r>
            <a:endParaRPr lang="en-US" sz="3000" dirty="0"/>
          </a:p>
        </p:txBody>
      </p:sp>
      <p:sp>
        <p:nvSpPr>
          <p:cNvPr id="3" name="Text 1"/>
          <p:cNvSpPr txBox="1"/>
          <p:nvPr/>
        </p:nvSpPr>
        <p:spPr>
          <a:xfrm>
            <a:off x="548640" y="1234440"/>
            <a:ext cx="11094415" cy="731520"/>
          </a:xfrm>
          <a:prstGeom prst="rect">
            <a:avLst/>
          </a:prstGeom>
          <a:noFill/>
          <a:ln/>
        </p:spPr>
        <p:txBody>
          <a:bodyPr wrap="square" lIns="25400" tIns="25400" rIns="50800" bIns="25400" rtlCol="0" anchor="t"/>
          <a:lstStyle/>
          <a:p>
            <a:pPr algn="l" indent="0" marL="0">
              <a:spcAft>
                <a:spcPts val="600"/>
              </a:spcAft>
              <a:buNone/>
            </a:pPr>
            <a:r>
              <a:rPr lang="en-US" sz="1600" dirty="0">
                <a:solidFill>
                  <a:srgbClr val="212121"/>
                </a:solidFill>
                <a:latin typeface="Calibri" pitchFamily="34" charset="0"/>
                <a:ea typeface="Calibri" pitchFamily="34" charset="-122"/>
                <a:cs typeface="Calibri" pitchFamily="34" charset="-120"/>
              </a:rPr>
              <a:t>m = 1941 bağımsız testte H₀ hepsi için doğru olsa bile beklenen yanlış pozitif = 0.05 × 1941 ≈ </a:t>
            </a:r>
            <a:r>
              <a:rPr lang="en-US" sz="1600" b="1" dirty="0">
                <a:solidFill>
                  <a:srgbClr val="212121"/>
                </a:solidFill>
                <a:latin typeface="Calibri" pitchFamily="34" charset="0"/>
                <a:ea typeface="Calibri" pitchFamily="34" charset="-122"/>
                <a:cs typeface="Calibri" pitchFamily="34" charset="-120"/>
              </a:rPr>
              <a:t>97</a:t>
            </a:r>
            <a:r>
              <a:rPr lang="en-US" sz="1600" dirty="0">
                <a:solidFill>
                  <a:srgbClr val="212121"/>
                </a:solidFill>
                <a:latin typeface="Calibri" pitchFamily="34" charset="0"/>
                <a:ea typeface="Calibri" pitchFamily="34" charset="-122"/>
                <a:cs typeface="Calibri" pitchFamily="34" charset="-120"/>
              </a:rPr>
              <a:t>; en az bir yanlış pozitif olasılığı 1 − 0.95¹⁹⁴¹ ≈ </a:t>
            </a:r>
            <a:r>
              <a:rPr lang="en-US" sz="1600" b="1" dirty="0">
                <a:solidFill>
                  <a:srgbClr val="212121"/>
                </a:solidFill>
                <a:latin typeface="Calibri" pitchFamily="34" charset="0"/>
                <a:ea typeface="Calibri" pitchFamily="34" charset="-122"/>
                <a:cs typeface="Calibri" pitchFamily="34" charset="-120"/>
              </a:rPr>
              <a:t>1</a:t>
            </a:r>
            <a:r>
              <a:rPr lang="en-US" sz="1600" dirty="0">
                <a:solidFill>
                  <a:srgbClr val="212121"/>
                </a:solidFill>
                <a:latin typeface="Calibri" pitchFamily="34" charset="0"/>
                <a:ea typeface="Calibri" pitchFamily="34" charset="-122"/>
                <a:cs typeface="Calibri" pitchFamily="34" charset="-120"/>
              </a:rPr>
              <a:t>.</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5" cy="914400"/>
        </p:xfrm>
        <a:graphic>
          <a:graphicData uri="http://schemas.openxmlformats.org/drawingml/2006/table">
            <a:tbl>
              <a:tblPr/>
              <a:tblGrid>
                <a:gridCol w="2017166"/>
                <a:gridCol w="4217712"/>
                <a:gridCol w="4859537"/>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Bonferroni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Benjamini–Hochberg (BH)</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Kontrol ettiği</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FWER</a:t>
                      </a:r>
                      <a:r>
                        <a:rPr lang="en-US" sz="1800" dirty="0">
                          <a:solidFill>
                            <a:srgbClr val="212121"/>
                          </a:solidFill>
                          <a:latin typeface="Calibri" pitchFamily="34" charset="0"/>
                          <a:ea typeface="Calibri" pitchFamily="34" charset="-122"/>
                          <a:cs typeface="Calibri" pitchFamily="34" charset="-120"/>
                        </a:rPr>
                        <a:t>: en az bir yanlış pozitif olasılığı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FDR</a:t>
                      </a:r>
                      <a:r>
                        <a:rPr lang="en-US" sz="1800" dirty="0">
                          <a:solidFill>
                            <a:srgbClr val="212121"/>
                          </a:solidFill>
                          <a:latin typeface="Calibri" pitchFamily="34" charset="0"/>
                          <a:ea typeface="Calibri" pitchFamily="34" charset="-122"/>
                          <a:cs typeface="Calibri" pitchFamily="34" charset="-120"/>
                        </a:rPr>
                        <a:t>: keşiflerdeki yanlışların beklenen oranı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Kural</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pᵢ ≤ α / m</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Sıralı p₍ₖ₎ ≤ (k/m)·α olan </a:t>
                      </a:r>
                      <a:r>
                        <a:rPr lang="en-US" sz="1800" b="1" dirty="0">
                          <a:solidFill>
                            <a:srgbClr val="212121"/>
                          </a:solidFill>
                          <a:latin typeface="Calibri" pitchFamily="34" charset="0"/>
                          <a:ea typeface="Calibri" pitchFamily="34" charset="-122"/>
                          <a:cs typeface="Calibri" pitchFamily="34" charset="-120"/>
                        </a:rPr>
                        <a:t>en büyük k</a:t>
                      </a:r>
                      <a:r>
                        <a:rPr lang="en-US" sz="1800" dirty="0">
                          <a:solidFill>
                            <a:srgbClr val="212121"/>
                          </a:solidFill>
                          <a:latin typeface="Calibri" pitchFamily="34" charset="0"/>
                          <a:ea typeface="Calibri" pitchFamily="34" charset="-122"/>
                          <a:cs typeface="Calibri" pitchFamily="34" charset="-120"/>
                        </a:rPr>
                        <a:t>; ilk k gen keşif</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m = 1941, α = 0.05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eşik = 2.58 × 10⁻⁵</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eşik veriye bağlı (0.05/1941 ile 0.05 arası)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Düzeltilmiş değer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min(1, m·p)</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q₍ₖ₎ = min_{j ≥ k} m·p₍ⱼ₎ / j</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Karakter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Çok tutucu; güç kaybı</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Keşif odaklı; genomikte standart</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440680"/>
            <a:ext cx="11094415" cy="822960"/>
          </a:xfrm>
          <a:prstGeom prst="roundRect">
            <a:avLst>
              <a:gd name="adj" fmla="val 8889"/>
            </a:avLst>
          </a:prstGeom>
          <a:solidFill>
            <a:srgbClr val="FDECEA"/>
          </a:solidFill>
          <a:ln/>
        </p:spPr>
      </p:sp>
      <p:sp>
        <p:nvSpPr>
          <p:cNvPr id="6" name="Text 3"/>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Ders verisinde (m = 1941): Bonferroni </a:t>
            </a:r>
            <a:r>
              <a:rPr lang="en-US" sz="1600" b="1" dirty="0">
                <a:solidFill>
                  <a:srgbClr val="212121"/>
                </a:solidFill>
                <a:latin typeface="Calibri" pitchFamily="34" charset="0"/>
                <a:ea typeface="Calibri" pitchFamily="34" charset="-122"/>
                <a:cs typeface="Calibri" pitchFamily="34" charset="-120"/>
              </a:rPr>
              <a:t>57</a:t>
            </a:r>
            <a:r>
              <a:rPr lang="en-US" sz="1600" dirty="0">
                <a:solidFill>
                  <a:srgbClr val="212121"/>
                </a:solidFill>
                <a:latin typeface="Calibri" pitchFamily="34" charset="0"/>
                <a:ea typeface="Calibri" pitchFamily="34" charset="-122"/>
                <a:cs typeface="Calibri" pitchFamily="34" charset="-120"/>
              </a:rPr>
              <a:t>, BH </a:t>
            </a:r>
            <a:r>
              <a:rPr lang="en-US" sz="1600" b="1" dirty="0">
                <a:solidFill>
                  <a:srgbClr val="212121"/>
                </a:solidFill>
                <a:latin typeface="Calibri" pitchFamily="34" charset="0"/>
                <a:ea typeface="Calibri" pitchFamily="34" charset="-122"/>
                <a:cs typeface="Calibri" pitchFamily="34" charset="-120"/>
              </a:rPr>
              <a:t>133</a:t>
            </a:r>
            <a:r>
              <a:rPr lang="en-US" sz="1600" dirty="0">
                <a:solidFill>
                  <a:srgbClr val="212121"/>
                </a:solidFill>
                <a:latin typeface="Calibri" pitchFamily="34" charset="0"/>
                <a:ea typeface="Calibri" pitchFamily="34" charset="-122"/>
                <a:cs typeface="Calibri" pitchFamily="34" charset="-120"/>
              </a:rPr>
              <a:t> keşif. BH'nin gücü, eşiğin keşif sayısıyla birlikte </a:t>
            </a:r>
            <a:r>
              <a:rPr lang="en-US" sz="1600" b="1" dirty="0">
                <a:solidFill>
                  <a:srgbClr val="212121"/>
                </a:solidFill>
                <a:latin typeface="Calibri" pitchFamily="34" charset="0"/>
                <a:ea typeface="Calibri" pitchFamily="34" charset="-122"/>
                <a:cs typeface="Calibri" pitchFamily="34" charset="-120"/>
              </a:rPr>
              <a:t>büyümesinden</a:t>
            </a:r>
            <a:r>
              <a:rPr lang="en-US" sz="1600" dirty="0">
                <a:solidFill>
                  <a:srgbClr val="212121"/>
                </a:solidFill>
                <a:latin typeface="Calibri" pitchFamily="34" charset="0"/>
                <a:ea typeface="Calibri" pitchFamily="34" charset="-122"/>
                <a:cs typeface="Calibri" pitchFamily="34" charset="-120"/>
              </a:rPr>
              <a:t> gelir: k. sıradaki gen için eşik k kat gevşer.</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BH adım adım (1): eşik çizgisi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m = 8 testin p-değerleri: 0.001, 0.008, 0.039, 0.041, 0.042, 0.060, 0.074, 0.205. α = 0.05'te Bonferroni ve BH kaç keşif yapar?</a:t>
            </a:r>
            <a:endParaRPr lang="en-US" sz="1800" dirty="0"/>
          </a:p>
        </p:txBody>
      </p:sp>
      <p:sp>
        <p:nvSpPr>
          <p:cNvPr id="6" name="Text 4"/>
          <p:cNvSpPr txBox="1"/>
          <p:nvPr/>
        </p:nvSpPr>
        <p:spPr>
          <a:xfrm>
            <a:off x="548640" y="2779776"/>
            <a:ext cx="521437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p-değerlerini küçükten büyüğe sırala (zaten sıralı), k = 1…8</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Bonferroni eşiği 0.05/8 = </a:t>
            </a:r>
            <a:r>
              <a:rPr lang="en-US" sz="1550" b="1" dirty="0">
                <a:solidFill>
                  <a:srgbClr val="212121"/>
                </a:solidFill>
                <a:latin typeface="Calibri" pitchFamily="34" charset="0"/>
                <a:ea typeface="Calibri" pitchFamily="34" charset="-122"/>
                <a:cs typeface="Calibri" pitchFamily="34" charset="-120"/>
              </a:rPr>
              <a:t>0.00625</a:t>
            </a:r>
            <a:r>
              <a:rPr lang="en-US" sz="1550" dirty="0">
                <a:solidFill>
                  <a:srgbClr val="212121"/>
                </a:solidFill>
                <a:latin typeface="Calibri" pitchFamily="34" charset="0"/>
                <a:ea typeface="Calibri" pitchFamily="34" charset="-122"/>
                <a:cs typeface="Calibri" pitchFamily="34" charset="-120"/>
              </a:rPr>
              <a:t> → yalnızca 0.001 geçer → </a:t>
            </a:r>
            <a:r>
              <a:rPr lang="en-US" sz="1550" b="1" dirty="0">
                <a:solidFill>
                  <a:srgbClr val="212121"/>
                </a:solidFill>
                <a:latin typeface="Calibri" pitchFamily="34" charset="0"/>
                <a:ea typeface="Calibri" pitchFamily="34" charset="-122"/>
                <a:cs typeface="Calibri" pitchFamily="34" charset="-120"/>
              </a:rPr>
              <a:t>1 keşif</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BH eşikleri k·0.05/8: 0.00625, 0.0125, 0.01875, 0.025, 0.03125, …, 0.05</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Karşılaştır: k=1 ✓, k=2 (0.008 ≤ 0.0125) ✓, k=3 (0.039 &gt; 0.01875) ✗, …, k=8 ✗</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p₍ₖ₎ ≤ eşik olan </a:t>
            </a:r>
            <a:r>
              <a:rPr lang="en-US" sz="1550" b="1" dirty="0">
                <a:solidFill>
                  <a:srgbClr val="212121"/>
                </a:solidFill>
                <a:latin typeface="Calibri" pitchFamily="34" charset="0"/>
                <a:ea typeface="Calibri" pitchFamily="34" charset="-122"/>
                <a:cs typeface="Calibri" pitchFamily="34" charset="-120"/>
              </a:rPr>
              <a:t>en büyük k = 2</a:t>
            </a:r>
            <a:r>
              <a:rPr lang="en-US" sz="1550" dirty="0">
                <a:solidFill>
                  <a:srgbClr val="212121"/>
                </a:solidFill>
                <a:latin typeface="Calibri" pitchFamily="34" charset="0"/>
                <a:ea typeface="Calibri" pitchFamily="34" charset="-122"/>
                <a:cs typeface="Calibri" pitchFamily="34" charset="-120"/>
              </a:rPr>
              <a:t> → ilk 2 gen keşif</a:t>
            </a:r>
            <a:endParaRPr lang="en-US" sz="1550" dirty="0"/>
          </a:p>
        </p:txBody>
      </p:sp>
      <p:pic>
        <p:nvPicPr>
          <p:cNvPr id="7" name="Image 0" descr="p11_bh_adim.png">    </p:cNvPr>
          <p:cNvPicPr>
            <a:picLocks noChangeAspect="1"/>
          </p:cNvPicPr>
          <p:nvPr/>
        </p:nvPicPr>
        <p:blipFill>
          <a:blip r:embed="rId1"/>
          <a:stretch>
            <a:fillRect/>
          </a:stretch>
        </p:blipFill>
        <p:spPr>
          <a:xfrm>
            <a:off x="6932800" y="2779776"/>
            <a:ext cx="3860510"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Bonferroni </a:t>
            </a: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BH </a:t>
            </a: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 keşif yapar. BH, eşiği geçen en büyük k'ya kadar tüm genleri seçer (aradaki bir gen eşiği aşsa bile).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BH adım adım (2): karşılaştırma tablosu ve q-değerleri</a:t>
            </a:r>
            <a:endParaRPr lang="en-US" sz="28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Aynı 8 p-değeri: BH adımlarını tek tabloda toplayın; q₍ₖ₎ = min_{j ≥ k} m·p₍ⱼ₎/j değerlerini bulun.</a:t>
            </a:r>
            <a:endParaRPr lang="en-US" sz="1800" dirty="0"/>
          </a:p>
        </p:txBody>
      </p:sp>
      <p:sp>
        <p:nvSpPr>
          <p:cNvPr id="6" name="Text 4"/>
          <p:cNvSpPr txBox="1"/>
          <p:nvPr/>
        </p:nvSpPr>
        <p:spPr>
          <a:xfrm>
            <a:off x="548640" y="2487168"/>
            <a:ext cx="4659654"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Eşik sütunu k·α/m: p ≤ eşik olan </a:t>
            </a:r>
            <a:r>
              <a:rPr lang="en-US" sz="1650" b="1" dirty="0">
                <a:solidFill>
                  <a:srgbClr val="212121"/>
                </a:solidFill>
                <a:latin typeface="Calibri" pitchFamily="34" charset="0"/>
                <a:ea typeface="Calibri" pitchFamily="34" charset="-122"/>
                <a:cs typeface="Calibri" pitchFamily="34" charset="-120"/>
              </a:rPr>
              <a:t>en büyük k = 2</a:t>
            </a:r>
            <a:r>
              <a:rPr lang="en-US" sz="1650" dirty="0">
                <a:solidFill>
                  <a:srgbClr val="212121"/>
                </a:solidFill>
                <a:latin typeface="Calibri" pitchFamily="34" charset="0"/>
                <a:ea typeface="Calibri" pitchFamily="34" charset="-122"/>
                <a:cs typeface="Calibri" pitchFamily="34" charset="-120"/>
              </a:rPr>
              <a:t> → 2 keşif</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Ham oran m·p/k: 8·0.001/1 = 0.008, 8·0.008/2 = 0.032, 8·0.039/3 = 0.104, …</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Sağdan sola </a:t>
            </a:r>
            <a:r>
              <a:rPr lang="en-US" sz="1650" b="1" dirty="0">
                <a:solidFill>
                  <a:srgbClr val="212121"/>
                </a:solidFill>
                <a:latin typeface="Calibri" pitchFamily="34" charset="0"/>
                <a:ea typeface="Calibri" pitchFamily="34" charset="-122"/>
                <a:cs typeface="Calibri" pitchFamily="34" charset="-120"/>
              </a:rPr>
              <a:t>kümülatif minimum</a:t>
            </a:r>
            <a:r>
              <a:rPr lang="en-US" sz="1650" dirty="0">
                <a:solidFill>
                  <a:srgbClr val="212121"/>
                </a:solidFill>
                <a:latin typeface="Calibri" pitchFamily="34" charset="0"/>
                <a:ea typeface="Calibri" pitchFamily="34" charset="-122"/>
                <a:cs typeface="Calibri" pitchFamily="34" charset="-120"/>
              </a:rPr>
              <a:t> al (q monoton olmalı)</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k = 3: min(0.104, 0.082, 0.0672, 0.080, 0.0846, 0.205) = </a:t>
            </a:r>
            <a:r>
              <a:rPr lang="en-US" sz="1650" b="1" dirty="0">
                <a:solidFill>
                  <a:srgbClr val="212121"/>
                </a:solidFill>
                <a:latin typeface="Calibri" pitchFamily="34" charset="0"/>
                <a:ea typeface="Calibri" pitchFamily="34" charset="-122"/>
                <a:cs typeface="Calibri" pitchFamily="34" charset="-120"/>
              </a:rPr>
              <a:t>0.0672</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q &lt; 0.05 olan genler = BH keşifleri → k = 1, 2 (eşik yöntemiyle aynı)</a:t>
            </a:r>
            <a:endParaRPr lang="en-US" sz="16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528334" y="2487168"/>
          <a:ext cx="6114721" cy="914400"/>
        </p:xfrm>
        <a:graphic>
          <a:graphicData uri="http://schemas.openxmlformats.org/drawingml/2006/table">
            <a:tbl>
              <a:tblPr/>
              <a:tblGrid>
                <a:gridCol w="626703"/>
                <a:gridCol w="831518"/>
                <a:gridCol w="1164125"/>
                <a:gridCol w="1496732"/>
                <a:gridCol w="997821"/>
                <a:gridCol w="997821"/>
              </a:tblGrid>
              <a:tr h="0">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k</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p</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k·α/m</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p ≤ eşik?</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m·p/k</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q</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0.001</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0.00625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0.008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0.008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0.008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0.0125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0.032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0.032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0.039</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0.01875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0.104</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0.0672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0.041</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0.025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0.082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0.0672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0.042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0.03125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0.0672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0.0672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0.060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0.0375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0.080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0.080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0.074</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0.04375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0.0846</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0.0846</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0.205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0.05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0.205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0.205</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q = 0.008, 0.032, 0.0672, 0.0672, 0.0672, 0.080, 0.0846, 0.205. "q &lt; α" ve "p₍ₖ₎ ≤ k·α/m olan en büyük k" </a:t>
            </a:r>
            <a:r>
              <a:rPr lang="en-US" sz="1700" b="1" dirty="0">
                <a:solidFill>
                  <a:srgbClr val="212121"/>
                </a:solidFill>
                <a:latin typeface="Calibri" pitchFamily="34" charset="0"/>
                <a:ea typeface="Calibri" pitchFamily="34" charset="-122"/>
                <a:cs typeface="Calibri" pitchFamily="34" charset="-120"/>
              </a:rPr>
              <a:t>aynı listeyi</a:t>
            </a:r>
            <a:r>
              <a:rPr lang="en-US" sz="1700" dirty="0">
                <a:solidFill>
                  <a:srgbClr val="212121"/>
                </a:solidFill>
                <a:latin typeface="Calibri" pitchFamily="34" charset="0"/>
                <a:ea typeface="Calibri" pitchFamily="34" charset="-122"/>
                <a:cs typeface="Calibri" pitchFamily="34" charset="-120"/>
              </a:rPr>
              <a:t> verir; </a:t>
            </a:r>
            <a:r>
              <a:rPr lang="en-US" sz="1700" dirty="0">
                <a:solidFill>
                  <a:srgbClr val="455A64"/>
                </a:solidFill>
                <a:latin typeface="Courier New" pitchFamily="34" charset="0"/>
                <a:ea typeface="Courier New" pitchFamily="34" charset="-122"/>
                <a:cs typeface="Courier New" pitchFamily="34" charset="-120"/>
              </a:rPr>
              <a:t>stats.false_discovery_control(p)</a:t>
            </a:r>
            <a:r>
              <a:rPr lang="en-US" sz="1700" dirty="0">
                <a:solidFill>
                  <a:srgbClr val="212121"/>
                </a:solidFill>
                <a:latin typeface="Calibri" pitchFamily="34" charset="0"/>
                <a:ea typeface="Calibri" pitchFamily="34" charset="-122"/>
                <a:cs typeface="Calibri" pitchFamily="34" charset="-120"/>
              </a:rPr>
              <a:t> aynı q'ları üretir.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BH ders verisinde: sınır nerede?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notebook verisiyle)</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1941 genin Welch p-değerleri küçükten büyüğe sıralandı. Tablodaki sıralarda Bonferroni (eşik α/m) ve BH (eşik k·α/m) kararlarını verin; her yöntem kaç keşif yapar?</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Bonferroni eşiği = 0.05 / 1941 = </a:t>
            </a:r>
            <a:r>
              <a:rPr lang="en-US" sz="1450" b="1" dirty="0">
                <a:solidFill>
                  <a:srgbClr val="212121"/>
                </a:solidFill>
                <a:latin typeface="Calibri" pitchFamily="34" charset="0"/>
                <a:ea typeface="Calibri" pitchFamily="34" charset="-122"/>
                <a:cs typeface="Calibri" pitchFamily="34" charset="-120"/>
              </a:rPr>
              <a:t>2.58 × 10⁻⁵</a:t>
            </a:r>
            <a:r>
              <a:rPr lang="en-US" sz="1450" dirty="0">
                <a:solidFill>
                  <a:srgbClr val="212121"/>
                </a:solidFill>
                <a:latin typeface="Calibri" pitchFamily="34" charset="0"/>
                <a:ea typeface="Calibri" pitchFamily="34" charset="-122"/>
                <a:cs typeface="Calibri" pitchFamily="34" charset="-120"/>
              </a:rPr>
              <a:t> (tüm sıralar için aynı)</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k = 57: p = 2.11 × 10⁻⁵ ✓; k = 58: 2.62 × 10⁻⁵ ✗ → Bonferroni </a:t>
            </a:r>
            <a:r>
              <a:rPr lang="en-US" sz="1450" b="1" dirty="0">
                <a:solidFill>
                  <a:srgbClr val="212121"/>
                </a:solidFill>
                <a:latin typeface="Calibri" pitchFamily="34" charset="0"/>
                <a:ea typeface="Calibri" pitchFamily="34" charset="-122"/>
                <a:cs typeface="Calibri" pitchFamily="34" charset="-120"/>
              </a:rPr>
              <a:t>57</a:t>
            </a:r>
            <a:r>
              <a:rPr lang="en-US" sz="1450" dirty="0">
                <a:solidFill>
                  <a:srgbClr val="212121"/>
                </a:solidFill>
                <a:latin typeface="Calibri" pitchFamily="34" charset="0"/>
                <a:ea typeface="Calibri" pitchFamily="34" charset="-122"/>
                <a:cs typeface="Calibri" pitchFamily="34" charset="-120"/>
              </a:rPr>
              <a:t> keşif</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BH eşiği her sırada 2.58 × 10⁻⁵ artar: k = 133 → 133 × 0.05 / 1941 = </a:t>
            </a:r>
            <a:r>
              <a:rPr lang="en-US" sz="1450" b="1" dirty="0">
                <a:solidFill>
                  <a:srgbClr val="212121"/>
                </a:solidFill>
                <a:latin typeface="Calibri" pitchFamily="34" charset="0"/>
                <a:ea typeface="Calibri" pitchFamily="34" charset="-122"/>
                <a:cs typeface="Calibri" pitchFamily="34" charset="-120"/>
              </a:rPr>
              <a:t>3.426 × 10⁻³</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k = 133: 3.373 × 10⁻³ ≤ 3.426 × 10⁻³ ✓; k = 134: 3.486 × 10⁻³ &gt; 3.452 × 10⁻³ ✗</a:t>
            </a:r>
            <a:endParaRPr lang="en-US" sz="1450" dirty="0"/>
          </a:p>
          <a:p>
            <a:pPr marL="342900" indent="-342900">
              <a:spcAft>
                <a:spcPts val="600"/>
              </a:spcAft>
              <a:buSzPct val="100000"/>
              <a:buFont typeface="+mj-lt"/>
              <a:buAutoNum type="arabicPeriod" startAt="1"/>
            </a:pPr>
            <a:r>
              <a:rPr lang="en-US" sz="1450" dirty="0">
                <a:solidFill>
                  <a:srgbClr val="212121"/>
                </a:solidFill>
                <a:latin typeface="Calibri" pitchFamily="34" charset="0"/>
                <a:ea typeface="Calibri" pitchFamily="34" charset="-122"/>
                <a:cs typeface="Calibri" pitchFamily="34" charset="-120"/>
              </a:rPr>
              <a:t>Daha büyük hiçbir k eşiği geçmiyor → BH </a:t>
            </a:r>
            <a:r>
              <a:rPr lang="en-US" sz="1450" b="1" dirty="0">
                <a:solidFill>
                  <a:srgbClr val="212121"/>
                </a:solidFill>
                <a:latin typeface="Calibri" pitchFamily="34" charset="0"/>
                <a:ea typeface="Calibri" pitchFamily="34" charset="-122"/>
                <a:cs typeface="Calibri" pitchFamily="34" charset="-120"/>
              </a:rPr>
              <a:t>133</a:t>
            </a:r>
            <a:r>
              <a:rPr lang="en-US" sz="1450" dirty="0">
                <a:solidFill>
                  <a:srgbClr val="212121"/>
                </a:solidFill>
                <a:latin typeface="Calibri" pitchFamily="34" charset="0"/>
                <a:ea typeface="Calibri" pitchFamily="34" charset="-122"/>
                <a:cs typeface="Calibri" pitchFamily="34" charset="-120"/>
              </a:rPr>
              <a:t> keşif; 133. genin q'su = 1941·p/133 = </a:t>
            </a:r>
            <a:r>
              <a:rPr lang="en-US" sz="1450" b="1" dirty="0">
                <a:solidFill>
                  <a:srgbClr val="212121"/>
                </a:solidFill>
                <a:latin typeface="Calibri" pitchFamily="34" charset="0"/>
                <a:ea typeface="Calibri" pitchFamily="34" charset="-122"/>
                <a:cs typeface="Calibri" pitchFamily="34" charset="-120"/>
              </a:rPr>
              <a:t>0.049</a:t>
            </a:r>
            <a:endParaRPr lang="en-US" sz="14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602096"/>
                <a:gridCol w="1191993"/>
                <a:gridCol w="744996"/>
                <a:gridCol w="1191993"/>
                <a:gridCol w="602096"/>
                <a:gridCol w="893995"/>
              </a:tblGrid>
              <a:tr h="0">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p₍ₖ₎</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Bonf.</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k·α/m</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BH</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q</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3.6e−9</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2.6e−5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0.0000</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2.11e−5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1.47e−3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0.0007</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2.62e−5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1.49e−3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0.0009</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3.285e−3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3.400e−3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0.0483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133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3.373e−3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3.426e−3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0.0492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134</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3.486e−3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3.452e−3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0.0505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135</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3.547e−3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3.478e−3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0.0510</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Bonferroni </a:t>
            </a:r>
            <a:r>
              <a:rPr lang="en-US" sz="1700" b="1" dirty="0">
                <a:solidFill>
                  <a:srgbClr val="212121"/>
                </a:solidFill>
                <a:latin typeface="Calibri" pitchFamily="34" charset="0"/>
                <a:ea typeface="Calibri" pitchFamily="34" charset="-122"/>
                <a:cs typeface="Calibri" pitchFamily="34" charset="-120"/>
              </a:rPr>
              <a:t>57</a:t>
            </a:r>
            <a:r>
              <a:rPr lang="en-US" sz="1700" dirty="0">
                <a:solidFill>
                  <a:srgbClr val="212121"/>
                </a:solidFill>
                <a:latin typeface="Calibri" pitchFamily="34" charset="0"/>
                <a:ea typeface="Calibri" pitchFamily="34" charset="-122"/>
                <a:cs typeface="Calibri" pitchFamily="34" charset="-120"/>
              </a:rPr>
              <a:t>, BH </a:t>
            </a:r>
            <a:r>
              <a:rPr lang="en-US" sz="1700" b="1" dirty="0">
                <a:solidFill>
                  <a:srgbClr val="212121"/>
                </a:solidFill>
                <a:latin typeface="Calibri" pitchFamily="34" charset="0"/>
                <a:ea typeface="Calibri" pitchFamily="34" charset="-122"/>
                <a:cs typeface="Calibri" pitchFamily="34" charset="-120"/>
              </a:rPr>
              <a:t>133</a:t>
            </a:r>
            <a:r>
              <a:rPr lang="en-US" sz="1700" dirty="0">
                <a:solidFill>
                  <a:srgbClr val="212121"/>
                </a:solidFill>
                <a:latin typeface="Calibri" pitchFamily="34" charset="0"/>
                <a:ea typeface="Calibri" pitchFamily="34" charset="-122"/>
                <a:cs typeface="Calibri" pitchFamily="34" charset="-120"/>
              </a:rPr>
              <a:t> keşif: notebook çıktısıyla aynı. BH'de 133. gen, 57. genden 160 kat büyük bir p-değeriyle hâlâ keşif sayılır; eşik sıra ile </a:t>
            </a:r>
            <a:r>
              <a:rPr lang="en-US" sz="1700" b="1" dirty="0">
                <a:solidFill>
                  <a:srgbClr val="212121"/>
                </a:solidFill>
                <a:latin typeface="Calibri" pitchFamily="34" charset="0"/>
                <a:ea typeface="Calibri" pitchFamily="34" charset="-122"/>
                <a:cs typeface="Calibri" pitchFamily="34" charset="-120"/>
              </a:rPr>
              <a:t>büyür</a:t>
            </a:r>
            <a:r>
              <a:rPr lang="en-US" sz="1700" dirty="0">
                <a:solidFill>
                  <a:srgbClr val="212121"/>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BH'yi kendimiz yazalım ve kütüphaneyle test edelim</a:t>
            </a:r>
            <a:endParaRPr lang="en-US" sz="2800" dirty="0"/>
          </a:p>
        </p:txBody>
      </p:sp>
      <p:sp>
        <p:nvSpPr>
          <p:cNvPr id="3" name="Text 1"/>
          <p:cNvSpPr txBox="1"/>
          <p:nvPr/>
        </p:nvSpPr>
        <p:spPr>
          <a:xfrm>
            <a:off x="548640" y="5111496"/>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340096"/>
            <a:ext cx="7100426" cy="923544"/>
          </a:xfrm>
          <a:prstGeom prst="roundRect">
            <a:avLst>
              <a:gd name="adj" fmla="val 7921"/>
            </a:avLst>
          </a:prstGeom>
          <a:solidFill>
            <a:srgbClr val="FFFFFF"/>
          </a:solidFill>
          <a:ln w="12700">
            <a:solidFill>
              <a:srgbClr val="B0BEC5"/>
            </a:solidFill>
            <a:prstDash val="solid"/>
          </a:ln>
        </p:spPr>
      </p:sp>
      <p:sp>
        <p:nvSpPr>
          <p:cNvPr id="5" name="Text 3"/>
          <p:cNvSpPr txBox="1"/>
          <p:nvPr/>
        </p:nvSpPr>
        <p:spPr>
          <a:xfrm>
            <a:off x="658368" y="5413248"/>
            <a:ext cx="6880970" cy="777240"/>
          </a:xfrm>
          <a:prstGeom prst="rect">
            <a:avLst/>
          </a:prstGeom>
          <a:noFill/>
          <a:ln/>
        </p:spPr>
        <p:txBody>
          <a:bodyPr wrap="square" lIns="0" tIns="0" rIns="0" bIns="0" rtlCol="0" anchor="t"/>
          <a:lstStyle/>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Bizim BH  : [0.008  0.032  0.0672 0.0672 0.0672 0.08   0.0846 0.205 ]</a:t>
            </a:r>
            <a:endParaRPr lang="en-US" sz="1250" dirty="0"/>
          </a:p>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SciPy BH  : [0.008  0.032  0.0672 0.0672 0.0672 0.08   0.0846 0.205 ]</a:t>
            </a:r>
            <a:endParaRPr lang="en-US" sz="1250" dirty="0"/>
          </a:p>
          <a:p>
            <a:pPr indent="0" marL="0">
              <a:lnSpc>
                <a:spcPct val="100000"/>
              </a:lnSpc>
              <a:buNone/>
            </a:pPr>
            <a:r>
              <a:rPr lang="en-US" sz="1250" dirty="0">
                <a:solidFill>
                  <a:srgbClr val="37474F"/>
                </a:solidFill>
                <a:latin typeface="Courier New" pitchFamily="34" charset="0"/>
                <a:ea typeface="Courier New" pitchFamily="34" charset="-122"/>
                <a:cs typeface="Courier New" pitchFamily="34" charset="-120"/>
              </a:rPr>
              <a:t>Bonferroni: [0.008 0.064 0.312 0.328 0.336 0.48  0.592 1.   ]</a:t>
            </a:r>
            <a:endParaRPr lang="en-US" sz="1250" dirty="0"/>
          </a:p>
        </p:txBody>
      </p:sp>
      <p:sp>
        <p:nvSpPr>
          <p:cNvPr id="6" name="Shape 4"/>
          <p:cNvSpPr/>
          <p:nvPr/>
        </p:nvSpPr>
        <p:spPr>
          <a:xfrm>
            <a:off x="548640" y="1234440"/>
            <a:ext cx="7100426" cy="3831336"/>
          </a:xfrm>
          <a:prstGeom prst="roundRect">
            <a:avLst>
              <a:gd name="adj" fmla="val 1909"/>
            </a:avLst>
          </a:prstGeom>
          <a:solidFill>
            <a:srgbClr val="F4F6F7"/>
          </a:solidFill>
          <a:ln w="12700">
            <a:solidFill>
              <a:srgbClr val="B0BEC5"/>
            </a:solidFill>
            <a:prstDash val="solid"/>
          </a:ln>
        </p:spPr>
      </p:sp>
      <p:sp>
        <p:nvSpPr>
          <p:cNvPr id="7" name="Text 5"/>
          <p:cNvSpPr txBox="1"/>
          <p:nvPr/>
        </p:nvSpPr>
        <p:spPr>
          <a:xfrm>
            <a:off x="658368" y="1307592"/>
            <a:ext cx="6880970" cy="3685032"/>
          </a:xfrm>
          <a:prstGeom prst="rect">
            <a:avLst/>
          </a:prstGeom>
          <a:noFill/>
          <a:ln/>
        </p:spPr>
        <p:txBody>
          <a:bodyPr wrap="square" lIns="0" tIns="0" rIns="0" bIns="0" rtlCol="0" anchor="t"/>
          <a:lstStyle/>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def bh(p):</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p = np.asarray(p); m = len(p)</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sira = np.argsort(p)</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q = p[sira] * m / np.arange(1, m + 1)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q = np.minimum.accumulate(q[::-1])[::-1]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cikti = np.empty(m)</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cikti[sira] = np.minimum(q, 1)   # eski sıraya</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return cikti</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p_ornek = [0.001, 0.008, 0.039, 0.041,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           0.042, 0.060, 0.074, 0.205]</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sp = stats.false_discovery_control(p_ornek)</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bonf = np.minimum(np.array(p_ornek) * 8, 1)</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print("Bizim BH  :", bh(p_ornek).round(4))</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print("SciPy BH  :", sp.round(4))</a:t>
            </a:r>
            <a:endParaRPr lang="en-US" sz="1500" dirty="0"/>
          </a:p>
          <a:p>
            <a:pPr indent="0" marL="0">
              <a:lnSpc>
                <a:spcPct val="100000"/>
              </a:lnSpc>
              <a:buNone/>
            </a:pPr>
            <a:r>
              <a:rPr lang="en-US" sz="1500" dirty="0">
                <a:solidFill>
                  <a:srgbClr val="263238"/>
                </a:solidFill>
                <a:latin typeface="Courier New" pitchFamily="34" charset="0"/>
                <a:ea typeface="Courier New" pitchFamily="34" charset="-122"/>
                <a:cs typeface="Courier New" pitchFamily="34" charset="-120"/>
              </a:rPr>
              <a:t>print("Bonferroni:", bonf.round(4))</a:t>
            </a:r>
            <a:endParaRPr lang="en-US" sz="150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argsort</a:t>
            </a:r>
            <a:r>
              <a:rPr lang="en-US" sz="1700" dirty="0">
                <a:solidFill>
                  <a:srgbClr val="212121"/>
                </a:solidFill>
                <a:latin typeface="Calibri" pitchFamily="34" charset="0"/>
                <a:ea typeface="Calibri" pitchFamily="34" charset="-122"/>
                <a:cs typeface="Calibri" pitchFamily="34" charset="-120"/>
              </a:rPr>
              <a:t> + ters indeksleme: sonuç </a:t>
            </a:r>
            <a:r>
              <a:rPr lang="en-US" sz="1700" b="1" dirty="0">
                <a:solidFill>
                  <a:srgbClr val="212121"/>
                </a:solidFill>
                <a:latin typeface="Calibri" pitchFamily="34" charset="0"/>
                <a:ea typeface="Calibri" pitchFamily="34" charset="-122"/>
                <a:cs typeface="Calibri" pitchFamily="34" charset="-120"/>
              </a:rPr>
              <a:t>orijinal sırada</a:t>
            </a:r>
            <a:r>
              <a:rPr lang="en-US" sz="1700" dirty="0">
                <a:solidFill>
                  <a:srgbClr val="212121"/>
                </a:solidFill>
                <a:latin typeface="Calibri" pitchFamily="34" charset="0"/>
                <a:ea typeface="Calibri" pitchFamily="34" charset="-122"/>
                <a:cs typeface="Calibri" pitchFamily="34" charset="-120"/>
              </a:rPr>
              <a:t> döner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Sağdan kümülatif minimum: </a:t>
            </a:r>
            <a:r>
              <a:rPr lang="en-US" sz="1700" dirty="0">
                <a:solidFill>
                  <a:srgbClr val="455A64"/>
                </a:solidFill>
                <a:latin typeface="Courier New" pitchFamily="34" charset="0"/>
                <a:ea typeface="Courier New" pitchFamily="34" charset="-122"/>
                <a:cs typeface="Courier New" pitchFamily="34" charset="-120"/>
              </a:rPr>
              <a:t>np.minimum.accumulate(q[::-1])[::-1]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Karmaşıklık O(m log m) — sıralama baskın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Kendi kodumuzu kütüphaneyle </a:t>
            </a:r>
            <a:r>
              <a:rPr lang="en-US" sz="1700" b="1" dirty="0">
                <a:solidFill>
                  <a:srgbClr val="212121"/>
                </a:solidFill>
                <a:latin typeface="Calibri" pitchFamily="34" charset="0"/>
                <a:ea typeface="Calibri" pitchFamily="34" charset="-122"/>
                <a:cs typeface="Calibri" pitchFamily="34" charset="-120"/>
              </a:rPr>
              <a:t>birim testi</a:t>
            </a:r>
            <a:r>
              <a:rPr lang="en-US" sz="1700" dirty="0">
                <a:solidFill>
                  <a:srgbClr val="212121"/>
                </a:solidFill>
                <a:latin typeface="Calibri" pitchFamily="34" charset="0"/>
                <a:ea typeface="Calibri" pitchFamily="34" charset="-122"/>
                <a:cs typeface="Calibri" pitchFamily="34" charset="-120"/>
              </a:rPr>
              <a:t> gibi karşılaştırıyoruz</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5</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Sonuçlar ve gerçek cevapla karşılaştırma</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Volkan ve MA grafikleri, kesinlik ve duyarlılık</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Volkan ve MA grafikleri</a:t>
            </a:r>
            <a:endParaRPr lang="en-US" sz="3000" dirty="0"/>
          </a:p>
        </p:txBody>
      </p:sp>
      <p:pic>
        <p:nvPicPr>
          <p:cNvPr id="3" name="Image 0" descr="g11_volkan.png">    </p:cNvPr>
          <p:cNvPicPr>
            <a:picLocks noChangeAspect="1"/>
          </p:cNvPicPr>
          <p:nvPr/>
        </p:nvPicPr>
        <p:blipFill>
          <a:blip r:embed="rId1"/>
          <a:stretch>
            <a:fillRect/>
          </a:stretch>
        </p:blipFill>
        <p:spPr>
          <a:xfrm>
            <a:off x="548640" y="1723779"/>
            <a:ext cx="11094415" cy="3639043"/>
          </a:xfrm>
          <a:prstGeom prst="rect">
            <a:avLst/>
          </a:prstGeom>
        </p:spPr>
      </p:pic>
      <p:sp>
        <p:nvSpPr>
          <p:cNvPr id="4" name="Text 1"/>
          <p:cNvSpPr txBox="1"/>
          <p:nvPr/>
        </p:nvSpPr>
        <p:spPr>
          <a:xfrm>
            <a:off x="548640" y="5435973"/>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Kırmızı: BH q &lt; 0.05 ve |log2FC| &gt; 1 (125 gen). Sol: log2FC – (−log10 p). Sağ: ortalama ifade (A) – log2FC (M)</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cevapla karşılaştırma</a:t>
            </a:r>
            <a:endParaRPr lang="en-US" sz="3000" dirty="0"/>
          </a:p>
        </p:txBody>
      </p:sp>
      <p:sp>
        <p:nvSpPr>
          <p:cNvPr id="3" name="Text 1"/>
          <p:cNvSpPr txBox="1"/>
          <p:nvPr/>
        </p:nvSpPr>
        <p:spPr>
          <a:xfrm>
            <a:off x="548640" y="1234440"/>
            <a:ext cx="11094415" cy="457200"/>
          </a:xfrm>
          <a:prstGeom prst="rect">
            <a:avLst/>
          </a:prstGeom>
          <a:noFill/>
          <a:ln/>
        </p:spPr>
        <p:txBody>
          <a:bodyPr wrap="square" lIns="25400" tIns="25400" rIns="50800" bIns="25400" rtlCol="0" anchor="t"/>
          <a:lstStyle/>
          <a:p>
            <a:pPr algn="l" indent="0" marL="0">
              <a:spcAft>
                <a:spcPts val="600"/>
              </a:spcAft>
              <a:buNone/>
            </a:pPr>
            <a:r>
              <a:rPr lang="en-US" sz="1300" dirty="0">
                <a:solidFill>
                  <a:srgbClr val="212121"/>
                </a:solidFill>
                <a:latin typeface="Calibri" pitchFamily="34" charset="0"/>
                <a:ea typeface="Calibri" pitchFamily="34" charset="-122"/>
                <a:cs typeface="Calibri" pitchFamily="34" charset="-120"/>
              </a:rPr>
              <a:t>Filtre sonrası 1941 gen test edildi; bunların </a:t>
            </a:r>
            <a:r>
              <a:rPr lang="en-US" sz="1300" b="1" dirty="0">
                <a:solidFill>
                  <a:srgbClr val="212121"/>
                </a:solidFill>
                <a:latin typeface="Calibri" pitchFamily="34" charset="0"/>
                <a:ea typeface="Calibri" pitchFamily="34" charset="-122"/>
                <a:cs typeface="Calibri" pitchFamily="34" charset="-120"/>
              </a:rPr>
              <a:t>146'sı</a:t>
            </a:r>
            <a:r>
              <a:rPr lang="en-US" sz="1300" dirty="0">
                <a:solidFill>
                  <a:srgbClr val="212121"/>
                </a:solidFill>
                <a:latin typeface="Calibri" pitchFamily="34" charset="0"/>
                <a:ea typeface="Calibri" pitchFamily="34" charset="-122"/>
                <a:cs typeface="Calibri" pitchFamily="34" charset="-120"/>
              </a:rPr>
              <a:t> gerçek DE gen. Kesinlik = TP/(TP+FP), duyarlılık = TP/(TP+FN), gerçekleşen FDR = FP/(TP+FP).</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268890"/>
                <a:gridCol w="1188687"/>
                <a:gridCol w="891516"/>
                <a:gridCol w="891516"/>
                <a:gridCol w="891516"/>
                <a:gridCol w="1287745"/>
                <a:gridCol w="1386802"/>
                <a:gridCol w="1287745"/>
              </a:tblGrid>
              <a:tr h="0">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Seçim ölçütü</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Bulunan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TP</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FP</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FN</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Kesinlik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Duyarlılık</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Gerç. FDR</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Ham p &lt; 0.05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281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143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138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0.51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0.98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0.49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Bonferroni &lt; 0.05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57</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0.39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0.00</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BH q &lt; 0.05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133</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0.94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0.86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800" b="1" dirty="0">
                          <a:solidFill>
                            <a:srgbClr val="212121"/>
                          </a:solidFill>
                          <a:latin typeface="Calibri" pitchFamily="34" charset="0"/>
                          <a:ea typeface="Calibri" pitchFamily="34" charset="-122"/>
                          <a:cs typeface="Calibri" pitchFamily="34" charset="-120"/>
                        </a:rPr>
                        <a:t>0.06</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BH q &lt; 0.05 ve |log2FC| &gt; 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124</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22</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0.99</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0.85</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800" dirty="0">
                          <a:solidFill>
                            <a:srgbClr val="212121"/>
                          </a:solidFill>
                          <a:latin typeface="Calibri" pitchFamily="34" charset="0"/>
                          <a:ea typeface="Calibri" pitchFamily="34" charset="-122"/>
                          <a:cs typeface="Calibri" pitchFamily="34" charset="-120"/>
                        </a:rPr>
                        <a:t>0.008</a:t>
                      </a:r>
                      <a:endParaRPr lang="en-US" sz="18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5" name="Shape 2"/>
          <p:cNvSpPr/>
          <p:nvPr/>
        </p:nvSpPr>
        <p:spPr>
          <a:xfrm>
            <a:off x="548640" y="4206240"/>
            <a:ext cx="11094415" cy="822960"/>
          </a:xfrm>
          <a:prstGeom prst="roundRect">
            <a:avLst>
              <a:gd name="adj" fmla="val 8889"/>
            </a:avLst>
          </a:prstGeom>
          <a:solidFill>
            <a:srgbClr val="FDECEA"/>
          </a:solidFill>
          <a:ln/>
        </p:spPr>
      </p:sp>
      <p:sp>
        <p:nvSpPr>
          <p:cNvPr id="6" name="Text 3"/>
          <p:cNvSpPr txBox="1"/>
          <p:nvPr/>
        </p:nvSpPr>
        <p:spPr>
          <a:xfrm>
            <a:off x="731520" y="420624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Ham p keşiflerin </a:t>
            </a:r>
            <a:r>
              <a:rPr lang="en-US" sz="1600" b="1" dirty="0">
                <a:solidFill>
                  <a:srgbClr val="212121"/>
                </a:solidFill>
                <a:latin typeface="Calibri" pitchFamily="34" charset="0"/>
                <a:ea typeface="Calibri" pitchFamily="34" charset="-122"/>
                <a:cs typeface="Calibri" pitchFamily="34" charset="-120"/>
              </a:rPr>
              <a:t>yarısını yanlış</a:t>
            </a:r>
            <a:r>
              <a:rPr lang="en-US" sz="1600" dirty="0">
                <a:solidFill>
                  <a:srgbClr val="212121"/>
                </a:solidFill>
                <a:latin typeface="Calibri" pitchFamily="34" charset="0"/>
                <a:ea typeface="Calibri" pitchFamily="34" charset="-122"/>
                <a:cs typeface="Calibri" pitchFamily="34" charset="-120"/>
              </a:rPr>
              <a:t> yapar; Bonferroni çok tutucudur (gerçek DE genlerin %61'ini kaçırır); BH'nin gerçekleşen FDR'ı (8/133 = 0.06) hedeflenen %5'e </a:t>
            </a:r>
            <a:r>
              <a:rPr lang="en-US" sz="1600" b="1" dirty="0">
                <a:solidFill>
                  <a:srgbClr val="212121"/>
                </a:solidFill>
                <a:latin typeface="Calibri" pitchFamily="34" charset="0"/>
                <a:ea typeface="Calibri" pitchFamily="34" charset="-122"/>
                <a:cs typeface="Calibri" pitchFamily="34" charset="-120"/>
              </a:rPr>
              <a:t>çok yakın</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7"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8"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Karışıklık matrisinden kesinlik ve duyarlılık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BH q &lt; 0.05 ile 133 gen seçildi; bunların 125'i gerçek DE. Toplam 146 gerçek DE gen ve 1941 test edilen gen var. Karışıklık matrisini doldurun; kesinlik, duyarlılık ve özgüllüğü hesaplayın.</a:t>
            </a:r>
            <a:endParaRPr lang="en-US" sz="1800" dirty="0"/>
          </a:p>
        </p:txBody>
      </p:sp>
      <p:sp>
        <p:nvSpPr>
          <p:cNvPr id="6" name="Text 4"/>
          <p:cNvSpPr txBox="1"/>
          <p:nvPr/>
        </p:nvSpPr>
        <p:spPr>
          <a:xfrm>
            <a:off x="548640" y="2779776"/>
            <a:ext cx="5769096"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TP = 125 (seçilen ve gerçek DE); FP = 133 − 125 = </a:t>
            </a:r>
            <a:r>
              <a:rPr lang="en-US" sz="1800" b="1" dirty="0">
                <a:solidFill>
                  <a:srgbClr val="212121"/>
                </a:solidFill>
                <a:latin typeface="Calibri" pitchFamily="34" charset="0"/>
                <a:ea typeface="Calibri" pitchFamily="34" charset="-122"/>
                <a:cs typeface="Calibri" pitchFamily="34" charset="-120"/>
              </a:rPr>
              <a:t>8</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FN = 146 − 125 = </a:t>
            </a:r>
            <a:r>
              <a:rPr lang="en-US" sz="1800" b="1" dirty="0">
                <a:solidFill>
                  <a:srgbClr val="212121"/>
                </a:solidFill>
                <a:latin typeface="Calibri" pitchFamily="34" charset="0"/>
                <a:ea typeface="Calibri" pitchFamily="34" charset="-122"/>
                <a:cs typeface="Calibri" pitchFamily="34" charset="-120"/>
              </a:rPr>
              <a:t>21</a:t>
            </a:r>
            <a:r>
              <a:rPr lang="en-US" sz="1800" dirty="0">
                <a:solidFill>
                  <a:srgbClr val="212121"/>
                </a:solidFill>
                <a:latin typeface="Calibri" pitchFamily="34" charset="0"/>
                <a:ea typeface="Calibri" pitchFamily="34" charset="-122"/>
                <a:cs typeface="Calibri" pitchFamily="34" charset="-120"/>
              </a:rPr>
              <a:t> (kaçırılan gerçek DE)</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TN = 1941 − 125 − 8 − 21 = </a:t>
            </a:r>
            <a:r>
              <a:rPr lang="en-US" sz="1800" b="1" dirty="0">
                <a:solidFill>
                  <a:srgbClr val="212121"/>
                </a:solidFill>
                <a:latin typeface="Calibri" pitchFamily="34" charset="0"/>
                <a:ea typeface="Calibri" pitchFamily="34" charset="-122"/>
                <a:cs typeface="Calibri" pitchFamily="34" charset="-120"/>
              </a:rPr>
              <a:t>1787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Kesinlik = 125/133 = </a:t>
            </a:r>
            <a:r>
              <a:rPr lang="en-US" sz="1800" b="1" dirty="0">
                <a:solidFill>
                  <a:srgbClr val="212121"/>
                </a:solidFill>
                <a:latin typeface="Calibri" pitchFamily="34" charset="0"/>
                <a:ea typeface="Calibri" pitchFamily="34" charset="-122"/>
                <a:cs typeface="Calibri" pitchFamily="34" charset="-120"/>
              </a:rPr>
              <a:t>0.940</a:t>
            </a:r>
            <a:r>
              <a:rPr lang="en-US" sz="1800" dirty="0">
                <a:solidFill>
                  <a:srgbClr val="212121"/>
                </a:solidFill>
                <a:latin typeface="Calibri" pitchFamily="34" charset="0"/>
                <a:ea typeface="Calibri" pitchFamily="34" charset="-122"/>
                <a:cs typeface="Calibri" pitchFamily="34" charset="-120"/>
              </a:rPr>
              <a:t>; gerçekleşen FDR = 8/133 = 0.060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Duyarlılık = 125/146 = </a:t>
            </a:r>
            <a:r>
              <a:rPr lang="en-US" sz="1800" b="1" dirty="0">
                <a:solidFill>
                  <a:srgbClr val="212121"/>
                </a:solidFill>
                <a:latin typeface="Calibri" pitchFamily="34" charset="0"/>
                <a:ea typeface="Calibri" pitchFamily="34" charset="-122"/>
                <a:cs typeface="Calibri" pitchFamily="34" charset="-120"/>
              </a:rPr>
              <a:t>0.856</a:t>
            </a:r>
            <a:r>
              <a:rPr lang="en-US" sz="1800" dirty="0">
                <a:solidFill>
                  <a:srgbClr val="212121"/>
                </a:solidFill>
                <a:latin typeface="Calibri" pitchFamily="34" charset="0"/>
                <a:ea typeface="Calibri" pitchFamily="34" charset="-122"/>
                <a:cs typeface="Calibri" pitchFamily="34" charset="-120"/>
              </a:rPr>
              <a:t>; özgüllük = 1787/1795 = </a:t>
            </a:r>
            <a:r>
              <a:rPr lang="en-US" sz="1800" b="1" dirty="0">
                <a:solidFill>
                  <a:srgbClr val="212121"/>
                </a:solidFill>
                <a:latin typeface="Calibri" pitchFamily="34" charset="0"/>
                <a:ea typeface="Calibri" pitchFamily="34" charset="-122"/>
                <a:cs typeface="Calibri" pitchFamily="34" charset="-120"/>
              </a:rPr>
              <a:t>0.996</a:t>
            </a:r>
            <a:endParaRPr lang="en-US" sz="1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637776" y="2779776"/>
          <a:ext cx="5005279" cy="914400"/>
        </p:xfrm>
        <a:graphic>
          <a:graphicData uri="http://schemas.openxmlformats.org/drawingml/2006/table">
            <a:tbl>
              <a:tblPr/>
              <a:tblGrid>
                <a:gridCol w="1251320"/>
                <a:gridCol w="1126188"/>
                <a:gridCol w="1876980"/>
                <a:gridCol w="750792"/>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Gerçek DE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Gerçek DE değil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Seçilen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TP = 125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FP = 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Seçilmeyen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FN = 21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TN = 1787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1808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146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1795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1941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Özgüllük 0.996 çok yüksek görünür ama </a:t>
            </a:r>
            <a:r>
              <a:rPr lang="en-US" sz="1700" b="1" dirty="0">
                <a:solidFill>
                  <a:srgbClr val="212121"/>
                </a:solidFill>
                <a:latin typeface="Calibri" pitchFamily="34" charset="0"/>
                <a:ea typeface="Calibri" pitchFamily="34" charset="-122"/>
                <a:cs typeface="Calibri" pitchFamily="34" charset="-120"/>
              </a:rPr>
              <a:t>dengesiz</a:t>
            </a:r>
            <a:r>
              <a:rPr lang="en-US" sz="1700" dirty="0">
                <a:solidFill>
                  <a:srgbClr val="212121"/>
                </a:solidFill>
                <a:latin typeface="Calibri" pitchFamily="34" charset="0"/>
                <a:ea typeface="Calibri" pitchFamily="34" charset="-122"/>
                <a:cs typeface="Calibri" pitchFamily="34" charset="-120"/>
              </a:rPr>
              <a:t> veride yanıltıcıdır: gen listesinin kalitesini kesinlik (FDR) anlatır.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En anlamlı 40 gen: kümelenmiş ısı haritası</a:t>
            </a:r>
            <a:endParaRPr lang="en-US" sz="3000" dirty="0"/>
          </a:p>
        </p:txBody>
      </p:sp>
      <p:pic>
        <p:nvPicPr>
          <p:cNvPr id="3" name="Image 0" descr="p11_isi_haritasi.png">    </p:cNvPr>
          <p:cNvPicPr>
            <a:picLocks noChangeAspect="1"/>
          </p:cNvPicPr>
          <p:nvPr/>
        </p:nvPicPr>
        <p:blipFill>
          <a:blip r:embed="rId1"/>
          <a:stretch>
            <a:fillRect/>
          </a:stretch>
        </p:blipFill>
        <p:spPr>
          <a:xfrm>
            <a:off x="761747" y="1234440"/>
            <a:ext cx="4233441" cy="5029200"/>
          </a:xfrm>
          <a:prstGeom prst="rect">
            <a:avLst/>
          </a:prstGeom>
        </p:spPr>
      </p:pic>
      <p:sp>
        <p:nvSpPr>
          <p:cNvPr id="4" name="Text 1"/>
          <p:cNvSpPr txBox="1"/>
          <p:nvPr/>
        </p:nvSpPr>
        <p:spPr>
          <a:xfrm>
            <a:off x="5528334" y="1234440"/>
            <a:ext cx="6114721"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Satırlar: BH q &lt; 0.05 ve |log2FC| &gt; 1 olan en anlamlı 40 gen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gen </a:t>
            </a:r>
            <a:r>
              <a:rPr lang="en-US" sz="1700" b="1" dirty="0">
                <a:solidFill>
                  <a:srgbClr val="212121"/>
                </a:solidFill>
                <a:latin typeface="Calibri" pitchFamily="34" charset="0"/>
                <a:ea typeface="Calibri" pitchFamily="34" charset="-122"/>
                <a:cs typeface="Calibri" pitchFamily="34" charset="-120"/>
              </a:rPr>
              <a:t>z-skoruna</a:t>
            </a:r>
            <a:r>
              <a:rPr lang="en-US" sz="1700" dirty="0">
                <a:solidFill>
                  <a:srgbClr val="212121"/>
                </a:solidFill>
                <a:latin typeface="Calibri" pitchFamily="34" charset="0"/>
                <a:ea typeface="Calibri" pitchFamily="34" charset="-122"/>
                <a:cs typeface="Calibri" pitchFamily="34" charset="-120"/>
              </a:rPr>
              <a:t> çevrildi: (x − ort) / sd → genler aynı renk ölçeğinde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Sütunlar kendiliğinden </a:t>
            </a:r>
            <a:r>
              <a:rPr lang="en-US" sz="1700" b="1" dirty="0">
                <a:solidFill>
                  <a:srgbClr val="212121"/>
                </a:solidFill>
                <a:latin typeface="Calibri" pitchFamily="34" charset="0"/>
                <a:ea typeface="Calibri" pitchFamily="34" charset="-122"/>
                <a:cs typeface="Calibri" pitchFamily="34" charset="-120"/>
              </a:rPr>
              <a:t>kontrol / tedavi</a:t>
            </a:r>
            <a:r>
              <a:rPr lang="en-US" sz="1700" dirty="0">
                <a:solidFill>
                  <a:srgbClr val="212121"/>
                </a:solidFill>
                <a:latin typeface="Calibri" pitchFamily="34" charset="0"/>
                <a:ea typeface="Calibri" pitchFamily="34" charset="-122"/>
                <a:cs typeface="Calibri" pitchFamily="34" charset="-120"/>
              </a:rPr>
              <a:t> olarak ikiye ayrılıyor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Satırlar iki blok: tedavide </a:t>
            </a:r>
            <a:r>
              <a:rPr lang="en-US" sz="1700" b="1" dirty="0">
                <a:solidFill>
                  <a:srgbClr val="212121"/>
                </a:solidFill>
                <a:latin typeface="Calibri" pitchFamily="34" charset="0"/>
                <a:ea typeface="Calibri" pitchFamily="34" charset="-122"/>
                <a:cs typeface="Calibri" pitchFamily="34" charset="-120"/>
              </a:rPr>
              <a:t>artan</a:t>
            </a:r>
            <a:r>
              <a:rPr lang="en-US" sz="1700" dirty="0">
                <a:solidFill>
                  <a:srgbClr val="212121"/>
                </a:solidFill>
                <a:latin typeface="Calibri" pitchFamily="34" charset="0"/>
                <a:ea typeface="Calibri" pitchFamily="34" charset="-122"/>
                <a:cs typeface="Calibri" pitchFamily="34" charset="-120"/>
              </a:rPr>
              <a:t> (kırmızı) ve </a:t>
            </a:r>
            <a:r>
              <a:rPr lang="en-US" sz="1700" b="1" dirty="0">
                <a:solidFill>
                  <a:srgbClr val="212121"/>
                </a:solidFill>
                <a:latin typeface="Calibri" pitchFamily="34" charset="0"/>
                <a:ea typeface="Calibri" pitchFamily="34" charset="-122"/>
                <a:cs typeface="Calibri" pitchFamily="34" charset="-120"/>
              </a:rPr>
              <a:t>azalan</a:t>
            </a:r>
            <a:r>
              <a:rPr lang="en-US" sz="1700" dirty="0">
                <a:solidFill>
                  <a:srgbClr val="212121"/>
                </a:solidFill>
                <a:latin typeface="Calibri" pitchFamily="34" charset="0"/>
                <a:ea typeface="Calibri" pitchFamily="34" charset="-122"/>
                <a:cs typeface="Calibri" pitchFamily="34" charset="-120"/>
              </a:rPr>
              <a:t> (mavi) genler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Hiyerarşik kümeleme ve dendrogramlar: 12. haftanın konusu</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 ve gerçek dünya</a:t>
            </a:r>
            <a:endParaRPr lang="en-US" sz="3000" dirty="0"/>
          </a:p>
        </p:txBody>
      </p:sp>
      <p:sp>
        <p:nvSpPr>
          <p:cNvPr id="3" name="Shape 1"/>
          <p:cNvSpPr/>
          <p:nvPr/>
        </p:nvSpPr>
        <p:spPr>
          <a:xfrm>
            <a:off x="548640" y="1234440"/>
            <a:ext cx="3515258" cy="2377440"/>
          </a:xfrm>
          <a:prstGeom prst="roundRect">
            <a:avLst>
              <a:gd name="adj" fmla="val 3077"/>
            </a:avLst>
          </a:prstGeom>
          <a:solidFill>
            <a:srgbClr val="F7F9FA"/>
          </a:solidFill>
          <a:ln w="12700">
            <a:solidFill>
              <a:srgbClr val="B0BEC5"/>
            </a:solidFill>
            <a:prstDash val="solid"/>
          </a:ln>
        </p:spPr>
      </p:sp>
      <p:sp>
        <p:nvSpPr>
          <p:cNvPr id="4" name="Text 2"/>
          <p:cNvSpPr txBox="1"/>
          <p:nvPr/>
        </p:nvSpPr>
        <p:spPr>
          <a:xfrm>
            <a:off x="731520"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Ham p ile liste</a:t>
            </a:r>
            <a:endParaRPr lang="en-US" sz="1700" dirty="0"/>
          </a:p>
        </p:txBody>
      </p:sp>
      <p:sp>
        <p:nvSpPr>
          <p:cNvPr id="5" name="Text 3"/>
          <p:cNvSpPr txBox="1"/>
          <p:nvPr/>
        </p:nvSpPr>
        <p:spPr>
          <a:xfrm>
            <a:off x="640080"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1941 testte ≈ 97 yanlış pozitif</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Ders verisinde 281 keşfin </a:t>
            </a:r>
            <a:r>
              <a:rPr lang="en-US" sz="1500" b="1" dirty="0">
                <a:solidFill>
                  <a:srgbClr val="212121"/>
                </a:solidFill>
                <a:latin typeface="Calibri" pitchFamily="34" charset="0"/>
                <a:ea typeface="Calibri" pitchFamily="34" charset="-122"/>
                <a:cs typeface="Calibri" pitchFamily="34" charset="-120"/>
              </a:rPr>
              <a:t>138</a:t>
            </a:r>
            <a:r>
              <a:rPr lang="en-US" sz="1500" dirty="0">
                <a:solidFill>
                  <a:srgbClr val="212121"/>
                </a:solidFill>
                <a:latin typeface="Calibri" pitchFamily="34" charset="0"/>
                <a:ea typeface="Calibri" pitchFamily="34" charset="-122"/>
                <a:cs typeface="Calibri" pitchFamily="34" charset="-120"/>
              </a:rPr>
              <a:t>'i yanlış</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Her zaman BH q-değeri raporlayın</a:t>
            </a:r>
            <a:endParaRPr lang="en-US" sz="1500" dirty="0"/>
          </a:p>
        </p:txBody>
      </p:sp>
      <p:sp>
        <p:nvSpPr>
          <p:cNvPr id="6" name="Shape 4"/>
          <p:cNvSpPr/>
          <p:nvPr/>
        </p:nvSpPr>
        <p:spPr>
          <a:xfrm>
            <a:off x="4338218" y="1234440"/>
            <a:ext cx="3515258" cy="2377440"/>
          </a:xfrm>
          <a:prstGeom prst="roundRect">
            <a:avLst>
              <a:gd name="adj" fmla="val 3077"/>
            </a:avLst>
          </a:prstGeom>
          <a:solidFill>
            <a:srgbClr val="F7F9FA"/>
          </a:solidFill>
          <a:ln w="12700">
            <a:solidFill>
              <a:srgbClr val="B0BEC5"/>
            </a:solidFill>
            <a:prstDash val="solid"/>
          </a:ln>
        </p:spPr>
      </p:sp>
      <p:sp>
        <p:nvSpPr>
          <p:cNvPr id="7" name="Text 5"/>
          <p:cNvSpPr txBox="1"/>
          <p:nvPr/>
        </p:nvSpPr>
        <p:spPr>
          <a:xfrm>
            <a:off x="4521098"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TPM ile DE testi</a:t>
            </a:r>
            <a:endParaRPr lang="en-US" sz="1700" dirty="0"/>
          </a:p>
        </p:txBody>
      </p:sp>
      <p:sp>
        <p:nvSpPr>
          <p:cNvPr id="8" name="Text 6"/>
          <p:cNvSpPr txBox="1"/>
          <p:nvPr/>
        </p:nvSpPr>
        <p:spPr>
          <a:xfrm>
            <a:off x="4429658"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TPM kompozisyona duyarlı</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Aynı gen örnekler arasında: uzunluk sabit</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DE için ham sayım + boyut faktörü</a:t>
            </a:r>
            <a:endParaRPr lang="en-US" sz="1500" dirty="0"/>
          </a:p>
        </p:txBody>
      </p:sp>
      <p:sp>
        <p:nvSpPr>
          <p:cNvPr id="9" name="Shape 7"/>
          <p:cNvSpPr/>
          <p:nvPr/>
        </p:nvSpPr>
        <p:spPr>
          <a:xfrm>
            <a:off x="8127797" y="1234440"/>
            <a:ext cx="3515258" cy="2377440"/>
          </a:xfrm>
          <a:prstGeom prst="roundRect">
            <a:avLst>
              <a:gd name="adj" fmla="val 3077"/>
            </a:avLst>
          </a:prstGeom>
          <a:solidFill>
            <a:srgbClr val="F7F9FA"/>
          </a:solidFill>
          <a:ln w="12700">
            <a:solidFill>
              <a:srgbClr val="B0BEC5"/>
            </a:solidFill>
            <a:prstDash val="solid"/>
          </a:ln>
        </p:spPr>
      </p:sp>
      <p:sp>
        <p:nvSpPr>
          <p:cNvPr id="10" name="Text 8"/>
          <p:cNvSpPr txBox="1"/>
          <p:nvPr/>
        </p:nvSpPr>
        <p:spPr>
          <a:xfrm>
            <a:off x="8310677"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Log'suz t-testi</a:t>
            </a:r>
            <a:endParaRPr lang="en-US" sz="1700" dirty="0"/>
          </a:p>
        </p:txBody>
      </p:sp>
      <p:sp>
        <p:nvSpPr>
          <p:cNvPr id="11" name="Text 9"/>
          <p:cNvSpPr txBox="1"/>
          <p:nvPr/>
        </p:nvSpPr>
        <p:spPr>
          <a:xfrm>
            <a:off x="8219237" y="180136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CPM'de duyarlılık 0.86 → </a:t>
            </a:r>
            <a:r>
              <a:rPr lang="en-US" sz="1500" b="1" dirty="0">
                <a:solidFill>
                  <a:srgbClr val="212121"/>
                </a:solidFill>
                <a:latin typeface="Calibri" pitchFamily="34" charset="0"/>
                <a:ea typeface="Calibri" pitchFamily="34" charset="-122"/>
                <a:cs typeface="Calibri" pitchFamily="34" charset="-120"/>
              </a:rPr>
              <a:t>0.66</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101 keşif (log ile 133)</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Varyans ortalamayla büyür</a:t>
            </a:r>
            <a:endParaRPr lang="en-US" sz="1500" dirty="0"/>
          </a:p>
        </p:txBody>
      </p:sp>
      <p:sp>
        <p:nvSpPr>
          <p:cNvPr id="12" name="Shape 10"/>
          <p:cNvSpPr/>
          <p:nvPr/>
        </p:nvSpPr>
        <p:spPr>
          <a:xfrm>
            <a:off x="548640" y="3886200"/>
            <a:ext cx="3515258" cy="2377440"/>
          </a:xfrm>
          <a:prstGeom prst="roundRect">
            <a:avLst>
              <a:gd name="adj" fmla="val 3077"/>
            </a:avLst>
          </a:prstGeom>
          <a:solidFill>
            <a:srgbClr val="F7F9FA"/>
          </a:solidFill>
          <a:ln w="12700">
            <a:solidFill>
              <a:srgbClr val="B0BEC5"/>
            </a:solidFill>
            <a:prstDash val="solid"/>
          </a:ln>
        </p:spPr>
      </p:sp>
      <p:sp>
        <p:nvSpPr>
          <p:cNvPr id="13" name="Text 11"/>
          <p:cNvSpPr txBox="1"/>
          <p:nvPr/>
        </p:nvSpPr>
        <p:spPr>
          <a:xfrm>
            <a:off x="731520"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Az tekrar</a:t>
            </a:r>
            <a:endParaRPr lang="en-US" sz="1700" dirty="0"/>
          </a:p>
        </p:txBody>
      </p:sp>
      <p:sp>
        <p:nvSpPr>
          <p:cNvPr id="14" name="Text 12"/>
          <p:cNvSpPr txBox="1"/>
          <p:nvPr/>
        </p:nvSpPr>
        <p:spPr>
          <a:xfrm>
            <a:off x="640080"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3'e karşı 3 örnekte yalnızca </a:t>
            </a:r>
            <a:r>
              <a:rPr lang="en-US" sz="1500" b="1" dirty="0">
                <a:solidFill>
                  <a:srgbClr val="212121"/>
                </a:solidFill>
                <a:latin typeface="Calibri" pitchFamily="34" charset="0"/>
                <a:ea typeface="Calibri" pitchFamily="34" charset="-122"/>
                <a:cs typeface="Calibri" pitchFamily="34" charset="-120"/>
              </a:rPr>
              <a:t>1</a:t>
            </a:r>
            <a:r>
              <a:rPr lang="en-US" sz="1500" dirty="0">
                <a:solidFill>
                  <a:srgbClr val="212121"/>
                </a:solidFill>
                <a:latin typeface="Calibri" pitchFamily="34" charset="0"/>
                <a:ea typeface="Calibri" pitchFamily="34" charset="-122"/>
                <a:cs typeface="Calibri" pitchFamily="34" charset="-120"/>
              </a:rPr>
              <a:t> keşif</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Duyarlılık 0.86 → 0.007</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Güç analizi deneyden önce</a:t>
            </a:r>
            <a:endParaRPr lang="en-US" sz="1500" dirty="0"/>
          </a:p>
        </p:txBody>
      </p:sp>
      <p:sp>
        <p:nvSpPr>
          <p:cNvPr id="15" name="Shape 13"/>
          <p:cNvSpPr/>
          <p:nvPr/>
        </p:nvSpPr>
        <p:spPr>
          <a:xfrm>
            <a:off x="4338218" y="3886200"/>
            <a:ext cx="3515258" cy="2377440"/>
          </a:xfrm>
          <a:prstGeom prst="roundRect">
            <a:avLst>
              <a:gd name="adj" fmla="val 3077"/>
            </a:avLst>
          </a:prstGeom>
          <a:solidFill>
            <a:srgbClr val="F7F9FA"/>
          </a:solidFill>
          <a:ln w="12700">
            <a:solidFill>
              <a:srgbClr val="B0BEC5"/>
            </a:solidFill>
            <a:prstDash val="solid"/>
          </a:ln>
        </p:spPr>
      </p:sp>
      <p:sp>
        <p:nvSpPr>
          <p:cNvPr id="16" name="Text 14"/>
          <p:cNvSpPr txBox="1"/>
          <p:nvPr/>
        </p:nvSpPr>
        <p:spPr>
          <a:xfrm>
            <a:off x="4521098"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Döngüsel ısı haritası</a:t>
            </a:r>
            <a:endParaRPr lang="en-US" sz="1700" dirty="0"/>
          </a:p>
        </p:txBody>
      </p:sp>
      <p:sp>
        <p:nvSpPr>
          <p:cNvPr id="17" name="Text 15"/>
          <p:cNvSpPr txBox="1"/>
          <p:nvPr/>
        </p:nvSpPr>
        <p:spPr>
          <a:xfrm>
            <a:off x="4429658"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DE genlerle çizilen harita grupları tabii ki ayırır</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Kanıt değil, görselleştirme</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Kalite kontrol için tüm genlerle PCA</a:t>
            </a:r>
            <a:endParaRPr lang="en-US" sz="1500" dirty="0"/>
          </a:p>
        </p:txBody>
      </p:sp>
      <p:sp>
        <p:nvSpPr>
          <p:cNvPr id="18" name="Shape 16"/>
          <p:cNvSpPr/>
          <p:nvPr/>
        </p:nvSpPr>
        <p:spPr>
          <a:xfrm>
            <a:off x="8127797" y="3886200"/>
            <a:ext cx="3515258" cy="2377440"/>
          </a:xfrm>
          <a:prstGeom prst="roundRect">
            <a:avLst>
              <a:gd name="adj" fmla="val 3077"/>
            </a:avLst>
          </a:prstGeom>
          <a:solidFill>
            <a:srgbClr val="FDECEA"/>
          </a:solidFill>
          <a:ln w="12700">
            <a:solidFill>
              <a:srgbClr val="B0BEC5"/>
            </a:solidFill>
            <a:prstDash val="solid"/>
          </a:ln>
        </p:spPr>
      </p:sp>
      <p:sp>
        <p:nvSpPr>
          <p:cNvPr id="19" name="Text 17"/>
          <p:cNvSpPr txBox="1"/>
          <p:nvPr/>
        </p:nvSpPr>
        <p:spPr>
          <a:xfrm>
            <a:off x="8310677" y="3995928"/>
            <a:ext cx="3149498" cy="457200"/>
          </a:xfrm>
          <a:prstGeom prst="rect">
            <a:avLst/>
          </a:prstGeom>
          <a:noFill/>
          <a:ln/>
        </p:spPr>
        <p:txBody>
          <a:bodyPr wrap="square" lIns="0" tIns="0" rIns="0" bIns="0" rtlCol="0" anchor="t"/>
          <a:lstStyle/>
          <a:p>
            <a:pPr indent="0" marL="0">
              <a:buNone/>
            </a:pPr>
            <a:r>
              <a:rPr lang="en-US" sz="1700" b="1" dirty="0">
                <a:solidFill>
                  <a:srgbClr val="B71C1C"/>
                </a:solidFill>
              </a:rPr>
              <a:t>Gerçek dünyada</a:t>
            </a:r>
            <a:endParaRPr lang="en-US" sz="1700" dirty="0"/>
          </a:p>
        </p:txBody>
      </p:sp>
      <p:sp>
        <p:nvSpPr>
          <p:cNvPr id="20" name="Text 18"/>
          <p:cNvSpPr txBox="1"/>
          <p:nvPr/>
        </p:nvSpPr>
        <p:spPr>
          <a:xfrm>
            <a:off x="8219237" y="4453128"/>
            <a:ext cx="3332378" cy="1719072"/>
          </a:xfrm>
          <a:prstGeom prst="rect">
            <a:avLst/>
          </a:prstGeom>
          <a:noFill/>
          <a:ln/>
        </p:spPr>
        <p:txBody>
          <a:bodyPr wrap="square" lIns="25400" tIns="25400" rIns="50800" bIns="25400" rtlCol="0" anchor="t"/>
          <a:lstStyle/>
          <a:p>
            <a:pPr marL="228600" indent="-228600">
              <a:spcAft>
                <a:spcPts val="700"/>
              </a:spcAft>
              <a:buSzPct val="100000"/>
              <a:buChar char="•"/>
            </a:pPr>
            <a:r>
              <a:rPr lang="en-US" sz="1500" b="1" dirty="0">
                <a:solidFill>
                  <a:srgbClr val="212121"/>
                </a:solidFill>
                <a:latin typeface="Calibri" pitchFamily="34" charset="0"/>
                <a:ea typeface="Calibri" pitchFamily="34" charset="-122"/>
                <a:cs typeface="Calibri" pitchFamily="34" charset="-120"/>
              </a:rPr>
              <a:t>DESeq2</a:t>
            </a:r>
            <a:r>
              <a:rPr lang="en-US" sz="1500" dirty="0">
                <a:solidFill>
                  <a:srgbClr val="212121"/>
                </a:solidFill>
                <a:latin typeface="Calibri" pitchFamily="34" charset="0"/>
                <a:ea typeface="Calibri" pitchFamily="34" charset="-122"/>
                <a:cs typeface="Calibri" pitchFamily="34" charset="-120"/>
              </a:rPr>
              <a:t>, </a:t>
            </a:r>
            <a:r>
              <a:rPr lang="en-US" sz="1500" b="1" dirty="0">
                <a:solidFill>
                  <a:srgbClr val="212121"/>
                </a:solidFill>
                <a:latin typeface="Calibri" pitchFamily="34" charset="0"/>
                <a:ea typeface="Calibri" pitchFamily="34" charset="-122"/>
                <a:cs typeface="Calibri" pitchFamily="34" charset="-120"/>
              </a:rPr>
              <a:t>edgeR</a:t>
            </a:r>
            <a:r>
              <a:rPr lang="en-US" sz="1500" dirty="0">
                <a:solidFill>
                  <a:srgbClr val="212121"/>
                </a:solidFill>
                <a:latin typeface="Calibri" pitchFamily="34" charset="0"/>
                <a:ea typeface="Calibri" pitchFamily="34" charset="-122"/>
                <a:cs typeface="Calibri" pitchFamily="34" charset="-120"/>
              </a:rPr>
              <a:t> (negatif binom)</a:t>
            </a:r>
            <a:endParaRPr lang="en-US" sz="1500" dirty="0"/>
          </a:p>
          <a:p>
            <a:pPr marL="228600" indent="-228600">
              <a:spcAft>
                <a:spcPts val="700"/>
              </a:spcAft>
              <a:buSzPct val="100000"/>
              <a:buChar char="•"/>
            </a:pPr>
            <a:r>
              <a:rPr lang="en-US" sz="1500" b="1" dirty="0">
                <a:solidFill>
                  <a:srgbClr val="212121"/>
                </a:solidFill>
                <a:latin typeface="Calibri" pitchFamily="34" charset="0"/>
                <a:ea typeface="Calibri" pitchFamily="34" charset="-122"/>
                <a:cs typeface="Calibri" pitchFamily="34" charset="-120"/>
              </a:rPr>
              <a:t>limma-voom</a:t>
            </a:r>
            <a:r>
              <a:rPr lang="en-US" sz="1500" dirty="0">
                <a:solidFill>
                  <a:srgbClr val="212121"/>
                </a:solidFill>
                <a:latin typeface="Calibri" pitchFamily="34" charset="0"/>
                <a:ea typeface="Calibri" pitchFamily="34" charset="-122"/>
                <a:cs typeface="Calibri" pitchFamily="34" charset="-120"/>
              </a:rPr>
              <a:t> (log + ağırlık)</a:t>
            </a:r>
            <a:endParaRPr lang="en-US" sz="1500" dirty="0"/>
          </a:p>
          <a:p>
            <a:pPr marL="228600" indent="-228600">
              <a:spcAft>
                <a:spcPts val="700"/>
              </a:spcAft>
              <a:buSzPct val="100000"/>
              <a:buChar char="•"/>
            </a:pPr>
            <a:r>
              <a:rPr lang="en-US" sz="1500" dirty="0">
                <a:solidFill>
                  <a:srgbClr val="212121"/>
                </a:solidFill>
                <a:latin typeface="Calibri" pitchFamily="34" charset="0"/>
                <a:ea typeface="Calibri" pitchFamily="34" charset="-122"/>
                <a:cs typeface="Calibri" pitchFamily="34" charset="-120"/>
              </a:rPr>
              <a:t>Tek hücre RNA-seq: aynı fikirler, daha seyrek veri</a:t>
            </a:r>
            <a:endParaRPr lang="en-US" sz="15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sınav sorusu</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m = 6 genin p-değerleri: 0.004, 0.012, 0.020, 0.030, 0.25, 0.60. (a) α = 0.05'te Bonferroni ve BH keşif sayıları? (b) Kontrol ortalaması 3.5, tedavi 5.0 (log₂) olan bir genin kat değişimi?</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Bonferroni eşiği 0.05/6 = 0.00833 → yalnızca 0.004 → </a:t>
            </a:r>
            <a:r>
              <a:rPr lang="en-US" sz="1800" b="1" dirty="0">
                <a:solidFill>
                  <a:srgbClr val="212121"/>
                </a:solidFill>
                <a:latin typeface="Calibri" pitchFamily="34" charset="0"/>
                <a:ea typeface="Calibri" pitchFamily="34" charset="-122"/>
                <a:cs typeface="Calibri" pitchFamily="34" charset="-120"/>
              </a:rPr>
              <a:t>1 keşif</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BH eşikleri k·0.05/6: 0.00833, 0.01667, 0.025, 0.0333, 0.0417, 0.05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0.004 ✓, 0.012 ✓, 0.020 ✓, 0.030 ✓, 0.25 ✗, 0.60 ✗ → en büyük k = 4 → </a:t>
            </a:r>
            <a:r>
              <a:rPr lang="en-US" sz="1800" b="1" dirty="0">
                <a:solidFill>
                  <a:srgbClr val="212121"/>
                </a:solidFill>
                <a:latin typeface="Calibri" pitchFamily="34" charset="0"/>
                <a:ea typeface="Calibri" pitchFamily="34" charset="-122"/>
                <a:cs typeface="Calibri" pitchFamily="34" charset="-120"/>
              </a:rPr>
              <a:t>4 keşif</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log2FC = 5.0 − 3.5 = </a:t>
            </a:r>
            <a:r>
              <a:rPr lang="en-US" sz="1800" b="1" dirty="0">
                <a:solidFill>
                  <a:srgbClr val="212121"/>
                </a:solidFill>
                <a:latin typeface="Calibri" pitchFamily="34" charset="0"/>
                <a:ea typeface="Calibri" pitchFamily="34" charset="-122"/>
                <a:cs typeface="Calibri" pitchFamily="34" charset="-120"/>
              </a:rPr>
              <a:t>1.5</a:t>
            </a:r>
            <a:r>
              <a:rPr lang="en-US" sz="1800" dirty="0">
                <a:solidFill>
                  <a:srgbClr val="212121"/>
                </a:solidFill>
                <a:latin typeface="Calibri" pitchFamily="34" charset="0"/>
                <a:ea typeface="Calibri" pitchFamily="34" charset="-122"/>
                <a:cs typeface="Calibri" pitchFamily="34" charset="-120"/>
              </a:rPr>
              <a:t> → kat = 2^1.5 = </a:t>
            </a:r>
            <a:r>
              <a:rPr lang="en-US" sz="1800" b="1" dirty="0">
                <a:solidFill>
                  <a:srgbClr val="212121"/>
                </a:solidFill>
                <a:latin typeface="Calibri" pitchFamily="34" charset="0"/>
                <a:ea typeface="Calibri" pitchFamily="34" charset="-122"/>
                <a:cs typeface="Calibri" pitchFamily="34" charset="-120"/>
              </a:rPr>
              <a:t>2.83</a:t>
            </a:r>
            <a:r>
              <a:rPr lang="en-US" sz="1800" dirty="0">
                <a:solidFill>
                  <a:srgbClr val="212121"/>
                </a:solidFill>
                <a:latin typeface="Calibri" pitchFamily="34" charset="0"/>
                <a:ea typeface="Calibri" pitchFamily="34" charset="-122"/>
                <a:cs typeface="Calibri" pitchFamily="34" charset="-120"/>
              </a:rPr>
              <a:t> kat artış</a:t>
            </a:r>
            <a:endParaRPr lang="en-US" sz="1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778741"/>
                <a:gridCol w="1297902"/>
                <a:gridCol w="1817063"/>
                <a:gridCol w="778741"/>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k·α/m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BH</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0.00833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0.012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0.01667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0.0417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50" b="1" dirty="0">
                <a:solidFill>
                  <a:srgbClr val="B71C1C"/>
                </a:solidFill>
                <a:latin typeface="Calibri" pitchFamily="34" charset="0"/>
                <a:ea typeface="Calibri" pitchFamily="34" charset="-122"/>
                <a:cs typeface="Calibri" pitchFamily="34" charset="-120"/>
              </a:rPr>
              <a:t>Sonuç  </a:t>
            </a:r>
            <a:r>
              <a:rPr lang="en-US" sz="1750" dirty="0">
                <a:solidFill>
                  <a:srgbClr val="212121"/>
                </a:solidFill>
                <a:latin typeface="Calibri" pitchFamily="34" charset="0"/>
                <a:ea typeface="Calibri" pitchFamily="34" charset="-122"/>
                <a:cs typeface="Calibri" pitchFamily="34" charset="-120"/>
              </a:rPr>
              <a:t>Bonferroni </a:t>
            </a:r>
            <a:r>
              <a:rPr lang="en-US" sz="1750" b="1" dirty="0">
                <a:solidFill>
                  <a:srgbClr val="212121"/>
                </a:solidFill>
                <a:latin typeface="Calibri" pitchFamily="34" charset="0"/>
                <a:ea typeface="Calibri" pitchFamily="34" charset="-122"/>
                <a:cs typeface="Calibri" pitchFamily="34" charset="-120"/>
              </a:rPr>
              <a:t>1</a:t>
            </a:r>
            <a:r>
              <a:rPr lang="en-US" sz="1750" dirty="0">
                <a:solidFill>
                  <a:srgbClr val="212121"/>
                </a:solidFill>
                <a:latin typeface="Calibri" pitchFamily="34" charset="0"/>
                <a:ea typeface="Calibri" pitchFamily="34" charset="-122"/>
                <a:cs typeface="Calibri" pitchFamily="34" charset="-120"/>
              </a:rPr>
              <a:t>, BH </a:t>
            </a:r>
            <a:r>
              <a:rPr lang="en-US" sz="1750" b="1" dirty="0">
                <a:solidFill>
                  <a:srgbClr val="212121"/>
                </a:solidFill>
                <a:latin typeface="Calibri" pitchFamily="34" charset="0"/>
                <a:ea typeface="Calibri" pitchFamily="34" charset="-122"/>
                <a:cs typeface="Calibri" pitchFamily="34" charset="-120"/>
              </a:rPr>
              <a:t>4</a:t>
            </a:r>
            <a:r>
              <a:rPr lang="en-US" sz="1750" dirty="0">
                <a:solidFill>
                  <a:srgbClr val="212121"/>
                </a:solidFill>
                <a:latin typeface="Calibri" pitchFamily="34" charset="0"/>
                <a:ea typeface="Calibri" pitchFamily="34" charset="-122"/>
                <a:cs typeface="Calibri" pitchFamily="34" charset="-120"/>
              </a:rPr>
              <a:t> keşif; q-değerleri: 0.024, 0.036, 0.040, 0.045, 0.30, 0.60. Gen 2.83 kat artmış.</a:t>
            </a:r>
            <a:endParaRPr lang="en-US" sz="175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hafta11_gen_ifadesi_analizi.ipynb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X (120 okuma, 1.5 kb), Y (80 okuma, 0.5 kb), Z (800 okuma, 4 kb) için CPM ve TPM'i elle hesaplayın. (TPM: 181 818; 363 636; 454 545)</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 = 0.0002, 0.003, 0.01, 0.02, 0.3 için α = 0.05'te Bonferroni ve BH kaç keşif yapar? (2 ve 4)</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Mann–Whitney U testiyle 6'ya karşı 6 örnekte elde edilebilecek </a:t>
            </a:r>
            <a:r>
              <a:rPr lang="en-US" sz="1800" b="1" dirty="0">
                <a:solidFill>
                  <a:srgbClr val="212121"/>
                </a:solidFill>
                <a:latin typeface="Calibri" pitchFamily="34" charset="0"/>
                <a:ea typeface="Calibri" pitchFamily="34" charset="-122"/>
                <a:cs typeface="Calibri" pitchFamily="34" charset="-120"/>
              </a:rPr>
              <a:t>en küçük p</a:t>
            </a:r>
            <a:r>
              <a:rPr lang="en-US" sz="1800" dirty="0">
                <a:solidFill>
                  <a:srgbClr val="212121"/>
                </a:solidFill>
                <a:latin typeface="Calibri" pitchFamily="34" charset="0"/>
                <a:ea typeface="Calibri" pitchFamily="34" charset="-122"/>
                <a:cs typeface="Calibri" pitchFamily="34" charset="-120"/>
              </a:rPr>
              <a:t> nedir (≈ 0.0022)? 1941 gen için bu ne anlama gelir?</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Log dönüşümü yapmadan (CPM üzerinde) t-testi uygulayın; BH q &lt; 0.05 keşiflerinin kesinlik ve duyarlılığını karşılaştırın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Grup başına yalnızca 3 örnekle (K1–K3, T1–T3) analizi tekrarlayın; duyarlılık nasıl değişti? (</a:t>
            </a:r>
            <a:r>
              <a:rPr lang="en-US" sz="1800" b="1" dirty="0">
                <a:solidFill>
                  <a:srgbClr val="212121"/>
                </a:solidFill>
                <a:latin typeface="Calibri" pitchFamily="34" charset="0"/>
                <a:ea typeface="Calibri" pitchFamily="34" charset="-122"/>
                <a:cs typeface="Calibri" pitchFamily="34" charset="-120"/>
              </a:rPr>
              <a:t>İstatistiksel güç</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Ek:</a:t>
            </a:r>
            <a:r>
              <a:rPr lang="en-US" sz="1800" dirty="0">
                <a:solidFill>
                  <a:srgbClr val="212121"/>
                </a:solidFill>
                <a:latin typeface="Calibri" pitchFamily="34" charset="0"/>
                <a:ea typeface="Calibri" pitchFamily="34" charset="-122"/>
                <a:cs typeface="Calibri" pitchFamily="34" charset="-120"/>
              </a:rPr>
              <a:t> Medyan-oranlar örneğine G4: (40, 80) genini ekleyin. Boyut faktörleri değişir mi? Neden?</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11: Gen ifadesi analizi</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Sayım matrisi </a:t>
            </a:r>
            <a:r>
              <a:rPr lang="en-US" sz="2000" b="1" dirty="0">
                <a:solidFill>
                  <a:srgbClr val="ECEFF1"/>
                </a:solidFill>
                <a:latin typeface="Calibri" pitchFamily="34" charset="0"/>
                <a:ea typeface="Calibri" pitchFamily="34" charset="-122"/>
                <a:cs typeface="Calibri" pitchFamily="34" charset="-120"/>
              </a:rPr>
              <a:t>aşırı yayılımlı</a:t>
            </a:r>
            <a:r>
              <a:rPr lang="en-US" sz="2000" dirty="0">
                <a:solidFill>
                  <a:srgbClr val="ECEFF1"/>
                </a:solidFill>
                <a:latin typeface="Calibri" pitchFamily="34" charset="0"/>
                <a:ea typeface="Calibri" pitchFamily="34" charset="-122"/>
                <a:cs typeface="Calibri" pitchFamily="34" charset="-120"/>
              </a:rPr>
              <a:t>: Var = μ + αμ² (negatif binom)</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CPM derinliği, TPM ek olarak uzunluğu, </a:t>
            </a:r>
            <a:r>
              <a:rPr lang="en-US" sz="2000" b="1" dirty="0">
                <a:solidFill>
                  <a:srgbClr val="ECEFF1"/>
                </a:solidFill>
                <a:latin typeface="Calibri" pitchFamily="34" charset="0"/>
                <a:ea typeface="Calibri" pitchFamily="34" charset="-122"/>
                <a:cs typeface="Calibri" pitchFamily="34" charset="-120"/>
              </a:rPr>
              <a:t>medyan-oranlar</a:t>
            </a:r>
            <a:r>
              <a:rPr lang="en-US" sz="2000" dirty="0">
                <a:solidFill>
                  <a:srgbClr val="ECEFF1"/>
                </a:solidFill>
                <a:latin typeface="Calibri" pitchFamily="34" charset="0"/>
                <a:ea typeface="Calibri" pitchFamily="34" charset="-122"/>
                <a:cs typeface="Calibri" pitchFamily="34" charset="-120"/>
              </a:rPr>
              <a:t> kompozisyonu da düzeltir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log₂(CPM + 1): çarpıklığı azaltır, katları </a:t>
            </a:r>
            <a:r>
              <a:rPr lang="en-US" sz="2000" b="1" dirty="0">
                <a:solidFill>
                  <a:srgbClr val="ECEFF1"/>
                </a:solidFill>
                <a:latin typeface="Calibri" pitchFamily="34" charset="0"/>
                <a:ea typeface="Calibri" pitchFamily="34" charset="-122"/>
                <a:cs typeface="Calibri" pitchFamily="34" charset="-120"/>
              </a:rPr>
              <a:t>simetrik farklara</a:t>
            </a:r>
            <a:r>
              <a:rPr lang="en-US" sz="2000" dirty="0">
                <a:solidFill>
                  <a:srgbClr val="ECEFF1"/>
                </a:solidFill>
                <a:latin typeface="Calibri" pitchFamily="34" charset="0"/>
                <a:ea typeface="Calibri" pitchFamily="34" charset="-122"/>
                <a:cs typeface="Calibri" pitchFamily="34" charset="-120"/>
              </a:rPr>
              <a:t> çevirir; korelasyon + PCA ile kalite kontrol</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Her gen için </a:t>
            </a:r>
            <a:r>
              <a:rPr lang="en-US" sz="2000" b="1" dirty="0">
                <a:solidFill>
                  <a:srgbClr val="ECEFF1"/>
                </a:solidFill>
                <a:latin typeface="Calibri" pitchFamily="34" charset="0"/>
                <a:ea typeface="Calibri" pitchFamily="34" charset="-122"/>
                <a:cs typeface="Calibri" pitchFamily="34" charset="-120"/>
              </a:rPr>
              <a:t>log2FC + Welch t</a:t>
            </a:r>
            <a:r>
              <a:rPr lang="en-US" sz="2000" dirty="0">
                <a:solidFill>
                  <a:srgbClr val="ECEFF1"/>
                </a:solidFill>
                <a:latin typeface="Calibri" pitchFamily="34" charset="0"/>
                <a:ea typeface="Calibri" pitchFamily="34" charset="-122"/>
                <a:cs typeface="Calibri" pitchFamily="34" charset="-120"/>
              </a:rPr>
              <a:t>; 1941 testte ham p ≈ 97 yanlış pozitif üretir</a:t>
            </a:r>
            <a:endParaRPr lang="en-US" sz="2000" dirty="0"/>
          </a:p>
          <a:p>
            <a:pPr marL="228600" indent="-228600">
              <a:spcAft>
                <a:spcPts val="800"/>
              </a:spcAft>
              <a:buSzPct val="100000"/>
              <a:buChar char="•"/>
            </a:pPr>
            <a:r>
              <a:rPr lang="en-US" sz="2000" b="1" dirty="0">
                <a:solidFill>
                  <a:srgbClr val="ECEFF1"/>
                </a:solidFill>
                <a:latin typeface="Calibri" pitchFamily="34" charset="0"/>
                <a:ea typeface="Calibri" pitchFamily="34" charset="-122"/>
                <a:cs typeface="Calibri" pitchFamily="34" charset="-120"/>
              </a:rPr>
              <a:t>BH</a:t>
            </a:r>
            <a:r>
              <a:rPr lang="en-US" sz="2000" dirty="0">
                <a:solidFill>
                  <a:srgbClr val="ECEFF1"/>
                </a:solidFill>
                <a:latin typeface="Calibri" pitchFamily="34" charset="0"/>
                <a:ea typeface="Calibri" pitchFamily="34" charset="-122"/>
                <a:cs typeface="Calibri" pitchFamily="34" charset="-120"/>
              </a:rPr>
              <a:t> FDR'ı kontrol eder: gerçekleşen FDR 0.06, kesinlik 0.94, duyarlılık 0.86</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Makine öğrenmesine giriş: özellik çıkarımı (k-mer, bileşim), ölçekleme, PCA, k-means ve hiyerarşik kümeleme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11: Gen İfadesi: Normalizasyon, Keşifsel Analiz ve Diferansiyel İfade</dc:title>
  <dc:subject>PptxGenJS Presentation</dc:subject>
  <dc:creator>Biyoenformatiğe Giriş</dc:creator>
  <cp:lastModifiedBy>Biyoenformatiğe Giriş</cp:lastModifiedBy>
  <cp:revision>1</cp:revision>
  <dcterms:created xsi:type="dcterms:W3CDTF">2026-09-23T18:55:40Z</dcterms:created>
  <dcterms:modified xsi:type="dcterms:W3CDTF">2026-09-23T18:55:40Z</dcterms:modified>
</cp:coreProperties>
</file>