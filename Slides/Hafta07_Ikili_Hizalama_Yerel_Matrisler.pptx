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haftanın doğal devamı: aynı DP iskeleti üzerinde üç değişiklik yapacağız — yerel hizalama, afin boşluk ve yer değiştirme matrisleri. Son bölümde skorun anlamlı olup olmadığını soruyoruz; bu, gelecek haftanın BLAST E-değerine hazırlık.
Birinci saat SW ve afin boşluk, ikinci saat log-odds matrisleri, üçüncü saat nokta grafiği ve karıştırma testi.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haftanın NW matrisini hatırlatarak başlayın ve 'hangi üç satırı değiştirirsek yerel hizalama elde ederiz?' diye sorun. Cevaplar bu haftanın ilk formül slaytında. Ders akışı tablosunu gösterip üçüncü saatin sonunda notebook alıştırmalarına zaman ayıracağınızı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kutusundaki koşul önemli ve sık atlanır: rastgele iki harfin beklenen skoru pozitif olursa (ör. +1/0 puanlama), en iyi yerel hizalama neredeyse tüm diziyi kapsar. BLOSUM62'nin beklenen skoru −0.52'dir (Biopython çıktısındaki 'Expected' satırı).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ve Waterman 1981'de bu değişikliği önerdi. Aynı örnek Wikipedia'da ve birçok ders kitabında vardır; öğrenciler çözümü kontrol edebilir. Tahtaya 9 × 10 ızgarayı çizip ilk satır/sütuna sıfırları yazın.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NW'den farkı ilk satırda görün: T satırında yalnızca T sütunlarında pozitif değer var, diğerleri 0. H(1,5) = 1: soldan 3 − 2 = 1 (boşluk). Öğrencilere NW'de aynı hücrenin negatif olacağını söyletin.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7 → 10 → 13 zincirini tahtada renkli tebeşirle işaretleyin: burada bir boşluk (x'te) açılıyor ve sonra iki eşleşme daha geliyor. Soru: 7'yi veren boşluk neden değerli? Çünkü −2'lik boşluk, ardından gelen A/A ve C/C eşleşmeleriyle (+6) telafi ediliyor.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Notebook'taki DataFrame bu tabloyla birebir aynı. Maksimum hücre sağ alt köşede değil: (6,7). Geri izleme (1,1)'deki 0'da duruyor; x'in ilk T'si ve son GG'si, y'nin ilk G'si ve son TA'sı hizalamaya dahil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skoru Biopython ile hesapladık: 4.0. Uçlardaki uyumsuzluklar (T/G, G/T, G/A) global skoru düşürüyor; yerel hizalama onları dışarıda bırakıyor. (7,8) = 10 yolda değil: C'den sonra G/T uyumsuzluğu skoru düşürür, bu yüzden hizalama C'de 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Notebook'taki başlangıç (i,j) = (1,1) çıktısı, geri izlemenin durduğu hücredir; hizalama x'in 1. indeksinden (0 tabanlı) başlar. Biopython çıktısındaki 'target 1 GTT-AC 6 / query 1 GTTGAC 7' koordinatları da bunu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NW kodundan farklar sadece üç yerde: max'e 0 eklendi, başlangıç argmax'tan, durma koşulu H &gt; 0. Öğrencilere bu üç satırı kendi NW kodlarında değiştirerek SW yazdırmak iyi bir laboratuvar etkinliği. Eşitlik durumunda (çapraz ve sol aynı değeri verirse) koddaki if/elif sırasının hangi hizalamayı seçeceğini belirlediğini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 yardımcı fonksiyonunu slayt için ekledik; notebook'ta aynı işlem açık yazılmış. Global çıktının tamamını notebook'ta gösterin: WKCGGH parçası yanlış hizalanmış. Kinaz domeni, SH2 domeni gibi örneklerle bağlayın.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Durbin, Eddy, Krogh, Mitchison 'Biological Sequence Analysis' kitabının klasik örneği. W–W = 15 değerinin neden bu kadar büyük olduğunu sorun: triptofan nadir (frekans ≈ %1.3), korunmuş bir W eşleşmesi çok bilgilendiricidir. Log-odds bölümünde bu sezgiyi formülleştireceğiz.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Biyolojik gerekçe: bir indel olayı (replikasyon kayması, transpozon, ekson kaybı) genellikle birden fazla bazı birlikte etkiler. Protein aramaları için tipik değerler: BLASTP varsayılanı o = −11, e = −1 (BLOSUM62 ile). Grafikteki üçüncü çizgi alıştırma 2'deki o = −8, e = −2 modeli.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 notebook çıktısı hem bizim elle skorlama Python ile doğrulandı. y, x'ten 5 baz silinip bir nokta mutasyonu eklenerek üretilmiş; yani doğru cevap tek boşluklu hizalamadır. Doğrusal model bir uyumsuzluktan kaçınmak için boşluğu üçe bölüyor.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tek matris yetmiyor? Bir hücreye boşluk durumunda mı yoksa eşleşme durumunda mı gelindiğini bilmeden, bir sonraki boşluğa açma mı uzatma mı cezası verileceğine karar veremeyiz. Durum diyagramı 12. haftada göreceğimiz gizli Markov modellerinin (çift-HMM) iskeletidir.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küçük örnekte üç matrisin neden gerektiği açıkça görülüyor: Iy(1,3) hücresinde uzatma (−3), yeni açmadan (−9) çok daha iyi; tek matrisli DP bu ayrımı yapamaz.
Öğrencilere alternatif hizalamaları skorlatın: `AT--`/`AGCT` = 2 − 1 − 5 = −4; `A-T-`/`AGCT` gibi iki ayrı boşluklu seçenekler toplam −8 açma cezası öder (skor −7). Optimum −1'dir ve Biopython (open_gap_score = −4, extend_gap_score = −1) aynı skoru verir.
Biopython'da `open_gap_score` boşluğun ilk sütununun skorudur; yani w(k) = o + (k−1)e bizim tanımımızla birebir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DNA puanlamasına da geriye dönük anlam verir: +1/−1 puanlaması da örtük bir olasılık modeline karşılık gelir. Log-odds toplamı, bağımsız sütun varsayımıyla olasılıkların çarpımının log'udur — PSSM'deki mantığın aynısı (5.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Sayıların ters yönde olması sınavların klasik sorusudur. BLOSUM'un avantajı: uzak akrabalardan doğrudan sayım yapar, PAM ise yakın akrabalardan dışdeğerleme (ekstrapolasyon) yapar. Son cümledeki skorlar alıştırma 3'ün çözümü; üç matriste de 93 özdeş amino asit ama skorlar çok farklı.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Formül, 20 durumlu Jukes–Cantor benzeri bir Markov zinciri; matris kuvveti almanın kapalı çözümü. Sayılar Python'da doğrulandı. Mesaj: PAM sayısı değişim sayısıdır, özdeşlik kaybı değil; aynı konumda birden çok değişim olabilir. 9. haftadaki evrimsel uzaklık düzeltmelerine köprü.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Kırmızı-gri renk ölçeği pozitif ve negatif skorları ayırıyor. Hidrofobik blok (I, L, V, M) ve yüklü blok (D, E, K, R) matriste kümeleniyor; amino asit kimyasının matrise yansıdığını gösterin. Öğrencilere sorun: C–C neden 9, A–A neden yalnızca 4? Cevap: sistein nadir ve disülfit bağları nedeniyle çok korunmuş; alanin sık ve rastlantısal eşleşmesi kolay.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Hesaplar Python ile doğrulandı. Öğrencilere: iki proteinin hizalamasında 3 tane W–W eşleşmesi olması, 3 tane I–V'den çok daha güçlü bir kanıttır, çünkü W nadir. Bu, DNA'daki +1/−1 puanlamanın proteinlerde neden yetersiz olduğunu açıklar.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Kontrol: q'ların toplamı 1, e'lerin toplamı da tüm çiftler üzerinden 1. Faktör 2'yi unutmak en sık hata. L–L'nin negatif çıkması, dört diziden ikisinin L olması durumunda L–L çiftinin 'beklenenden az' görünmesinden; tek sütunla istatistik yapılmaz.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Sentetik aile BLOSUM62'den türetilmiş olasılıklarla evrimleştirildiği için pozitif korelasyon bekleniyordu. Noktaların boyutu çift sayısıyla orantılı: büyük noktalar diyagonale daha yakın. Aynı ilke 14. haftada: küçük veri → yüksek varyans.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BLOSUM80'in en yüksek skoru vermesi 'en iyi matris' anlamına gelmez; BLOSUM45 ve BLOSUM80'in 1/3 bit, BLOSUM62'nin 1/2 bit biriminde olması (Biopython başlık satırları) ve BLOSUM80'in özdeş çiftlere daha yüksek skor vermesi etkili. Bit skoru S' = (λS − ln K)/ln 2 dönüşümü bu farkı giderir. Protein hizalamasını notebook'ta çıktı olarak da gösterin ve boşluk bölgelerini öğrencilere buldurun.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paneldeki noktaları öğrencilerle birlikte sayın: T satırlarında 3'er, G satırlarında 3'er nokta vb. Pencere filtrelemesi rastgele tek eşleşmeleri eler, köşegen parçalarını korur. Nokta grafiği hizalama yapmaz, **tüm** benzer bölgeleri aynı anda gösterir: tekrarlar, ters çevrilmeler.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Yakın akrabada neredeyse kesintisiz köşegen; uzak akrabada kesik kesik köşegen ve küçük kaymalar (indeller); ilgisiz proteinde yalnızca dağınık gürültü.
Parametre etkisi (alıştırma 4): protA1–protB3 için w = 3, s = 3 çok gürültülü; w = 10, s = 7 köşegeni temiz ama kısa parçaları kaybeder. Ters tekrarlar (alıştırma 5) diziyi ters tamamlayıcısıyla karşılaştırınca köşegene dik çizgiler olarak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protA1–protB3: S = 370, karıştırılmış ortalama 29.1, σ = 4.5 → z = 75.2: homoloji için ezici kanıt.
protA1–ilgisiz1: S = 22, ortalama 26.6 → z = −1.1: gerçek skor karıştırılmış dizilerden bile düşük; benzerlik yok.
Karıştırma neden kompozisyonu korur? Düşük karmaşıklıklı veya amino asit bileşimi çarpık diziler kompozisyon yüzünden yüksek skor alabilir; bu etkiyi sıfır hipotezine dahil etmek isteriz.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Simülasyon eşit amino asit frekanslı rastgele dizilerle yapıldı; λ ve K değerleri NCBI'nin BLOSUM62 11/1 için yayımladığı parametreler (λ = 0.267, K = 0.041). Maksimumun dağılımının neden Gumbel olduğunu sezgisel anlatın: çok sayıda (yaklaşık bağımsız) yerel skorun en büyüğü. Ayrıntılar 8. haftada.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histogram sağa çarpık; Gumbel (kırmızı) uyuyor, normal (kesikli) tepeyi ve kuyruğu kaçırıyor.
Sağ: log ölçekte kuyruk olasılığı. Gumbel kuyruğu üstel azalır (log ölçekte doğru), normal kuyruk kareli üstel azalır ve yüksek skorlarda anlamlılığı büyük ölçüde abartır: x = 50'de gözlenen 0.0075, Gumbel 0.0076, normal 0.0005.
Bu grafik BLAST'ın E-değeri formülünün ampirik gerekçesi; Karlin–Altschul teorisi 8. haftada.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kart bu haftanın bir bölümüne karşılık geliyor. 'Faktör 2' hatasının etkisini hesaplatın: log₂(q/(pp)) ile log₂(q/(2pp)) arasındaki fark log₂2 = 1 bit; yarım bit ölçeğinde (×2) köşegen dışı skorlar 2 birim yukarı kayar. Kartları tek tek okuyup öğrencilere 'bu hatayı yapan kod nasıl bir çıktı üretir?' diye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H(3,2) = 1'i kontrol ettirin: A/T uyumsuzluğu, çapraz H(2,1) − 1 = 2 − 1 = 1. Öğrencilerin sık hatası (2,1) ve (2,2)'deki iki T eşleşmesini karıştırmak: yol (2,2)'den geçiyor çünkü (3,3)'ün çapraz komşusu (2,2). Soruyu 10 dakika sınıfta çözdürün, ardından tabloyu açın; son G satırındaki 4'ün hem çapraz hem yukarıdan gelebildiğini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alıştırmada 12 skorlu tek optimal hizalama var; iki boşluk açmak, bir uyumsuzluktan daha iyi çünkü boşluk −1. Alıştırma 5'te ters tekrar yalnızca ters tamamlayıcıyla karşılaştırmada köşegen olarak görünür. Alıştırma 3 bir sonraki haftanın bit skoru konusuna hazırlık; cevapları not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sorusu: 20 milyon proteinlik bir veritabanında her sorgu için SW çalıştırmak ne kadar sürer? 300 × 300 hücre × 2 × 10⁷ dizi ≈ 2 × 10¹² hücre; saniyede 10⁹ hücreyle ≈ 30 dakika. BLAST bunu saniyelere indiriyor — gelecek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İkili Dizi Hizalama II: Smith–Waterman, Afin Boşluk ve Yer Değiştirme Matrisleri</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Benzer bölgeyi bulmak, boşlukları gerçekçi cezalandırmak, skoru olasılıkla yorumlamak</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hafta07_ikili_hizalama_yerel_matrisler.ipynb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Smith–Waterman'ı </a:t>
            </a:r>
            <a:r>
              <a:rPr lang="en-US" sz="1800" b="1" dirty="0">
                <a:solidFill>
                  <a:srgbClr val="212121"/>
                </a:solidFill>
                <a:latin typeface="Calibri" pitchFamily="34" charset="0"/>
                <a:ea typeface="Calibri" pitchFamily="34" charset="-122"/>
                <a:cs typeface="Calibri" pitchFamily="34" charset="-120"/>
              </a:rPr>
              <a:t>elle</a:t>
            </a:r>
            <a:r>
              <a:rPr lang="en-US" sz="1800" dirty="0">
                <a:solidFill>
                  <a:srgbClr val="212121"/>
                </a:solidFill>
                <a:latin typeface="Calibri" pitchFamily="34" charset="0"/>
                <a:ea typeface="Calibri" pitchFamily="34" charset="-122"/>
                <a:cs typeface="Calibri" pitchFamily="34" charset="-120"/>
              </a:rPr>
              <a:t> doldurmak ve geri izlemek; global/yerel seçimini gerekçelendirmek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Doğrusal ve </a:t>
            </a:r>
            <a:r>
              <a:rPr lang="en-US" sz="1800" b="1" dirty="0">
                <a:solidFill>
                  <a:srgbClr val="212121"/>
                </a:solidFill>
                <a:latin typeface="Calibri" pitchFamily="34" charset="0"/>
                <a:ea typeface="Calibri" pitchFamily="34" charset="-122"/>
                <a:cs typeface="Calibri" pitchFamily="34" charset="-120"/>
              </a:rPr>
              <a:t>afin</a:t>
            </a:r>
            <a:r>
              <a:rPr lang="en-US" sz="1800" dirty="0">
                <a:solidFill>
                  <a:srgbClr val="212121"/>
                </a:solidFill>
                <a:latin typeface="Calibri" pitchFamily="34" charset="0"/>
                <a:ea typeface="Calibri" pitchFamily="34" charset="-122"/>
                <a:cs typeface="Calibri" pitchFamily="34" charset="-120"/>
              </a:rPr>
              <a:t> boşluk cezalarını karşılaştırmak; Gotoh'un üç matris fikrini kavramak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PAM ve BLOSUM matrislerinin </a:t>
            </a:r>
            <a:r>
              <a:rPr lang="en-US" sz="1800" b="1" dirty="0">
                <a:solidFill>
                  <a:srgbClr val="212121"/>
                </a:solidFill>
                <a:latin typeface="Calibri" pitchFamily="34" charset="0"/>
                <a:ea typeface="Calibri" pitchFamily="34" charset="-122"/>
                <a:cs typeface="Calibri" pitchFamily="34" charset="-120"/>
              </a:rPr>
              <a:t>log-odds</a:t>
            </a:r>
            <a:r>
              <a:rPr lang="en-US" sz="1800" dirty="0">
                <a:solidFill>
                  <a:srgbClr val="212121"/>
                </a:solidFill>
                <a:latin typeface="Calibri" pitchFamily="34" charset="0"/>
                <a:ea typeface="Calibri" pitchFamily="34" charset="-122"/>
                <a:cs typeface="Calibri" pitchFamily="34" charset="-120"/>
              </a:rPr>
              <a:t> mantığını anlamak; skoru olasılık oranına çevirmek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Hizalama sütunlarından </a:t>
            </a:r>
            <a:r>
              <a:rPr lang="en-US" sz="1800" b="1" dirty="0">
                <a:solidFill>
                  <a:srgbClr val="212121"/>
                </a:solidFill>
                <a:latin typeface="Calibri" pitchFamily="34" charset="0"/>
                <a:ea typeface="Calibri" pitchFamily="34" charset="-122"/>
                <a:cs typeface="Calibri" pitchFamily="34" charset="-120"/>
              </a:rPr>
              <a:t>yer değiştirme skoru türetmek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Nokta grafiği</a:t>
            </a:r>
            <a:r>
              <a:rPr lang="en-US" sz="1800" dirty="0">
                <a:solidFill>
                  <a:srgbClr val="212121"/>
                </a:solidFill>
                <a:latin typeface="Calibri" pitchFamily="34" charset="0"/>
                <a:ea typeface="Calibri" pitchFamily="34" charset="-122"/>
                <a:cs typeface="Calibri" pitchFamily="34" charset="-120"/>
              </a:rPr>
              <a:t> çizmek ve yorumlamak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Karıştırma testi, </a:t>
            </a:r>
            <a:r>
              <a:rPr lang="en-US" sz="1800" b="1" dirty="0">
                <a:solidFill>
                  <a:srgbClr val="212121"/>
                </a:solidFill>
                <a:latin typeface="Calibri" pitchFamily="34" charset="0"/>
                <a:ea typeface="Calibri" pitchFamily="34" charset="-122"/>
                <a:cs typeface="Calibri" pitchFamily="34" charset="-120"/>
              </a:rPr>
              <a:t>z-skoru</a:t>
            </a:r>
            <a:r>
              <a:rPr lang="en-US" sz="1800" dirty="0">
                <a:solidFill>
                  <a:srgbClr val="212121"/>
                </a:solidFill>
                <a:latin typeface="Calibri" pitchFamily="34" charset="0"/>
                <a:ea typeface="Calibri" pitchFamily="34" charset="-122"/>
                <a:cs typeface="Calibri" pitchFamily="34" charset="-120"/>
              </a:rPr>
              <a:t> ve Gumbel dağılımıyla anlamlılığı değerlendirmek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SW yinelemesi ve tahtada 9 × 10'luk matris; afin boşluk ve Gotoh</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Log-odds, PAM/BLOSUM, BLOSUM62, aileden matris türetme (Notebook 7: bölüm 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BLOSUM ile protein hizalama, nokta grafiği, karıştırma testi, Gumbel (Notebook 7: bölüm 4–7)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Smith–Waterman yerel hizalama</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NW'den üç küçük fark, çok farklı bir soru: en benzer alt bölgeler hangileri?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NW'den SW'ye: üç değişiklik</a:t>
            </a:r>
            <a:endParaRPr lang="en-US" sz="3000" dirty="0"/>
          </a:p>
        </p:txBody>
      </p:sp>
      <p:sp>
        <p:nvSpPr>
          <p:cNvPr id="3" name="Shape 1"/>
          <p:cNvSpPr/>
          <p:nvPr/>
        </p:nvSpPr>
        <p:spPr>
          <a:xfrm>
            <a:off x="548640" y="1234440"/>
            <a:ext cx="5364328" cy="4389120"/>
          </a:xfrm>
          <a:prstGeom prst="roundRect">
            <a:avLst>
              <a:gd name="adj" fmla="val 1667"/>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Needleman–Wunsch (global)</a:t>
            </a:r>
            <a:endParaRPr lang="en-US" sz="1800" dirty="0"/>
          </a:p>
        </p:txBody>
      </p:sp>
      <p:sp>
        <p:nvSpPr>
          <p:cNvPr id="5" name="Text 3"/>
          <p:cNvSpPr txBox="1"/>
          <p:nvPr/>
        </p:nvSpPr>
        <p:spPr>
          <a:xfrm>
            <a:off x="685800" y="1828800"/>
            <a:ext cx="5090008" cy="36576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İlk satır/sütun: </a:t>
            </a:r>
            <a:r>
              <a:rPr lang="en-US" sz="1700" b="1" dirty="0">
                <a:solidFill>
                  <a:srgbClr val="212121"/>
                </a:solidFill>
                <a:latin typeface="Calibri" pitchFamily="34" charset="0"/>
                <a:ea typeface="Calibri" pitchFamily="34" charset="-122"/>
                <a:cs typeface="Calibri" pitchFamily="34" charset="-120"/>
              </a:rPr>
              <a:t>i·g</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j·g</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F(i,j) = max(çapraz, yukarı, sol) — </a:t>
            </a:r>
            <a:r>
              <a:rPr lang="en-US" sz="1700" b="1" dirty="0">
                <a:solidFill>
                  <a:srgbClr val="212121"/>
                </a:solidFill>
                <a:latin typeface="Calibri" pitchFamily="34" charset="0"/>
                <a:ea typeface="Calibri" pitchFamily="34" charset="-122"/>
                <a:cs typeface="Calibri" pitchFamily="34" charset="-120"/>
              </a:rPr>
              <a:t>negatif olabilir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Geri izleme </a:t>
            </a:r>
            <a:r>
              <a:rPr lang="en-US" sz="1700" b="1" dirty="0">
                <a:solidFill>
                  <a:srgbClr val="212121"/>
                </a:solidFill>
                <a:latin typeface="Calibri" pitchFamily="34" charset="0"/>
                <a:ea typeface="Calibri" pitchFamily="34" charset="-122"/>
                <a:cs typeface="Calibri" pitchFamily="34" charset="-120"/>
              </a:rPr>
              <a:t>sağ alt köşeden</a:t>
            </a:r>
            <a:r>
              <a:rPr lang="en-US" sz="1700" dirty="0">
                <a:solidFill>
                  <a:srgbClr val="212121"/>
                </a:solidFill>
                <a:latin typeface="Calibri" pitchFamily="34" charset="0"/>
                <a:ea typeface="Calibri" pitchFamily="34" charset="-122"/>
                <a:cs typeface="Calibri" pitchFamily="34" charset="-120"/>
              </a:rPr>
              <a:t> (m, n) başlar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(0,0)'a kadar devam eder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Sonuç: iki dizinin </a:t>
            </a:r>
            <a:r>
              <a:rPr lang="en-US" sz="1700" b="1" dirty="0">
                <a:solidFill>
                  <a:srgbClr val="212121"/>
                </a:solidFill>
                <a:latin typeface="Calibri" pitchFamily="34" charset="0"/>
                <a:ea typeface="Calibri" pitchFamily="34" charset="-122"/>
                <a:cs typeface="Calibri" pitchFamily="34" charset="-120"/>
              </a:rPr>
              <a:t>tamamı</a:t>
            </a:r>
            <a:endParaRPr lang="en-US" sz="1700" dirty="0"/>
          </a:p>
        </p:txBody>
      </p:sp>
      <p:sp>
        <p:nvSpPr>
          <p:cNvPr id="6" name="Shape 4"/>
          <p:cNvSpPr/>
          <p:nvPr/>
        </p:nvSpPr>
        <p:spPr>
          <a:xfrm>
            <a:off x="6278728" y="1234440"/>
            <a:ext cx="5364328" cy="4389120"/>
          </a:xfrm>
          <a:prstGeom prst="roundRect">
            <a:avLst>
              <a:gd name="adj" fmla="val 1667"/>
            </a:avLst>
          </a:prstGeom>
          <a:solidFill>
            <a:srgbClr val="FDECE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B71C1C"/>
                </a:solidFill>
              </a:rPr>
              <a:t>Smith–Waterman (yerel)</a:t>
            </a:r>
            <a:endParaRPr lang="en-US" sz="1800" dirty="0"/>
          </a:p>
        </p:txBody>
      </p:sp>
      <p:sp>
        <p:nvSpPr>
          <p:cNvPr id="8" name="Text 6"/>
          <p:cNvSpPr txBox="1"/>
          <p:nvPr/>
        </p:nvSpPr>
        <p:spPr>
          <a:xfrm>
            <a:off x="6415888" y="1828800"/>
            <a:ext cx="5090008" cy="36576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İlk satır/sütun: </a:t>
            </a:r>
            <a:r>
              <a:rPr lang="en-US" sz="1700" b="1" dirty="0">
                <a:solidFill>
                  <a:srgbClr val="212121"/>
                </a:solidFill>
                <a:latin typeface="Calibri" pitchFamily="34" charset="0"/>
                <a:ea typeface="Calibri" pitchFamily="34" charset="-122"/>
                <a:cs typeface="Calibri" pitchFamily="34" charset="-120"/>
              </a:rPr>
              <a:t>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H(i,j) = max(</a:t>
            </a:r>
            <a:r>
              <a:rPr lang="en-US" sz="1700" b="1" dirty="0">
                <a:solidFill>
                  <a:srgbClr val="212121"/>
                </a:solidFill>
                <a:latin typeface="Calibri" pitchFamily="34" charset="0"/>
                <a:ea typeface="Calibri" pitchFamily="34" charset="-122"/>
                <a:cs typeface="Calibri" pitchFamily="34" charset="-120"/>
              </a:rPr>
              <a:t>0</a:t>
            </a:r>
            <a:r>
              <a:rPr lang="en-US" sz="1700" dirty="0">
                <a:solidFill>
                  <a:srgbClr val="212121"/>
                </a:solidFill>
                <a:latin typeface="Calibri" pitchFamily="34" charset="0"/>
                <a:ea typeface="Calibri" pitchFamily="34" charset="-122"/>
                <a:cs typeface="Calibri" pitchFamily="34" charset="-120"/>
              </a:rPr>
              <a:t>, çapraz, yukarı, sol) — </a:t>
            </a:r>
            <a:r>
              <a:rPr lang="en-US" sz="1700" b="1" dirty="0">
                <a:solidFill>
                  <a:srgbClr val="212121"/>
                </a:solidFill>
                <a:latin typeface="Calibri" pitchFamily="34" charset="0"/>
                <a:ea typeface="Calibri" pitchFamily="34" charset="-122"/>
                <a:cs typeface="Calibri" pitchFamily="34" charset="-120"/>
              </a:rPr>
              <a:t>asla negatif değil</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Geri izleme matrisin </a:t>
            </a:r>
            <a:r>
              <a:rPr lang="en-US" sz="1700" b="1" dirty="0">
                <a:solidFill>
                  <a:srgbClr val="212121"/>
                </a:solidFill>
                <a:latin typeface="Calibri" pitchFamily="34" charset="0"/>
                <a:ea typeface="Calibri" pitchFamily="34" charset="-122"/>
                <a:cs typeface="Calibri" pitchFamily="34" charset="-120"/>
              </a:rPr>
              <a:t>en büyük değerinden</a:t>
            </a:r>
            <a:r>
              <a:rPr lang="en-US" sz="1700" dirty="0">
                <a:solidFill>
                  <a:srgbClr val="212121"/>
                </a:solidFill>
                <a:latin typeface="Calibri" pitchFamily="34" charset="0"/>
                <a:ea typeface="Calibri" pitchFamily="34" charset="-122"/>
                <a:cs typeface="Calibri" pitchFamily="34" charset="-120"/>
              </a:rPr>
              <a:t> başlar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Değer </a:t>
            </a:r>
            <a:r>
              <a:rPr lang="en-US" sz="1700" b="1" dirty="0">
                <a:solidFill>
                  <a:srgbClr val="212121"/>
                </a:solidFill>
                <a:latin typeface="Calibri" pitchFamily="34" charset="0"/>
                <a:ea typeface="Calibri" pitchFamily="34" charset="-122"/>
                <a:cs typeface="Calibri" pitchFamily="34" charset="-120"/>
              </a:rPr>
              <a:t>0'a ulaşınca durur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Sonuç: en benzer </a:t>
            </a:r>
            <a:r>
              <a:rPr lang="en-US" sz="1700" b="1" dirty="0">
                <a:solidFill>
                  <a:srgbClr val="212121"/>
                </a:solidFill>
                <a:latin typeface="Calibri" pitchFamily="34" charset="0"/>
                <a:ea typeface="Calibri" pitchFamily="34" charset="-122"/>
                <a:cs typeface="Calibri" pitchFamily="34" charset="-120"/>
              </a:rPr>
              <a:t>alt dizgi çifti</a:t>
            </a:r>
            <a:endParaRPr lang="en-US" sz="1700" dirty="0"/>
          </a:p>
        </p:txBody>
      </p:sp>
      <p:sp>
        <p:nvSpPr>
          <p:cNvPr id="9" name="Shape 7"/>
          <p:cNvSpPr/>
          <p:nvPr/>
        </p:nvSpPr>
        <p:spPr>
          <a:xfrm>
            <a:off x="548640" y="5440680"/>
            <a:ext cx="11094415" cy="822960"/>
          </a:xfrm>
          <a:prstGeom prst="roundRect">
            <a:avLst>
              <a:gd name="adj" fmla="val 8889"/>
            </a:avLst>
          </a:prstGeom>
          <a:solidFill>
            <a:srgbClr val="FDECEA"/>
          </a:solidFill>
          <a:ln/>
        </p:spPr>
      </p:sp>
      <p:sp>
        <p:nvSpPr>
          <p:cNvPr id="10" name="Text 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0 seçeneği 'buradan yeniden başla' demektir: kötü bir önek, iyi bir bölgenin skorunu aşağı çekemez. Bu yüzden eşleşme skorunun beklenen değeri </a:t>
            </a:r>
            <a:r>
              <a:rPr lang="en-US" sz="1600" b="1" dirty="0">
                <a:solidFill>
                  <a:srgbClr val="212121"/>
                </a:solidFill>
                <a:latin typeface="Calibri" pitchFamily="34" charset="0"/>
                <a:ea typeface="Calibri" pitchFamily="34" charset="-122"/>
                <a:cs typeface="Calibri" pitchFamily="34" charset="-120"/>
              </a:rPr>
              <a:t>negatif</a:t>
            </a:r>
            <a:r>
              <a:rPr lang="en-US" sz="1600" dirty="0">
                <a:solidFill>
                  <a:srgbClr val="212121"/>
                </a:solidFill>
                <a:latin typeface="Calibri" pitchFamily="34" charset="0"/>
                <a:ea typeface="Calibri" pitchFamily="34" charset="-122"/>
                <a:cs typeface="Calibri" pitchFamily="34" charset="-120"/>
              </a:rPr>
              <a:t> olmalıdır; aksi hâlde yerel hizalama global hizalamaya dönüşür.</a:t>
            </a:r>
            <a:endParaRPr lang="en-US" sz="1600" dirty="0"/>
          </a:p>
        </p:txBody>
      </p:sp>
      <p:sp>
        <p:nvSpPr>
          <p:cNvPr id="11" name="Text 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2" name="Text 1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Smith–Waterman yinelemesi</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Başlangıç</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H(i,0) = H(0,j) = 0</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Hizalama herhangi bir konumdan başlayabilir</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Yineleme</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H(i,j) = max{ 0,  H(i−1,j−1)+s(xᵢ,yⱼ),  H(i−1,j)+g,  H(i,j−1)+g }</a:t>
            </a:r>
            <a:endParaRPr lang="en-US" sz="15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Dört seçenek; 0 = yeni başlangıç</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Skor</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 = max_{i,j} H(i, j)</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Matrisin herhangi bir hücresi olabilir</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Geri izleme</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argmax'tan başla, H = 0 olunca dur</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Zaman O(mn), bellek O(mn); skor için O(n)</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Örnek: x = </a:t>
            </a:r>
            <a:r>
              <a:rPr lang="en-US" sz="1600" dirty="0">
                <a:solidFill>
                  <a:srgbClr val="455A64"/>
                </a:solidFill>
                <a:latin typeface="Courier New" pitchFamily="34" charset="0"/>
                <a:ea typeface="Courier New" pitchFamily="34" charset="-122"/>
                <a:cs typeface="Courier New" pitchFamily="34" charset="-120"/>
              </a:rPr>
              <a:t>TGTTACGG</a:t>
            </a:r>
            <a:r>
              <a:rPr lang="en-US" sz="1600" dirty="0">
                <a:solidFill>
                  <a:srgbClr val="212121"/>
                </a:solidFill>
                <a:latin typeface="Calibri" pitchFamily="34" charset="0"/>
                <a:ea typeface="Calibri" pitchFamily="34" charset="-122"/>
                <a:cs typeface="Calibri" pitchFamily="34" charset="-120"/>
              </a:rPr>
              <a:t>, y = </a:t>
            </a:r>
            <a:r>
              <a:rPr lang="en-US" sz="1600" dirty="0">
                <a:solidFill>
                  <a:srgbClr val="455A64"/>
                </a:solidFill>
                <a:latin typeface="Courier New" pitchFamily="34" charset="0"/>
                <a:ea typeface="Courier New" pitchFamily="34" charset="-122"/>
                <a:cs typeface="Courier New" pitchFamily="34" charset="-120"/>
              </a:rPr>
              <a:t>GGTTGACTA</a:t>
            </a:r>
            <a:r>
              <a:rPr lang="en-US" sz="1600" dirty="0">
                <a:solidFill>
                  <a:srgbClr val="212121"/>
                </a:solidFill>
                <a:latin typeface="Calibri" pitchFamily="34" charset="0"/>
                <a:ea typeface="Calibri" pitchFamily="34" charset="-122"/>
                <a:cs typeface="Calibri" pitchFamily="34" charset="-120"/>
              </a:rPr>
              <a:t>; eşleşme </a:t>
            </a:r>
            <a:r>
              <a:rPr lang="en-US" sz="1600" b="1" dirty="0">
                <a:solidFill>
                  <a:srgbClr val="212121"/>
                </a:solidFill>
                <a:latin typeface="Calibri" pitchFamily="34" charset="0"/>
                <a:ea typeface="Calibri" pitchFamily="34" charset="-122"/>
                <a:cs typeface="Calibri" pitchFamily="34" charset="-120"/>
              </a:rPr>
              <a:t>+3</a:t>
            </a:r>
            <a:r>
              <a:rPr lang="en-US" sz="1600" dirty="0">
                <a:solidFill>
                  <a:srgbClr val="212121"/>
                </a:solidFill>
                <a:latin typeface="Calibri" pitchFamily="34" charset="0"/>
                <a:ea typeface="Calibri" pitchFamily="34" charset="-122"/>
                <a:cs typeface="Calibri" pitchFamily="34" charset="-120"/>
              </a:rPr>
              <a:t>, uyumsuzluk </a:t>
            </a:r>
            <a:r>
              <a:rPr lang="en-US" sz="1600" b="1" dirty="0">
                <a:solidFill>
                  <a:srgbClr val="212121"/>
                </a:solidFill>
                <a:latin typeface="Calibri" pitchFamily="34" charset="0"/>
                <a:ea typeface="Calibri" pitchFamily="34" charset="-122"/>
                <a:cs typeface="Calibri" pitchFamily="34" charset="-120"/>
              </a:rPr>
              <a:t>−3</a:t>
            </a:r>
            <a:r>
              <a:rPr lang="en-US" sz="1600" dirty="0">
                <a:solidFill>
                  <a:srgbClr val="212121"/>
                </a:solidFill>
                <a:latin typeface="Calibri" pitchFamily="34" charset="0"/>
                <a:ea typeface="Calibri" pitchFamily="34" charset="-122"/>
                <a:cs typeface="Calibri" pitchFamily="34" charset="-120"/>
              </a:rPr>
              <a:t>, boşluk </a:t>
            </a:r>
            <a:r>
              <a:rPr lang="en-US" sz="1600" b="1" dirty="0">
                <a:solidFill>
                  <a:srgbClr val="212121"/>
                </a:solidFill>
                <a:latin typeface="Calibri" pitchFamily="34" charset="0"/>
                <a:ea typeface="Calibri" pitchFamily="34" charset="-122"/>
                <a:cs typeface="Calibri" pitchFamily="34" charset="-120"/>
              </a:rPr>
              <a:t>−2</a:t>
            </a:r>
            <a:r>
              <a:rPr lang="en-US" sz="1600" dirty="0">
                <a:solidFill>
                  <a:srgbClr val="212121"/>
                </a:solidFill>
                <a:latin typeface="Calibri" pitchFamily="34" charset="0"/>
                <a:ea typeface="Calibri" pitchFamily="34" charset="-122"/>
                <a:cs typeface="Calibri" pitchFamily="34" charset="-120"/>
              </a:rPr>
              <a:t> (klasik ders örneği). Matris 9 × 10 = 90 hücre.</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SW adım 1: T, G, T satırları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Satırlar x = TGTTACGG, sütunlar y = GGTTGACTA; +3 / −3 / −2</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08583"/>
                <a:gridCol w="1008583"/>
                <a:gridCol w="1008583"/>
                <a:gridCol w="1008583"/>
                <a:gridCol w="1008583"/>
                <a:gridCol w="1008583"/>
                <a:gridCol w="1008583"/>
                <a:gridCol w="1008583"/>
                <a:gridCol w="1008583"/>
                <a:gridCol w="1008583"/>
                <a:gridCol w="1008583"/>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227320"/>
            <a:ext cx="11094415" cy="822960"/>
          </a:xfrm>
          <a:prstGeom prst="roundRect">
            <a:avLst>
              <a:gd name="adj" fmla="val 8889"/>
            </a:avLst>
          </a:prstGeom>
          <a:solidFill>
            <a:srgbClr val="FDECEA"/>
          </a:solidFill>
          <a:ln/>
        </p:spPr>
      </p:sp>
      <p:sp>
        <p:nvSpPr>
          <p:cNvPr id="6" name="Text 3"/>
          <p:cNvSpPr txBox="1"/>
          <p:nvPr/>
        </p:nvSpPr>
        <p:spPr>
          <a:xfrm>
            <a:off x="731520" y="522732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H(1,1) [T/G]: max(0, 0 − 3, 0 − 2, 0 − 2) = </a:t>
            </a:r>
            <a:r>
              <a:rPr lang="en-US" sz="1600" b="1" dirty="0">
                <a:solidFill>
                  <a:srgbClr val="212121"/>
                </a:solidFill>
                <a:latin typeface="Calibri" pitchFamily="34" charset="0"/>
                <a:ea typeface="Calibri" pitchFamily="34" charset="-122"/>
                <a:cs typeface="Calibri" pitchFamily="34" charset="-120"/>
              </a:rPr>
              <a:t>0</a:t>
            </a:r>
            <a:r>
              <a:rPr lang="en-US" sz="1600" dirty="0">
                <a:solidFill>
                  <a:srgbClr val="212121"/>
                </a:solidFill>
                <a:latin typeface="Calibri" pitchFamily="34" charset="0"/>
                <a:ea typeface="Calibri" pitchFamily="34" charset="-122"/>
                <a:cs typeface="Calibri" pitchFamily="34" charset="-120"/>
              </a:rPr>
              <a:t> — negatif yerine sıfır.  H(1,3) [T/T]: max(0, 0 + 3, …) = </a:t>
            </a:r>
            <a:r>
              <a:rPr lang="en-US" sz="1600" b="1" dirty="0">
                <a:solidFill>
                  <a:srgbClr val="212121"/>
                </a:solidFill>
                <a:latin typeface="Calibri" pitchFamily="34" charset="0"/>
                <a:ea typeface="Calibri" pitchFamily="34" charset="-122"/>
                <a:cs typeface="Calibri" pitchFamily="34" charset="-120"/>
              </a:rPr>
              <a:t>3</a:t>
            </a:r>
            <a:r>
              <a:rPr lang="en-US" sz="1600" dirty="0">
                <a:solidFill>
                  <a:srgbClr val="212121"/>
                </a:solidFill>
                <a:latin typeface="Calibri" pitchFamily="34" charset="0"/>
                <a:ea typeface="Calibri" pitchFamily="34" charset="-122"/>
                <a:cs typeface="Calibri" pitchFamily="34" charset="-120"/>
              </a:rPr>
              <a:t>.  H(2,5) [G/G]: max(0, H(1,4) + 3 = 6, 1 − 2, 1 − 2) = </a:t>
            </a:r>
            <a:r>
              <a:rPr lang="en-US" sz="1600" b="1" dirty="0">
                <a:solidFill>
                  <a:srgbClr val="212121"/>
                </a:solidFill>
                <a:latin typeface="Calibri" pitchFamily="34" charset="0"/>
                <a:ea typeface="Calibri" pitchFamily="34" charset="-122"/>
                <a:cs typeface="Calibri" pitchFamily="34" charset="-120"/>
              </a:rPr>
              <a:t>6</a:t>
            </a:r>
            <a:r>
              <a:rPr lang="en-US" sz="1600" dirty="0">
                <a:solidFill>
                  <a:srgbClr val="212121"/>
                </a:solidFill>
                <a:latin typeface="Calibri" pitchFamily="34" charset="0"/>
                <a:ea typeface="Calibri" pitchFamily="34" charset="-122"/>
                <a:cs typeface="Calibri" pitchFamily="34" charset="-120"/>
              </a:rPr>
              <a:t>.  H(3,3) [T/T]: H(2,2) + 3 = </a:t>
            </a:r>
            <a:r>
              <a:rPr lang="en-US" sz="1600" b="1" dirty="0">
                <a:solidFill>
                  <a:srgbClr val="212121"/>
                </a:solidFill>
                <a:latin typeface="Calibri" pitchFamily="34" charset="0"/>
                <a:ea typeface="Calibri" pitchFamily="34" charset="-122"/>
                <a:cs typeface="Calibri" pitchFamily="34" charset="-120"/>
              </a:rPr>
              <a:t>6</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SW adım 2: T, A, C satırları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Yeni hücreler kalın; en büyük değer şimdilik 13</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08583"/>
                <a:gridCol w="1008583"/>
                <a:gridCol w="1008583"/>
                <a:gridCol w="1008583"/>
                <a:gridCol w="1008583"/>
                <a:gridCol w="1008583"/>
                <a:gridCol w="1008583"/>
                <a:gridCol w="1008583"/>
                <a:gridCol w="1008583"/>
                <a:gridCol w="1008583"/>
                <a:gridCol w="1008583"/>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227320"/>
            <a:ext cx="11094415" cy="822960"/>
          </a:xfrm>
          <a:prstGeom prst="roundRect">
            <a:avLst>
              <a:gd name="adj" fmla="val 8889"/>
            </a:avLst>
          </a:prstGeom>
          <a:solidFill>
            <a:srgbClr val="FDECEA"/>
          </a:solidFill>
          <a:ln/>
        </p:spPr>
      </p:sp>
      <p:sp>
        <p:nvSpPr>
          <p:cNvPr id="6" name="Text 3"/>
          <p:cNvSpPr txBox="1"/>
          <p:nvPr/>
        </p:nvSpPr>
        <p:spPr>
          <a:xfrm>
            <a:off x="731520" y="522732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H(4,4) [T/T]: max(0, 6 + 3, 4 − 2, 4 − 2) = </a:t>
            </a:r>
            <a:r>
              <a:rPr lang="en-US" sz="1600" b="1" dirty="0">
                <a:solidFill>
                  <a:srgbClr val="212121"/>
                </a:solidFill>
                <a:latin typeface="Calibri" pitchFamily="34" charset="0"/>
                <a:ea typeface="Calibri" pitchFamily="34" charset="-122"/>
                <a:cs typeface="Calibri" pitchFamily="34" charset="-120"/>
              </a:rPr>
              <a:t>9</a:t>
            </a:r>
            <a:r>
              <a:rPr lang="en-US" sz="1600" dirty="0">
                <a:solidFill>
                  <a:srgbClr val="212121"/>
                </a:solidFill>
                <a:latin typeface="Calibri" pitchFamily="34" charset="0"/>
                <a:ea typeface="Calibri" pitchFamily="34" charset="-122"/>
                <a:cs typeface="Calibri" pitchFamily="34" charset="-120"/>
              </a:rPr>
              <a:t>.  H(4,5) [T/G]: max(0, 4 − 3, 4 − 2, </a:t>
            </a:r>
            <a:r>
              <a:rPr lang="en-US" sz="1600" b="1" dirty="0">
                <a:solidFill>
                  <a:srgbClr val="212121"/>
                </a:solidFill>
                <a:latin typeface="Calibri" pitchFamily="34" charset="0"/>
                <a:ea typeface="Calibri" pitchFamily="34" charset="-122"/>
                <a:cs typeface="Calibri" pitchFamily="34" charset="-120"/>
              </a:rPr>
              <a:t>9 − 2</a:t>
            </a:r>
            <a:r>
              <a:rPr lang="en-US" sz="1600" dirty="0">
                <a:solidFill>
                  <a:srgbClr val="212121"/>
                </a:solidFill>
                <a:latin typeface="Calibri" pitchFamily="34" charset="0"/>
                <a:ea typeface="Calibri" pitchFamily="34" charset="-122"/>
                <a:cs typeface="Calibri" pitchFamily="34" charset="-120"/>
              </a:rPr>
              <a:t>) = </a:t>
            </a:r>
            <a:r>
              <a:rPr lang="en-US" sz="1600" b="1" dirty="0">
                <a:solidFill>
                  <a:srgbClr val="212121"/>
                </a:solidFill>
                <a:latin typeface="Calibri" pitchFamily="34" charset="0"/>
                <a:ea typeface="Calibri" pitchFamily="34" charset="-122"/>
                <a:cs typeface="Calibri" pitchFamily="34" charset="-120"/>
              </a:rPr>
              <a:t>7</a:t>
            </a:r>
            <a:r>
              <a:rPr lang="en-US" sz="1600" dirty="0">
                <a:solidFill>
                  <a:srgbClr val="212121"/>
                </a:solidFill>
                <a:latin typeface="Calibri" pitchFamily="34" charset="0"/>
                <a:ea typeface="Calibri" pitchFamily="34" charset="-122"/>
                <a:cs typeface="Calibri" pitchFamily="34" charset="-120"/>
              </a:rPr>
              <a:t> (soldan: boşluk).  H(5,6) [A/A]: 7 + 3 = </a:t>
            </a:r>
            <a:r>
              <a:rPr lang="en-US" sz="1600" b="1" dirty="0">
                <a:solidFill>
                  <a:srgbClr val="212121"/>
                </a:solidFill>
                <a:latin typeface="Calibri" pitchFamily="34" charset="0"/>
                <a:ea typeface="Calibri" pitchFamily="34" charset="-122"/>
                <a:cs typeface="Calibri" pitchFamily="34" charset="-120"/>
              </a:rPr>
              <a:t>10</a:t>
            </a:r>
            <a:r>
              <a:rPr lang="en-US" sz="1600" dirty="0">
                <a:solidFill>
                  <a:srgbClr val="212121"/>
                </a:solidFill>
                <a:latin typeface="Calibri" pitchFamily="34" charset="0"/>
                <a:ea typeface="Calibri" pitchFamily="34" charset="-122"/>
                <a:cs typeface="Calibri" pitchFamily="34" charset="-120"/>
              </a:rPr>
              <a:t>.  H(6,7) [C/C]: 10 + 3 = </a:t>
            </a:r>
            <a:r>
              <a:rPr lang="en-US" sz="1600" b="1" dirty="0">
                <a:solidFill>
                  <a:srgbClr val="212121"/>
                </a:solidFill>
                <a:latin typeface="Calibri" pitchFamily="34" charset="0"/>
                <a:ea typeface="Calibri" pitchFamily="34" charset="-122"/>
                <a:cs typeface="Calibri" pitchFamily="34" charset="-120"/>
              </a:rPr>
              <a:t>13</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SW adım 3: tamamlanmış matris</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Maksimum H(6,7) = 13; kalın hücreler geri izleme yolu</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008583"/>
                <a:gridCol w="1008583"/>
                <a:gridCol w="1008583"/>
                <a:gridCol w="1008583"/>
                <a:gridCol w="1008583"/>
                <a:gridCol w="1008583"/>
                <a:gridCol w="1008583"/>
                <a:gridCol w="1008583"/>
                <a:gridCol w="1008583"/>
                <a:gridCol w="1008583"/>
                <a:gridCol w="1008583"/>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3</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6</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9</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7</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10</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13</a:t>
                      </a:r>
                      <a:r>
                        <a:rPr lang="en-US" sz="1600" dirty="0">
                          <a:solidFill>
                            <a:srgbClr val="212121"/>
                          </a:solidFill>
                          <a:latin typeface="Calibri" pitchFamily="34" charset="0"/>
                          <a:ea typeface="Calibri" pitchFamily="34" charset="-122"/>
                          <a:cs typeface="Calibri" pitchFamily="34" charset="-120"/>
                        </a:rPr>
                        <a:t>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227320"/>
            <a:ext cx="11094415" cy="822960"/>
          </a:xfrm>
          <a:prstGeom prst="roundRect">
            <a:avLst>
              <a:gd name="adj" fmla="val 8889"/>
            </a:avLst>
          </a:prstGeom>
          <a:solidFill>
            <a:srgbClr val="FDECEA"/>
          </a:solidFill>
          <a:ln/>
        </p:spPr>
      </p:sp>
      <p:sp>
        <p:nvSpPr>
          <p:cNvPr id="6" name="Text 3"/>
          <p:cNvSpPr txBox="1"/>
          <p:nvPr/>
        </p:nvSpPr>
        <p:spPr>
          <a:xfrm>
            <a:off x="731520" y="522732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Son iki satır: H(7,8) [G/T] = max(0, 13 − 3, 11 − 2, 11 − 2) = 10. Geri izleme 13 → 10 → 7 → 9 → 6 → 3 → </a:t>
            </a:r>
            <a:r>
              <a:rPr lang="en-US" sz="1600" b="1" dirty="0">
                <a:solidFill>
                  <a:srgbClr val="212121"/>
                </a:solidFill>
                <a:latin typeface="Calibri" pitchFamily="34" charset="0"/>
                <a:ea typeface="Calibri" pitchFamily="34" charset="-122"/>
                <a:cs typeface="Calibri" pitchFamily="34" charset="-120"/>
              </a:rPr>
              <a:t>0 (dur)</a:t>
            </a:r>
            <a:r>
              <a:rPr lang="en-US" sz="1600" dirty="0">
                <a:solidFill>
                  <a:srgbClr val="212121"/>
                </a:solidFill>
                <a:latin typeface="Calibri" pitchFamily="34" charset="0"/>
                <a:ea typeface="Calibri" pitchFamily="34" charset="-122"/>
                <a:cs typeface="Calibri" pitchFamily="34" charset="-120"/>
              </a:rPr>
              <a:t>. Sonuç: </a:t>
            </a:r>
            <a:r>
              <a:rPr lang="en-US" sz="1600" dirty="0">
                <a:solidFill>
                  <a:srgbClr val="455A64"/>
                </a:solidFill>
                <a:latin typeface="Courier New" pitchFamily="34" charset="0"/>
                <a:ea typeface="Courier New" pitchFamily="34" charset="-122"/>
                <a:cs typeface="Courier New" pitchFamily="34" charset="-120"/>
              </a:rPr>
              <a:t>GTT-AC</a:t>
            </a:r>
            <a:r>
              <a:rPr lang="en-US" sz="1600" dirty="0">
                <a:solidFill>
                  <a:srgbClr val="212121"/>
                </a:solidFill>
                <a:latin typeface="Calibri" pitchFamily="34" charset="0"/>
                <a:ea typeface="Calibri" pitchFamily="34" charset="-122"/>
                <a:cs typeface="Calibri" pitchFamily="34" charset="-120"/>
              </a:rPr>
              <a:t> / </a:t>
            </a:r>
            <a:r>
              <a:rPr lang="en-US" sz="1600" dirty="0">
                <a:solidFill>
                  <a:srgbClr val="455A64"/>
                </a:solidFill>
                <a:latin typeface="Courier New" pitchFamily="34" charset="0"/>
                <a:ea typeface="Courier New" pitchFamily="34" charset="-122"/>
                <a:cs typeface="Courier New" pitchFamily="34" charset="-120"/>
              </a:rPr>
              <a:t>GTTGAC</a:t>
            </a:r>
            <a:r>
              <a:rPr lang="en-US" sz="1600" dirty="0">
                <a:solidFill>
                  <a:srgbClr val="212121"/>
                </a:solidFill>
                <a:latin typeface="Calibri" pitchFamily="34" charset="0"/>
                <a:ea typeface="Calibri" pitchFamily="34" charset="-122"/>
                <a:cs typeface="Calibri" pitchFamily="34" charset="-120"/>
              </a:rPr>
              <a:t> = 5 × 3 + 1 × (−2) = </a:t>
            </a:r>
            <a:r>
              <a:rPr lang="en-US" sz="1600" b="1" dirty="0">
                <a:solidFill>
                  <a:srgbClr val="212121"/>
                </a:solidFill>
                <a:latin typeface="Calibri" pitchFamily="34" charset="0"/>
                <a:ea typeface="Calibri" pitchFamily="34" charset="-122"/>
                <a:cs typeface="Calibri" pitchFamily="34" charset="-120"/>
              </a:rPr>
              <a:t>13</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Hücre hesabı: dört seçenek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SW'de 0 seçeneği ve boşluk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H(1,1), H(4,5), H(6,7) ve H(7,8) hücrelerini dört adayıyla hesaplayın (0, çapraz, yukarı, sol). Hangileri geri izleme yolunda?</a:t>
            </a:r>
            <a:endParaRPr lang="en-US" sz="1800" dirty="0"/>
          </a:p>
        </p:txBody>
      </p:sp>
      <p:sp>
        <p:nvSpPr>
          <p:cNvPr id="6" name="Text 4"/>
          <p:cNvSpPr txBox="1"/>
          <p:nvPr/>
        </p:nvSpPr>
        <p:spPr>
          <a:xfrm>
            <a:off x="548640" y="2779776"/>
            <a:ext cx="6212873"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(1,1) T/G: üç aday da negatif → </a:t>
            </a:r>
            <a:r>
              <a:rPr lang="en-US" sz="1800" b="1" dirty="0">
                <a:solidFill>
                  <a:srgbClr val="212121"/>
                </a:solidFill>
                <a:latin typeface="Calibri" pitchFamily="34" charset="0"/>
                <a:ea typeface="Calibri" pitchFamily="34" charset="-122"/>
                <a:cs typeface="Calibri" pitchFamily="34" charset="-120"/>
              </a:rPr>
              <a:t>0</a:t>
            </a:r>
            <a:r>
              <a:rPr lang="en-US" sz="1800" dirty="0">
                <a:solidFill>
                  <a:srgbClr val="212121"/>
                </a:solidFill>
                <a:latin typeface="Calibri" pitchFamily="34" charset="0"/>
                <a:ea typeface="Calibri" pitchFamily="34" charset="-122"/>
                <a:cs typeface="Calibri" pitchFamily="34" charset="-120"/>
              </a:rPr>
              <a:t> (yeni başlangıç)</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(4,5) T/G: sol 9 − 2 = </a:t>
            </a:r>
            <a:r>
              <a:rPr lang="en-US" sz="1800" b="1" dirty="0">
                <a:solidFill>
                  <a:srgbClr val="212121"/>
                </a:solidFill>
                <a:latin typeface="Calibri" pitchFamily="34" charset="0"/>
                <a:ea typeface="Calibri" pitchFamily="34" charset="-122"/>
                <a:cs typeface="Calibri" pitchFamily="34" charset="-120"/>
              </a:rPr>
              <a:t>7</a:t>
            </a:r>
            <a:r>
              <a:rPr lang="en-US" sz="1800" dirty="0">
                <a:solidFill>
                  <a:srgbClr val="212121"/>
                </a:solidFill>
                <a:latin typeface="Calibri" pitchFamily="34" charset="0"/>
                <a:ea typeface="Calibri" pitchFamily="34" charset="-122"/>
                <a:cs typeface="Calibri" pitchFamily="34" charset="-120"/>
              </a:rPr>
              <a:t> en büyük → boşluk</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(6,7) C/C: çapraz 10 + 3 = </a:t>
            </a:r>
            <a:r>
              <a:rPr lang="en-US" sz="1800" b="1" dirty="0">
                <a:solidFill>
                  <a:srgbClr val="212121"/>
                </a:solidFill>
                <a:latin typeface="Calibri" pitchFamily="34" charset="0"/>
                <a:ea typeface="Calibri" pitchFamily="34" charset="-122"/>
                <a:cs typeface="Calibri" pitchFamily="34" charset="-120"/>
              </a:rPr>
              <a:t>13</a:t>
            </a:r>
            <a:r>
              <a:rPr lang="en-US" sz="1800" dirty="0">
                <a:solidFill>
                  <a:srgbClr val="212121"/>
                </a:solidFill>
                <a:latin typeface="Calibri" pitchFamily="34" charset="0"/>
                <a:ea typeface="Calibri" pitchFamily="34" charset="-122"/>
                <a:cs typeface="Calibri" pitchFamily="34" charset="-120"/>
              </a:rPr>
              <a:t> → matrisin maksimumu</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(7,8) G/T: çapraz 13 − 3 = </a:t>
            </a:r>
            <a:r>
              <a:rPr lang="en-US" sz="1800" b="1" dirty="0">
                <a:solidFill>
                  <a:srgbClr val="212121"/>
                </a:solidFill>
                <a:latin typeface="Calibri" pitchFamily="34" charset="0"/>
                <a:ea typeface="Calibri" pitchFamily="34" charset="-122"/>
                <a:cs typeface="Calibri" pitchFamily="34" charset="-120"/>
              </a:rPr>
              <a:t>10</a:t>
            </a:r>
            <a:r>
              <a:rPr lang="en-US" sz="1800" dirty="0">
                <a:solidFill>
                  <a:srgbClr val="212121"/>
                </a:solidFill>
                <a:latin typeface="Calibri" pitchFamily="34" charset="0"/>
                <a:ea typeface="Calibri" pitchFamily="34" charset="-122"/>
                <a:cs typeface="Calibri" pitchFamily="34" charset="-120"/>
              </a:rPr>
              <a:t>, ama yolda değil</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Yol: (6,7) ↖ (5,6) ↖ (4,5) ← (4,4) ↖ (3,3) ↖ (2,2) ↖ (1,1) → dur</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081553" y="2779776"/>
          <a:ext cx="4561503" cy="914400"/>
        </p:xfrm>
        <a:graphic>
          <a:graphicData uri="http://schemas.openxmlformats.org/drawingml/2006/table">
            <a:tbl>
              <a:tblPr/>
              <a:tblGrid>
                <a:gridCol w="816153"/>
                <a:gridCol w="595527"/>
                <a:gridCol w="979384"/>
                <a:gridCol w="979384"/>
                <a:gridCol w="595527"/>
                <a:gridCol w="595527"/>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Hücre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Çapraz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Yukarı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Sol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Yerel skor </a:t>
            </a:r>
            <a:r>
              <a:rPr lang="en-US" sz="1700" b="1" dirty="0">
                <a:solidFill>
                  <a:srgbClr val="212121"/>
                </a:solidFill>
                <a:latin typeface="Calibri" pitchFamily="34" charset="0"/>
                <a:ea typeface="Calibri" pitchFamily="34" charset="-122"/>
                <a:cs typeface="Calibri" pitchFamily="34" charset="-120"/>
              </a:rPr>
              <a:t>13</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GTT-AC</a:t>
            </a: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GTTGAC</a:t>
            </a:r>
            <a:r>
              <a:rPr lang="en-US" sz="1700" dirty="0">
                <a:solidFill>
                  <a:srgbClr val="212121"/>
                </a:solidFill>
                <a:latin typeface="Calibri" pitchFamily="34" charset="0"/>
                <a:ea typeface="Calibri" pitchFamily="34" charset="-122"/>
                <a:cs typeface="Calibri" pitchFamily="34" charset="-120"/>
              </a:rPr>
              <a:t>. Aynı diziler global hizalamada (+3/−3/−2) yalnızca </a:t>
            </a:r>
            <a:r>
              <a:rPr lang="en-US" sz="1700" b="1" dirty="0">
                <a:solidFill>
                  <a:srgbClr val="212121"/>
                </a:solidFill>
                <a:latin typeface="Calibri" pitchFamily="34" charset="0"/>
                <a:ea typeface="Calibri" pitchFamily="34" charset="-122"/>
                <a:cs typeface="Calibri" pitchFamily="34" charset="-120"/>
              </a:rPr>
              <a:t>4</a:t>
            </a:r>
            <a:r>
              <a:rPr lang="en-US" sz="1700" dirty="0">
                <a:solidFill>
                  <a:srgbClr val="212121"/>
                </a:solidFill>
                <a:latin typeface="Calibri" pitchFamily="34" charset="0"/>
                <a:ea typeface="Calibri" pitchFamily="34" charset="-122"/>
                <a:cs typeface="Calibri" pitchFamily="34" charset="-120"/>
              </a:rPr>
              <a:t> alır: </a:t>
            </a:r>
            <a:r>
              <a:rPr lang="en-US" sz="1700" dirty="0">
                <a:solidFill>
                  <a:srgbClr val="455A64"/>
                </a:solidFill>
                <a:latin typeface="Courier New" pitchFamily="34" charset="0"/>
                <a:ea typeface="Courier New" pitchFamily="34" charset="-122"/>
                <a:cs typeface="Courier New" pitchFamily="34" charset="-120"/>
              </a:rPr>
              <a:t>TGTT-ACGG</a:t>
            </a: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GGTTGACTA</a:t>
            </a:r>
            <a:r>
              <a:rPr lang="en-US" sz="1700" dirty="0">
                <a:solidFill>
                  <a:srgbClr val="212121"/>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Geri izleme: en büyük değerden 0'a</a:t>
            </a:r>
            <a:endParaRPr lang="en-US" sz="3000" dirty="0"/>
          </a:p>
        </p:txBody>
      </p:sp>
      <p:pic>
        <p:nvPicPr>
          <p:cNvPr id="3" name="Image 0" descr="f07_sw_matris.png">    </p:cNvPr>
          <p:cNvPicPr>
            <a:picLocks noChangeAspect="1"/>
          </p:cNvPicPr>
          <p:nvPr/>
        </p:nvPicPr>
        <p:blipFill>
          <a:blip r:embed="rId1"/>
          <a:stretch>
            <a:fillRect/>
          </a:stretch>
        </p:blipFill>
        <p:spPr>
          <a:xfrm>
            <a:off x="548640" y="1390090"/>
            <a:ext cx="4992487" cy="4717900"/>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Başlangıç: </a:t>
            </a:r>
            <a:r>
              <a:rPr lang="en-US" sz="1700" b="1" dirty="0">
                <a:solidFill>
                  <a:srgbClr val="212121"/>
                </a:solidFill>
                <a:latin typeface="Calibri" pitchFamily="34" charset="0"/>
                <a:ea typeface="Calibri" pitchFamily="34" charset="-122"/>
                <a:cs typeface="Calibri" pitchFamily="34" charset="-120"/>
              </a:rPr>
              <a:t>argmax</a:t>
            </a:r>
            <a:r>
              <a:rPr lang="en-US" sz="1700" dirty="0">
                <a:solidFill>
                  <a:srgbClr val="212121"/>
                </a:solidFill>
                <a:latin typeface="Calibri" pitchFamily="34" charset="0"/>
                <a:ea typeface="Calibri" pitchFamily="34" charset="-122"/>
                <a:cs typeface="Calibri" pitchFamily="34" charset="-120"/>
              </a:rPr>
              <a:t> H = 13 (C/C)</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13 ← 10 (A/A) ← 7 (</a:t>
            </a:r>
            <a:r>
              <a:rPr lang="en-US" sz="1700" b="1" dirty="0">
                <a:solidFill>
                  <a:srgbClr val="212121"/>
                </a:solidFill>
                <a:latin typeface="Calibri" pitchFamily="34" charset="0"/>
                <a:ea typeface="Calibri" pitchFamily="34" charset="-122"/>
                <a:cs typeface="Calibri" pitchFamily="34" charset="-120"/>
              </a:rPr>
              <a:t>y'deki G karşısına boşluk</a:t>
            </a:r>
            <a:r>
              <a:rPr lang="en-US" sz="1700" dirty="0">
                <a:solidFill>
                  <a:srgbClr val="212121"/>
                </a:solidFill>
                <a:latin typeface="Calibri" pitchFamily="34" charset="0"/>
                <a:ea typeface="Calibri" pitchFamily="34" charset="-122"/>
                <a:cs typeface="Calibri" pitchFamily="34" charset="-120"/>
              </a:rPr>
              <a:t>) ← 9 ← 6 ← 3</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3'ün çapraz komşusu 0 → </a:t>
            </a:r>
            <a:r>
              <a:rPr lang="en-US" sz="1700" b="1" dirty="0">
                <a:solidFill>
                  <a:srgbClr val="212121"/>
                </a:solidFill>
                <a:latin typeface="Calibri" pitchFamily="34" charset="0"/>
                <a:ea typeface="Calibri" pitchFamily="34" charset="-122"/>
                <a:cs typeface="Calibri" pitchFamily="34" charset="-120"/>
              </a:rPr>
              <a:t>dur</a:t>
            </a:r>
            <a:r>
              <a:rPr lang="en-US" sz="1700" dirty="0">
                <a:solidFill>
                  <a:srgbClr val="212121"/>
                </a:solidFill>
                <a:latin typeface="Calibri" pitchFamily="34" charset="0"/>
                <a:ea typeface="Calibri" pitchFamily="34" charset="-122"/>
                <a:cs typeface="Calibri" pitchFamily="34" charset="-120"/>
              </a:rPr>
              <a:t>; (1,1) hizalamaya girmez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Hizalama: </a:t>
            </a:r>
            <a:r>
              <a:rPr lang="en-US" sz="1700" dirty="0">
                <a:solidFill>
                  <a:srgbClr val="455A64"/>
                </a:solidFill>
                <a:latin typeface="Courier New" pitchFamily="34" charset="0"/>
                <a:ea typeface="Courier New" pitchFamily="34" charset="-122"/>
                <a:cs typeface="Courier New" pitchFamily="34" charset="-120"/>
              </a:rPr>
              <a:t>GTT-AC</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GTTGAC</a:t>
            </a:r>
            <a:r>
              <a:rPr lang="en-US" sz="1700" dirty="0">
                <a:solidFill>
                  <a:srgbClr val="212121"/>
                </a:solidFill>
                <a:latin typeface="Calibri" pitchFamily="34" charset="0"/>
                <a:ea typeface="Calibri" pitchFamily="34" charset="-122"/>
                <a:cs typeface="Calibri" pitchFamily="34" charset="-120"/>
              </a:rPr>
              <a:t> — x[1:6], y[1:7]</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Birden çok yerel hizalama: maksimum dışındaki yüksek tepeler (ör. 11) başka adaylar olabilir; </a:t>
            </a:r>
            <a:r>
              <a:rPr lang="en-US" sz="1700" b="1" dirty="0">
                <a:solidFill>
                  <a:srgbClr val="212121"/>
                </a:solidFill>
                <a:latin typeface="Calibri" pitchFamily="34" charset="0"/>
                <a:ea typeface="Calibri" pitchFamily="34" charset="-122"/>
                <a:cs typeface="Calibri" pitchFamily="34" charset="-120"/>
              </a:rPr>
              <a:t>Waterman–Eggert</a:t>
            </a:r>
            <a:r>
              <a:rPr lang="en-US" sz="1700" dirty="0">
                <a:solidFill>
                  <a:srgbClr val="212121"/>
                </a:solidFill>
                <a:latin typeface="Calibri" pitchFamily="34" charset="0"/>
                <a:ea typeface="Calibri" pitchFamily="34" charset="-122"/>
                <a:cs typeface="Calibri" pitchFamily="34" charset="-120"/>
              </a:rPr>
              <a:t> ile örtüşmeyenler sırayla bulunur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smith_waterman: Python uygulaması</a:t>
            </a:r>
            <a:endParaRPr lang="en-US" sz="3000" dirty="0"/>
          </a:p>
        </p:txBody>
      </p:sp>
      <p:sp>
        <p:nvSpPr>
          <p:cNvPr id="3" name="Text 1"/>
          <p:cNvSpPr txBox="1"/>
          <p:nvPr/>
        </p:nvSpPr>
        <p:spPr>
          <a:xfrm>
            <a:off x="548640" y="5312664"/>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541264"/>
            <a:ext cx="7544202" cy="722376"/>
          </a:xfrm>
          <a:prstGeom prst="roundRect">
            <a:avLst>
              <a:gd name="adj" fmla="val 10127"/>
            </a:avLst>
          </a:prstGeom>
          <a:solidFill>
            <a:srgbClr val="FFFFFF"/>
          </a:solidFill>
          <a:ln w="12700">
            <a:solidFill>
              <a:srgbClr val="B0BEC5"/>
            </a:solidFill>
            <a:prstDash val="solid"/>
          </a:ln>
        </p:spPr>
      </p:sp>
      <p:sp>
        <p:nvSpPr>
          <p:cNvPr id="5" name="Text 3"/>
          <p:cNvSpPr txBox="1"/>
          <p:nvPr/>
        </p:nvSpPr>
        <p:spPr>
          <a:xfrm>
            <a:off x="658368" y="5614416"/>
            <a:ext cx="7324746" cy="576072"/>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Skor=13  GTT-AC / GTTGAC</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Biopython (mode='local'): 13.0</a:t>
            </a:r>
            <a:endParaRPr lang="en-US" sz="1300" dirty="0"/>
          </a:p>
        </p:txBody>
      </p:sp>
      <p:sp>
        <p:nvSpPr>
          <p:cNvPr id="6" name="Shape 4"/>
          <p:cNvSpPr/>
          <p:nvPr/>
        </p:nvSpPr>
        <p:spPr>
          <a:xfrm>
            <a:off x="548640" y="1234440"/>
            <a:ext cx="7544202" cy="4032504"/>
          </a:xfrm>
          <a:prstGeom prst="roundRect">
            <a:avLst>
              <a:gd name="adj" fmla="val 1814"/>
            </a:avLst>
          </a:prstGeom>
          <a:solidFill>
            <a:srgbClr val="F4F6F7"/>
          </a:solidFill>
          <a:ln w="12700">
            <a:solidFill>
              <a:srgbClr val="B0BEC5"/>
            </a:solidFill>
            <a:prstDash val="solid"/>
          </a:ln>
        </p:spPr>
      </p:sp>
      <p:sp>
        <p:nvSpPr>
          <p:cNvPr id="7" name="Text 5"/>
          <p:cNvSpPr txBox="1"/>
          <p:nvPr/>
        </p:nvSpPr>
        <p:spPr>
          <a:xfrm>
            <a:off x="658368" y="1307592"/>
            <a:ext cx="7324746" cy="3886200"/>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smith_waterman(x, y, e=3, u=-3, g=-2):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m, n = len(x), len(y)</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H = np.zeros((m + 1, n + 1), dtype=int)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i in range(1, m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j in range(1, n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 = e if x[i-1] == y[j-1] else u</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H[i, j] = max(0, H[i-1, j-1] + 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H[i-1, j] + g, H[i, j-1] + g)</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 j = np.unravel_index(np.argmax(H), H.shape)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skor, a1, a2 = H[i, j], [],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while H[i, j] &gt; 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 = e if x[i-1] == y[j-1] else u</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H[i, j] == H[i-1, j-1] + 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a1.append(x[i-1]); a2.append(y[j-1]); i -= 1; j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elif H[i, j] == H[i-1, j] + g:</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a1.append(x[i-1]); a2.append("-"); i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else: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a1.append("-"); a2.append(y[j-1]); j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H, int(skor), "".join(a1[::-1]), "".join(a2[::-1])</a:t>
            </a:r>
            <a:endParaRPr lang="en-US" sz="1350" dirty="0"/>
          </a:p>
        </p:txBody>
      </p:sp>
      <p:sp>
        <p:nvSpPr>
          <p:cNvPr id="8" name="Text 6"/>
          <p:cNvSpPr txBox="1"/>
          <p:nvPr/>
        </p:nvSpPr>
        <p:spPr>
          <a:xfrm>
            <a:off x="8412882" y="1234440"/>
            <a:ext cx="3230173"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Ok matrisi yok: geri izlemede adaylar </a:t>
            </a:r>
            <a:r>
              <a:rPr lang="en-US" sz="1700" b="1" dirty="0">
                <a:solidFill>
                  <a:srgbClr val="212121"/>
                </a:solidFill>
                <a:latin typeface="Calibri" pitchFamily="34" charset="0"/>
                <a:ea typeface="Calibri" pitchFamily="34" charset="-122"/>
                <a:cs typeface="Calibri" pitchFamily="34" charset="-120"/>
              </a:rPr>
              <a:t>yeniden hesaplanır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np.argmax</a:t>
            </a:r>
            <a:r>
              <a:rPr lang="en-US" sz="1700" dirty="0">
                <a:solidFill>
                  <a:srgbClr val="212121"/>
                </a:solidFill>
                <a:latin typeface="Calibri" pitchFamily="34" charset="0"/>
                <a:ea typeface="Calibri" pitchFamily="34" charset="-122"/>
                <a:cs typeface="Calibri" pitchFamily="34" charset="-120"/>
              </a:rPr>
              <a:t> düzleştirilmiş dizide ilk maksimumu verir; </a:t>
            </a:r>
            <a:r>
              <a:rPr lang="en-US" sz="1700" dirty="0">
                <a:solidFill>
                  <a:srgbClr val="455A64"/>
                </a:solidFill>
                <a:latin typeface="Courier New" pitchFamily="34" charset="0"/>
                <a:ea typeface="Courier New" pitchFamily="34" charset="-122"/>
                <a:cs typeface="Courier New" pitchFamily="34" charset="-120"/>
              </a:rPr>
              <a:t>unravel_index</a:t>
            </a:r>
            <a:r>
              <a:rPr lang="en-US" sz="1700" dirty="0">
                <a:solidFill>
                  <a:srgbClr val="212121"/>
                </a:solidFill>
                <a:latin typeface="Calibri" pitchFamily="34" charset="0"/>
                <a:ea typeface="Calibri" pitchFamily="34" charset="-122"/>
                <a:cs typeface="Calibri" pitchFamily="34" charset="-120"/>
              </a:rPr>
              <a:t> → (i, j)</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Döngü koşulu </a:t>
            </a:r>
            <a:r>
              <a:rPr lang="en-US" sz="1700" dirty="0">
                <a:solidFill>
                  <a:srgbClr val="455A64"/>
                </a:solidFill>
                <a:latin typeface="Courier New" pitchFamily="34" charset="0"/>
                <a:ea typeface="Courier New" pitchFamily="34" charset="-122"/>
                <a:cs typeface="Courier New" pitchFamily="34" charset="-120"/>
              </a:rPr>
              <a:t>H &gt; 0</a:t>
            </a:r>
            <a:r>
              <a:rPr lang="en-US" sz="1700" dirty="0">
                <a:solidFill>
                  <a:srgbClr val="212121"/>
                </a:solidFill>
                <a:latin typeface="Calibri" pitchFamily="34" charset="0"/>
                <a:ea typeface="Calibri" pitchFamily="34" charset="-122"/>
                <a:cs typeface="Calibri" pitchFamily="34" charset="-120"/>
              </a:rPr>
              <a:t>: sıfıra ulaşınca durur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Biopython </a:t>
            </a:r>
            <a:r>
              <a:rPr lang="en-US" sz="1700" dirty="0">
                <a:solidFill>
                  <a:srgbClr val="455A64"/>
                </a:solidFill>
                <a:latin typeface="Courier New" pitchFamily="34" charset="0"/>
                <a:ea typeface="Courier New" pitchFamily="34" charset="-122"/>
                <a:cs typeface="Courier New" pitchFamily="34" charset="-120"/>
              </a:rPr>
              <a:t>PairwiseAligner</a:t>
            </a:r>
            <a:r>
              <a:rPr lang="en-US" sz="1700" dirty="0">
                <a:solidFill>
                  <a:srgbClr val="212121"/>
                </a:solidFill>
                <a:latin typeface="Calibri" pitchFamily="34" charset="0"/>
                <a:ea typeface="Calibri" pitchFamily="34" charset="-122"/>
                <a:cs typeface="Calibri" pitchFamily="34" charset="-120"/>
              </a:rPr>
              <a:t> (yerel mod) ile doğrulandı: 13.0</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Global mi yerel mi? Gömülü domen</a:t>
            </a:r>
            <a:endParaRPr lang="en-US" sz="3000" dirty="0"/>
          </a:p>
        </p:txBody>
      </p:sp>
      <p:sp>
        <p:nvSpPr>
          <p:cNvPr id="3" name="Text 1"/>
          <p:cNvSpPr txBox="1"/>
          <p:nvPr/>
        </p:nvSpPr>
        <p:spPr>
          <a:xfrm>
            <a:off x="548640" y="4910328"/>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138928"/>
            <a:ext cx="7322314" cy="1124712"/>
          </a:xfrm>
          <a:prstGeom prst="roundRect">
            <a:avLst>
              <a:gd name="adj" fmla="val 6504"/>
            </a:avLst>
          </a:prstGeom>
          <a:solidFill>
            <a:srgbClr val="FFFFFF"/>
          </a:solidFill>
          <a:ln w="12700">
            <a:solidFill>
              <a:srgbClr val="B0BEC5"/>
            </a:solidFill>
            <a:prstDash val="solid"/>
          </a:ln>
        </p:spPr>
      </p:sp>
      <p:sp>
        <p:nvSpPr>
          <p:cNvPr id="5" name="Text 3"/>
          <p:cNvSpPr txBox="1"/>
          <p:nvPr/>
        </p:nvSpPr>
        <p:spPr>
          <a:xfrm>
            <a:off x="658368" y="5212080"/>
            <a:ext cx="7102858" cy="978408"/>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-29.0   (88 sütun, 19 özdeş; domen gürültüde dağılır)</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target           40 WKCGGHRLVDYE 52</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                  0 |||||||.|||| 12</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query            15 WKCGGHRIVDYE 27</a:t>
            </a:r>
            <a:endParaRPr lang="en-US" sz="1300" dirty="0"/>
          </a:p>
        </p:txBody>
      </p:sp>
      <p:sp>
        <p:nvSpPr>
          <p:cNvPr id="6" name="Shape 4"/>
          <p:cNvSpPr/>
          <p:nvPr/>
        </p:nvSpPr>
        <p:spPr>
          <a:xfrm>
            <a:off x="548640" y="1234440"/>
            <a:ext cx="7322314" cy="3630168"/>
          </a:xfrm>
          <a:prstGeom prst="roundRect">
            <a:avLst>
              <a:gd name="adj" fmla="val 2015"/>
            </a:avLst>
          </a:prstGeom>
          <a:solidFill>
            <a:srgbClr val="F4F6F7"/>
          </a:solidFill>
          <a:ln w="12700">
            <a:solidFill>
              <a:srgbClr val="B0BEC5"/>
            </a:solidFill>
            <a:prstDash val="solid"/>
          </a:ln>
        </p:spPr>
      </p:sp>
      <p:sp>
        <p:nvSpPr>
          <p:cNvPr id="7" name="Text 5"/>
          <p:cNvSpPr txBox="1"/>
          <p:nvPr/>
        </p:nvSpPr>
        <p:spPr>
          <a:xfrm>
            <a:off x="658368" y="1307592"/>
            <a:ext cx="7102858" cy="3483864"/>
          </a:xfrm>
          <a:prstGeom prst="rect">
            <a:avLst/>
          </a:prstGeom>
          <a:noFill/>
          <a:ln/>
        </p:spPr>
        <p:txBody>
          <a:bodyPr wrap="square" lIns="0" tIns="0" rIns="0" bIns="0" rtlCol="0" anchor="t"/>
          <a:lstStyle/>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random.seed(4)</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domen = "WKCGGHRLVDYE"                       # 12 aa</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AA = "ACDEFGHIKLMNPQRSTVWY"</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rs = lambda k: "".join(random.choices(AA, k=k))</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uzun1 = rs(40) + domen + rs(30)                   # 82 aa</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uzun2 = rs(15) + domen.replace("L", "I") + rs(50) # 77 aa</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glob = Align.PairwiseAligner(mode="global", match_score=3,</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mismatch_score=-1, gap_score=-2)</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yerel = Align.PairwiseAligner(mode="local", match_score=3,</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mismatch_score=-3, gap_score=-2)</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print(glob.align(uzun1, uzun2)[0].score)</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print(yerel.align(uzun1, uzun2)[0])</a:t>
            </a:r>
            <a:endParaRPr lang="en-US" sz="1450" dirty="0"/>
          </a:p>
        </p:txBody>
      </p:sp>
      <p:sp>
        <p:nvSpPr>
          <p:cNvPr id="8" name="Text 6"/>
          <p:cNvSpPr txBox="1"/>
          <p:nvPr/>
        </p:nvSpPr>
        <p:spPr>
          <a:xfrm>
            <a:off x="8190994" y="1234440"/>
            <a:ext cx="3452061"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Domen iki dizide </a:t>
            </a:r>
            <a:r>
              <a:rPr lang="en-US" sz="1700" b="1" dirty="0">
                <a:solidFill>
                  <a:srgbClr val="212121"/>
                </a:solidFill>
                <a:latin typeface="Calibri" pitchFamily="34" charset="0"/>
                <a:ea typeface="Calibri" pitchFamily="34" charset="-122"/>
                <a:cs typeface="Calibri" pitchFamily="34" charset="-120"/>
              </a:rPr>
              <a:t>farklı konumlarda</a:t>
            </a:r>
            <a:r>
              <a:rPr lang="en-US" sz="1700" dirty="0">
                <a:solidFill>
                  <a:srgbClr val="212121"/>
                </a:solidFill>
                <a:latin typeface="Calibri" pitchFamily="34" charset="0"/>
                <a:ea typeface="Calibri" pitchFamily="34" charset="-122"/>
                <a:cs typeface="Calibri" pitchFamily="34" charset="-120"/>
              </a:rPr>
              <a:t> (40 ve 15)</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Global hizalama tüm diziyi eşlemeye zorlanır: uçlarda uzun boşluklar, domen parçalanır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Yerel hizalama domeni </a:t>
            </a:r>
            <a:r>
              <a:rPr lang="en-US" sz="1700" b="1" dirty="0">
                <a:solidFill>
                  <a:srgbClr val="212121"/>
                </a:solidFill>
                <a:latin typeface="Calibri" pitchFamily="34" charset="0"/>
                <a:ea typeface="Calibri" pitchFamily="34" charset="-122"/>
                <a:cs typeface="Calibri" pitchFamily="34" charset="-120"/>
              </a:rPr>
              <a:t>doğrudan</a:t>
            </a:r>
            <a:r>
              <a:rPr lang="en-US" sz="1700" dirty="0">
                <a:solidFill>
                  <a:srgbClr val="212121"/>
                </a:solidFill>
                <a:latin typeface="Calibri" pitchFamily="34" charset="0"/>
                <a:ea typeface="Calibri" pitchFamily="34" charset="-122"/>
                <a:cs typeface="Calibri" pitchFamily="34" charset="-120"/>
              </a:rPr>
              <a:t> bulur: 11 eşleşme + L/I → 11·3 − 3 = </a:t>
            </a:r>
            <a:r>
              <a:rPr lang="en-US" sz="1700" b="1" dirty="0">
                <a:solidFill>
                  <a:srgbClr val="212121"/>
                </a:solidFill>
                <a:latin typeface="Calibri" pitchFamily="34" charset="0"/>
                <a:ea typeface="Calibri" pitchFamily="34" charset="-122"/>
                <a:cs typeface="Calibri" pitchFamily="34" charset="-120"/>
              </a:rPr>
              <a:t>30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Gerçek dünyada: çok domenli proteinler, gen füzyonları</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Klasik örnek: HEAGAWGHEE / PAWHEAE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 (Durbin ve ark., 1998), BLOSUM50 ve doğrusal boşluk −8</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HEAGAWGHEE</a:t>
            </a:r>
            <a:r>
              <a:rPr lang="en-US" sz="1800" dirty="0">
                <a:solidFill>
                  <a:srgbClr val="212121"/>
                </a:solidFill>
                <a:latin typeface="Calibri" pitchFamily="34" charset="0"/>
                <a:ea typeface="Calibri" pitchFamily="34" charset="-122"/>
                <a:cs typeface="Calibri" pitchFamily="34" charset="-120"/>
              </a:rPr>
              <a:t> ile </a:t>
            </a:r>
            <a:r>
              <a:rPr lang="en-US" sz="1800" dirty="0">
                <a:solidFill>
                  <a:srgbClr val="455A64"/>
                </a:solidFill>
                <a:latin typeface="Courier New" pitchFamily="34" charset="0"/>
                <a:ea typeface="Courier New" pitchFamily="34" charset="-122"/>
                <a:cs typeface="Courier New" pitchFamily="34" charset="-120"/>
              </a:rPr>
              <a:t>PAWHEAE</a:t>
            </a:r>
            <a:r>
              <a:rPr lang="en-US" sz="1800" dirty="0">
                <a:solidFill>
                  <a:srgbClr val="212121"/>
                </a:solidFill>
                <a:latin typeface="Calibri" pitchFamily="34" charset="0"/>
                <a:ea typeface="Calibri" pitchFamily="34" charset="-122"/>
                <a:cs typeface="Calibri" pitchFamily="34" charset="-120"/>
              </a:rPr>
              <a:t> dizilerini BLOSUM50 ve g = −8 ile yerel hizalayın. Skoru sütun sütun hesaplayın; global skorla karşılaştırın.</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BLOSUM50 değerleri: A–A = 5, W–W = 15, H–H = 10, E–E = 6</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Yerel hizalama: </a:t>
            </a:r>
            <a:r>
              <a:rPr lang="en-US" sz="1700" dirty="0">
                <a:solidFill>
                  <a:srgbClr val="455A64"/>
                </a:solidFill>
                <a:latin typeface="Courier New" pitchFamily="34" charset="0"/>
                <a:ea typeface="Courier New" pitchFamily="34" charset="-122"/>
                <a:cs typeface="Courier New" pitchFamily="34" charset="-120"/>
              </a:rPr>
              <a:t>AWGHE</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AW-HE</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Sütunlar: A/A </a:t>
            </a:r>
            <a:r>
              <a:rPr lang="en-US" sz="1700" b="1" dirty="0">
                <a:solidFill>
                  <a:srgbClr val="212121"/>
                </a:solidFill>
                <a:latin typeface="Calibri" pitchFamily="34" charset="0"/>
                <a:ea typeface="Calibri" pitchFamily="34" charset="-122"/>
                <a:cs typeface="Calibri" pitchFamily="34" charset="-120"/>
              </a:rPr>
              <a:t>5</a:t>
            </a:r>
            <a:r>
              <a:rPr lang="en-US" sz="1700" dirty="0">
                <a:solidFill>
                  <a:srgbClr val="212121"/>
                </a:solidFill>
                <a:latin typeface="Calibri" pitchFamily="34" charset="0"/>
                <a:ea typeface="Calibri" pitchFamily="34" charset="-122"/>
                <a:cs typeface="Calibri" pitchFamily="34" charset="-120"/>
              </a:rPr>
              <a:t> + W/W </a:t>
            </a:r>
            <a:r>
              <a:rPr lang="en-US" sz="1700" b="1" dirty="0">
                <a:solidFill>
                  <a:srgbClr val="212121"/>
                </a:solidFill>
                <a:latin typeface="Calibri" pitchFamily="34" charset="0"/>
                <a:ea typeface="Calibri" pitchFamily="34" charset="-122"/>
                <a:cs typeface="Calibri" pitchFamily="34" charset="-120"/>
              </a:rPr>
              <a:t>15</a:t>
            </a:r>
            <a:r>
              <a:rPr lang="en-US" sz="1700" dirty="0">
                <a:solidFill>
                  <a:srgbClr val="212121"/>
                </a:solidFill>
                <a:latin typeface="Calibri" pitchFamily="34" charset="0"/>
                <a:ea typeface="Calibri" pitchFamily="34" charset="-122"/>
                <a:cs typeface="Calibri" pitchFamily="34" charset="-120"/>
              </a:rPr>
              <a:t> + G/− </a:t>
            </a:r>
            <a:r>
              <a:rPr lang="en-US" sz="1700" b="1" dirty="0">
                <a:solidFill>
                  <a:srgbClr val="212121"/>
                </a:solidFill>
                <a:latin typeface="Calibri" pitchFamily="34" charset="0"/>
                <a:ea typeface="Calibri" pitchFamily="34" charset="-122"/>
                <a:cs typeface="Calibri" pitchFamily="34" charset="-120"/>
              </a:rPr>
              <a:t>−8</a:t>
            </a:r>
            <a:r>
              <a:rPr lang="en-US" sz="1700" dirty="0">
                <a:solidFill>
                  <a:srgbClr val="212121"/>
                </a:solidFill>
                <a:latin typeface="Calibri" pitchFamily="34" charset="0"/>
                <a:ea typeface="Calibri" pitchFamily="34" charset="-122"/>
                <a:cs typeface="Calibri" pitchFamily="34" charset="-120"/>
              </a:rPr>
              <a:t> + H/H </a:t>
            </a:r>
            <a:r>
              <a:rPr lang="en-US" sz="1700" b="1" dirty="0">
                <a:solidFill>
                  <a:srgbClr val="212121"/>
                </a:solidFill>
                <a:latin typeface="Calibri" pitchFamily="34" charset="0"/>
                <a:ea typeface="Calibri" pitchFamily="34" charset="-122"/>
                <a:cs typeface="Calibri" pitchFamily="34" charset="-120"/>
              </a:rPr>
              <a:t>10</a:t>
            </a:r>
            <a:r>
              <a:rPr lang="en-US" sz="1700" dirty="0">
                <a:solidFill>
                  <a:srgbClr val="212121"/>
                </a:solidFill>
                <a:latin typeface="Calibri" pitchFamily="34" charset="0"/>
                <a:ea typeface="Calibri" pitchFamily="34" charset="-122"/>
                <a:cs typeface="Calibri" pitchFamily="34" charset="-120"/>
              </a:rPr>
              <a:t> + E/E </a:t>
            </a:r>
            <a:r>
              <a:rPr lang="en-US" sz="1700" b="1" dirty="0">
                <a:solidFill>
                  <a:srgbClr val="212121"/>
                </a:solidFill>
                <a:latin typeface="Calibri" pitchFamily="34" charset="0"/>
                <a:ea typeface="Calibri" pitchFamily="34" charset="-122"/>
                <a:cs typeface="Calibri" pitchFamily="34" charset="-120"/>
              </a:rPr>
              <a:t>6</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Toplam: 5 + 15 − 8 + 10 + 6 = </a:t>
            </a:r>
            <a:r>
              <a:rPr lang="en-US" sz="1700" b="1" dirty="0">
                <a:solidFill>
                  <a:srgbClr val="212121"/>
                </a:solidFill>
                <a:latin typeface="Calibri" pitchFamily="34" charset="0"/>
                <a:ea typeface="Calibri" pitchFamily="34" charset="-122"/>
                <a:cs typeface="Calibri" pitchFamily="34" charset="-120"/>
              </a:rPr>
              <a:t>28</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Aynı parametrelerle global hizalama skoru yalnızca </a:t>
            </a: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(5 boşluk: −40)</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Boşluk (−8) açmak neden değer? H/H (+10) ve E/E (+6) eşleşmelerini hizaya getirir</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901738"/>
                <a:gridCol w="563586"/>
                <a:gridCol w="619945"/>
                <a:gridCol w="563586"/>
                <a:gridCol w="563586"/>
                <a:gridCol w="563586"/>
                <a:gridCol w="56358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Sütun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W/W</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H/H</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Σ</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Skor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Yerel skor </a:t>
            </a:r>
            <a:r>
              <a:rPr lang="en-US" sz="1700" b="1" dirty="0">
                <a:solidFill>
                  <a:srgbClr val="212121"/>
                </a:solidFill>
                <a:latin typeface="Calibri" pitchFamily="34" charset="0"/>
                <a:ea typeface="Calibri" pitchFamily="34" charset="-122"/>
                <a:cs typeface="Calibri" pitchFamily="34" charset="-120"/>
              </a:rPr>
              <a:t>28</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PairwiseAligner</a:t>
            </a:r>
            <a:r>
              <a:rPr lang="en-US" sz="1700" dirty="0">
                <a:solidFill>
                  <a:srgbClr val="212121"/>
                </a:solidFill>
                <a:latin typeface="Calibri" pitchFamily="34" charset="0"/>
                <a:ea typeface="Calibri" pitchFamily="34" charset="-122"/>
                <a:cs typeface="Calibri" pitchFamily="34" charset="-120"/>
              </a:rPr>
              <a:t> ile doğrulandı). Protein hizalamada matris, özdeş olmayan çiftlere de (ör. A–E = −1, G–H = −2) anlamlı değer verir.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Afin boşluk cezası</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Tek bir uzun indel, birçok kısa indelden daha olasıdır</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Doğrusal ve afin ceza: sayılarla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k uzunluklu tek boşluğun cezası doğrusal modelde w(k) = k·g, afin modelde w(k) = o + (k−1)·e. o = −10, e = −1 ve g = −4 için k = 1, 3, 10'u karşılaştırın; 3 ayrı tek boşlukla kıyaslayın.</a:t>
            </a:r>
            <a:endParaRPr lang="en-US" sz="1800" dirty="0"/>
          </a:p>
        </p:txBody>
      </p:sp>
      <p:sp>
        <p:nvSpPr>
          <p:cNvPr id="6" name="Text 4"/>
          <p:cNvSpPr txBox="1"/>
          <p:nvPr/>
        </p:nvSpPr>
        <p:spPr>
          <a:xfrm>
            <a:off x="548640" y="2779776"/>
            <a:ext cx="510343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k = 1: afin −10; doğrusal −4 → tek kısa boşluk afinde </a:t>
            </a:r>
            <a:r>
              <a:rPr lang="en-US" sz="1600" b="1" dirty="0">
                <a:solidFill>
                  <a:srgbClr val="212121"/>
                </a:solidFill>
                <a:latin typeface="Calibri" pitchFamily="34" charset="0"/>
                <a:ea typeface="Calibri" pitchFamily="34" charset="-122"/>
                <a:cs typeface="Calibri" pitchFamily="34" charset="-120"/>
              </a:rPr>
              <a:t>daha pahalı</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k = 3 (tek boşluk): afin −10 − 1 − 1 = </a:t>
            </a:r>
            <a:r>
              <a:rPr lang="en-US" sz="1600" b="1" dirty="0">
                <a:solidFill>
                  <a:srgbClr val="212121"/>
                </a:solidFill>
                <a:latin typeface="Calibri" pitchFamily="34" charset="0"/>
                <a:ea typeface="Calibri" pitchFamily="34" charset="-122"/>
                <a:cs typeface="Calibri" pitchFamily="34" charset="-120"/>
              </a:rPr>
              <a:t>−12</a:t>
            </a:r>
            <a:r>
              <a:rPr lang="en-US" sz="1600" dirty="0">
                <a:solidFill>
                  <a:srgbClr val="212121"/>
                </a:solidFill>
                <a:latin typeface="Calibri" pitchFamily="34" charset="0"/>
                <a:ea typeface="Calibri" pitchFamily="34" charset="-122"/>
                <a:cs typeface="Calibri" pitchFamily="34" charset="-120"/>
              </a:rPr>
              <a:t>; doğrusal 3 × (−4) = </a:t>
            </a:r>
            <a:r>
              <a:rPr lang="en-US" sz="1600" b="1" dirty="0">
                <a:solidFill>
                  <a:srgbClr val="212121"/>
                </a:solidFill>
                <a:latin typeface="Calibri" pitchFamily="34" charset="0"/>
                <a:ea typeface="Calibri" pitchFamily="34" charset="-122"/>
                <a:cs typeface="Calibri" pitchFamily="34" charset="-120"/>
              </a:rPr>
              <a:t>−12</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3 </a:t>
            </a:r>
            <a:r>
              <a:rPr lang="en-US" sz="1600" b="1" dirty="0">
                <a:solidFill>
                  <a:srgbClr val="212121"/>
                </a:solidFill>
                <a:latin typeface="Calibri" pitchFamily="34" charset="0"/>
                <a:ea typeface="Calibri" pitchFamily="34" charset="-122"/>
                <a:cs typeface="Calibri" pitchFamily="34" charset="-120"/>
              </a:rPr>
              <a:t>ayrı</a:t>
            </a:r>
            <a:r>
              <a:rPr lang="en-US" sz="1600" dirty="0">
                <a:solidFill>
                  <a:srgbClr val="212121"/>
                </a:solidFill>
                <a:latin typeface="Calibri" pitchFamily="34" charset="0"/>
                <a:ea typeface="Calibri" pitchFamily="34" charset="-122"/>
                <a:cs typeface="Calibri" pitchFamily="34" charset="-120"/>
              </a:rPr>
              <a:t> tek boşluk: afin 3 × (−10) = </a:t>
            </a:r>
            <a:r>
              <a:rPr lang="en-US" sz="1600" b="1" dirty="0">
                <a:solidFill>
                  <a:srgbClr val="212121"/>
                </a:solidFill>
                <a:latin typeface="Calibri" pitchFamily="34" charset="0"/>
                <a:ea typeface="Calibri" pitchFamily="34" charset="-122"/>
                <a:cs typeface="Calibri" pitchFamily="34" charset="-120"/>
              </a:rPr>
              <a:t>−30</a:t>
            </a:r>
            <a:r>
              <a:rPr lang="en-US" sz="1600" dirty="0">
                <a:solidFill>
                  <a:srgbClr val="212121"/>
                </a:solidFill>
                <a:latin typeface="Calibri" pitchFamily="34" charset="0"/>
                <a:ea typeface="Calibri" pitchFamily="34" charset="-122"/>
                <a:cs typeface="Calibri" pitchFamily="34" charset="-120"/>
              </a:rPr>
              <a:t>; doğrusal yine −12</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k = 10: afin −10 − 9 = </a:t>
            </a:r>
            <a:r>
              <a:rPr lang="en-US" sz="1600" b="1" dirty="0">
                <a:solidFill>
                  <a:srgbClr val="212121"/>
                </a:solidFill>
                <a:latin typeface="Calibri" pitchFamily="34" charset="0"/>
                <a:ea typeface="Calibri" pitchFamily="34" charset="-122"/>
                <a:cs typeface="Calibri" pitchFamily="34" charset="-120"/>
              </a:rPr>
              <a:t>−19</a:t>
            </a:r>
            <a:r>
              <a:rPr lang="en-US" sz="1600" dirty="0">
                <a:solidFill>
                  <a:srgbClr val="212121"/>
                </a:solidFill>
                <a:latin typeface="Calibri" pitchFamily="34" charset="0"/>
                <a:ea typeface="Calibri" pitchFamily="34" charset="-122"/>
                <a:cs typeface="Calibri" pitchFamily="34" charset="-120"/>
              </a:rPr>
              <a:t>; doğrusal </a:t>
            </a:r>
            <a:r>
              <a:rPr lang="en-US" sz="1600" b="1" dirty="0">
                <a:solidFill>
                  <a:srgbClr val="212121"/>
                </a:solidFill>
                <a:latin typeface="Calibri" pitchFamily="34" charset="0"/>
                <a:ea typeface="Calibri" pitchFamily="34" charset="-122"/>
                <a:cs typeface="Calibri" pitchFamily="34" charset="-120"/>
              </a:rPr>
              <a:t>−40</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Afin model: aynı toplam uzunluk → </a:t>
            </a:r>
            <a:r>
              <a:rPr lang="en-US" sz="1600" b="1" dirty="0">
                <a:solidFill>
                  <a:srgbClr val="212121"/>
                </a:solidFill>
                <a:latin typeface="Calibri" pitchFamily="34" charset="0"/>
                <a:ea typeface="Calibri" pitchFamily="34" charset="-122"/>
                <a:cs typeface="Calibri" pitchFamily="34" charset="-120"/>
              </a:rPr>
              <a:t>az sayıda uzun</a:t>
            </a:r>
            <a:r>
              <a:rPr lang="en-US" sz="1600" dirty="0">
                <a:solidFill>
                  <a:srgbClr val="212121"/>
                </a:solidFill>
                <a:latin typeface="Calibri" pitchFamily="34" charset="0"/>
                <a:ea typeface="Calibri" pitchFamily="34" charset="-122"/>
                <a:cs typeface="Calibri" pitchFamily="34" charset="-120"/>
              </a:rPr>
              <a:t> boşluk tercih edilir</a:t>
            </a:r>
            <a:endParaRPr lang="en-US" sz="1600" dirty="0"/>
          </a:p>
        </p:txBody>
      </p:sp>
      <p:pic>
        <p:nvPicPr>
          <p:cNvPr id="7" name="Image 0" descr="p07_afin_ceza.png">    </p:cNvPr>
          <p:cNvPicPr>
            <a:picLocks noChangeAspect="1"/>
          </p:cNvPicPr>
          <p:nvPr/>
        </p:nvPicPr>
        <p:blipFill>
          <a:blip r:embed="rId1"/>
          <a:stretch>
            <a:fillRect/>
          </a:stretch>
        </p:blipFill>
        <p:spPr>
          <a:xfrm>
            <a:off x="6905267" y="2779776"/>
            <a:ext cx="3804632"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Doğrusal model boşlukların </a:t>
            </a:r>
            <a:r>
              <a:rPr lang="en-US" sz="1700" b="1" dirty="0">
                <a:solidFill>
                  <a:srgbClr val="212121"/>
                </a:solidFill>
                <a:latin typeface="Calibri" pitchFamily="34" charset="0"/>
                <a:ea typeface="Calibri" pitchFamily="34" charset="-122"/>
                <a:cs typeface="Calibri" pitchFamily="34" charset="-120"/>
              </a:rPr>
              <a:t>nasıl dağıldığına</a:t>
            </a:r>
            <a:r>
              <a:rPr lang="en-US" sz="1700" dirty="0">
                <a:solidFill>
                  <a:srgbClr val="212121"/>
                </a:solidFill>
                <a:latin typeface="Calibri" pitchFamily="34" charset="0"/>
                <a:ea typeface="Calibri" pitchFamily="34" charset="-122"/>
                <a:cs typeface="Calibri" pitchFamily="34" charset="-120"/>
              </a:rPr>
              <a:t> kayıtsızdır; afin model boşluk </a:t>
            </a:r>
            <a:r>
              <a:rPr lang="en-US" sz="1700" b="1" dirty="0">
                <a:solidFill>
                  <a:srgbClr val="212121"/>
                </a:solidFill>
                <a:latin typeface="Calibri" pitchFamily="34" charset="0"/>
                <a:ea typeface="Calibri" pitchFamily="34" charset="-122"/>
                <a:cs typeface="Calibri" pitchFamily="34" charset="-120"/>
              </a:rPr>
              <a:t>açmayı</a:t>
            </a:r>
            <a:r>
              <a:rPr lang="en-US" sz="1700" dirty="0">
                <a:solidFill>
                  <a:srgbClr val="212121"/>
                </a:solidFill>
                <a:latin typeface="Calibri" pitchFamily="34" charset="0"/>
                <a:ea typeface="Calibri" pitchFamily="34" charset="-122"/>
                <a:cs typeface="Calibri" pitchFamily="34" charset="-120"/>
              </a:rPr>
              <a:t> pahalı, </a:t>
            </a:r>
            <a:r>
              <a:rPr lang="en-US" sz="1700" b="1" dirty="0">
                <a:solidFill>
                  <a:srgbClr val="212121"/>
                </a:solidFill>
                <a:latin typeface="Calibri" pitchFamily="34" charset="0"/>
                <a:ea typeface="Calibri" pitchFamily="34" charset="-122"/>
                <a:cs typeface="Calibri" pitchFamily="34" charset="-120"/>
              </a:rPr>
              <a:t>uzatmayı</a:t>
            </a:r>
            <a:r>
              <a:rPr lang="en-US" sz="1700" dirty="0">
                <a:solidFill>
                  <a:srgbClr val="212121"/>
                </a:solidFill>
                <a:latin typeface="Calibri" pitchFamily="34" charset="0"/>
                <a:ea typeface="Calibri" pitchFamily="34" charset="-122"/>
                <a:cs typeface="Calibri" pitchFamily="34" charset="-120"/>
              </a:rPr>
              <a:t> ucuz yapar (|o| &gt; |e|).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Aynı diziler, iki farklı hizalama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 notebook örneği çapraz skorlanıyor</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 = </a:t>
            </a:r>
            <a:r>
              <a:rPr lang="en-US" sz="1800" dirty="0">
                <a:solidFill>
                  <a:srgbClr val="455A64"/>
                </a:solidFill>
                <a:latin typeface="Courier New" pitchFamily="34" charset="0"/>
                <a:ea typeface="Courier New" pitchFamily="34" charset="-122"/>
                <a:cs typeface="Courier New" pitchFamily="34" charset="-120"/>
              </a:rPr>
              <a:t>TCATGTATGCCTTAGATC</a:t>
            </a:r>
            <a:r>
              <a:rPr lang="en-US" sz="1800" dirty="0">
                <a:solidFill>
                  <a:srgbClr val="212121"/>
                </a:solidFill>
                <a:latin typeface="Calibri" pitchFamily="34" charset="0"/>
                <a:ea typeface="Calibri" pitchFamily="34" charset="-122"/>
                <a:cs typeface="Calibri" pitchFamily="34" charset="-120"/>
              </a:rPr>
              <a:t>, y = </a:t>
            </a:r>
            <a:r>
              <a:rPr lang="en-US" sz="1800" dirty="0">
                <a:solidFill>
                  <a:srgbClr val="455A64"/>
                </a:solidFill>
                <a:latin typeface="Courier New" pitchFamily="34" charset="0"/>
                <a:ea typeface="Courier New" pitchFamily="34" charset="-122"/>
                <a:cs typeface="Courier New" pitchFamily="34" charset="-120"/>
              </a:rPr>
              <a:t>TCATTTTTCGATC</a:t>
            </a:r>
            <a:r>
              <a:rPr lang="en-US" sz="1800" dirty="0">
                <a:solidFill>
                  <a:srgbClr val="212121"/>
                </a:solidFill>
                <a:latin typeface="Calibri" pitchFamily="34" charset="0"/>
                <a:ea typeface="Calibri" pitchFamily="34" charset="-122"/>
                <a:cs typeface="Calibri" pitchFamily="34" charset="-120"/>
              </a:rPr>
              <a:t> (eşl. +2, uyum. −1). Doğrusal (g = −2) ve afin (o = −5, e = −0.5) hizalayıcıların bulduğu hizalamaları </a:t>
            </a:r>
            <a:r>
              <a:rPr lang="en-US" sz="1800" b="1" dirty="0">
                <a:solidFill>
                  <a:srgbClr val="212121"/>
                </a:solidFill>
                <a:latin typeface="Calibri" pitchFamily="34" charset="0"/>
                <a:ea typeface="Calibri" pitchFamily="34" charset="-122"/>
                <a:cs typeface="Calibri" pitchFamily="34" charset="-120"/>
              </a:rPr>
              <a:t>her iki modelle</a:t>
            </a:r>
            <a:r>
              <a:rPr lang="en-US" sz="1800" dirty="0">
                <a:solidFill>
                  <a:srgbClr val="212121"/>
                </a:solidFill>
                <a:latin typeface="Calibri" pitchFamily="34" charset="0"/>
                <a:ea typeface="Calibri" pitchFamily="34" charset="-122"/>
                <a:cs typeface="Calibri" pitchFamily="34" charset="-120"/>
              </a:rPr>
              <a:t> skorlayın.</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(D) doğrusal çıktı </a:t>
            </a:r>
            <a:r>
              <a:rPr lang="en-US" sz="1450" dirty="0">
                <a:solidFill>
                  <a:srgbClr val="455A64"/>
                </a:solidFill>
                <a:latin typeface="Courier New" pitchFamily="34" charset="0"/>
                <a:ea typeface="Courier New" pitchFamily="34" charset="-122"/>
                <a:cs typeface="Courier New" pitchFamily="34" charset="-120"/>
              </a:rPr>
              <a:t>TCAT-T-T---TTCGATC</a:t>
            </a:r>
            <a:r>
              <a:rPr lang="en-US" sz="1450" dirty="0">
                <a:solidFill>
                  <a:srgbClr val="212121"/>
                </a:solidFill>
                <a:latin typeface="Calibri" pitchFamily="34" charset="0"/>
                <a:ea typeface="Calibri" pitchFamily="34" charset="-122"/>
                <a:cs typeface="Calibri" pitchFamily="34" charset="-120"/>
              </a:rPr>
              <a:t>: 12 eşl., 1 uyum., 5 boşluk sütunu, </a:t>
            </a:r>
            <a:r>
              <a:rPr lang="en-US" sz="1450" b="1" dirty="0">
                <a:solidFill>
                  <a:srgbClr val="212121"/>
                </a:solidFill>
                <a:latin typeface="Calibri" pitchFamily="34" charset="0"/>
                <a:ea typeface="Calibri" pitchFamily="34" charset="-122"/>
                <a:cs typeface="Calibri" pitchFamily="34" charset="-120"/>
              </a:rPr>
              <a:t>3 ayrı</a:t>
            </a:r>
            <a:r>
              <a:rPr lang="en-US" sz="1450" dirty="0">
                <a:solidFill>
                  <a:srgbClr val="212121"/>
                </a:solidFill>
                <a:latin typeface="Calibri" pitchFamily="34" charset="0"/>
                <a:ea typeface="Calibri" pitchFamily="34" charset="-122"/>
                <a:cs typeface="Calibri" pitchFamily="34" charset="-120"/>
              </a:rPr>
              <a:t> boşluk</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(D) doğrusal skor: 24 − 1 − 10 = </a:t>
            </a:r>
            <a:r>
              <a:rPr lang="en-US" sz="1450" b="1" dirty="0">
                <a:solidFill>
                  <a:srgbClr val="212121"/>
                </a:solidFill>
                <a:latin typeface="Calibri" pitchFamily="34" charset="0"/>
                <a:ea typeface="Calibri" pitchFamily="34" charset="-122"/>
                <a:cs typeface="Calibri" pitchFamily="34" charset="-120"/>
              </a:rPr>
              <a:t>13</a:t>
            </a:r>
            <a:r>
              <a:rPr lang="en-US" sz="1450" dirty="0">
                <a:solidFill>
                  <a:srgbClr val="212121"/>
                </a:solidFill>
                <a:latin typeface="Calibri" pitchFamily="34" charset="0"/>
                <a:ea typeface="Calibri" pitchFamily="34" charset="-122"/>
                <a:cs typeface="Calibri" pitchFamily="34" charset="-120"/>
              </a:rPr>
              <a:t>;  afin skor: 24 − 1 + (−5) + (−5) + (−5 − 1) = </a:t>
            </a:r>
            <a:r>
              <a:rPr lang="en-US" sz="1450" b="1" dirty="0">
                <a:solidFill>
                  <a:srgbClr val="212121"/>
                </a:solidFill>
                <a:latin typeface="Calibri" pitchFamily="34" charset="0"/>
                <a:ea typeface="Calibri" pitchFamily="34" charset="-122"/>
                <a:cs typeface="Calibri" pitchFamily="34" charset="-120"/>
              </a:rPr>
              <a:t>7</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(A) afin çıktı </a:t>
            </a:r>
            <a:r>
              <a:rPr lang="en-US" sz="1450" dirty="0">
                <a:solidFill>
                  <a:srgbClr val="455A64"/>
                </a:solidFill>
                <a:latin typeface="Courier New" pitchFamily="34" charset="0"/>
                <a:ea typeface="Courier New" pitchFamily="34" charset="-122"/>
                <a:cs typeface="Courier New" pitchFamily="34" charset="-120"/>
              </a:rPr>
              <a:t>TCATTT-----TTCGATC</a:t>
            </a:r>
            <a:r>
              <a:rPr lang="en-US" sz="1450" dirty="0">
                <a:solidFill>
                  <a:srgbClr val="212121"/>
                </a:solidFill>
                <a:latin typeface="Calibri" pitchFamily="34" charset="0"/>
                <a:ea typeface="Calibri" pitchFamily="34" charset="-122"/>
                <a:cs typeface="Calibri" pitchFamily="34" charset="-120"/>
              </a:rPr>
              <a:t>: 11 eşl., 2 uyum., </a:t>
            </a:r>
            <a:r>
              <a:rPr lang="en-US" sz="1450" b="1" dirty="0">
                <a:solidFill>
                  <a:srgbClr val="212121"/>
                </a:solidFill>
                <a:latin typeface="Calibri" pitchFamily="34" charset="0"/>
                <a:ea typeface="Calibri" pitchFamily="34" charset="-122"/>
                <a:cs typeface="Calibri" pitchFamily="34" charset="-120"/>
              </a:rPr>
              <a:t>tek</a:t>
            </a:r>
            <a:r>
              <a:rPr lang="en-US" sz="1450" dirty="0">
                <a:solidFill>
                  <a:srgbClr val="212121"/>
                </a:solidFill>
                <a:latin typeface="Calibri" pitchFamily="34" charset="0"/>
                <a:ea typeface="Calibri" pitchFamily="34" charset="-122"/>
                <a:cs typeface="Calibri" pitchFamily="34" charset="-120"/>
              </a:rPr>
              <a:t> 5'lik boşluk</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(A) afin skor: 22 − 2 + (−5 − 4 × 0.5) = </a:t>
            </a:r>
            <a:r>
              <a:rPr lang="en-US" sz="1450" b="1" dirty="0">
                <a:solidFill>
                  <a:srgbClr val="212121"/>
                </a:solidFill>
                <a:latin typeface="Calibri" pitchFamily="34" charset="0"/>
                <a:ea typeface="Calibri" pitchFamily="34" charset="-122"/>
                <a:cs typeface="Calibri" pitchFamily="34" charset="-120"/>
              </a:rPr>
              <a:t>13</a:t>
            </a:r>
            <a:r>
              <a:rPr lang="en-US" sz="1450" dirty="0">
                <a:solidFill>
                  <a:srgbClr val="212121"/>
                </a:solidFill>
                <a:latin typeface="Calibri" pitchFamily="34" charset="0"/>
                <a:ea typeface="Calibri" pitchFamily="34" charset="-122"/>
                <a:cs typeface="Calibri" pitchFamily="34" charset="-120"/>
              </a:rPr>
              <a:t>;  doğrusal skor: 22 − 2 − 10 = </a:t>
            </a:r>
            <a:r>
              <a:rPr lang="en-US" sz="1450" b="1" dirty="0">
                <a:solidFill>
                  <a:srgbClr val="212121"/>
                </a:solidFill>
                <a:latin typeface="Calibri" pitchFamily="34" charset="0"/>
                <a:ea typeface="Calibri" pitchFamily="34" charset="-122"/>
                <a:cs typeface="Calibri" pitchFamily="34" charset="-120"/>
              </a:rPr>
              <a:t>10</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Her model kendi hizalamasına 13 veriyor; diğerininkine daha düşük skor</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794906"/>
                <a:gridCol w="1372575"/>
                <a:gridCol w="950244"/>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Doğrusal skor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Afin skor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 3 ayrı boşluk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 tek boşluk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Model seçimi hizalamanın </a:t>
            </a:r>
            <a:r>
              <a:rPr lang="en-US" sz="1700" b="1" dirty="0">
                <a:solidFill>
                  <a:srgbClr val="212121"/>
                </a:solidFill>
                <a:latin typeface="Calibri" pitchFamily="34" charset="0"/>
                <a:ea typeface="Calibri" pitchFamily="34" charset="-122"/>
                <a:cs typeface="Calibri" pitchFamily="34" charset="-120"/>
              </a:rPr>
              <a:t>biçimini</a:t>
            </a:r>
            <a:r>
              <a:rPr lang="en-US" sz="1700" dirty="0">
                <a:solidFill>
                  <a:srgbClr val="212121"/>
                </a:solidFill>
                <a:latin typeface="Calibri" pitchFamily="34" charset="0"/>
                <a:ea typeface="Calibri" pitchFamily="34" charset="-122"/>
                <a:cs typeface="Calibri" pitchFamily="34" charset="-120"/>
              </a:rPr>
              <a:t> değiştirir: afin model 5 bazlık tek bir delesyonu (biyolojik olarak daha makul) seçer.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Gotoh (1982): üç durumlu DP</a:t>
            </a:r>
            <a:endParaRPr lang="en-US" sz="3000" dirty="0"/>
          </a:p>
        </p:txBody>
      </p:sp>
      <p:pic>
        <p:nvPicPr>
          <p:cNvPr id="3" name="Image 0" descr="p07_gotoh.png">    </p:cNvPr>
          <p:cNvPicPr>
            <a:picLocks noChangeAspect="1"/>
          </p:cNvPicPr>
          <p:nvPr/>
        </p:nvPicPr>
        <p:blipFill>
          <a:blip r:embed="rId1"/>
          <a:stretch>
            <a:fillRect/>
          </a:stretch>
        </p:blipFill>
        <p:spPr>
          <a:xfrm>
            <a:off x="548640" y="1758171"/>
            <a:ext cx="4992487" cy="3981738"/>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M(i,j)</a:t>
            </a:r>
            <a:r>
              <a:rPr lang="en-US" sz="1700" dirty="0">
                <a:solidFill>
                  <a:srgbClr val="212121"/>
                </a:solidFill>
                <a:latin typeface="Calibri" pitchFamily="34" charset="0"/>
                <a:ea typeface="Calibri" pitchFamily="34" charset="-122"/>
                <a:cs typeface="Calibri" pitchFamily="34" charset="-120"/>
              </a:rPr>
              <a:t>: son sütun xᵢ ↔ yⱼ</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Iₓ(i,j)</a:t>
            </a:r>
            <a:r>
              <a:rPr lang="en-US" sz="1700" dirty="0">
                <a:solidFill>
                  <a:srgbClr val="212121"/>
                </a:solidFill>
                <a:latin typeface="Calibri" pitchFamily="34" charset="0"/>
                <a:ea typeface="Calibri" pitchFamily="34" charset="-122"/>
                <a:cs typeface="Calibri" pitchFamily="34" charset="-120"/>
              </a:rPr>
              <a:t>: son sütun xᵢ ↔ −;  </a:t>
            </a:r>
            <a:r>
              <a:rPr lang="en-US" sz="1700" b="1" dirty="0">
                <a:solidFill>
                  <a:srgbClr val="212121"/>
                </a:solidFill>
                <a:latin typeface="Calibri" pitchFamily="34" charset="0"/>
                <a:ea typeface="Calibri" pitchFamily="34" charset="-122"/>
                <a:cs typeface="Calibri" pitchFamily="34" charset="-120"/>
              </a:rPr>
              <a:t>Iᵧ(i,j)</a:t>
            </a:r>
            <a:r>
              <a:rPr lang="en-US" sz="1700" dirty="0">
                <a:solidFill>
                  <a:srgbClr val="212121"/>
                </a:solidFill>
                <a:latin typeface="Calibri" pitchFamily="34" charset="0"/>
                <a:ea typeface="Calibri" pitchFamily="34" charset="-122"/>
                <a:cs typeface="Calibri" pitchFamily="34" charset="-120"/>
              </a:rPr>
              <a:t>: − ↔ yⱼ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M = s(xᵢ,yⱼ) + max{M, Iₓ, Iᵧ}(i−1, j−1)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Iₓ = max{ M(i−1,j) + </a:t>
            </a:r>
            <a:r>
              <a:rPr lang="en-US" sz="1700" b="1" dirty="0">
                <a:solidFill>
                  <a:srgbClr val="212121"/>
                </a:solidFill>
                <a:latin typeface="Calibri" pitchFamily="34" charset="0"/>
                <a:ea typeface="Calibri" pitchFamily="34" charset="-122"/>
                <a:cs typeface="Calibri" pitchFamily="34" charset="-120"/>
              </a:rPr>
              <a:t>o</a:t>
            </a:r>
            <a:r>
              <a:rPr lang="en-US" sz="1700" dirty="0">
                <a:solidFill>
                  <a:srgbClr val="212121"/>
                </a:solidFill>
                <a:latin typeface="Calibri" pitchFamily="34" charset="0"/>
                <a:ea typeface="Calibri" pitchFamily="34" charset="-122"/>
                <a:cs typeface="Calibri" pitchFamily="34" charset="-120"/>
              </a:rPr>
              <a:t>,  Iₓ(i−1,j) + </a:t>
            </a:r>
            <a:r>
              <a:rPr lang="en-US" sz="1700" b="1" dirty="0">
                <a:solidFill>
                  <a:srgbClr val="212121"/>
                </a:solidFill>
                <a:latin typeface="Calibri" pitchFamily="34" charset="0"/>
                <a:ea typeface="Calibri" pitchFamily="34" charset="-122"/>
                <a:cs typeface="Calibri" pitchFamily="34" charset="-120"/>
              </a:rPr>
              <a:t>e</a:t>
            </a:r>
            <a:r>
              <a:rPr lang="en-US" sz="1700" dirty="0">
                <a:solidFill>
                  <a:srgbClr val="212121"/>
                </a:solidFill>
                <a:latin typeface="Calibri" pitchFamily="34" charset="0"/>
                <a:ea typeface="Calibri" pitchFamily="34" charset="-122"/>
                <a:cs typeface="Calibri" pitchFamily="34" charset="-120"/>
              </a:rPr>
              <a:t> }</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Iᵧ = max{ M(i,j−1) + </a:t>
            </a:r>
            <a:r>
              <a:rPr lang="en-US" sz="1700" b="1" dirty="0">
                <a:solidFill>
                  <a:srgbClr val="212121"/>
                </a:solidFill>
                <a:latin typeface="Calibri" pitchFamily="34" charset="0"/>
                <a:ea typeface="Calibri" pitchFamily="34" charset="-122"/>
                <a:cs typeface="Calibri" pitchFamily="34" charset="-120"/>
              </a:rPr>
              <a:t>o</a:t>
            </a:r>
            <a:r>
              <a:rPr lang="en-US" sz="1700" dirty="0">
                <a:solidFill>
                  <a:srgbClr val="212121"/>
                </a:solidFill>
                <a:latin typeface="Calibri" pitchFamily="34" charset="0"/>
                <a:ea typeface="Calibri" pitchFamily="34" charset="-122"/>
                <a:cs typeface="Calibri" pitchFamily="34" charset="-120"/>
              </a:rPr>
              <a:t>,  Iᵧ(i,j−1) + </a:t>
            </a:r>
            <a:r>
              <a:rPr lang="en-US" sz="1700" b="1" dirty="0">
                <a:solidFill>
                  <a:srgbClr val="212121"/>
                </a:solidFill>
                <a:latin typeface="Calibri" pitchFamily="34" charset="0"/>
                <a:ea typeface="Calibri" pitchFamily="34" charset="-122"/>
                <a:cs typeface="Calibri" pitchFamily="34" charset="-120"/>
              </a:rPr>
              <a:t>e</a:t>
            </a:r>
            <a:r>
              <a:rPr lang="en-US" sz="1700" dirty="0">
                <a:solidFill>
                  <a:srgbClr val="212121"/>
                </a:solidFill>
                <a:latin typeface="Calibri" pitchFamily="34" charset="0"/>
                <a:ea typeface="Calibri" pitchFamily="34" charset="-122"/>
                <a:cs typeface="Calibri" pitchFamily="34" charset="-120"/>
              </a:rPr>
              <a:t> }</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Üç matris → zaman ve bellek yine </a:t>
            </a:r>
            <a:r>
              <a:rPr lang="en-US" sz="1700" b="1" dirty="0">
                <a:solidFill>
                  <a:srgbClr val="212121"/>
                </a:solidFill>
                <a:latin typeface="Calibri" pitchFamily="34" charset="0"/>
                <a:ea typeface="Calibri" pitchFamily="34" charset="-122"/>
                <a:cs typeface="Calibri" pitchFamily="34" charset="-120"/>
              </a:rPr>
              <a:t>O(mn)</a:t>
            </a:r>
            <a:r>
              <a:rPr lang="en-US" sz="1700" dirty="0">
                <a:solidFill>
                  <a:srgbClr val="212121"/>
                </a:solidFill>
                <a:latin typeface="Calibri" pitchFamily="34" charset="0"/>
                <a:ea typeface="Calibri" pitchFamily="34" charset="-122"/>
                <a:cs typeface="Calibri" pitchFamily="34" charset="-120"/>
              </a:rPr>
              <a:t> (sabit ×3)</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Sonuç: max{M, Iₓ, Iᵧ}(m, n); geri izleme matrisler arasında geçer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Gotoh adım adım: x = AT, y = AGCT</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 global, eşl. +2, uyum. −1, açma o = −4, uzatma e = −1</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Üç matrisi (M / Ix / Iy) doldurun ve optimum global skoru bulun. Kenarlar: Iy(0, j) = o + (j−1)e, Ix(i, 0) = o + (i−1)e; girilemeyen durum −∞.</a:t>
            </a:r>
            <a:endParaRPr lang="en-US" sz="1800" dirty="0"/>
          </a:p>
        </p:txBody>
      </p:sp>
      <p:sp>
        <p:nvSpPr>
          <p:cNvPr id="6" name="Text 4"/>
          <p:cNvSpPr txBox="1"/>
          <p:nvPr/>
        </p:nvSpPr>
        <p:spPr>
          <a:xfrm>
            <a:off x="548640" y="2779776"/>
            <a:ext cx="521437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M(1,1) [A/A] = 2 + max(0, −∞, −∞) = </a:t>
            </a:r>
            <a:r>
              <a:rPr lang="en-US" sz="1800" b="1" dirty="0">
                <a:solidFill>
                  <a:srgbClr val="212121"/>
                </a:solidFill>
                <a:latin typeface="Calibri" pitchFamily="34" charset="0"/>
                <a:ea typeface="Calibri" pitchFamily="34" charset="-122"/>
                <a:cs typeface="Calibri" pitchFamily="34" charset="-120"/>
              </a:rPr>
              <a:t>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Iy(1,2) = max(M(1,1) + o, Iy(1,1) + e) = 2 − 4 = </a:t>
            </a:r>
            <a:r>
              <a:rPr lang="en-US" sz="1800" b="1" dirty="0">
                <a:solidFill>
                  <a:srgbClr val="212121"/>
                </a:solidFill>
                <a:latin typeface="Calibri" pitchFamily="34" charset="0"/>
                <a:ea typeface="Calibri" pitchFamily="34" charset="-122"/>
                <a:cs typeface="Calibri" pitchFamily="34" charset="-120"/>
              </a:rPr>
              <a:t>−2</a:t>
            </a:r>
            <a:r>
              <a:rPr lang="en-US" sz="1800" dirty="0">
                <a:solidFill>
                  <a:srgbClr val="212121"/>
                </a:solidFill>
                <a:latin typeface="Calibri" pitchFamily="34" charset="0"/>
                <a:ea typeface="Calibri" pitchFamily="34" charset="-122"/>
                <a:cs typeface="Calibri" pitchFamily="34" charset="-120"/>
              </a:rPr>
              <a:t> (aç)</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Iy(1,3) = max(M(1,2) − 4 = −9, Iy(1,2) − 1 = </a:t>
            </a:r>
            <a:r>
              <a:rPr lang="en-US" sz="1800" b="1" dirty="0">
                <a:solidFill>
                  <a:srgbClr val="212121"/>
                </a:solidFill>
                <a:latin typeface="Calibri" pitchFamily="34" charset="0"/>
                <a:ea typeface="Calibri" pitchFamily="34" charset="-122"/>
                <a:cs typeface="Calibri" pitchFamily="34" charset="-120"/>
              </a:rPr>
              <a:t>−3</a:t>
            </a:r>
            <a:r>
              <a:rPr lang="en-US" sz="1800" dirty="0">
                <a:solidFill>
                  <a:srgbClr val="212121"/>
                </a:solidFill>
                <a:latin typeface="Calibri" pitchFamily="34" charset="0"/>
                <a:ea typeface="Calibri" pitchFamily="34" charset="-122"/>
                <a:cs typeface="Calibri" pitchFamily="34" charset="-120"/>
              </a:rPr>
              <a:t>) (uzat)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M(2,4) [T/T] = 2 + max{M, Ix, Iy}(1,3) = 2 + (−3) = </a:t>
            </a:r>
            <a:r>
              <a:rPr lang="en-US" sz="1800" b="1" dirty="0">
                <a:solidFill>
                  <a:srgbClr val="212121"/>
                </a:solidFill>
                <a:latin typeface="Calibri" pitchFamily="34" charset="0"/>
                <a:ea typeface="Calibri" pitchFamily="34" charset="-122"/>
                <a:cs typeface="Calibri" pitchFamily="34" charset="-120"/>
              </a:rPr>
              <a:t>−1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Sonuç: max{−1, −11, −4} =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A--T</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AGCT</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083055" y="2779776"/>
          <a:ext cx="5560000" cy="914400"/>
        </p:xfrm>
        <a:graphic>
          <a:graphicData uri="http://schemas.openxmlformats.org/drawingml/2006/table">
            <a:tbl>
              <a:tblPr/>
              <a:tblGrid>
                <a:gridCol w="264762"/>
                <a:gridCol w="1059048"/>
                <a:gridCol w="1059048"/>
                <a:gridCol w="1059048"/>
                <a:gridCol w="1059048"/>
                <a:gridCol w="1059048"/>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−3/−10/−3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r>
                        <a:rPr lang="en-US" sz="1600" dirty="0">
                          <a:solidFill>
                            <a:srgbClr val="212121"/>
                          </a:solidFill>
                          <a:latin typeface="Calibri" pitchFamily="34" charset="0"/>
                          <a:ea typeface="Calibri" pitchFamily="34" charset="-122"/>
                          <a:cs typeface="Calibri" pitchFamily="34" charset="-120"/>
                        </a:rPr>
                        <a:t>/−11/−4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Tek 2'lik boşluk: 2 + (−4 − 1) + 2 = </a:t>
            </a: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İki ayrı boşluk (</a:t>
            </a:r>
            <a:r>
              <a:rPr lang="en-US" sz="1700" dirty="0">
                <a:solidFill>
                  <a:srgbClr val="455A64"/>
                </a:solidFill>
                <a:latin typeface="Courier New" pitchFamily="34" charset="0"/>
                <a:ea typeface="Courier New" pitchFamily="34" charset="-122"/>
                <a:cs typeface="Courier New" pitchFamily="34" charset="-120"/>
              </a:rPr>
              <a:t>A-T-</a:t>
            </a:r>
            <a:r>
              <a:rPr lang="en-US" sz="1700" dirty="0">
                <a:solidFill>
                  <a:srgbClr val="212121"/>
                </a:solidFill>
                <a:latin typeface="Calibri" pitchFamily="34" charset="0"/>
                <a:ea typeface="Calibri" pitchFamily="34" charset="-122"/>
                <a:cs typeface="Calibri" pitchFamily="34" charset="-120"/>
              </a:rPr>
              <a:t>) −7, uçtaki boşluk (</a:t>
            </a:r>
            <a:r>
              <a:rPr lang="en-US" sz="1700" dirty="0">
                <a:solidFill>
                  <a:srgbClr val="455A64"/>
                </a:solidFill>
                <a:latin typeface="Courier New" pitchFamily="34" charset="0"/>
                <a:ea typeface="Courier New" pitchFamily="34" charset="-122"/>
                <a:cs typeface="Courier New" pitchFamily="34" charset="-120"/>
              </a:rPr>
              <a:t>AT--</a:t>
            </a:r>
            <a:r>
              <a:rPr lang="en-US" sz="1700" dirty="0">
                <a:solidFill>
                  <a:srgbClr val="212121"/>
                </a:solidFill>
                <a:latin typeface="Calibri" pitchFamily="34" charset="0"/>
                <a:ea typeface="Calibri" pitchFamily="34" charset="-122"/>
                <a:cs typeface="Calibri" pitchFamily="34" charset="-120"/>
              </a:rPr>
              <a:t>) −4 alır. Biopython aynı skoru verir.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Yer değiştirme matrisleri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Log-odds: gözlenen çift frekansı / rastlantısal beklenti</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Log-odds skoru</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Tanım</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s(a,b) = (1/λ) · log[ q(a,b) / (p(a)·p(b)) ]</a:t>
            </a:r>
            <a:endParaRPr lang="en-US" sz="15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q: homolog hizalamalarda çift frekansı; p(a)p(b): rastlantı</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BLOSUM ölçeği</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 = 2 · log₂(q / pp)   (yarım bit)</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Tamsayıya yuvarlanır</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Ters çevirme</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q / (p·p) = 2^(s/2)</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Skoru olasılık oranına çevirir</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Beklenen skor</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E[s] = Σ p(a)p(b) s(a,b) &lt; 0</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BLOSUM62: −0.52; yerel hizalamanın ön koşulu</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Hizalama skoru = log-odds'ların </a:t>
            </a:r>
            <a:r>
              <a:rPr lang="en-US" sz="1600" b="1" dirty="0">
                <a:solidFill>
                  <a:srgbClr val="212121"/>
                </a:solidFill>
                <a:latin typeface="Calibri" pitchFamily="34" charset="0"/>
                <a:ea typeface="Calibri" pitchFamily="34" charset="-122"/>
                <a:cs typeface="Calibri" pitchFamily="34" charset="-120"/>
              </a:rPr>
              <a:t>toplamı</a:t>
            </a:r>
            <a:r>
              <a:rPr lang="en-US" sz="1600" dirty="0">
                <a:solidFill>
                  <a:srgbClr val="212121"/>
                </a:solidFill>
                <a:latin typeface="Calibri" pitchFamily="34" charset="0"/>
                <a:ea typeface="Calibri" pitchFamily="34" charset="-122"/>
                <a:cs typeface="Calibri" pitchFamily="34" charset="-120"/>
              </a:rPr>
              <a:t> = iki hipotezin olabilirlik oranının log'u: "bu diziler homolog" / "bu diziler rastgele". Pozitif toplam → homoloji modeli daha olası.</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PAM ve BLOSUM aileleri</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981146"/>
                <a:gridCol w="4556635"/>
                <a:gridCol w="4556635"/>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PAM (Dayhoff, 1978)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BLOSUM (Henikoff, 1992)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Veri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Çok yakın (&gt; %85 özdeş) dizilerin filogenileri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BLOCKS: boşluksuz korunmuş bölgeler</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Yöntem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PAM1 (1 değişim / 100 aa) → </a:t>
                      </a:r>
                      <a:r>
                        <a:rPr lang="en-US" sz="1700" b="1" dirty="0">
                          <a:solidFill>
                            <a:srgbClr val="212121"/>
                          </a:solidFill>
                          <a:latin typeface="Calibri" pitchFamily="34" charset="0"/>
                          <a:ea typeface="Calibri" pitchFamily="34" charset="-122"/>
                          <a:cs typeface="Calibri" pitchFamily="34" charset="-120"/>
                        </a:rPr>
                        <a:t>matris kuvveti</a:t>
                      </a:r>
                      <a:r>
                        <a:rPr lang="en-US" sz="1700" dirty="0">
                          <a:solidFill>
                            <a:srgbClr val="212121"/>
                          </a:solidFill>
                          <a:latin typeface="Calibri" pitchFamily="34" charset="0"/>
                          <a:ea typeface="Calibri" pitchFamily="34" charset="-122"/>
                          <a:cs typeface="Calibri" pitchFamily="34" charset="-120"/>
                        </a:rPr>
                        <a:t> PAMn = (PAM1)^n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%X'ten benzer diziler kümelenir; doğrudan sayım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Sayının anlamı</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Evrimsel uzaklık: </a:t>
                      </a:r>
                      <a:r>
                        <a:rPr lang="en-US" sz="1700" b="1" dirty="0">
                          <a:solidFill>
                            <a:srgbClr val="212121"/>
                          </a:solidFill>
                          <a:latin typeface="Calibri" pitchFamily="34" charset="0"/>
                          <a:ea typeface="Calibri" pitchFamily="34" charset="-122"/>
                          <a:cs typeface="Calibri" pitchFamily="34" charset="-120"/>
                        </a:rPr>
                        <a:t>büyük sayı → uzak</a:t>
                      </a:r>
                      <a:r>
                        <a:rPr lang="en-US" sz="1700" dirty="0">
                          <a:solidFill>
                            <a:srgbClr val="212121"/>
                          </a:solidFill>
                          <a:latin typeface="Calibri" pitchFamily="34" charset="0"/>
                          <a:ea typeface="Calibri" pitchFamily="34" charset="-122"/>
                          <a:cs typeface="Calibri" pitchFamily="34" charset="-120"/>
                        </a:rPr>
                        <a:t> akraba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Kümeleme eşiği: </a:t>
                      </a:r>
                      <a:r>
                        <a:rPr lang="en-US" sz="1700" b="1" dirty="0">
                          <a:solidFill>
                            <a:srgbClr val="212121"/>
                          </a:solidFill>
                          <a:latin typeface="Calibri" pitchFamily="34" charset="0"/>
                          <a:ea typeface="Calibri" pitchFamily="34" charset="-122"/>
                          <a:cs typeface="Calibri" pitchFamily="34" charset="-120"/>
                        </a:rPr>
                        <a:t>büyük sayı → yakın</a:t>
                      </a:r>
                      <a:r>
                        <a:rPr lang="en-US" sz="1700" dirty="0">
                          <a:solidFill>
                            <a:srgbClr val="212121"/>
                          </a:solidFill>
                          <a:latin typeface="Calibri" pitchFamily="34" charset="0"/>
                          <a:ea typeface="Calibri" pitchFamily="34" charset="-122"/>
                          <a:cs typeface="Calibri" pitchFamily="34" charset="-120"/>
                        </a:rPr>
                        <a:t> akraba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Yakın akraba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PAM30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BLOSUM80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Uzak akraba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PAM250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BLOSUM45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Yaygın varsayılan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PAM250 (eski FASTA)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BLOSUM62</a:t>
                      </a:r>
                      <a:r>
                        <a:rPr lang="en-US" sz="1700" dirty="0">
                          <a:solidFill>
                            <a:srgbClr val="212121"/>
                          </a:solidFill>
                          <a:latin typeface="Calibri" pitchFamily="34" charset="0"/>
                          <a:ea typeface="Calibri" pitchFamily="34" charset="-122"/>
                          <a:cs typeface="Calibri" pitchFamily="34" charset="-120"/>
                        </a:rPr>
                        <a:t> (BLASTP)</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5081016"/>
            <a:ext cx="11094415" cy="822960"/>
          </a:xfrm>
          <a:prstGeom prst="roundRect">
            <a:avLst>
              <a:gd name="adj" fmla="val 8889"/>
            </a:avLst>
          </a:prstGeom>
          <a:solidFill>
            <a:srgbClr val="FDECEA"/>
          </a:solidFill>
          <a:ln/>
        </p:spPr>
      </p:sp>
      <p:sp>
        <p:nvSpPr>
          <p:cNvPr id="5" name="Text 2"/>
          <p:cNvSpPr txBox="1"/>
          <p:nvPr/>
        </p:nvSpPr>
        <p:spPr>
          <a:xfrm>
            <a:off x="731520" y="5081016"/>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Kabaca eşdeğerlik: PAM250 ≈ BLOSUM45, PAM160 ≈ BLOSUM62, PAM120 ≈ BLOSUM80. Farklı matrislerle alınan </a:t>
            </a:r>
            <a:r>
              <a:rPr lang="en-US" sz="1600" b="1" dirty="0">
                <a:solidFill>
                  <a:srgbClr val="212121"/>
                </a:solidFill>
                <a:latin typeface="Calibri" pitchFamily="34" charset="0"/>
                <a:ea typeface="Calibri" pitchFamily="34" charset="-122"/>
                <a:cs typeface="Calibri" pitchFamily="34" charset="-120"/>
              </a:rPr>
              <a:t>ham skorlar karşılaştırılamaz</a:t>
            </a:r>
            <a:r>
              <a:rPr lang="en-US" sz="1600" dirty="0">
                <a:solidFill>
                  <a:srgbClr val="212121"/>
                </a:solidFill>
                <a:latin typeface="Calibri" pitchFamily="34" charset="0"/>
                <a:ea typeface="Calibri" pitchFamily="34" charset="-122"/>
                <a:cs typeface="Calibri" pitchFamily="34" charset="-120"/>
              </a:rPr>
              <a:t> (farklı λ): protA1–protB1 için BLOSUM45 531, BLOSUM62 430, BLOSUM80 690.</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PAM kuvvetleri: oyuncak model</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20 amino asitli basitleştirilmiş modelde PAM1'de her kalıntı 0.99 olasılıkla aynı kalıyor, 0.01 olasılıkla diğer 19'dan birine eşit olasılıkla dönüşüyor. PAMn'de aynı kalma olasılığı nedir?</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Simetrik model: P(aynı, n) = 1/20 + (19/20) · (1 − 0.01 · 20/19)^n</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1: 0.05 + 0.95 · 0.98947 = </a:t>
            </a:r>
            <a:r>
              <a:rPr lang="en-US" sz="1800" b="1" dirty="0">
                <a:solidFill>
                  <a:srgbClr val="212121"/>
                </a:solidFill>
                <a:latin typeface="Calibri" pitchFamily="34" charset="0"/>
                <a:ea typeface="Calibri" pitchFamily="34" charset="-122"/>
                <a:cs typeface="Calibri" pitchFamily="34" charset="-120"/>
              </a:rPr>
              <a:t>0.990</a:t>
            </a:r>
            <a:r>
              <a:rPr lang="en-US" sz="1800" dirty="0">
                <a:solidFill>
                  <a:srgbClr val="212121"/>
                </a:solidFill>
                <a:latin typeface="Calibri" pitchFamily="34" charset="0"/>
                <a:ea typeface="Calibri" pitchFamily="34" charset="-122"/>
                <a:cs typeface="Calibri" pitchFamily="34" charset="-120"/>
              </a:rPr>
              <a:t> ✓</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100: 0.05 + 0.95 · 0.98947¹⁰⁰ = 0.05 + 0.95 · 0.347 = </a:t>
            </a:r>
            <a:r>
              <a:rPr lang="en-US" sz="1800" b="1" dirty="0">
                <a:solidFill>
                  <a:srgbClr val="212121"/>
                </a:solidFill>
                <a:latin typeface="Calibri" pitchFamily="34" charset="0"/>
                <a:ea typeface="Calibri" pitchFamily="34" charset="-122"/>
                <a:cs typeface="Calibri" pitchFamily="34" charset="-120"/>
              </a:rPr>
              <a:t>0.380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250: 0.05 + 0.95 · 0.0710 = </a:t>
            </a:r>
            <a:r>
              <a:rPr lang="en-US" sz="1800" b="1" dirty="0">
                <a:solidFill>
                  <a:srgbClr val="212121"/>
                </a:solidFill>
                <a:latin typeface="Calibri" pitchFamily="34" charset="0"/>
                <a:ea typeface="Calibri" pitchFamily="34" charset="-122"/>
                <a:cs typeface="Calibri" pitchFamily="34" charset="-120"/>
              </a:rPr>
              <a:t>0.117</a:t>
            </a:r>
            <a:r>
              <a:rPr lang="en-US" sz="1800" dirty="0">
                <a:solidFill>
                  <a:srgbClr val="212121"/>
                </a:solidFill>
                <a:latin typeface="Calibri" pitchFamily="34" charset="0"/>
                <a:ea typeface="Calibri" pitchFamily="34" charset="-122"/>
                <a:cs typeface="Calibri" pitchFamily="34" charset="-120"/>
              </a:rPr>
              <a:t> → ≈ %12 özdeşlik</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 </a:t>
            </a:r>
            <a:r>
              <a:rPr lang="en-US" sz="1800" b="1" dirty="0">
                <a:solidFill>
                  <a:srgbClr val="212121"/>
                </a:solidFill>
                <a:latin typeface="Calibri" pitchFamily="34" charset="0"/>
                <a:ea typeface="Calibri" pitchFamily="34" charset="-122"/>
                <a:cs typeface="Calibri" pitchFamily="34" charset="-120"/>
              </a:rPr>
              <a:t>1/20 = 0.05</a:t>
            </a:r>
            <a:r>
              <a:rPr lang="en-US" sz="1800" dirty="0">
                <a:solidFill>
                  <a:srgbClr val="212121"/>
                </a:solidFill>
                <a:latin typeface="Calibri" pitchFamily="34" charset="0"/>
                <a:ea typeface="Calibri" pitchFamily="34" charset="-122"/>
                <a:cs typeface="Calibri" pitchFamily="34" charset="-120"/>
              </a:rPr>
              <a:t> (tamamen rastgele); 0.99^n değil, çünkü </a:t>
            </a:r>
            <a:r>
              <a:rPr lang="en-US" sz="1800" b="1" dirty="0">
                <a:solidFill>
                  <a:srgbClr val="212121"/>
                </a:solidFill>
                <a:latin typeface="Calibri" pitchFamily="34" charset="0"/>
                <a:ea typeface="Calibri" pitchFamily="34" charset="-122"/>
                <a:cs typeface="Calibri" pitchFamily="34" charset="-120"/>
              </a:rPr>
              <a:t>geri mutasyonlar</a:t>
            </a:r>
            <a:r>
              <a:rPr lang="en-US" sz="1800" dirty="0">
                <a:solidFill>
                  <a:srgbClr val="212121"/>
                </a:solidFill>
                <a:latin typeface="Calibri" pitchFamily="34" charset="0"/>
                <a:ea typeface="Calibri" pitchFamily="34" charset="-122"/>
                <a:cs typeface="Calibri" pitchFamily="34" charset="-120"/>
              </a:rPr>
              <a:t> var</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441204"/>
                <a:gridCol w="1441204"/>
                <a:gridCol w="1235318"/>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n (PAM)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P(aynı)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0.99^n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0.990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0.990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0.380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0.366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0.117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0.081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PAM250 = 250 değişim / 100 aa, ama özdeşlik hâlâ ≈ %12 (gerçek PAM250'de ≈ %20; amino asitler eşit olasılıklı değil). Uzak homologlar </a:t>
            </a:r>
            <a:r>
              <a:rPr lang="en-US" sz="1700" b="1" dirty="0">
                <a:solidFill>
                  <a:srgbClr val="212121"/>
                </a:solidFill>
                <a:latin typeface="Calibri" pitchFamily="34" charset="0"/>
                <a:ea typeface="Calibri" pitchFamily="34" charset="-122"/>
                <a:cs typeface="Calibri" pitchFamily="34" charset="-120"/>
              </a:rPr>
              <a:t>alacakaranlık bölgesi</a:t>
            </a:r>
            <a:r>
              <a:rPr lang="en-US" sz="1700" dirty="0">
                <a:solidFill>
                  <a:srgbClr val="212121"/>
                </a:solidFill>
                <a:latin typeface="Calibri" pitchFamily="34" charset="0"/>
                <a:ea typeface="Calibri" pitchFamily="34" charset="-122"/>
                <a:cs typeface="Calibri" pitchFamily="34" charset="-120"/>
              </a:rPr>
              <a:t>ndedir (%20–35).</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BLOSUM62</a:t>
            </a:r>
            <a:endParaRPr lang="en-US" sz="3000" dirty="0"/>
          </a:p>
        </p:txBody>
      </p:sp>
      <p:pic>
        <p:nvPicPr>
          <p:cNvPr id="3" name="Image 0" descr="g07_blosum62.png">    </p:cNvPr>
          <p:cNvPicPr>
            <a:picLocks noChangeAspect="1"/>
          </p:cNvPicPr>
          <p:nvPr/>
        </p:nvPicPr>
        <p:blipFill>
          <a:blip r:embed="rId1"/>
          <a:stretch>
            <a:fillRect/>
          </a:stretch>
        </p:blipFill>
        <p:spPr>
          <a:xfrm>
            <a:off x="583208" y="1234440"/>
            <a:ext cx="5478072" cy="5029200"/>
          </a:xfrm>
          <a:prstGeom prst="rect">
            <a:avLst/>
          </a:prstGeom>
        </p:spPr>
      </p:pic>
      <p:sp>
        <p:nvSpPr>
          <p:cNvPr id="4" name="Text 1"/>
          <p:cNvSpPr txBox="1"/>
          <p:nvPr/>
        </p:nvSpPr>
        <p:spPr>
          <a:xfrm>
            <a:off x="6415888" y="1234440"/>
            <a:ext cx="522716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a:t>
            </a:r>
            <a:r>
              <a:rPr lang="en-US" sz="1700" b="1" dirty="0">
                <a:solidFill>
                  <a:srgbClr val="212121"/>
                </a:solidFill>
                <a:latin typeface="Calibri" pitchFamily="34" charset="0"/>
                <a:ea typeface="Calibri" pitchFamily="34" charset="-122"/>
                <a:cs typeface="Calibri" pitchFamily="34" charset="-120"/>
              </a:rPr>
              <a:t>W–W = 11</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C–C = 9</a:t>
            </a:r>
            <a:r>
              <a:rPr lang="en-US" sz="1700" dirty="0">
                <a:solidFill>
                  <a:srgbClr val="212121"/>
                </a:solidFill>
                <a:latin typeface="Calibri" pitchFamily="34" charset="0"/>
                <a:ea typeface="Calibri" pitchFamily="34" charset="-122"/>
                <a:cs typeface="Calibri" pitchFamily="34" charset="-120"/>
              </a:rPr>
              <a:t>, A–A = 4 → nadir ve korunmuş kalıntılar yüksek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Muhafazakâr değişimler pozitif: </a:t>
            </a:r>
            <a:r>
              <a:rPr lang="en-US" sz="1700" b="1" dirty="0">
                <a:solidFill>
                  <a:srgbClr val="212121"/>
                </a:solidFill>
                <a:latin typeface="Calibri" pitchFamily="34" charset="0"/>
                <a:ea typeface="Calibri" pitchFamily="34" charset="-122"/>
                <a:cs typeface="Calibri" pitchFamily="34" charset="-120"/>
              </a:rPr>
              <a:t>I–V = 3</a:t>
            </a:r>
            <a:r>
              <a:rPr lang="en-US" sz="1700" dirty="0">
                <a:solidFill>
                  <a:srgbClr val="212121"/>
                </a:solidFill>
                <a:latin typeface="Calibri" pitchFamily="34" charset="0"/>
                <a:ea typeface="Calibri" pitchFamily="34" charset="-122"/>
                <a:cs typeface="Calibri" pitchFamily="34" charset="-120"/>
              </a:rPr>
              <a:t>, I–L = 2, D–E = 2, K–R = 2</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Radikal değişimler negatif: </a:t>
            </a:r>
            <a:r>
              <a:rPr lang="en-US" sz="1700" b="1" dirty="0">
                <a:solidFill>
                  <a:srgbClr val="212121"/>
                </a:solidFill>
                <a:latin typeface="Calibri" pitchFamily="34" charset="0"/>
                <a:ea typeface="Calibri" pitchFamily="34" charset="-122"/>
                <a:cs typeface="Calibri" pitchFamily="34" charset="-120"/>
              </a:rPr>
              <a:t>W–G = −2</a:t>
            </a:r>
            <a:r>
              <a:rPr lang="en-US" sz="1700" dirty="0">
                <a:solidFill>
                  <a:srgbClr val="212121"/>
                </a:solidFill>
                <a:latin typeface="Calibri" pitchFamily="34" charset="0"/>
                <a:ea typeface="Calibri" pitchFamily="34" charset="-122"/>
                <a:cs typeface="Calibri" pitchFamily="34" charset="-120"/>
              </a:rPr>
              <a:t>, C–E = −4</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Simetrik: s(a,b) = s(b,a); 20 × 20 (+ B, Z, X, *)</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Biopython: </a:t>
            </a:r>
            <a:r>
              <a:rPr lang="en-US" sz="1700" dirty="0">
                <a:solidFill>
                  <a:srgbClr val="455A64"/>
                </a:solidFill>
                <a:latin typeface="Courier New" pitchFamily="34" charset="0"/>
                <a:ea typeface="Courier New" pitchFamily="34" charset="-122"/>
                <a:cs typeface="Courier New" pitchFamily="34" charset="-120"/>
              </a:rPr>
              <a:t>substitution_matrices.load("BLOSUM62")</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BLOSUM62 skorunu olasılık oranına çevirmek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BLOSUM62 yarım bit biriminde: s = 2·log₂(q/pp). I–V (3), I–L (2), W–W (11), C–C (9), W–G (−2) çiftleri homolog hizalamalarda rastlantıya göre kaç kat sık görülür?</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Ters formül: q / (p·p) = 2^(s/2)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I–V: 2^(3/2) = 2^1.5 = </a:t>
            </a:r>
            <a:r>
              <a:rPr lang="en-US" sz="1800" b="1" dirty="0">
                <a:solidFill>
                  <a:srgbClr val="212121"/>
                </a:solidFill>
                <a:latin typeface="Calibri" pitchFamily="34" charset="0"/>
                <a:ea typeface="Calibri" pitchFamily="34" charset="-122"/>
                <a:cs typeface="Calibri" pitchFamily="34" charset="-120"/>
              </a:rPr>
              <a:t>2.83</a:t>
            </a:r>
            <a:r>
              <a:rPr lang="en-US" sz="1800" dirty="0">
                <a:solidFill>
                  <a:srgbClr val="212121"/>
                </a:solidFill>
                <a:latin typeface="Calibri" pitchFamily="34" charset="0"/>
                <a:ea typeface="Calibri" pitchFamily="34" charset="-122"/>
                <a:cs typeface="Calibri" pitchFamily="34" charset="-120"/>
              </a:rPr>
              <a:t> kat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I–L: 2^1 = </a:t>
            </a:r>
            <a:r>
              <a:rPr lang="en-US" sz="1800" b="1" dirty="0">
                <a:solidFill>
                  <a:srgbClr val="212121"/>
                </a:solidFill>
                <a:latin typeface="Calibri" pitchFamily="34" charset="0"/>
                <a:ea typeface="Calibri" pitchFamily="34" charset="-122"/>
                <a:cs typeface="Calibri" pitchFamily="34" charset="-120"/>
              </a:rPr>
              <a:t>2.0</a:t>
            </a:r>
            <a:r>
              <a:rPr lang="en-US" sz="1800" dirty="0">
                <a:solidFill>
                  <a:srgbClr val="212121"/>
                </a:solidFill>
                <a:latin typeface="Calibri" pitchFamily="34" charset="0"/>
                <a:ea typeface="Calibri" pitchFamily="34" charset="-122"/>
                <a:cs typeface="Calibri" pitchFamily="34" charset="-120"/>
              </a:rPr>
              <a:t> kat;  W–G: 2^(−1) = </a:t>
            </a:r>
            <a:r>
              <a:rPr lang="en-US" sz="1800" b="1" dirty="0">
                <a:solidFill>
                  <a:srgbClr val="212121"/>
                </a:solidFill>
                <a:latin typeface="Calibri" pitchFamily="34" charset="0"/>
                <a:ea typeface="Calibri" pitchFamily="34" charset="-122"/>
                <a:cs typeface="Calibri" pitchFamily="34" charset="-120"/>
              </a:rPr>
              <a:t>0.5</a:t>
            </a:r>
            <a:r>
              <a:rPr lang="en-US" sz="1800" dirty="0">
                <a:solidFill>
                  <a:srgbClr val="212121"/>
                </a:solidFill>
                <a:latin typeface="Calibri" pitchFamily="34" charset="0"/>
                <a:ea typeface="Calibri" pitchFamily="34" charset="-122"/>
                <a:cs typeface="Calibri" pitchFamily="34" charset="-120"/>
              </a:rPr>
              <a:t> kat (yarı sıklıkta)</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C–C: 2^4.5 = </a:t>
            </a:r>
            <a:r>
              <a:rPr lang="en-US" sz="1800" b="1" dirty="0">
                <a:solidFill>
                  <a:srgbClr val="212121"/>
                </a:solidFill>
                <a:latin typeface="Calibri" pitchFamily="34" charset="0"/>
                <a:ea typeface="Calibri" pitchFamily="34" charset="-122"/>
                <a:cs typeface="Calibri" pitchFamily="34" charset="-120"/>
              </a:rPr>
              <a:t>22.6</a:t>
            </a:r>
            <a:r>
              <a:rPr lang="en-US" sz="1800" dirty="0">
                <a:solidFill>
                  <a:srgbClr val="212121"/>
                </a:solidFill>
                <a:latin typeface="Calibri" pitchFamily="34" charset="0"/>
                <a:ea typeface="Calibri" pitchFamily="34" charset="-122"/>
                <a:cs typeface="Calibri" pitchFamily="34" charset="-120"/>
              </a:rPr>
              <a:t> kat;  W–W: 2^5.5 = </a:t>
            </a:r>
            <a:r>
              <a:rPr lang="en-US" sz="1800" b="1" dirty="0">
                <a:solidFill>
                  <a:srgbClr val="212121"/>
                </a:solidFill>
                <a:latin typeface="Calibri" pitchFamily="34" charset="0"/>
                <a:ea typeface="Calibri" pitchFamily="34" charset="-122"/>
                <a:cs typeface="Calibri" pitchFamily="34" charset="-120"/>
              </a:rPr>
              <a:t>45.3</a:t>
            </a:r>
            <a:r>
              <a:rPr lang="en-US" sz="1800" dirty="0">
                <a:solidFill>
                  <a:srgbClr val="212121"/>
                </a:solidFill>
                <a:latin typeface="Calibri" pitchFamily="34" charset="0"/>
                <a:ea typeface="Calibri" pitchFamily="34" charset="-122"/>
                <a:cs typeface="Calibri" pitchFamily="34" charset="-120"/>
              </a:rPr>
              <a:t> kat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Yuvarlama nedeniyle yaklaşık: tamsayı skor ±0.5 → oran ±%19</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176493"/>
                <a:gridCol w="882370"/>
                <a:gridCol w="2058863"/>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Çift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2^(s/2)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I–V</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2.83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W–G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22.6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W–W</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45.3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Bir W–W eşleşmesi, bir I–V değişiminden ≈ 16 kat daha fazla "homoloji kanıtı" taşır. Skorlar bilgi içeriğidir, keyfî ağırlık değil.</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Tek bir sütundan skor türetmek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ders notundaki sütun</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Bir hizalama sütununda 4 dizi: </a:t>
            </a:r>
            <a:r>
              <a:rPr lang="en-US" sz="1800" b="1" dirty="0">
                <a:solidFill>
                  <a:srgbClr val="212121"/>
                </a:solidFill>
                <a:latin typeface="Calibri" pitchFamily="34" charset="0"/>
                <a:ea typeface="Calibri" pitchFamily="34" charset="-122"/>
                <a:cs typeface="Calibri" pitchFamily="34" charset="-120"/>
              </a:rPr>
              <a:t>L, L, I, V</a:t>
            </a:r>
            <a:r>
              <a:rPr lang="en-US" sz="1800" dirty="0">
                <a:solidFill>
                  <a:srgbClr val="212121"/>
                </a:solidFill>
                <a:latin typeface="Calibri" pitchFamily="34" charset="0"/>
                <a:ea typeface="Calibri" pitchFamily="34" charset="-122"/>
                <a:cs typeface="Calibri" pitchFamily="34" charset="-120"/>
              </a:rPr>
              <a:t>. Çift frekanslarını, beklenen frekansları ve log₂(q/e) skorlarını hesaplayın.</a:t>
            </a:r>
            <a:endParaRPr lang="en-US" sz="1800" dirty="0"/>
          </a:p>
        </p:txBody>
      </p:sp>
      <p:sp>
        <p:nvSpPr>
          <p:cNvPr id="6" name="Text 4"/>
          <p:cNvSpPr txBox="1"/>
          <p:nvPr/>
        </p:nvSpPr>
        <p:spPr>
          <a:xfrm>
            <a:off x="548640" y="2779776"/>
            <a:ext cx="6212873"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Çiftler: C(4,2) = 6 → (L,L)×1, (L,I)×2, (L,V)×2, (I,V)×1</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Harf frekansları: p(L) = 2/4 = 0.5, p(I) = p(V) = 0.25</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Beklenen: aynı harf p(a)², farklı harf </a:t>
            </a: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·p(a)·p(b) (iki sıra)</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L–L: q = 1/6 = 0.167, e = 0.25 → log₂(0.667) = </a:t>
            </a:r>
            <a:r>
              <a:rPr lang="en-US" sz="1700" b="1" dirty="0">
                <a:solidFill>
                  <a:srgbClr val="212121"/>
                </a:solidFill>
                <a:latin typeface="Calibri" pitchFamily="34" charset="0"/>
                <a:ea typeface="Calibri" pitchFamily="34" charset="-122"/>
                <a:cs typeface="Calibri" pitchFamily="34" charset="-120"/>
              </a:rPr>
              <a:t>−0.58</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L–I ve L–V: q = 0.333, e = 0.25 → </a:t>
            </a:r>
            <a:r>
              <a:rPr lang="en-US" sz="1700" b="1" dirty="0">
                <a:solidFill>
                  <a:srgbClr val="212121"/>
                </a:solidFill>
                <a:latin typeface="Calibri" pitchFamily="34" charset="0"/>
                <a:ea typeface="Calibri" pitchFamily="34" charset="-122"/>
                <a:cs typeface="Calibri" pitchFamily="34" charset="-120"/>
              </a:rPr>
              <a:t>+0.42</a:t>
            </a:r>
            <a:r>
              <a:rPr lang="en-US" sz="1700" dirty="0">
                <a:solidFill>
                  <a:srgbClr val="212121"/>
                </a:solidFill>
                <a:latin typeface="Calibri" pitchFamily="34" charset="0"/>
                <a:ea typeface="Calibri" pitchFamily="34" charset="-122"/>
                <a:cs typeface="Calibri" pitchFamily="34" charset="-120"/>
              </a:rPr>
              <a:t>;  I–V: q = 0.167, e = 0.125 → </a:t>
            </a:r>
            <a:r>
              <a:rPr lang="en-US" sz="1700" b="1" dirty="0">
                <a:solidFill>
                  <a:srgbClr val="212121"/>
                </a:solidFill>
                <a:latin typeface="Calibri" pitchFamily="34" charset="0"/>
                <a:ea typeface="Calibri" pitchFamily="34" charset="-122"/>
                <a:cs typeface="Calibri" pitchFamily="34" charset="-120"/>
              </a:rPr>
              <a:t>+0.42</a:t>
            </a:r>
            <a:endParaRPr lang="en-US" sz="1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081553" y="2779776"/>
          <a:ext cx="4561503" cy="914400"/>
        </p:xfrm>
        <a:graphic>
          <a:graphicData uri="http://schemas.openxmlformats.org/drawingml/2006/table">
            <a:tbl>
              <a:tblPr/>
              <a:tblGrid>
                <a:gridCol w="793305"/>
                <a:gridCol w="991631"/>
                <a:gridCol w="991631"/>
                <a:gridCol w="178493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Çift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log₂(q/e)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L–V</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I–V</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Tek sütun gürültülüdür (L–L negatif çıktı!). Gerçek matrisler binlerce blok ve sütundan sayım toplanarak türetilir.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Protein ailesinden matris türetmek</a:t>
            </a:r>
            <a:endParaRPr lang="en-US" sz="3000" dirty="0"/>
          </a:p>
        </p:txBody>
      </p:sp>
      <p:pic>
        <p:nvPicPr>
          <p:cNvPr id="3" name="Image 0" descr="p07_turetilen_skor.png">    </p:cNvPr>
          <p:cNvPicPr>
            <a:picLocks noChangeAspect="1"/>
          </p:cNvPicPr>
          <p:nvPr/>
        </p:nvPicPr>
        <p:blipFill>
          <a:blip r:embed="rId1"/>
          <a:stretch>
            <a:fillRect/>
          </a:stretch>
        </p:blipFill>
        <p:spPr>
          <a:xfrm>
            <a:off x="548640" y="1551811"/>
            <a:ext cx="5547208" cy="4394458"/>
          </a:xfrm>
          <a:prstGeom prst="rect">
            <a:avLst/>
          </a:prstGeom>
        </p:spPr>
      </p:pic>
      <p:sp>
        <p:nvSpPr>
          <p:cNvPr id="4" name="Text 1"/>
          <p:cNvSpPr txBox="1"/>
          <p:nvPr/>
        </p:nvSpPr>
        <p:spPr>
          <a:xfrm>
            <a:off x="6415888" y="1234440"/>
            <a:ext cx="522716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8 dizi × 160 sütun → </a:t>
            </a:r>
            <a:r>
              <a:rPr lang="en-US" sz="1700" b="1" dirty="0">
                <a:solidFill>
                  <a:srgbClr val="212121"/>
                </a:solidFill>
                <a:latin typeface="Calibri" pitchFamily="34" charset="0"/>
                <a:ea typeface="Calibri" pitchFamily="34" charset="-122"/>
                <a:cs typeface="Calibri" pitchFamily="34" charset="-120"/>
              </a:rPr>
              <a:t>4391</a:t>
            </a:r>
            <a:r>
              <a:rPr lang="en-US" sz="1700" dirty="0">
                <a:solidFill>
                  <a:srgbClr val="212121"/>
                </a:solidFill>
                <a:latin typeface="Calibri" pitchFamily="34" charset="0"/>
                <a:ea typeface="Calibri" pitchFamily="34" charset="-122"/>
                <a:cs typeface="Calibri" pitchFamily="34" charset="-120"/>
              </a:rPr>
              <a:t> çift, 1264 harf</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(a–a): BLOSUM62 ile uyumlu, r ≈ </a:t>
            </a:r>
            <a:r>
              <a:rPr lang="en-US" sz="1700" b="1" dirty="0">
                <a:solidFill>
                  <a:srgbClr val="212121"/>
                </a:solidFill>
                <a:latin typeface="Calibri" pitchFamily="34" charset="0"/>
                <a:ea typeface="Calibri" pitchFamily="34" charset="-122"/>
                <a:cs typeface="Calibri" pitchFamily="34" charset="-120"/>
              </a:rPr>
              <a:t>0.86</a:t>
            </a:r>
            <a:r>
              <a:rPr lang="en-US" sz="1700" dirty="0">
                <a:solidFill>
                  <a:srgbClr val="212121"/>
                </a:solidFill>
                <a:latin typeface="Calibri" pitchFamily="34" charset="0"/>
                <a:ea typeface="Calibri" pitchFamily="34" charset="-122"/>
                <a:cs typeface="Calibri" pitchFamily="34" charset="-120"/>
              </a:rPr>
              <a:t>; W–W 11.35 vs 11, L–L 4.73 vs 4</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dışı: r ≈ </a:t>
            </a:r>
            <a:r>
              <a:rPr lang="en-US" sz="1700" b="1" dirty="0">
                <a:solidFill>
                  <a:srgbClr val="212121"/>
                </a:solidFill>
                <a:latin typeface="Calibri" pitchFamily="34" charset="0"/>
                <a:ea typeface="Calibri" pitchFamily="34" charset="-122"/>
                <a:cs typeface="Calibri" pitchFamily="34" charset="-120"/>
              </a:rPr>
              <a:t>0.38</a:t>
            </a:r>
            <a:r>
              <a:rPr lang="en-US" sz="1700" dirty="0">
                <a:solidFill>
                  <a:srgbClr val="212121"/>
                </a:solidFill>
                <a:latin typeface="Calibri" pitchFamily="34" charset="0"/>
                <a:ea typeface="Calibri" pitchFamily="34" charset="-122"/>
                <a:cs typeface="Calibri" pitchFamily="34" charset="-120"/>
              </a:rPr>
              <a:t>; nadir çiftler gürültülü (L–I −1.09 vs +2, W–G 0.30 vs −2)</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D–E 2.02 vs 2: yeterli sayımda iyi uyum</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Ders: matris kalitesi </a:t>
            </a:r>
            <a:r>
              <a:rPr lang="en-US" sz="1700" b="1" dirty="0">
                <a:solidFill>
                  <a:srgbClr val="212121"/>
                </a:solidFill>
                <a:latin typeface="Calibri" pitchFamily="34" charset="0"/>
                <a:ea typeface="Calibri" pitchFamily="34" charset="-122"/>
                <a:cs typeface="Calibri" pitchFamily="34" charset="-120"/>
              </a:rPr>
              <a:t>veri miktarına</a:t>
            </a:r>
            <a:r>
              <a:rPr lang="en-US" sz="1700" dirty="0">
                <a:solidFill>
                  <a:srgbClr val="212121"/>
                </a:solidFill>
                <a:latin typeface="Calibri" pitchFamily="34" charset="0"/>
                <a:ea typeface="Calibri" pitchFamily="34" charset="-122"/>
                <a:cs typeface="Calibri" pitchFamily="34" charset="-120"/>
              </a:rPr>
              <a:t> bağlı; BLOSUM62 ≈ 2000 bloktan</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BLOSUM62 + afin boşlukla yerel protein hizalama</a:t>
            </a:r>
            <a:endParaRPr lang="en-US" sz="2800" dirty="0"/>
          </a:p>
        </p:txBody>
      </p:sp>
      <p:sp>
        <p:nvSpPr>
          <p:cNvPr id="3" name="Text 1"/>
          <p:cNvSpPr txBox="1"/>
          <p:nvPr/>
        </p:nvSpPr>
        <p:spPr>
          <a:xfrm>
            <a:off x="548640" y="5312664"/>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541264"/>
            <a:ext cx="6656649" cy="722376"/>
          </a:xfrm>
          <a:prstGeom prst="roundRect">
            <a:avLst>
              <a:gd name="adj" fmla="val 10127"/>
            </a:avLst>
          </a:prstGeom>
          <a:solidFill>
            <a:srgbClr val="FFFFFF"/>
          </a:solidFill>
          <a:ln w="12700">
            <a:solidFill>
              <a:srgbClr val="B0BEC5"/>
            </a:solidFill>
            <a:prstDash val="solid"/>
          </a:ln>
        </p:spPr>
      </p:sp>
      <p:sp>
        <p:nvSpPr>
          <p:cNvPr id="5" name="Text 3"/>
          <p:cNvSpPr txBox="1"/>
          <p:nvPr/>
        </p:nvSpPr>
        <p:spPr>
          <a:xfrm>
            <a:off x="658368" y="5614416"/>
            <a:ext cx="6437193" cy="576072"/>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Skor: 370.0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BLOSUM45 531.0 | BLOSUM62 430.0 | BLOSUM80 690.0</a:t>
            </a:r>
            <a:endParaRPr lang="en-US" sz="1300" dirty="0"/>
          </a:p>
        </p:txBody>
      </p:sp>
      <p:sp>
        <p:nvSpPr>
          <p:cNvPr id="6" name="Shape 4"/>
          <p:cNvSpPr/>
          <p:nvPr/>
        </p:nvSpPr>
        <p:spPr>
          <a:xfrm>
            <a:off x="548640" y="1234440"/>
            <a:ext cx="6656649" cy="4032504"/>
          </a:xfrm>
          <a:prstGeom prst="roundRect">
            <a:avLst>
              <a:gd name="adj" fmla="val 1814"/>
            </a:avLst>
          </a:prstGeom>
          <a:solidFill>
            <a:srgbClr val="F4F6F7"/>
          </a:solidFill>
          <a:ln w="12700">
            <a:solidFill>
              <a:srgbClr val="B0BEC5"/>
            </a:solidFill>
            <a:prstDash val="solid"/>
          </a:ln>
        </p:spPr>
      </p:sp>
      <p:sp>
        <p:nvSpPr>
          <p:cNvPr id="7" name="Text 5"/>
          <p:cNvSpPr txBox="1"/>
          <p:nvPr/>
        </p:nvSpPr>
        <p:spPr>
          <a:xfrm>
            <a:off x="658368" y="1307592"/>
            <a:ext cx="6437193" cy="3886200"/>
          </a:xfrm>
          <a:prstGeom prst="rect">
            <a:avLst/>
          </a:prstGeom>
          <a:noFill/>
          <a:ln/>
        </p:spPr>
        <p:txBody>
          <a:bodyPr wrap="square" lIns="0" tIns="0" rIns="0" bIns="0" rtlCol="0" anchor="t"/>
          <a:lstStyle/>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from Bio.Align import substitution_matrices</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B62 = substitution_matrices.load("BLOSUM62")</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hb = Align.PairwiseAligner(mode="local", substitution_matrix=B62,</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open_gap_score=-11, extend_gap_score=-1)</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a = hb.align(prot["protA1"], prot["protB3"])[0]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print("Skor:", a.score)</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for ad in ["BLOSUM45", "BLOSUM62", "BLOSUM80"]: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h = Align.PairwiseAligner(mode="local",</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substitution_matrix=substitution_matrices.load(ad),</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open_gap_score=-11, extend_gap_score=-1)</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print(ad, h.score(prot["protA1"], prot["protB1"]))</a:t>
            </a:r>
            <a:endParaRPr lang="en-US" sz="12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BLASTP varsayılanları: BLOSUM62, açma −11, uzatma −1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protA1–protB3 hizalamasında üç boşluk bölgesi (3, 1 ve 2 kalıntı)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Matrisler arasında ham skor </a:t>
            </a:r>
            <a:r>
              <a:rPr lang="en-US" sz="1700" b="1" dirty="0">
                <a:solidFill>
                  <a:srgbClr val="212121"/>
                </a:solidFill>
                <a:latin typeface="Calibri" pitchFamily="34" charset="0"/>
                <a:ea typeface="Calibri" pitchFamily="34" charset="-122"/>
                <a:cs typeface="Calibri" pitchFamily="34" charset="-120"/>
              </a:rPr>
              <a:t>karşılaştırılamaz</a:t>
            </a:r>
            <a:r>
              <a:rPr lang="en-US" sz="1700" dirty="0">
                <a:solidFill>
                  <a:srgbClr val="212121"/>
                </a:solidFill>
                <a:latin typeface="Calibri" pitchFamily="34" charset="0"/>
                <a:ea typeface="Calibri" pitchFamily="34" charset="-122"/>
                <a:cs typeface="Calibri" pitchFamily="34" charset="-120"/>
              </a:rPr>
              <a:t>: ölçek (λ) farklı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Karşılaştırılabilir ölçü: </a:t>
            </a:r>
            <a:r>
              <a:rPr lang="en-US" sz="1700" b="1" dirty="0">
                <a:solidFill>
                  <a:srgbClr val="212121"/>
                </a:solidFill>
                <a:latin typeface="Calibri" pitchFamily="34" charset="0"/>
                <a:ea typeface="Calibri" pitchFamily="34" charset="-122"/>
                <a:cs typeface="Calibri" pitchFamily="34" charset="-120"/>
              </a:rPr>
              <a:t>bit skoru</a:t>
            </a:r>
            <a:r>
              <a:rPr lang="en-US" sz="1700" dirty="0">
                <a:solidFill>
                  <a:srgbClr val="212121"/>
                </a:solidFill>
                <a:latin typeface="Calibri" pitchFamily="34" charset="0"/>
                <a:ea typeface="Calibri" pitchFamily="34" charset="-122"/>
                <a:cs typeface="Calibri" pitchFamily="34" charset="-120"/>
              </a:rPr>
              <a:t> ve </a:t>
            </a:r>
            <a:r>
              <a:rPr lang="en-US" sz="1700" b="1" dirty="0">
                <a:solidFill>
                  <a:srgbClr val="212121"/>
                </a:solidFill>
                <a:latin typeface="Calibri" pitchFamily="34" charset="0"/>
                <a:ea typeface="Calibri" pitchFamily="34" charset="-122"/>
                <a:cs typeface="Calibri" pitchFamily="34" charset="-120"/>
              </a:rPr>
              <a:t>E-değeri</a:t>
            </a:r>
            <a:r>
              <a:rPr lang="en-US" sz="1700" dirty="0">
                <a:solidFill>
                  <a:srgbClr val="212121"/>
                </a:solidFill>
                <a:latin typeface="Calibri" pitchFamily="34" charset="0"/>
                <a:ea typeface="Calibri" pitchFamily="34" charset="-122"/>
                <a:cs typeface="Calibri" pitchFamily="34" charset="-120"/>
              </a:rPr>
              <a:t> (8. hafta)</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Nokta grafiği ve anlamlılık</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Benzerliği görmek; skorun rastlantı olup olmadığını test etmek</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Nokta grafiği: elle küçük örnek</a:t>
            </a:r>
            <a:endParaRPr lang="en-US" sz="3000" dirty="0"/>
          </a:p>
        </p:txBody>
      </p:sp>
      <p:pic>
        <p:nvPicPr>
          <p:cNvPr id="3" name="Image 0" descr="p07_dotplot_mini.png">    </p:cNvPr>
          <p:cNvPicPr>
            <a:picLocks noChangeAspect="1"/>
          </p:cNvPicPr>
          <p:nvPr/>
        </p:nvPicPr>
        <p:blipFill>
          <a:blip r:embed="rId1"/>
          <a:stretch>
            <a:fillRect/>
          </a:stretch>
        </p:blipFill>
        <p:spPr>
          <a:xfrm>
            <a:off x="548640" y="1994685"/>
            <a:ext cx="7322314" cy="3508710"/>
          </a:xfrm>
          <a:prstGeom prst="rect">
            <a:avLst/>
          </a:prstGeom>
        </p:spPr>
      </p:pic>
      <p:sp>
        <p:nvSpPr>
          <p:cNvPr id="4" name="Text 1"/>
          <p:cNvSpPr txBox="1"/>
          <p:nvPr/>
        </p:nvSpPr>
        <p:spPr>
          <a:xfrm>
            <a:off x="8190994" y="1234440"/>
            <a:ext cx="3452061"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Satırlar x = </a:t>
            </a:r>
            <a:r>
              <a:rPr lang="en-US" sz="1700" dirty="0">
                <a:solidFill>
                  <a:srgbClr val="455A64"/>
                </a:solidFill>
                <a:latin typeface="Courier New" pitchFamily="34" charset="0"/>
                <a:ea typeface="Courier New" pitchFamily="34" charset="-122"/>
                <a:cs typeface="Courier New" pitchFamily="34" charset="-120"/>
              </a:rPr>
              <a:t>TGTTACGG</a:t>
            </a:r>
            <a:r>
              <a:rPr lang="en-US" sz="1700" dirty="0">
                <a:solidFill>
                  <a:srgbClr val="212121"/>
                </a:solidFill>
                <a:latin typeface="Calibri" pitchFamily="34" charset="0"/>
                <a:ea typeface="Calibri" pitchFamily="34" charset="-122"/>
                <a:cs typeface="Calibri" pitchFamily="34" charset="-120"/>
              </a:rPr>
              <a:t>, sütunlar y = </a:t>
            </a:r>
            <a:r>
              <a:rPr lang="en-US" sz="1700" dirty="0">
                <a:solidFill>
                  <a:srgbClr val="455A64"/>
                </a:solidFill>
                <a:latin typeface="Courier New" pitchFamily="34" charset="0"/>
                <a:ea typeface="Courier New" pitchFamily="34" charset="-122"/>
                <a:cs typeface="Courier New" pitchFamily="34" charset="-120"/>
              </a:rPr>
              <a:t>GGTTGACTA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w = 1, s = 1: harf eşitse nokta → </a:t>
            </a:r>
            <a:r>
              <a:rPr lang="en-US" sz="1700" b="1" dirty="0">
                <a:solidFill>
                  <a:srgbClr val="212121"/>
                </a:solidFill>
                <a:latin typeface="Calibri" pitchFamily="34" charset="0"/>
                <a:ea typeface="Calibri" pitchFamily="34" charset="-122"/>
                <a:cs typeface="Calibri" pitchFamily="34" charset="-120"/>
              </a:rPr>
              <a:t>21</a:t>
            </a:r>
            <a:r>
              <a:rPr lang="en-US" sz="1700" dirty="0">
                <a:solidFill>
                  <a:srgbClr val="212121"/>
                </a:solidFill>
                <a:latin typeface="Calibri" pitchFamily="34" charset="0"/>
                <a:ea typeface="Calibri" pitchFamily="34" charset="-122"/>
                <a:cs typeface="Calibri" pitchFamily="34" charset="-120"/>
              </a:rPr>
              <a:t> nokta, çok gürültü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w = 3, s = 2: 3'lük pencerede ≥ 2 eşleşme → </a:t>
            </a:r>
            <a:r>
              <a:rPr lang="en-US" sz="1700" b="1" dirty="0">
                <a:solidFill>
                  <a:srgbClr val="212121"/>
                </a:solidFill>
                <a:latin typeface="Calibri" pitchFamily="34" charset="0"/>
                <a:ea typeface="Calibri" pitchFamily="34" charset="-122"/>
                <a:cs typeface="Calibri" pitchFamily="34" charset="-120"/>
              </a:rPr>
              <a:t>9</a:t>
            </a:r>
            <a:r>
              <a:rPr lang="en-US" sz="1700" dirty="0">
                <a:solidFill>
                  <a:srgbClr val="212121"/>
                </a:solidFill>
                <a:latin typeface="Calibri" pitchFamily="34" charset="0"/>
                <a:ea typeface="Calibri" pitchFamily="34" charset="-122"/>
                <a:cs typeface="Calibri" pitchFamily="34" charset="-120"/>
              </a:rPr>
              <a:t> nokta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GTT/GTT, ardından bir sütun sağa kayan TGA–GAC–ACT dizisi: SW'nin </a:t>
            </a:r>
            <a:r>
              <a:rPr lang="en-US" sz="1700" dirty="0">
                <a:solidFill>
                  <a:srgbClr val="455A64"/>
                </a:solidFill>
                <a:latin typeface="Courier New" pitchFamily="34" charset="0"/>
                <a:ea typeface="Courier New" pitchFamily="34" charset="-122"/>
                <a:cs typeface="Courier New" pitchFamily="34" charset="-120"/>
              </a:rPr>
              <a:t>GTT-AC</a:t>
            </a:r>
            <a:r>
              <a:rPr lang="en-US" sz="1700" dirty="0">
                <a:solidFill>
                  <a:srgbClr val="212121"/>
                </a:solidFill>
                <a:latin typeface="Calibri" pitchFamily="34" charset="0"/>
                <a:ea typeface="Calibri" pitchFamily="34" charset="-122"/>
                <a:cs typeface="Calibri" pitchFamily="34" charset="-120"/>
              </a:rPr>
              <a:t> bölgesi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Sağa kayma = y'deki fazladan G (x'te boşluk)</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Proteinlerde nokta grafiği</a:t>
            </a:r>
            <a:endParaRPr lang="en-US" sz="3000" dirty="0"/>
          </a:p>
        </p:txBody>
      </p:sp>
      <p:pic>
        <p:nvPicPr>
          <p:cNvPr id="3" name="Image 0" descr="g07_dotplot.png">    </p:cNvPr>
          <p:cNvPicPr>
            <a:picLocks noChangeAspect="1"/>
          </p:cNvPicPr>
          <p:nvPr/>
        </p:nvPicPr>
        <p:blipFill>
          <a:blip r:embed="rId1"/>
          <a:stretch>
            <a:fillRect/>
          </a:stretch>
        </p:blipFill>
        <p:spPr>
          <a:xfrm>
            <a:off x="548640" y="1723779"/>
            <a:ext cx="11094415" cy="3639043"/>
          </a:xfrm>
          <a:prstGeom prst="rect">
            <a:avLst/>
          </a:prstGeom>
        </p:spPr>
      </p:pic>
      <p:sp>
        <p:nvSpPr>
          <p:cNvPr id="4" name="Text 1"/>
          <p:cNvSpPr txBox="1"/>
          <p:nvPr/>
        </p:nvSpPr>
        <p:spPr>
          <a:xfrm>
            <a:off x="548640" y="5435973"/>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w = 5, s = 4; soldan: yakın akraba (protA2), uzak akraba (protB3), ilgisiz protein</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Karıştırma (shuffle) testi</a:t>
            </a:r>
            <a:endParaRPr lang="en-US" sz="3000" dirty="0"/>
          </a:p>
        </p:txBody>
      </p:sp>
      <p:pic>
        <p:nvPicPr>
          <p:cNvPr id="3" name="Image 0" descr="p07_karistirma.png">    </p:cNvPr>
          <p:cNvPicPr>
            <a:picLocks noChangeAspect="1"/>
          </p:cNvPicPr>
          <p:nvPr/>
        </p:nvPicPr>
        <p:blipFill>
          <a:blip r:embed="rId1"/>
          <a:stretch>
            <a:fillRect/>
          </a:stretch>
        </p:blipFill>
        <p:spPr>
          <a:xfrm>
            <a:off x="548640" y="1697527"/>
            <a:ext cx="11094415" cy="3691546"/>
          </a:xfrm>
          <a:prstGeom prst="rect">
            <a:avLst/>
          </a:prstGeom>
        </p:spPr>
      </p:pic>
      <p:sp>
        <p:nvSpPr>
          <p:cNvPr id="4" name="Text 1"/>
          <p:cNvSpPr txBox="1"/>
          <p:nvPr/>
        </p:nvSpPr>
        <p:spPr>
          <a:xfrm>
            <a:off x="548640" y="5462225"/>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200 karıştırma; kırmızı çizgi gerçek skor. Karıştırma kompozisyonu korur, sırayı bozar.</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z-skoru, Gumbel ve E-değeri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 simülasyon + 8. haftaya köprü</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Rastgele 150 aa'lık 2000 protein çiftinin yerel skorları (BLOSUM62, −11/−1): ort. 31.1, σ 5.8; Gumbel uyumu μ = 28.5, β = 4.41. S = 45 için normal ve Gumbel p-değerlerini bulun; E-değerini tahmin edin.</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z = (45 − 31.1) / 5.8 = </a:t>
            </a:r>
            <a:r>
              <a:rPr lang="en-US" sz="1800" b="1" dirty="0">
                <a:solidFill>
                  <a:srgbClr val="212121"/>
                </a:solidFill>
                <a:latin typeface="Calibri" pitchFamily="34" charset="0"/>
                <a:ea typeface="Calibri" pitchFamily="34" charset="-122"/>
                <a:cs typeface="Calibri" pitchFamily="34" charset="-120"/>
              </a:rPr>
              <a:t>2.40</a:t>
            </a:r>
            <a:r>
              <a:rPr lang="en-US" sz="1800" dirty="0">
                <a:solidFill>
                  <a:srgbClr val="212121"/>
                </a:solidFill>
                <a:latin typeface="Calibri" pitchFamily="34" charset="0"/>
                <a:ea typeface="Calibri" pitchFamily="34" charset="-122"/>
                <a:cs typeface="Calibri" pitchFamily="34" charset="-120"/>
              </a:rPr>
              <a:t> → normal p = P(Z ≥ 2.40) ≈ </a:t>
            </a:r>
            <a:r>
              <a:rPr lang="en-US" sz="1800" b="1" dirty="0">
                <a:solidFill>
                  <a:srgbClr val="212121"/>
                </a:solidFill>
                <a:latin typeface="Calibri" pitchFamily="34" charset="0"/>
                <a:ea typeface="Calibri" pitchFamily="34" charset="-122"/>
                <a:cs typeface="Calibri" pitchFamily="34" charset="-120"/>
              </a:rPr>
              <a:t>0.008</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Gumbel: P(S ≥ x) = 1 − exp[−e^(−(x−μ)/β)]; (45 − 28.5)/4.41 = 3.74; e^(−3.74) = 0.024 → p ≈ </a:t>
            </a:r>
            <a:r>
              <a:rPr lang="en-US" sz="1800" b="1" dirty="0">
                <a:solidFill>
                  <a:srgbClr val="212121"/>
                </a:solidFill>
                <a:latin typeface="Calibri" pitchFamily="34" charset="0"/>
                <a:ea typeface="Calibri" pitchFamily="34" charset="-122"/>
                <a:cs typeface="Calibri" pitchFamily="34" charset="-120"/>
              </a:rPr>
              <a:t>0.024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Simülasyonda gözlenen: 2000 çiftin %2.8'i ≥ 45 → Gumbel doğru, normal </a:t>
            </a:r>
            <a:r>
              <a:rPr lang="en-US" sz="1800" b="1" dirty="0">
                <a:solidFill>
                  <a:srgbClr val="212121"/>
                </a:solidFill>
                <a:latin typeface="Calibri" pitchFamily="34" charset="0"/>
                <a:ea typeface="Calibri" pitchFamily="34" charset="-122"/>
                <a:cs typeface="Calibri" pitchFamily="34" charset="-120"/>
              </a:rPr>
              <a:t>3 kat iyimser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BLAST biçimi: E = K·m·n·e^(−λS); BLOSUM62 −11/−1 için λ ≈ 0.267, K ≈ 0.041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protA1–ilgisiz1 (S = 22, m = 158, n = 150): E ≈ 0.041 · 23 700 · e^(−5.87) ≈ </a:t>
            </a:r>
            <a:r>
              <a:rPr lang="en-US" sz="1800" b="1" dirty="0">
                <a:solidFill>
                  <a:srgbClr val="212121"/>
                </a:solidFill>
                <a:latin typeface="Calibri" pitchFamily="34" charset="0"/>
                <a:ea typeface="Calibri" pitchFamily="34" charset="-122"/>
                <a:cs typeface="Calibri" pitchFamily="34" charset="-120"/>
              </a:rPr>
              <a:t>2.7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protA1–protB3 (S = 370): E ≈ </a:t>
            </a:r>
            <a:r>
              <a:rPr lang="en-US" sz="1800" b="1" dirty="0">
                <a:solidFill>
                  <a:srgbClr val="212121"/>
                </a:solidFill>
                <a:latin typeface="Calibri" pitchFamily="34" charset="0"/>
                <a:ea typeface="Calibri" pitchFamily="34" charset="-122"/>
                <a:cs typeface="Calibri" pitchFamily="34" charset="-120"/>
              </a:rPr>
              <a:t>10⁻⁴⁰</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Yerel skorlar </a:t>
            </a:r>
            <a:r>
              <a:rPr lang="en-US" sz="1700" b="1" dirty="0">
                <a:solidFill>
                  <a:srgbClr val="212121"/>
                </a:solidFill>
                <a:latin typeface="Calibri" pitchFamily="34" charset="0"/>
                <a:ea typeface="Calibri" pitchFamily="34" charset="-122"/>
                <a:cs typeface="Calibri" pitchFamily="34" charset="-120"/>
              </a:rPr>
              <a:t>aşırı değer</a:t>
            </a:r>
            <a:r>
              <a:rPr lang="en-US" sz="1700" dirty="0">
                <a:solidFill>
                  <a:srgbClr val="212121"/>
                </a:solidFill>
                <a:latin typeface="Calibri" pitchFamily="34" charset="0"/>
                <a:ea typeface="Calibri" pitchFamily="34" charset="-122"/>
                <a:cs typeface="Calibri" pitchFamily="34" charset="-120"/>
              </a:rPr>
              <a:t> (maksimum) dağılımına uyar; kuyruk normalden kalındır. E ≈ 2.7: bu kadar skoru rastgele bir veritabanında ≈ 3 kez görürüz → anlamsız.</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Yerel skorların dağılımı: Gumbel, normal değil</a:t>
            </a:r>
            <a:endParaRPr lang="en-US" sz="2800" dirty="0"/>
          </a:p>
        </p:txBody>
      </p:sp>
      <p:pic>
        <p:nvPicPr>
          <p:cNvPr id="3" name="Image 0" descr="p07_gumbel.png">    </p:cNvPr>
          <p:cNvPicPr>
            <a:picLocks noChangeAspect="1"/>
          </p:cNvPicPr>
          <p:nvPr/>
        </p:nvPicPr>
        <p:blipFill>
          <a:blip r:embed="rId1"/>
          <a:stretch>
            <a:fillRect/>
          </a:stretch>
        </p:blipFill>
        <p:spPr>
          <a:xfrm>
            <a:off x="548640" y="1638198"/>
            <a:ext cx="11094415" cy="3810203"/>
          </a:xfrm>
          <a:prstGeom prst="rect">
            <a:avLst/>
          </a:prstGeom>
        </p:spPr>
      </p:pic>
      <p:sp>
        <p:nvSpPr>
          <p:cNvPr id="4" name="Text 1"/>
          <p:cNvSpPr txBox="1"/>
          <p:nvPr/>
        </p:nvSpPr>
        <p:spPr>
          <a:xfrm>
            <a:off x="548640" y="5521554"/>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2000 rastgele 150 aa'lık çift (eşit amino asit frekansları), BLOSUM62, açma −11 / uzatma −1</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Shape 1"/>
          <p:cNvSpPr/>
          <p:nvPr/>
        </p:nvSpPr>
        <p:spPr>
          <a:xfrm>
            <a:off x="548640" y="1234440"/>
            <a:ext cx="3515258" cy="2377440"/>
          </a:xfrm>
          <a:prstGeom prst="roundRect">
            <a:avLst>
              <a:gd name="adj" fmla="val 3077"/>
            </a:avLst>
          </a:prstGeom>
          <a:solidFill>
            <a:srgbClr val="F7F9FA"/>
          </a:solidFill>
          <a:ln w="12700">
            <a:solidFill>
              <a:srgbClr val="B0BEC5"/>
            </a:solidFill>
            <a:prstDash val="solid"/>
          </a:ln>
        </p:spPr>
      </p:sp>
      <p:sp>
        <p:nvSpPr>
          <p:cNvPr id="4" name="Text 2"/>
          <p:cNvSpPr txBox="1"/>
          <p:nvPr/>
        </p:nvSpPr>
        <p:spPr>
          <a:xfrm>
            <a:off x="731520"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SW'de 0'ı unutmak</a:t>
            </a:r>
            <a:endParaRPr lang="en-US" sz="1700" dirty="0"/>
          </a:p>
        </p:txBody>
      </p:sp>
      <p:sp>
        <p:nvSpPr>
          <p:cNvPr id="5" name="Text 3"/>
          <p:cNvSpPr txBox="1"/>
          <p:nvPr/>
        </p:nvSpPr>
        <p:spPr>
          <a:xfrm>
            <a:off x="731520"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max'e 0 eklenmezse algoritma global hizalamaya döner; negatif değerler görülüyorsa kod yanlıştır.</a:t>
            </a:r>
            <a:endParaRPr lang="en-US" sz="1500" dirty="0"/>
          </a:p>
        </p:txBody>
      </p:sp>
      <p:sp>
        <p:nvSpPr>
          <p:cNvPr id="6" name="Shape 4"/>
          <p:cNvSpPr/>
          <p:nvPr/>
        </p:nvSpPr>
        <p:spPr>
          <a:xfrm>
            <a:off x="4338218" y="1234440"/>
            <a:ext cx="3515258" cy="2377440"/>
          </a:xfrm>
          <a:prstGeom prst="roundRect">
            <a:avLst>
              <a:gd name="adj" fmla="val 3077"/>
            </a:avLst>
          </a:prstGeom>
          <a:solidFill>
            <a:srgbClr val="F7F9FA"/>
          </a:solidFill>
          <a:ln w="12700">
            <a:solidFill>
              <a:srgbClr val="B0BEC5"/>
            </a:solidFill>
            <a:prstDash val="solid"/>
          </a:ln>
        </p:spPr>
      </p:sp>
      <p:sp>
        <p:nvSpPr>
          <p:cNvPr id="7" name="Text 5"/>
          <p:cNvSpPr txBox="1"/>
          <p:nvPr/>
        </p:nvSpPr>
        <p:spPr>
          <a:xfrm>
            <a:off x="4521098"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Sağ alttan başlamak</a:t>
            </a:r>
            <a:endParaRPr lang="en-US" sz="1700" dirty="0"/>
          </a:p>
        </p:txBody>
      </p:sp>
      <p:sp>
        <p:nvSpPr>
          <p:cNvPr id="8" name="Text 6"/>
          <p:cNvSpPr txBox="1"/>
          <p:nvPr/>
        </p:nvSpPr>
        <p:spPr>
          <a:xfrm>
            <a:off x="4521098"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SW geri izlemesi matrisin </a:t>
            </a:r>
            <a:r>
              <a:rPr lang="en-US" sz="1500" b="1" dirty="0">
                <a:solidFill>
                  <a:srgbClr val="212121"/>
                </a:solidFill>
                <a:latin typeface="Calibri" pitchFamily="34" charset="0"/>
                <a:ea typeface="Calibri" pitchFamily="34" charset="-122"/>
                <a:cs typeface="Calibri" pitchFamily="34" charset="-120"/>
              </a:rPr>
              <a:t>maksimumundan</a:t>
            </a:r>
            <a:r>
              <a:rPr lang="en-US" sz="1500" dirty="0">
                <a:solidFill>
                  <a:srgbClr val="212121"/>
                </a:solidFill>
                <a:latin typeface="Calibri" pitchFamily="34" charset="0"/>
                <a:ea typeface="Calibri" pitchFamily="34" charset="-122"/>
                <a:cs typeface="Calibri" pitchFamily="34" charset="-120"/>
              </a:rPr>
              <a:t> başlar; (m, n) hücresi çoğu zaman yolda değildir.</a:t>
            </a:r>
            <a:endParaRPr lang="en-US" sz="1500" dirty="0"/>
          </a:p>
        </p:txBody>
      </p:sp>
      <p:sp>
        <p:nvSpPr>
          <p:cNvPr id="9" name="Shape 7"/>
          <p:cNvSpPr/>
          <p:nvPr/>
        </p:nvSpPr>
        <p:spPr>
          <a:xfrm>
            <a:off x="8127797" y="1234440"/>
            <a:ext cx="3515258" cy="2377440"/>
          </a:xfrm>
          <a:prstGeom prst="roundRect">
            <a:avLst>
              <a:gd name="adj" fmla="val 3077"/>
            </a:avLst>
          </a:prstGeom>
          <a:solidFill>
            <a:srgbClr val="FDECEA"/>
          </a:solidFill>
          <a:ln w="12700">
            <a:solidFill>
              <a:srgbClr val="B0BEC5"/>
            </a:solidFill>
            <a:prstDash val="solid"/>
          </a:ln>
        </p:spPr>
      </p:sp>
      <p:sp>
        <p:nvSpPr>
          <p:cNvPr id="10" name="Text 8"/>
          <p:cNvSpPr txBox="1"/>
          <p:nvPr/>
        </p:nvSpPr>
        <p:spPr>
          <a:xfrm>
            <a:off x="8310677" y="1344168"/>
            <a:ext cx="3149498" cy="457200"/>
          </a:xfrm>
          <a:prstGeom prst="rect">
            <a:avLst/>
          </a:prstGeom>
          <a:noFill/>
          <a:ln/>
        </p:spPr>
        <p:txBody>
          <a:bodyPr wrap="square" lIns="0" tIns="0" rIns="0" bIns="0" rtlCol="0" anchor="t"/>
          <a:lstStyle/>
          <a:p>
            <a:pPr indent="0" marL="0">
              <a:buNone/>
            </a:pPr>
            <a:r>
              <a:rPr lang="en-US" sz="1700" b="1" dirty="0">
                <a:solidFill>
                  <a:srgbClr val="B71C1C"/>
                </a:solidFill>
              </a:rPr>
              <a:t>PAM/BLOSUM yönü</a:t>
            </a:r>
            <a:endParaRPr lang="en-US" sz="1700" dirty="0"/>
          </a:p>
        </p:txBody>
      </p:sp>
      <p:sp>
        <p:nvSpPr>
          <p:cNvPr id="11" name="Text 9"/>
          <p:cNvSpPr txBox="1"/>
          <p:nvPr/>
        </p:nvSpPr>
        <p:spPr>
          <a:xfrm>
            <a:off x="8310677"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PAM250 uzak, BLOSUM45 uzak akrabalar içindir; sayılar </a:t>
            </a:r>
            <a:r>
              <a:rPr lang="en-US" sz="1500" b="1" dirty="0">
                <a:solidFill>
                  <a:srgbClr val="212121"/>
                </a:solidFill>
                <a:latin typeface="Calibri" pitchFamily="34" charset="0"/>
                <a:ea typeface="Calibri" pitchFamily="34" charset="-122"/>
                <a:cs typeface="Calibri" pitchFamily="34" charset="-120"/>
              </a:rPr>
              <a:t>ters</a:t>
            </a:r>
            <a:r>
              <a:rPr lang="en-US" sz="1500" dirty="0">
                <a:solidFill>
                  <a:srgbClr val="212121"/>
                </a:solidFill>
                <a:latin typeface="Calibri" pitchFamily="34" charset="0"/>
                <a:ea typeface="Calibri" pitchFamily="34" charset="-122"/>
                <a:cs typeface="Calibri" pitchFamily="34" charset="-120"/>
              </a:rPr>
              <a:t> yönde.</a:t>
            </a:r>
            <a:endParaRPr lang="en-US" sz="1500" dirty="0"/>
          </a:p>
        </p:txBody>
      </p:sp>
      <p:sp>
        <p:nvSpPr>
          <p:cNvPr id="12" name="Shape 10"/>
          <p:cNvSpPr/>
          <p:nvPr/>
        </p:nvSpPr>
        <p:spPr>
          <a:xfrm>
            <a:off x="548640" y="3886200"/>
            <a:ext cx="3515258" cy="2377440"/>
          </a:xfrm>
          <a:prstGeom prst="roundRect">
            <a:avLst>
              <a:gd name="adj" fmla="val 3077"/>
            </a:avLst>
          </a:prstGeom>
          <a:solidFill>
            <a:srgbClr val="F7F9FA"/>
          </a:solidFill>
          <a:ln w="12700">
            <a:solidFill>
              <a:srgbClr val="B0BEC5"/>
            </a:solidFill>
            <a:prstDash val="solid"/>
          </a:ln>
        </p:spPr>
      </p:sp>
      <p:sp>
        <p:nvSpPr>
          <p:cNvPr id="13" name="Text 11"/>
          <p:cNvSpPr txBox="1"/>
          <p:nvPr/>
        </p:nvSpPr>
        <p:spPr>
          <a:xfrm>
            <a:off x="731520"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Ham skoru kıyaslamak</a:t>
            </a:r>
            <a:endParaRPr lang="en-US" sz="1700" dirty="0"/>
          </a:p>
        </p:txBody>
      </p:sp>
      <p:sp>
        <p:nvSpPr>
          <p:cNvPr id="14" name="Text 12"/>
          <p:cNvSpPr txBox="1"/>
          <p:nvPr/>
        </p:nvSpPr>
        <p:spPr>
          <a:xfrm>
            <a:off x="731520"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Farklı matris veya boşluk parametreleriyle alınan skorlar karşılaştırılamaz; bit skoru/E-değeri gerekir.</a:t>
            </a:r>
            <a:endParaRPr lang="en-US" sz="1500" dirty="0"/>
          </a:p>
        </p:txBody>
      </p:sp>
      <p:sp>
        <p:nvSpPr>
          <p:cNvPr id="15" name="Shape 13"/>
          <p:cNvSpPr/>
          <p:nvPr/>
        </p:nvSpPr>
        <p:spPr>
          <a:xfrm>
            <a:off x="4338218" y="3886200"/>
            <a:ext cx="3515258" cy="2377440"/>
          </a:xfrm>
          <a:prstGeom prst="roundRect">
            <a:avLst>
              <a:gd name="adj" fmla="val 3077"/>
            </a:avLst>
          </a:prstGeom>
          <a:solidFill>
            <a:srgbClr val="F7F9FA"/>
          </a:solidFill>
          <a:ln w="12700">
            <a:solidFill>
              <a:srgbClr val="B0BEC5"/>
            </a:solidFill>
            <a:prstDash val="solid"/>
          </a:ln>
        </p:spPr>
      </p:sp>
      <p:sp>
        <p:nvSpPr>
          <p:cNvPr id="16" name="Text 14"/>
          <p:cNvSpPr txBox="1"/>
          <p:nvPr/>
        </p:nvSpPr>
        <p:spPr>
          <a:xfrm>
            <a:off x="4521098"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Faktör 2'yi atlamak</a:t>
            </a:r>
            <a:endParaRPr lang="en-US" sz="1700" dirty="0"/>
          </a:p>
        </p:txBody>
      </p:sp>
      <p:sp>
        <p:nvSpPr>
          <p:cNvPr id="17" name="Text 15"/>
          <p:cNvSpPr txBox="1"/>
          <p:nvPr/>
        </p:nvSpPr>
        <p:spPr>
          <a:xfrm>
            <a:off x="4521098"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a ≠ b çiftinin beklenen frekansı 2·p(a)·p(b); atlanırsa köşegen dışı skorlar 1 bit (BLOSUM ölçeğinde 2 birim) yukarı kayar.</a:t>
            </a:r>
            <a:endParaRPr lang="en-US" sz="1500" dirty="0"/>
          </a:p>
        </p:txBody>
      </p:sp>
      <p:sp>
        <p:nvSpPr>
          <p:cNvPr id="18" name="Shape 16"/>
          <p:cNvSpPr/>
          <p:nvPr/>
        </p:nvSpPr>
        <p:spPr>
          <a:xfrm>
            <a:off x="8127797" y="3886200"/>
            <a:ext cx="3515258" cy="2377440"/>
          </a:xfrm>
          <a:prstGeom prst="roundRect">
            <a:avLst>
              <a:gd name="adj" fmla="val 3077"/>
            </a:avLst>
          </a:prstGeom>
          <a:solidFill>
            <a:srgbClr val="F7F9FA"/>
          </a:solidFill>
          <a:ln w="12700">
            <a:solidFill>
              <a:srgbClr val="B0BEC5"/>
            </a:solidFill>
            <a:prstDash val="solid"/>
          </a:ln>
        </p:spPr>
      </p:sp>
      <p:sp>
        <p:nvSpPr>
          <p:cNvPr id="19" name="Text 17"/>
          <p:cNvSpPr txBox="1"/>
          <p:nvPr/>
        </p:nvSpPr>
        <p:spPr>
          <a:xfrm>
            <a:off x="8310677"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z-skorunu normal sanmak</a:t>
            </a:r>
            <a:endParaRPr lang="en-US" sz="1700" dirty="0"/>
          </a:p>
        </p:txBody>
      </p:sp>
      <p:sp>
        <p:nvSpPr>
          <p:cNvPr id="20" name="Text 18"/>
          <p:cNvSpPr txBox="1"/>
          <p:nvPr/>
        </p:nvSpPr>
        <p:spPr>
          <a:xfrm>
            <a:off x="8310677"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Yerel skor dağılımı sağa çarpık (Gumbel); normal yaklaşım p-değerini olduğundan küçük verir.</a:t>
            </a:r>
            <a:endParaRPr lang="en-US" sz="15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Elle SW — 6 × 5 matris</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 = </a:t>
            </a:r>
            <a:r>
              <a:rPr lang="en-US" sz="1800" dirty="0">
                <a:solidFill>
                  <a:srgbClr val="455A64"/>
                </a:solidFill>
                <a:latin typeface="Courier New" pitchFamily="34" charset="0"/>
                <a:ea typeface="Courier New" pitchFamily="34" charset="-122"/>
                <a:cs typeface="Courier New" pitchFamily="34" charset="-120"/>
              </a:rPr>
              <a:t>CTAGG</a:t>
            </a:r>
            <a:r>
              <a:rPr lang="en-US" sz="1800" dirty="0">
                <a:solidFill>
                  <a:srgbClr val="212121"/>
                </a:solidFill>
                <a:latin typeface="Calibri" pitchFamily="34" charset="0"/>
                <a:ea typeface="Calibri" pitchFamily="34" charset="-122"/>
                <a:cs typeface="Calibri" pitchFamily="34" charset="-120"/>
              </a:rPr>
              <a:t>, y = </a:t>
            </a:r>
            <a:r>
              <a:rPr lang="en-US" sz="1800" dirty="0">
                <a:solidFill>
                  <a:srgbClr val="455A64"/>
                </a:solidFill>
                <a:latin typeface="Courier New" pitchFamily="34" charset="0"/>
                <a:ea typeface="Courier New" pitchFamily="34" charset="-122"/>
                <a:cs typeface="Courier New" pitchFamily="34" charset="-120"/>
              </a:rPr>
              <a:t>TTAG</a:t>
            </a:r>
            <a:r>
              <a:rPr lang="en-US" sz="1800" dirty="0">
                <a:solidFill>
                  <a:srgbClr val="212121"/>
                </a:solidFill>
                <a:latin typeface="Calibri" pitchFamily="34" charset="0"/>
                <a:ea typeface="Calibri" pitchFamily="34" charset="-122"/>
                <a:cs typeface="Calibri" pitchFamily="34" charset="-120"/>
              </a:rPr>
              <a:t>; eşleşme +2, uyumsuzluk −1, boşluk −2. (a) SW matrisini doldurun. (b) Yerel skor ve hizalama? (c) Global skorla karşılaştırın.</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C satırı: y'de C yok, uyumsuzluk −1 &lt; 0 → tüm hücreler </a:t>
            </a:r>
            <a:r>
              <a:rPr lang="en-US" sz="1650" b="1" dirty="0">
                <a:solidFill>
                  <a:srgbClr val="212121"/>
                </a:solidFill>
                <a:latin typeface="Calibri" pitchFamily="34" charset="0"/>
                <a:ea typeface="Calibri" pitchFamily="34" charset="-122"/>
                <a:cs typeface="Calibri" pitchFamily="34" charset="-120"/>
              </a:rPr>
              <a:t>0</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T satırı: T/T → 0 + 2 = </a:t>
            </a:r>
            <a:r>
              <a:rPr lang="en-US" sz="1650" b="1" dirty="0">
                <a:solidFill>
                  <a:srgbClr val="212121"/>
                </a:solidFill>
                <a:latin typeface="Calibri" pitchFamily="34" charset="0"/>
                <a:ea typeface="Calibri" pitchFamily="34" charset="-122"/>
                <a:cs typeface="Calibri" pitchFamily="34" charset="-120"/>
              </a:rPr>
              <a:t>2</a:t>
            </a:r>
            <a:r>
              <a:rPr lang="en-US" sz="1650" dirty="0">
                <a:solidFill>
                  <a:srgbClr val="212121"/>
                </a:solidFill>
                <a:latin typeface="Calibri" pitchFamily="34" charset="0"/>
                <a:ea typeface="Calibri" pitchFamily="34" charset="-122"/>
                <a:cs typeface="Calibri" pitchFamily="34" charset="-120"/>
              </a:rPr>
              <a:t>, </a:t>
            </a:r>
            <a:r>
              <a:rPr lang="en-US" sz="1650" b="1" dirty="0">
                <a:solidFill>
                  <a:srgbClr val="212121"/>
                </a:solidFill>
                <a:latin typeface="Calibri" pitchFamily="34" charset="0"/>
                <a:ea typeface="Calibri" pitchFamily="34" charset="-122"/>
                <a:cs typeface="Calibri" pitchFamily="34" charset="-120"/>
              </a:rPr>
              <a:t>2</a:t>
            </a:r>
            <a:r>
              <a:rPr lang="en-US" sz="1650" dirty="0">
                <a:solidFill>
                  <a:srgbClr val="212121"/>
                </a:solidFill>
                <a:latin typeface="Calibri" pitchFamily="34" charset="0"/>
                <a:ea typeface="Calibri" pitchFamily="34" charset="-122"/>
                <a:cs typeface="Calibri" pitchFamily="34" charset="-120"/>
              </a:rPr>
              <a:t>; A: 0; G: 0</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A satırı: H(3,3) [A/A] = 2 + 2 = </a:t>
            </a:r>
            <a:r>
              <a:rPr lang="en-US" sz="1650" b="1" dirty="0">
                <a:solidFill>
                  <a:srgbClr val="212121"/>
                </a:solidFill>
                <a:latin typeface="Calibri" pitchFamily="34" charset="0"/>
                <a:ea typeface="Calibri" pitchFamily="34" charset="-122"/>
                <a:cs typeface="Calibri" pitchFamily="34" charset="-120"/>
              </a:rPr>
              <a:t>4</a:t>
            </a:r>
            <a:r>
              <a:rPr lang="en-US" sz="1650" dirty="0">
                <a:solidFill>
                  <a:srgbClr val="212121"/>
                </a:solidFill>
                <a:latin typeface="Calibri" pitchFamily="34" charset="0"/>
                <a:ea typeface="Calibri" pitchFamily="34" charset="-122"/>
                <a:cs typeface="Calibri" pitchFamily="34" charset="-120"/>
              </a:rPr>
              <a:t>; H(3,4) = 4 − 2 = 2;  G satırı: H(4,4) [G/G] = 4 + 2 = </a:t>
            </a:r>
            <a:r>
              <a:rPr lang="en-US" sz="1650" b="1" dirty="0">
                <a:solidFill>
                  <a:srgbClr val="212121"/>
                </a:solidFill>
                <a:latin typeface="Calibri" pitchFamily="34" charset="0"/>
                <a:ea typeface="Calibri" pitchFamily="34" charset="-122"/>
                <a:cs typeface="Calibri" pitchFamily="34" charset="-120"/>
              </a:rPr>
              <a:t>6</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Son G satırı: H(5,4) = 6 − 2 = 4 (yukarı); maks = </a:t>
            </a:r>
            <a:r>
              <a:rPr lang="en-US" sz="1650" b="1" dirty="0">
                <a:solidFill>
                  <a:srgbClr val="212121"/>
                </a:solidFill>
                <a:latin typeface="Calibri" pitchFamily="34" charset="0"/>
                <a:ea typeface="Calibri" pitchFamily="34" charset="-122"/>
                <a:cs typeface="Calibri" pitchFamily="34" charset="-120"/>
              </a:rPr>
              <a:t>6</a:t>
            </a:r>
            <a:r>
              <a:rPr lang="en-US" sz="1650" dirty="0">
                <a:solidFill>
                  <a:srgbClr val="212121"/>
                </a:solidFill>
                <a:latin typeface="Calibri" pitchFamily="34" charset="0"/>
                <a:ea typeface="Calibri" pitchFamily="34" charset="-122"/>
                <a:cs typeface="Calibri" pitchFamily="34" charset="-120"/>
              </a:rPr>
              <a:t> @ (4,4)</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Geri izleme: (4,4) ↖ (3,3) ↖ (2,2) ↖ (1,1) = 0 → </a:t>
            </a:r>
            <a:r>
              <a:rPr lang="en-US" sz="1650" dirty="0">
                <a:solidFill>
                  <a:srgbClr val="455A64"/>
                </a:solidFill>
                <a:latin typeface="Courier New" pitchFamily="34" charset="0"/>
                <a:ea typeface="Courier New" pitchFamily="34" charset="-122"/>
                <a:cs typeface="Courier New" pitchFamily="34" charset="-120"/>
              </a:rPr>
              <a:t>TAG</a:t>
            </a:r>
            <a:r>
              <a:rPr lang="en-US" sz="1650" dirty="0">
                <a:solidFill>
                  <a:srgbClr val="212121"/>
                </a:solidFill>
                <a:latin typeface="Calibri" pitchFamily="34" charset="0"/>
                <a:ea typeface="Calibri" pitchFamily="34" charset="-122"/>
                <a:cs typeface="Calibri" pitchFamily="34" charset="-120"/>
              </a:rPr>
              <a:t> / </a:t>
            </a:r>
            <a:r>
              <a:rPr lang="en-US" sz="1650" dirty="0">
                <a:solidFill>
                  <a:srgbClr val="455A64"/>
                </a:solidFill>
                <a:latin typeface="Courier New" pitchFamily="34" charset="0"/>
                <a:ea typeface="Courier New" pitchFamily="34" charset="-122"/>
                <a:cs typeface="Courier New" pitchFamily="34" charset="-120"/>
              </a:rPr>
              <a:t>TAG</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(c) Global (+2/−1/−2): </a:t>
            </a:r>
            <a:r>
              <a:rPr lang="en-US" sz="1650" dirty="0">
                <a:solidFill>
                  <a:srgbClr val="455A64"/>
                </a:solidFill>
                <a:latin typeface="Courier New" pitchFamily="34" charset="0"/>
                <a:ea typeface="Courier New" pitchFamily="34" charset="-122"/>
                <a:cs typeface="Courier New" pitchFamily="34" charset="-120"/>
              </a:rPr>
              <a:t>CTAGG</a:t>
            </a:r>
            <a:r>
              <a:rPr lang="en-US" sz="1650" dirty="0">
                <a:solidFill>
                  <a:srgbClr val="212121"/>
                </a:solidFill>
                <a:latin typeface="Calibri" pitchFamily="34" charset="0"/>
                <a:ea typeface="Calibri" pitchFamily="34" charset="-122"/>
                <a:cs typeface="Calibri" pitchFamily="34" charset="-120"/>
              </a:rPr>
              <a:t>/</a:t>
            </a:r>
            <a:r>
              <a:rPr lang="en-US" sz="1650" dirty="0">
                <a:solidFill>
                  <a:srgbClr val="455A64"/>
                </a:solidFill>
                <a:latin typeface="Courier New" pitchFamily="34" charset="0"/>
                <a:ea typeface="Courier New" pitchFamily="34" charset="-122"/>
                <a:cs typeface="Courier New" pitchFamily="34" charset="-120"/>
              </a:rPr>
              <a:t>TTAG-</a:t>
            </a:r>
            <a:r>
              <a:rPr lang="en-US" sz="1650" dirty="0">
                <a:solidFill>
                  <a:srgbClr val="212121"/>
                </a:solidFill>
                <a:latin typeface="Calibri" pitchFamily="34" charset="0"/>
                <a:ea typeface="Calibri" pitchFamily="34" charset="-122"/>
                <a:cs typeface="Calibri" pitchFamily="34" charset="-120"/>
              </a:rPr>
              <a:t> → −1 + 6 − 2 = </a:t>
            </a:r>
            <a:r>
              <a:rPr lang="en-US" sz="1650" b="1" dirty="0">
                <a:solidFill>
                  <a:srgbClr val="212121"/>
                </a:solidFill>
                <a:latin typeface="Calibri" pitchFamily="34" charset="0"/>
                <a:ea typeface="Calibri" pitchFamily="34" charset="-122"/>
                <a:cs typeface="Calibri" pitchFamily="34" charset="-120"/>
              </a:rPr>
              <a:t>3</a:t>
            </a:r>
            <a:endParaRPr lang="en-US" sz="16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723269"/>
                <a:gridCol w="723269"/>
                <a:gridCol w="723269"/>
                <a:gridCol w="723269"/>
                <a:gridCol w="723269"/>
                <a:gridCol w="723269"/>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Yerel skor </a:t>
            </a:r>
            <a:r>
              <a:rPr lang="en-US" sz="1800" b="1" dirty="0">
                <a:solidFill>
                  <a:srgbClr val="212121"/>
                </a:solidFill>
                <a:latin typeface="Calibri" pitchFamily="34" charset="0"/>
                <a:ea typeface="Calibri" pitchFamily="34" charset="-122"/>
                <a:cs typeface="Calibri" pitchFamily="34" charset="-120"/>
              </a:rPr>
              <a:t>6</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TAG</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TAG</a:t>
            </a:r>
            <a:r>
              <a:rPr lang="en-US" sz="1800" dirty="0">
                <a:solidFill>
                  <a:srgbClr val="212121"/>
                </a:solidFill>
                <a:latin typeface="Calibri" pitchFamily="34" charset="0"/>
                <a:ea typeface="Calibri" pitchFamily="34" charset="-122"/>
                <a:cs typeface="Calibri" pitchFamily="34" charset="-120"/>
              </a:rPr>
              <a:t>), global skor </a:t>
            </a:r>
            <a:r>
              <a:rPr lang="en-US" sz="1800" b="1" dirty="0">
                <a:solidFill>
                  <a:srgbClr val="212121"/>
                </a:solidFill>
                <a:latin typeface="Calibri" pitchFamily="34" charset="0"/>
                <a:ea typeface="Calibri" pitchFamily="34" charset="-122"/>
                <a:cs typeface="Calibri" pitchFamily="34" charset="-120"/>
              </a:rPr>
              <a:t>3</a:t>
            </a:r>
            <a:r>
              <a:rPr lang="en-US" sz="1800" dirty="0">
                <a:solidFill>
                  <a:srgbClr val="212121"/>
                </a:solidFill>
                <a:latin typeface="Calibri" pitchFamily="34" charset="0"/>
                <a:ea typeface="Calibri" pitchFamily="34" charset="-122"/>
                <a:cs typeface="Calibri" pitchFamily="34" charset="-120"/>
              </a:rPr>
              <a:t>. Biopython ile doğrulandı.</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hafta07_ikili_hizalama_yerel_matrisler.ipynb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ACACACTA</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AGCACACA</a:t>
            </a:r>
            <a:r>
              <a:rPr lang="en-US" sz="1800" dirty="0">
                <a:solidFill>
                  <a:srgbClr val="212121"/>
                </a:solidFill>
                <a:latin typeface="Calibri" pitchFamily="34" charset="0"/>
                <a:ea typeface="Calibri" pitchFamily="34" charset="-122"/>
                <a:cs typeface="Calibri" pitchFamily="34" charset="-120"/>
              </a:rPr>
              <a:t> için SW'yi elle çözün (+2/−1/−1). (Cevap: skor </a:t>
            </a:r>
            <a:r>
              <a:rPr lang="en-US" sz="1800" b="1" dirty="0">
                <a:solidFill>
                  <a:srgbClr val="212121"/>
                </a:solidFill>
                <a:latin typeface="Calibri" pitchFamily="34" charset="0"/>
                <a:ea typeface="Calibri" pitchFamily="34" charset="-122"/>
                <a:cs typeface="Calibri" pitchFamily="34" charset="-120"/>
              </a:rPr>
              <a:t>12</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A-CACACTA</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AGCACAC-A</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o = −8, e = −2 afin cezayı k = 1, 2, 5, 10 için doğrusal g = −4 ile karşılaştırın (afin: −8, −10, −16, −26; doğrusal: −4, −8, −20, −40)</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protA1</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protB1</a:t>
            </a:r>
            <a:r>
              <a:rPr lang="en-US" sz="1800" dirty="0">
                <a:solidFill>
                  <a:srgbClr val="212121"/>
                </a:solidFill>
                <a:latin typeface="Calibri" pitchFamily="34" charset="0"/>
                <a:ea typeface="Calibri" pitchFamily="34" charset="-122"/>
                <a:cs typeface="Calibri" pitchFamily="34" charset="-120"/>
              </a:rPr>
              <a:t>'i BLOSUM45/62/80 ile hizalayıp skor, uzunluk ve özdeşliği tablolaştırın (531/430/690; hepsinde 160 sütun, 93 özdeş). Skorlar neden doğrudan karşılaştırılamaz?</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Nokta grafiğinde (w, s) = (3, 3), (5, 4), (10, 7) değerlerini deneyin; gürültü–duyarlılık dengesini yorumlayın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Ters tekrar içeren bir DNA dizisi tasarlayın; diziyi kendisiyle ve ters tamamlayıcısıyla nokta grafiğinde karşılaştırın</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Ek:</a:t>
            </a:r>
            <a:r>
              <a:rPr lang="en-US" sz="1800" dirty="0">
                <a:solidFill>
                  <a:srgbClr val="212121"/>
                </a:solidFill>
                <a:latin typeface="Calibri" pitchFamily="34" charset="0"/>
                <a:ea typeface="Calibri" pitchFamily="34" charset="-122"/>
                <a:cs typeface="Calibri" pitchFamily="34" charset="-120"/>
              </a:rPr>
              <a:t> 2000 rastgele çift simülasyonunu tekrarlayın, </a:t>
            </a:r>
            <a:r>
              <a:rPr lang="en-US" sz="1800" dirty="0">
                <a:solidFill>
                  <a:srgbClr val="455A64"/>
                </a:solidFill>
                <a:latin typeface="Courier New" pitchFamily="34" charset="0"/>
                <a:ea typeface="Courier New" pitchFamily="34" charset="-122"/>
                <a:cs typeface="Courier New" pitchFamily="34" charset="-120"/>
              </a:rPr>
              <a:t>scipy.stats.gumbel_r.fit</a:t>
            </a:r>
            <a:r>
              <a:rPr lang="en-US" sz="1800" dirty="0">
                <a:solidFill>
                  <a:srgbClr val="212121"/>
                </a:solidFill>
                <a:latin typeface="Calibri" pitchFamily="34" charset="0"/>
                <a:ea typeface="Calibri" pitchFamily="34" charset="-122"/>
                <a:cs typeface="Calibri" pitchFamily="34" charset="-120"/>
              </a:rPr>
              <a:t> ile μ ve β'yı bulun</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7: Yerel hizalama ve matrisler</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SW = NW + {0 seçeneği, maksimumdan başla, 0'da dur}; alt bölge benzerliği için </a:t>
            </a:r>
            <a:r>
              <a:rPr lang="en-US" sz="2000" b="1" dirty="0">
                <a:solidFill>
                  <a:srgbClr val="ECEFF1"/>
                </a:solidFill>
                <a:latin typeface="Calibri" pitchFamily="34" charset="0"/>
                <a:ea typeface="Calibri" pitchFamily="34" charset="-122"/>
                <a:cs typeface="Calibri" pitchFamily="34" charset="-120"/>
              </a:rPr>
              <a:t>yerel</a:t>
            </a:r>
            <a:r>
              <a:rPr lang="en-US" sz="2000" dirty="0">
                <a:solidFill>
                  <a:srgbClr val="ECEFF1"/>
                </a:solidFill>
                <a:latin typeface="Calibri" pitchFamily="34" charset="0"/>
                <a:ea typeface="Calibri" pitchFamily="34" charset="-122"/>
                <a:cs typeface="Calibri" pitchFamily="34" charset="-120"/>
              </a:rPr>
              <a:t> hizalama</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Afin boşluk w(k) = o + (k−1)e: uzun tek indeli tercih eder; Gotoh üç matrisle O(mn)</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Skor matrisleri </a:t>
            </a:r>
            <a:r>
              <a:rPr lang="en-US" sz="2000" b="1" dirty="0">
                <a:solidFill>
                  <a:srgbClr val="ECEFF1"/>
                </a:solidFill>
                <a:latin typeface="Calibri" pitchFamily="34" charset="0"/>
                <a:ea typeface="Calibri" pitchFamily="34" charset="-122"/>
                <a:cs typeface="Calibri" pitchFamily="34" charset="-120"/>
              </a:rPr>
              <a:t>log-odds</a:t>
            </a:r>
            <a:r>
              <a:rPr lang="en-US" sz="2000" dirty="0">
                <a:solidFill>
                  <a:srgbClr val="ECEFF1"/>
                </a:solidFill>
                <a:latin typeface="Calibri" pitchFamily="34" charset="0"/>
                <a:ea typeface="Calibri" pitchFamily="34" charset="-122"/>
                <a:cs typeface="Calibri" pitchFamily="34" charset="-120"/>
              </a:rPr>
              <a:t>: s = 2·log₂(q/pp); BLOSUM62 varsayılan; PAM ve BLOSUM sayıları ters yönde</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Nokta grafiği tüm benzer bölgeleri gösterir; pencere/eşik gürültüyü filtreler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Anlamlılık: karıştırma testi, z-skoru; yerel skorlar </a:t>
            </a:r>
            <a:r>
              <a:rPr lang="en-US" sz="2000" b="1" dirty="0">
                <a:solidFill>
                  <a:srgbClr val="ECEFF1"/>
                </a:solidFill>
                <a:latin typeface="Calibri" pitchFamily="34" charset="0"/>
                <a:ea typeface="Calibri" pitchFamily="34" charset="-122"/>
                <a:cs typeface="Calibri" pitchFamily="34" charset="-120"/>
              </a:rPr>
              <a:t>Gumbel</a:t>
            </a:r>
            <a:r>
              <a:rPr lang="en-US" sz="2000" dirty="0">
                <a:solidFill>
                  <a:srgbClr val="ECEFF1"/>
                </a:solidFill>
                <a:latin typeface="Calibri" pitchFamily="34" charset="0"/>
                <a:ea typeface="Calibri" pitchFamily="34" charset="-122"/>
                <a:cs typeface="Calibri" pitchFamily="34" charset="-120"/>
              </a:rPr>
              <a:t> → E = K·m·n·e^(−λS)</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Biyolojik veritabanları ve BLAST — tohum, uzatma, E-değeri; SW'nin sezgisel hızlandırması</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7: İkili Dizi Hizalama II: Smith–Waterman, Afin Boşluk ve Yer Değiştirme Matrisleri</dc:title>
  <dc:subject>PptxGenJS Presentation</dc:subject>
  <dc:creator>Biyoenformatiğe Giriş</dc:creator>
  <cp:lastModifiedBy>Biyoenformatiğe Giriş</cp:lastModifiedBy>
  <cp:revision>1</cp:revision>
  <dcterms:created xsi:type="dcterms:W3CDTF">2026-09-23T18:55:39Z</dcterms:created>
  <dcterms:modified xsi:type="dcterms:W3CDTF">2026-09-23T18:55:39Z</dcterms:modified>
</cp:coreProperties>
</file>