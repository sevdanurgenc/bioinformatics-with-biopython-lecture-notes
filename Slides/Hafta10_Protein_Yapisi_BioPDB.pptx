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Şimdiye kadar proteinleri harf dizisi olarak ele aldık. Bu hafta her atomun (x, y, z) koordinatını içeren 3B yapılarla çalışacağız.
Bilgisayar mühendisliği bağlantıları: sabit sütunlu dosya ayrıştırma, ağaç veri yapısı (SMCRA), vektör cebiri, uzamsal indeks (NeighborSearch), SVD ile optimizasyon (Kabsch).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lineer cebir yoğun: nokta çarpım, çapraz çarpım, SVD. Öğrencilerin çoğu bunları matematik derslerinden biliyor; burada fiziksel bir anlam kazanıyorlar. Laboratuvarda py3Dmol ile yapıyı döndürmek öğrencilerin ilgisini çok çeker; üçüncü saatin başında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bir kavramsal giriş: yapı düzeyleri ve yapıların nasıl belirlendiği. Ardından dönem boyunca kullanacağımız 1A8O yapısını tanıtıyoruz.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düzeyi bu dersin bir haftasına bağlayın: birincil yapı 2–9. haftalar (dizi), ikincil ve üçüncül yapı bu hafta. Yapının diziden daha korunmuş olması geçen haftaki 'alacakaranlık bölgesi' tartışmasıyla bağlantılı: dizi benzerliği kaybolsa da yapısal benzerlik sürebilir. AlphaFold'un başarısı, dizi → yapı eşlemesinin öğrenilebilir olduğunu gösterdi (15.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Çözünürlüğün ters mantığını vurgulayın: sayı küçüldükçe yapı daha iyi. NMR dosyalarında Biopython'da yapi[0], yapi[1]… farklı modellerdir; öğrenciler genellikle yalnızca model 0'ı kullanır. AlphaFold dosyalarında B-faktörü sütununun anlamı değişir: 0–100 arası güven skoru. Bu, aynı format alanının farklı kaynaklarda farklı anlam taşımasına güzel bir örnek.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1A8O küçük, temiz ve öğretici bir yapı: tek zincir, yalnızca heliksler, bir disülfit bağı ve hetero kalıntılar içeriyor. Selenometiyoninin neden kullanıldığını kısaca açıklayın: selenyum ağır bir atom olduğu için X-ışını kırınımında faz bilgisini elde etmeyi kolaylaştırır (MAD yöntemi). Veri Colab'da RCSB'den otomatik indiriliyor (83 024 bayt).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Dosya formatından nesne modeline geçiyoruz: önce PDB satırını elle ayrıştırıp sonra Biopython'un SMCRA ağacında geziniyoruz.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Sabit sütunlu formatın tarihsel nedeni delikli kartlar (80 sütun). Boşluğa göre split() yapmak tehlikelidir: koordinatlar büyüdüğünde (−100.123 gibi) sütunlar birleşebilir ve split yanlış sonuç verir. 1 tabanlı sütun numarasını Python'un 0 tabanlı dilimine çevirmek (başlangıç − 1, bitiş aynı) öğrencilerin sık hata yaptığı 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adım isteğe bağlı bir ek: B-faktörünün fiziksel anlamı. B = 8π²⟨u²⟩ formülüyle, 20.88 Å² yaklaşık 0.5 Å'luk bir titreşim genliğine karşılık gelir. Yüksek B değerleri esnek bölgeleri (döngüler, uçlar) gösterir; bunu bölüm 4'teki B-faktörü grafiğinde göreceğiz. Hesap: 8π² = 78.96; 20.88/78.96 = 0.264; √0.264 = 0.514.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SMCRA bir ağaç veri yapısı: her düğüm çocuklarını bir sözlükte tutar ve ebeveynine referans verir. İnsersiyon kodu, homolog bir proteinle aynı numaralandırmayı korumak için eklenen kalıntılarda kullanılır (ör. 52A, 52B); antikor yapılarında çok yaygındır. Öğrencilere zincir[151] denemesinin KeyError verdiğini, çünkü 151'in MSE olduğunu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sık öğrenci hatası: len(zincir)'i protein uzunluğu sanmak. 158 sayısı suları da içeriyor. Kalıntı 152'nin atomlarını okuyun: omurga (N, CA, C, O) ve yan zincir (CB, CG, OD1, OD2). Aspartatın karboksil grubundaki iki oksijen OD1 ve OD2.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gerçek veriyle çalışmanın tipik bir tuzağını gösteriyor. PPBuilder bir sonraki kalıntının standart amino asit olmasını bekler; MSE'yi görünce peptidi keser. Ayrıca yapıdaki dizi, UniProt dizisinden farklı olabilir: eksik döngüler, etiketler, mutasyonlar. Sayılar: 152–184 arası 33, 186–213 arası 28, 216–220 arası 5 kalıntı. is_aa(..., standard=False) hetero amino asitleri de kabul eder, custom_map ise MSE'yi M'ye çevirir; sonuçta 70 amino asitlik tam dizi elde edilir.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Lineer cebir bölümü: uzaklık, açı ve dihedral açısını önce elle, sonra kodla hesaplıyoruz. Nokta ve çapraz çarpımı tahtada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Dihedral tanımını elinizle gösterin: iki parmağınızı bir kalemin iki ucuna tutup kalemi döndürün. Peptit bağının kısmi çift bağ karakteri nedeniyle ω dönmesi kısıtlıdır; omurganın serbestliği yalnızca φ ve ψ açılarındadır. Bu yüzden bir proteinin omurga konformasyonu kalıntı başına iki sayıyla özetlenebilir.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doğrudan ders notundan; (b) yeni bir örnek, koordinatlar 1A8O dosyasından alındı ve Python ile doğrulandı. Öğrencilere sorun: dizide ardışık iki kalıntının Cα–Cα uzaklığı neden hep ≈ 3.8 Å? (Peptit bağının düzlemsel ve trans olması.) Notebook'ta 160–161 çifti için 3.82 Å ölçülüyor.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hesap üç satırlık NumPy koduyla yapılabilir; tahtada elle yapmak vektörlerin yönünü (tepe noktasından dışarı) doğru kurmayı öğretir. En sık hata: u = N − Cα yerine Cα − N almak; bu, açıyı 180° − θ yapar. Bağ uzunluklarının 1.45–1.53 Å olması yapının kimyasal olarak makul olduğunu doğrular.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Sağdaki şekil iki görünüm: solda yandan, sağda dönme ekseni boyunca bakış (Newman izdüşümü). Eksene bakınca p0 ve p3'ün izdüşümleri arasındaki açı doğrudan dihedral açısı. atan2'nin arccos'a üstünlüğü: işaret bilgisi korunur; arccos her iki durumda 60° verirdi. Bu örnek notebook'taki dihedral fonksiyonunun adım adım izi; sayılar Python ve Biopython calc_dihedral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önceki oyuncak örnekteki dört adımı şimdi gerçek bir kalıntıya uyguluyoruz; tablo her ara değeri veriyor, öğrenciler hesap makinesiyle en az x ve y'yi doğrulayabilir. Tüm ara değerler NumPy ile 1A8O dosyasından hesaplandı ve Biopython calc_dihedral ile aynı sonucu veriyor.
Vurgulanacak nokta: φ için bir önceki kalıntının C atomu, ψ için bir sonraki kalıntının N atomu gerekir; dönme ekseni φ'de N–Cα, ψ'de Cα–C bağıdır. Öğrencilere sorun: y negatif çıkmasaydı açının işareti ne olurdu ve Ramachandran grafiğinde nereye düşerdi?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Kendi fonksiyonumuzun sonucu Biopython ile aynı; bu, önceki iki slayttaki elle hesabın kod karşılığı. calc_* fonksiyonlarının radyan döndürdüğünü, çıktıyı np.degrees ile çevirmeyi unutmanın en sık hata olduğunu vurgulayın. Notebook Ramachandran için PPBuilder'ın get_phi_psi_list'i yerine ardışık kalıntılardan kendimiz hesaplıyor, çünkü PPBuilder MSE'lerde zinciri bölüyor ve o noktalarda açılar kayboluyor.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Heliks parametrelerini tahtada çizin: 3.6 kalıntıda bir tam dönüş, her kalıntı eksen boyunca 1.5 Å ilerler, yani bir dönüş 5.4 Å. Alıştırma 3'te bu 1.5 Å/kalıntı değeriyle heliks boylarını tahmin edip gerçek Cα uzaklıklarıyla karşılaştıracaklar. i, i+3 ve i, i+4 uzaklıkları Python ile 1A8O'nun ilk heliksinden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Ramachandran grafiği (1963) protein yapısının belki de en ünlü görselleştirmesi. İzin verilen bölgeler yan zincirle omurga atomları arasındaki çarpışmalardan türetilir. Yapı doğrulama araçları (MolProbity) her kalıntıyı bu dağılıma göre puanlar. AlphaFold modellerini değerlendirirken de kullanılır.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tek ölçümlerden tüm yapıyı özetleyen büyüklüklere geçiyoruz: uzaklık matrisi, temas haritası, disülfit bağları, dönme yarıçapı ve B-faktörleri.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gözlem çok güzel bir yapısal sezgi: heliksin bir yüzü 3–4 kalıntıda bir tekrarlanır, bu yüzden i ve i+3/i+4 kalıntıları aynı tarafa bakar. Hidrofobik yüzler (VAL165, PHE168, LEU190) heliksler arasında paketlenerek hidrofobik çekirdeği oluşturur. Tüm uzaklıklar Python ile yapı dosyasından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Sağdaki haritada bir önceki slayttaki 165–190 temasını bulmalarını isteyin (satır 165, sütun 190 civarı). Temas haritası dönmeden ve ötelemeden bağımsızdır; bu yüzden makine öğrenmesi modelleri için koordinatlardan daha kullanışlı bir temsil. Harita simetriktir; yalnızca üst üçgen bilgi taşır.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Yayın işlemini tahtada boyutlarla gösterin: bu NumPy'nin en güçlü ama en kafa karıştırıcı özelliği. N atom için tüm çiftler O(N²); NeighborSearch k-d ağacıyla sorgu başına yaklaşık O(log N). Disülfit bağları hücre dışı proteinlerde kararlılığı artırır; 1A8O'daki CYS198–CYS218 bağı iki heliksi birbirine bağlar.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Rg'nin fiziksel anlamı: kütlenin merkez etrafındaki yayılımı; eylemsizlik momentiyle ilişkili. Deneysel olarak küçük açılı X-ışını saçılımı (SAXS) ile ölçülür. 0.38 üssü, küresel proteinlerde hacmin N ile doğrusal, Rg'nin yaklaşık N^(1/3) ile ölçeklenmesinden gelir. Açılmış zincirlerde üs ≈ 0.6'dır.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Grafikte zincirin uçlarındaki ve heliksler arası döngülerdeki yüksek B değerlerini gösterin: bu bölgeler kristal içinde daha serbest hareket eder. Değerler kalıntının tüm atomlarının ortalamasıdır; bu yüzden heliks içindeki yüzey kalıntıları (ör. 197, 204) da yüksek görünebilir. B-faktörü, ilaç tasarımında bağlanma bölgesinin esnekliğini değerlendirmek için de kullanılır. Bölüm 2'deki ASP152 örneğinde B = 20.88 Å² 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bölüm iki yapıyı karşılaştırmak: RMSD tanımı, çakıştırmanın neden gerekli olduğu ve Kabsch algoritması. SVD'yi kara kutu olarak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Kabsch algoritmasını bir optimizasyon problemi olarak sunun: min_R Σ ‖aᵢ − R bᵢ‖², R ortogonal, det R = 1. Çözüm SVD ile tek adımda. Aynı problem bilgisayarlı görüde (nokta bulutu kaydı, Procrustes analizi) ve robotikte de karşınıza çıkar. d düzeltmesi olmazsa algoritma ayna görüntüsünü döndürebilir; proteinler kiral olduğu için bu kabul edilemez.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ders notundaki örnek; (b) ve Kabsch sonucu yeni, Python ve Biopython Superimposer ile doğrulandı. Sınavda (a) ve (b) elle sorulabilir; Kabsch sonucu elle beklenmez. Mesaj: ham RMSD, yapıların uzaydaki konumuna bağlıdır ve anlamsızdır; önce en iyi öteleme ve dönme bulunmalı.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Şekilde üç panel var: ham koordinatlar, merkezlenmiş koordinatlar (öteleme giderildi ama dönme duruyor) ve Kabsch dönmesi sonrası (iki üçgen üst üste). SVD'yi elle hesaplatmayın; H matrisini kurmayı ve R'nin anlamını yorumlamayı bekleyin. Tüm ara değerler NumPy ile hesaplandı; Biopython Superimposer da RMSD = 0 veriyor (rotran'daki matris bu R'nin transpozu, çünkü Biopython koordinatları sağdan çarpar).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0.87 değil 0.82? Kabsch 6 serbestlik derecesini (3 dönme + 3 öteleme) veriye uydurduğu için gürültünün bir kısmını da 'açıklar'; ayrıca örneklem rastgeleliği var. Pratikte iki gerçek yapı karşılaştırılırken &lt; 1 Å çok benzer, 1–2 Å aynı katlanma, &gt; 3 Å anlamlı yapısal fark olarak yorumlanır (kaba kural).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sınıfı strateji (strategy) tasarım deseninin bir örneği: kaydetme mantığı sabit, süzme kuralı dışarıdan veriliyor. py3Dmol'de CYS kalıntılarını çubuk olarak göstermek disülfit bağını görünür yapar; laboratuvarda öğrencilerin yapıyı fareyle döndürüp iki heliksi birbirine bağlayan bağı bulmalarını isteyin. PDB formatı 99 999 atom ve tek karakterli zincir sınırları nedeniyle büyük yapılarda yerini mmCIF'e bırakıyor.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maddeyi bu haftanın bir slaytına bağlayın. Son madde önemli: RMSD'nin hangi atomlarla hesaplandığı (Cα, omurga, tüm ağır atomlar) mutlaka belirtilmeli; aynı iki yapı için bu değerler çok farklı olabilir. Öğrencilere her maddeyi bir kez kendi kodlarında denemelerini, örneğin split() ile −100 civarı koordinatlı bir satırı ayrıştırıp hatayı görmelerini önerin.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beş soru notebook'taki alıştırmalar; çözümleri notebook'un sonunda. Altıncı soru bu sunuma özgü: beklenen boy (20 − 1) × 1.5 = 28.5 Å. Üçüncü soruda gerçek uzaklığın beklenenden biraz büyük çıkması (21.7 &gt; 21.0) heliks uçlarındaki düzensizlikten ve Cα'ların eksenden 2.3 Å uzakta olmasından kaynaklanır.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Kapanışta bir köprü kurun: bu hafta tek bir molekülün yapısına baktık; gelecek hafta binlerce genin aynı anda ne kadar ifade edildiğini ölçen verilerle çalışacağız. Yöntem dizi/yapı algoritmalarından istatistiğe kayıyor. Öğrencilere bu haftanın notebook alıştırmalarını bitirmelerini ve lineer cebir kavramlarını (özdeğer, SVD) 12. haftadaki PCA için tazelemelerini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10</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Protein Yapısı ve Bio.PDB: Koordinatlar, Geometri, Temas Haritaları</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Bir proteini üç boyutlu nokta bulutu olarak okumak: uzaklık, açı, dihedral, temas, RMSD</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hafta10_protein_yapisi_biopdb.ipynb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Protein yapısının </a:t>
            </a:r>
            <a:r>
              <a:rPr lang="en-US" sz="1800" b="1" dirty="0">
                <a:solidFill>
                  <a:srgbClr val="212121"/>
                </a:solidFill>
                <a:latin typeface="Calibri" pitchFamily="34" charset="0"/>
                <a:ea typeface="Calibri" pitchFamily="34" charset="-122"/>
                <a:cs typeface="Calibri" pitchFamily="34" charset="-120"/>
              </a:rPr>
              <a:t>dört düzeyini</a:t>
            </a:r>
            <a:r>
              <a:rPr lang="en-US" sz="1800" dirty="0">
                <a:solidFill>
                  <a:srgbClr val="212121"/>
                </a:solidFill>
                <a:latin typeface="Calibri" pitchFamily="34" charset="0"/>
                <a:ea typeface="Calibri" pitchFamily="34" charset="-122"/>
                <a:cs typeface="Calibri" pitchFamily="34" charset="-120"/>
              </a:rPr>
              <a:t> ve yapı belirleme yöntemlerini tanımak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PDB formatını</a:t>
            </a:r>
            <a:r>
              <a:rPr lang="en-US" sz="1800" dirty="0">
                <a:solidFill>
                  <a:srgbClr val="212121"/>
                </a:solidFill>
                <a:latin typeface="Calibri" pitchFamily="34" charset="0"/>
                <a:ea typeface="Calibri" pitchFamily="34" charset="-122"/>
                <a:cs typeface="Calibri" pitchFamily="34" charset="-120"/>
              </a:rPr>
              <a:t> elle ayrıştırmak; Biopython'un </a:t>
            </a:r>
            <a:r>
              <a:rPr lang="en-US" sz="1800" b="1" dirty="0">
                <a:solidFill>
                  <a:srgbClr val="212121"/>
                </a:solidFill>
                <a:latin typeface="Calibri" pitchFamily="34" charset="0"/>
                <a:ea typeface="Calibri" pitchFamily="34" charset="-122"/>
                <a:cs typeface="Calibri" pitchFamily="34" charset="-120"/>
              </a:rPr>
              <a:t>SMCRA</a:t>
            </a:r>
            <a:r>
              <a:rPr lang="en-US" sz="1800" dirty="0">
                <a:solidFill>
                  <a:srgbClr val="212121"/>
                </a:solidFill>
                <a:latin typeface="Calibri" pitchFamily="34" charset="0"/>
                <a:ea typeface="Calibri" pitchFamily="34" charset="-122"/>
                <a:cs typeface="Calibri" pitchFamily="34" charset="-120"/>
              </a:rPr>
              <a:t> hiyerarşisinde gezinmek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Uzaklık, bağ açısı ve </a:t>
            </a:r>
            <a:r>
              <a:rPr lang="en-US" sz="1800" b="1" dirty="0">
                <a:solidFill>
                  <a:srgbClr val="212121"/>
                </a:solidFill>
                <a:latin typeface="Calibri" pitchFamily="34" charset="0"/>
                <a:ea typeface="Calibri" pitchFamily="34" charset="-122"/>
                <a:cs typeface="Calibri" pitchFamily="34" charset="-120"/>
              </a:rPr>
              <a:t>dihedral (φ/ψ)</a:t>
            </a:r>
            <a:r>
              <a:rPr lang="en-US" sz="1800" dirty="0">
                <a:solidFill>
                  <a:srgbClr val="212121"/>
                </a:solidFill>
                <a:latin typeface="Calibri" pitchFamily="34" charset="0"/>
                <a:ea typeface="Calibri" pitchFamily="34" charset="-122"/>
                <a:cs typeface="Calibri" pitchFamily="34" charset="-120"/>
              </a:rPr>
              <a:t> açılarını elle ve kodla hesaplamak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Ramachandran</a:t>
            </a:r>
            <a:r>
              <a:rPr lang="en-US" sz="1800" dirty="0">
                <a:solidFill>
                  <a:srgbClr val="212121"/>
                </a:solidFill>
                <a:latin typeface="Calibri" pitchFamily="34" charset="0"/>
                <a:ea typeface="Calibri" pitchFamily="34" charset="-122"/>
                <a:cs typeface="Calibri" pitchFamily="34" charset="-120"/>
              </a:rPr>
              <a:t> grafiğini ve </a:t>
            </a:r>
            <a:r>
              <a:rPr lang="en-US" sz="1800" b="1" dirty="0">
                <a:solidFill>
                  <a:srgbClr val="212121"/>
                </a:solidFill>
                <a:latin typeface="Calibri" pitchFamily="34" charset="0"/>
                <a:ea typeface="Calibri" pitchFamily="34" charset="-122"/>
                <a:cs typeface="Calibri" pitchFamily="34" charset="-120"/>
              </a:rPr>
              <a:t>temas haritasını</a:t>
            </a:r>
            <a:r>
              <a:rPr lang="en-US" sz="1800" dirty="0">
                <a:solidFill>
                  <a:srgbClr val="212121"/>
                </a:solidFill>
                <a:latin typeface="Calibri" pitchFamily="34" charset="0"/>
                <a:ea typeface="Calibri" pitchFamily="34" charset="-122"/>
                <a:cs typeface="Calibri" pitchFamily="34" charset="-120"/>
              </a:rPr>
              <a:t> okumak; disülfit bağlarını bulmak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Dönme yarıçapı (</a:t>
            </a:r>
            <a:r>
              <a:rPr lang="en-US" sz="1800" b="1" dirty="0">
                <a:solidFill>
                  <a:srgbClr val="212121"/>
                </a:solidFill>
                <a:latin typeface="Calibri" pitchFamily="34" charset="0"/>
                <a:ea typeface="Calibri" pitchFamily="34" charset="-122"/>
                <a:cs typeface="Calibri" pitchFamily="34" charset="-120"/>
              </a:rPr>
              <a:t>Rg</a:t>
            </a:r>
            <a:r>
              <a:rPr lang="en-US" sz="1800" dirty="0">
                <a:solidFill>
                  <a:srgbClr val="212121"/>
                </a:solidFill>
                <a:latin typeface="Calibri" pitchFamily="34" charset="0"/>
                <a:ea typeface="Calibri" pitchFamily="34" charset="-122"/>
                <a:cs typeface="Calibri" pitchFamily="34" charset="-120"/>
              </a:rPr>
              <a:t>) ve </a:t>
            </a:r>
            <a:r>
              <a:rPr lang="en-US" sz="1800" b="1" dirty="0">
                <a:solidFill>
                  <a:srgbClr val="212121"/>
                </a:solidFill>
                <a:latin typeface="Calibri" pitchFamily="34" charset="0"/>
                <a:ea typeface="Calibri" pitchFamily="34" charset="-122"/>
                <a:cs typeface="Calibri" pitchFamily="34" charset="-120"/>
              </a:rPr>
              <a:t>RMSD</a:t>
            </a:r>
            <a:r>
              <a:rPr lang="en-US" sz="1800" dirty="0">
                <a:solidFill>
                  <a:srgbClr val="212121"/>
                </a:solidFill>
                <a:latin typeface="Calibri" pitchFamily="34" charset="0"/>
                <a:ea typeface="Calibri" pitchFamily="34" charset="-122"/>
                <a:cs typeface="Calibri" pitchFamily="34" charset="-120"/>
              </a:rPr>
              <a:t>'yi hesaplamak; </a:t>
            </a:r>
            <a:r>
              <a:rPr lang="en-US" sz="1800" b="1" dirty="0">
                <a:solidFill>
                  <a:srgbClr val="212121"/>
                </a:solidFill>
                <a:latin typeface="Calibri" pitchFamily="34" charset="0"/>
                <a:ea typeface="Calibri" pitchFamily="34" charset="-122"/>
                <a:cs typeface="Calibri" pitchFamily="34" charset="-120"/>
              </a:rPr>
              <a:t>Kabsch</a:t>
            </a:r>
            <a:r>
              <a:rPr lang="en-US" sz="1800" dirty="0">
                <a:solidFill>
                  <a:srgbClr val="212121"/>
                </a:solidFill>
                <a:latin typeface="Calibri" pitchFamily="34" charset="0"/>
                <a:ea typeface="Calibri" pitchFamily="34" charset="-122"/>
                <a:cs typeface="Calibri" pitchFamily="34" charset="-120"/>
              </a:rPr>
              <a:t> çakıştırmasını anlamak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PDBIO</a:t>
            </a:r>
            <a:r>
              <a:rPr lang="en-US" sz="1800" dirty="0">
                <a:solidFill>
                  <a:srgbClr val="212121"/>
                </a:solidFill>
                <a:latin typeface="Calibri" pitchFamily="34" charset="0"/>
                <a:ea typeface="Calibri" pitchFamily="34" charset="-122"/>
                <a:cs typeface="Calibri" pitchFamily="34" charset="-120"/>
              </a:rPr>
              <a:t> ile alt yapı kaydetmek, </a:t>
            </a:r>
            <a:r>
              <a:rPr lang="en-US" sz="1800" dirty="0">
                <a:solidFill>
                  <a:srgbClr val="455A64"/>
                </a:solidFill>
                <a:latin typeface="Courier New" pitchFamily="34" charset="0"/>
                <a:ea typeface="Courier New" pitchFamily="34" charset="-122"/>
                <a:cs typeface="Courier New" pitchFamily="34" charset="-120"/>
              </a:rPr>
              <a:t>py3Dmol</a:t>
            </a:r>
            <a:r>
              <a:rPr lang="en-US" sz="1800" dirty="0">
                <a:solidFill>
                  <a:srgbClr val="212121"/>
                </a:solidFill>
                <a:latin typeface="Calibri" pitchFamily="34" charset="0"/>
                <a:ea typeface="Calibri" pitchFamily="34" charset="-122"/>
                <a:cs typeface="Calibri" pitchFamily="34" charset="-120"/>
              </a:rPr>
              <a:t> ile 3B görselleştirmek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Yapı düzeyleri, yöntemler, PDB formatı, SMCRA; PDB satırını elle ayrıştırma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Geometri: uzaklık, açı, dihedral (elle + kod), Ramachandran; notebook bölüm 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Temas haritası, disülfit, Rg, RMSD ve Kabsch, PDBIO/py3Dmol; notebook bölüm 6–10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Protein yapısı ve yapı belirleme</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Diziden katlanmaya: birincil, ikincil, üçüncül, dördüncül yapı; X-ışını, NMR, kriyo-EM, AlphaFold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Protein yapısının düzeyleri</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557111"/>
                <a:gridCol w="2919583"/>
                <a:gridCol w="3698138"/>
                <a:gridCol w="2919583"/>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Düzey</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Tanım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Belirleyen etkileşim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Örnek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Birincil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Amino asit dizisi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Peptit (kovalent) bağları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MDIRQGPKEP…</a:t>
                      </a:r>
                      <a:r>
                        <a:rPr lang="en-US" sz="1800" dirty="0">
                          <a:solidFill>
                            <a:srgbClr val="212121"/>
                          </a:solidFill>
                          <a:latin typeface="Calibri" pitchFamily="34" charset="0"/>
                          <a:ea typeface="Calibri" pitchFamily="34" charset="-122"/>
                          <a:cs typeface="Calibri" pitchFamily="34" charset="-120"/>
                        </a:rPr>
                        <a:t> (1A8O)</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İkincil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Yerel düzenli yapılar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Omurga H-bağları (i → i+4 heliks)</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α-heliks, β-tabaka, kıvrım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Üçüncül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Tek zincirin 3B katlanması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Hidrofobik çekirdek, tuz köprüsü, </a:t>
                      </a:r>
                      <a:r>
                        <a:rPr lang="en-US" sz="1800" b="1" dirty="0">
                          <a:solidFill>
                            <a:srgbClr val="212121"/>
                          </a:solidFill>
                          <a:latin typeface="Calibri" pitchFamily="34" charset="0"/>
                          <a:ea typeface="Calibri" pitchFamily="34" charset="-122"/>
                          <a:cs typeface="Calibri" pitchFamily="34" charset="-120"/>
                        </a:rPr>
                        <a:t>disülfit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Domen (1A8O: 5 heliks)</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Dördüncül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Birden fazla zincirin birleşimi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Zincirler arası temaslar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Hemoglobin (α₂β₂)</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4206240"/>
            <a:ext cx="11094415" cy="822960"/>
          </a:xfrm>
          <a:prstGeom prst="roundRect">
            <a:avLst>
              <a:gd name="adj" fmla="val 8889"/>
            </a:avLst>
          </a:prstGeom>
          <a:solidFill>
            <a:srgbClr val="FDECEA"/>
          </a:solidFill>
          <a:ln/>
        </p:spPr>
      </p:sp>
      <p:sp>
        <p:nvSpPr>
          <p:cNvPr id="5" name="Text 2"/>
          <p:cNvSpPr txBox="1"/>
          <p:nvPr/>
        </p:nvSpPr>
        <p:spPr>
          <a:xfrm>
            <a:off x="731520" y="420624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Anfinsen ilkesi: katlanma bilgisi büyük ölçüde </a:t>
            </a:r>
            <a:r>
              <a:rPr lang="en-US" sz="1600" b="1" dirty="0">
                <a:solidFill>
                  <a:srgbClr val="212121"/>
                </a:solidFill>
                <a:latin typeface="Calibri" pitchFamily="34" charset="0"/>
                <a:ea typeface="Calibri" pitchFamily="34" charset="-122"/>
                <a:cs typeface="Calibri" pitchFamily="34" charset="-120"/>
              </a:rPr>
              <a:t>dizide</a:t>
            </a:r>
            <a:r>
              <a:rPr lang="en-US" sz="1600" dirty="0">
                <a:solidFill>
                  <a:srgbClr val="212121"/>
                </a:solidFill>
                <a:latin typeface="Calibri" pitchFamily="34" charset="0"/>
                <a:ea typeface="Calibri" pitchFamily="34" charset="-122"/>
                <a:cs typeface="Calibri" pitchFamily="34" charset="-120"/>
              </a:rPr>
              <a:t> saklıdır. Yapı diziden daha korunmuştur: %30 dizi özdeşliğindeki iki protein çoğunlukla aynı katlanmayı paylaşır.</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Yapı belirleme yöntemleri</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315356"/>
                <a:gridCol w="1640044"/>
                <a:gridCol w="3665981"/>
                <a:gridCol w="3473034"/>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Yöntem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Tipik çözünürlük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Güçlü yanı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Dosyada dikkat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X-ışını kristalografisi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1–3 Å</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Yüksek çözünürlük; PDB'nin çoğunluğu</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B-faktörü, su molekülleri, eksik döngüler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NMR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Çözeltide, dinamik bilgi; küçük proteinler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Birden çok </a:t>
                      </a:r>
                      <a:r>
                        <a:rPr lang="en-US" sz="1800" b="1" dirty="0">
                          <a:solidFill>
                            <a:srgbClr val="212121"/>
                          </a:solidFill>
                          <a:latin typeface="Calibri" pitchFamily="34" charset="0"/>
                          <a:ea typeface="Calibri" pitchFamily="34" charset="-122"/>
                          <a:cs typeface="Calibri" pitchFamily="34" charset="-120"/>
                        </a:rPr>
                        <a:t>model</a:t>
                      </a:r>
                      <a:r>
                        <a:rPr lang="en-US" sz="1800" dirty="0">
                          <a:solidFill>
                            <a:srgbClr val="212121"/>
                          </a:solidFill>
                          <a:latin typeface="Calibri" pitchFamily="34" charset="0"/>
                          <a:ea typeface="Calibri" pitchFamily="34" charset="-122"/>
                          <a:cs typeface="Calibri" pitchFamily="34" charset="-120"/>
                        </a:rPr>
                        <a:t> (MODEL 1…20)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Kriyo-EM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2–4 Å</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Büyük kompleksler, kristal gerekmez</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Çok zincir; mmCIF formatı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AlphaFold (tahmin)</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Her dizi için hızlı model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pLDDT</a:t>
                      </a:r>
                      <a:r>
                        <a:rPr lang="en-US" sz="1800" dirty="0">
                          <a:solidFill>
                            <a:srgbClr val="212121"/>
                          </a:solidFill>
                          <a:latin typeface="Calibri" pitchFamily="34" charset="0"/>
                          <a:ea typeface="Calibri" pitchFamily="34" charset="-122"/>
                          <a:cs typeface="Calibri" pitchFamily="34" charset="-120"/>
                        </a:rPr>
                        <a:t> güveni B-faktörü sütununda</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4754880"/>
            <a:ext cx="11094415" cy="822960"/>
          </a:xfrm>
          <a:prstGeom prst="roundRect">
            <a:avLst>
              <a:gd name="adj" fmla="val 8889"/>
            </a:avLst>
          </a:prstGeom>
          <a:solidFill>
            <a:srgbClr val="FDECEA"/>
          </a:solidFill>
          <a:ln/>
        </p:spPr>
      </p:sp>
      <p:sp>
        <p:nvSpPr>
          <p:cNvPr id="5" name="Text 2"/>
          <p:cNvSpPr txBox="1"/>
          <p:nvPr/>
        </p:nvSpPr>
        <p:spPr>
          <a:xfrm>
            <a:off x="731520" y="47548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Çözünürlük küçüldükçe ayrıntı artar: </a:t>
            </a:r>
            <a:r>
              <a:rPr lang="en-US" sz="1600" b="1" dirty="0">
                <a:solidFill>
                  <a:srgbClr val="212121"/>
                </a:solidFill>
                <a:latin typeface="Calibri" pitchFamily="34" charset="0"/>
                <a:ea typeface="Calibri" pitchFamily="34" charset="-122"/>
                <a:cs typeface="Calibri" pitchFamily="34" charset="-120"/>
              </a:rPr>
              <a:t>1.7 Å</a:t>
            </a:r>
            <a:r>
              <a:rPr lang="en-US" sz="1600" dirty="0">
                <a:solidFill>
                  <a:srgbClr val="212121"/>
                </a:solidFill>
                <a:latin typeface="Calibri" pitchFamily="34" charset="0"/>
                <a:ea typeface="Calibri" pitchFamily="34" charset="-122"/>
                <a:cs typeface="Calibri" pitchFamily="34" charset="-120"/>
              </a:rPr>
              <a:t>'da tek tek atomlar ayırt edilir; 4 Å'da yan zincirler belirsizdir. Ders verisi </a:t>
            </a:r>
            <a:r>
              <a:rPr lang="en-US" sz="1600" b="1" dirty="0">
                <a:solidFill>
                  <a:srgbClr val="212121"/>
                </a:solidFill>
                <a:latin typeface="Calibri" pitchFamily="34" charset="0"/>
                <a:ea typeface="Calibri" pitchFamily="34" charset="-122"/>
                <a:cs typeface="Calibri" pitchFamily="34" charset="-120"/>
              </a:rPr>
              <a:t>1A8O</a:t>
            </a:r>
            <a:r>
              <a:rPr lang="en-US" sz="1600" dirty="0">
                <a:solidFill>
                  <a:srgbClr val="212121"/>
                </a:solidFill>
                <a:latin typeface="Calibri" pitchFamily="34" charset="0"/>
                <a:ea typeface="Calibri" pitchFamily="34" charset="-122"/>
                <a:cs typeface="Calibri" pitchFamily="34" charset="-120"/>
              </a:rPr>
              <a:t> X-ışınıyla 1.70 Å çözünürlükte belirlenmiştir.</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Ders verisi: 1A8O (HIV-1 kapsid, C-uç domeni)</a:t>
            </a:r>
            <a:endParaRPr lang="en-US" sz="3000" dirty="0"/>
          </a:p>
        </p:txBody>
      </p:sp>
      <p:sp>
        <p:nvSpPr>
          <p:cNvPr id="3" name="Shape 1"/>
          <p:cNvSpPr/>
          <p:nvPr/>
        </p:nvSpPr>
        <p:spPr>
          <a:xfrm>
            <a:off x="548640" y="1417320"/>
            <a:ext cx="2533574" cy="2194560"/>
          </a:xfrm>
          <a:prstGeom prst="roundRect">
            <a:avLst>
              <a:gd name="adj" fmla="val 3333"/>
            </a:avLst>
          </a:prstGeom>
          <a:solidFill>
            <a:srgbClr val="F7F9FA"/>
          </a:solidFill>
          <a:ln w="12700">
            <a:solidFill>
              <a:srgbClr val="B0BEC5"/>
            </a:solidFill>
            <a:prstDash val="solid"/>
          </a:ln>
        </p:spPr>
      </p:sp>
      <p:sp>
        <p:nvSpPr>
          <p:cNvPr id="4" name="Text 2"/>
          <p:cNvSpPr txBox="1"/>
          <p:nvPr/>
        </p:nvSpPr>
        <p:spPr>
          <a:xfrm>
            <a:off x="548640" y="1554480"/>
            <a:ext cx="2533574" cy="1097280"/>
          </a:xfrm>
          <a:prstGeom prst="rect">
            <a:avLst/>
          </a:prstGeom>
          <a:noFill/>
          <a:ln/>
        </p:spPr>
        <p:txBody>
          <a:bodyPr wrap="square" lIns="0" tIns="0" rIns="0" bIns="0" rtlCol="0" anchor="ctr"/>
          <a:lstStyle/>
          <a:p>
            <a:pPr algn="ctr" indent="0" marL="0">
              <a:buNone/>
            </a:pPr>
            <a:r>
              <a:rPr lang="en-US" sz="4800" b="1" dirty="0">
                <a:solidFill>
                  <a:srgbClr val="B71C1C"/>
                </a:solidFill>
              </a:rPr>
              <a:t>70</a:t>
            </a:r>
            <a:endParaRPr lang="en-US" sz="4800" dirty="0"/>
          </a:p>
        </p:txBody>
      </p:sp>
      <p:sp>
        <p:nvSpPr>
          <p:cNvPr id="5" name="Text 3"/>
          <p:cNvSpPr txBox="1"/>
          <p:nvPr/>
        </p:nvSpPr>
        <p:spPr>
          <a:xfrm>
            <a:off x="685800" y="2651760"/>
            <a:ext cx="2259254" cy="868680"/>
          </a:xfrm>
          <a:prstGeom prst="rect">
            <a:avLst/>
          </a:prstGeom>
          <a:noFill/>
          <a:ln/>
        </p:spPr>
        <p:txBody>
          <a:bodyPr wrap="square" lIns="0" tIns="0" rIns="0" bIns="0" rtlCol="0" anchor="t"/>
          <a:lstStyle/>
          <a:p>
            <a:pPr algn="ctr" indent="0" marL="0">
              <a:buNone/>
            </a:pPr>
            <a:r>
              <a:rPr lang="en-US" sz="1400" dirty="0">
                <a:solidFill>
                  <a:srgbClr val="546E7A"/>
                </a:solidFill>
              </a:rPr>
              <a:t>Amino asit (kalıntı 151–220, zincir A)</a:t>
            </a:r>
            <a:endParaRPr lang="en-US" sz="1400" dirty="0"/>
          </a:p>
        </p:txBody>
      </p:sp>
      <p:sp>
        <p:nvSpPr>
          <p:cNvPr id="6" name="Shape 4"/>
          <p:cNvSpPr/>
          <p:nvPr/>
        </p:nvSpPr>
        <p:spPr>
          <a:xfrm>
            <a:off x="3402254" y="1417320"/>
            <a:ext cx="2533574" cy="2194560"/>
          </a:xfrm>
          <a:prstGeom prst="roundRect">
            <a:avLst>
              <a:gd name="adj" fmla="val 3333"/>
            </a:avLst>
          </a:prstGeom>
          <a:solidFill>
            <a:srgbClr val="F7F9FA"/>
          </a:solidFill>
          <a:ln w="12700">
            <a:solidFill>
              <a:srgbClr val="B0BEC5"/>
            </a:solidFill>
            <a:prstDash val="solid"/>
          </a:ln>
        </p:spPr>
      </p:sp>
      <p:sp>
        <p:nvSpPr>
          <p:cNvPr id="7" name="Text 5"/>
          <p:cNvSpPr txBox="1"/>
          <p:nvPr/>
        </p:nvSpPr>
        <p:spPr>
          <a:xfrm>
            <a:off x="3402254" y="1554480"/>
            <a:ext cx="2533574" cy="1097280"/>
          </a:xfrm>
          <a:prstGeom prst="rect">
            <a:avLst/>
          </a:prstGeom>
          <a:noFill/>
          <a:ln/>
        </p:spPr>
        <p:txBody>
          <a:bodyPr wrap="square" lIns="0" tIns="0" rIns="0" bIns="0" rtlCol="0" anchor="ctr"/>
          <a:lstStyle/>
          <a:p>
            <a:pPr algn="ctr" indent="0" marL="0">
              <a:buNone/>
            </a:pPr>
            <a:r>
              <a:rPr lang="en-US" sz="4800" b="1" dirty="0">
                <a:solidFill>
                  <a:srgbClr val="B71C1C"/>
                </a:solidFill>
              </a:rPr>
              <a:t>1.70 Å</a:t>
            </a:r>
            <a:endParaRPr lang="en-US" sz="4800" dirty="0"/>
          </a:p>
        </p:txBody>
      </p:sp>
      <p:sp>
        <p:nvSpPr>
          <p:cNvPr id="8" name="Text 6"/>
          <p:cNvSpPr txBox="1"/>
          <p:nvPr/>
        </p:nvSpPr>
        <p:spPr>
          <a:xfrm>
            <a:off x="3539414" y="2651760"/>
            <a:ext cx="2259254" cy="868680"/>
          </a:xfrm>
          <a:prstGeom prst="rect">
            <a:avLst/>
          </a:prstGeom>
          <a:noFill/>
          <a:ln/>
        </p:spPr>
        <p:txBody>
          <a:bodyPr wrap="square" lIns="0" tIns="0" rIns="0" bIns="0" rtlCol="0" anchor="t"/>
          <a:lstStyle/>
          <a:p>
            <a:pPr algn="ctr" indent="0" marL="0">
              <a:buNone/>
            </a:pPr>
            <a:r>
              <a:rPr lang="en-US" sz="1400" dirty="0">
                <a:solidFill>
                  <a:srgbClr val="546E7A"/>
                </a:solidFill>
              </a:rPr>
              <a:t>Çözünürlük (X-ışını kırınımı, 1998)</a:t>
            </a:r>
            <a:endParaRPr lang="en-US" sz="1400" dirty="0"/>
          </a:p>
        </p:txBody>
      </p:sp>
      <p:sp>
        <p:nvSpPr>
          <p:cNvPr id="9" name="Shape 7"/>
          <p:cNvSpPr/>
          <p:nvPr/>
        </p:nvSpPr>
        <p:spPr>
          <a:xfrm>
            <a:off x="6255868" y="1417320"/>
            <a:ext cx="2533574" cy="2194560"/>
          </a:xfrm>
          <a:prstGeom prst="roundRect">
            <a:avLst>
              <a:gd name="adj" fmla="val 3333"/>
            </a:avLst>
          </a:prstGeom>
          <a:solidFill>
            <a:srgbClr val="F7F9FA"/>
          </a:solidFill>
          <a:ln w="12700">
            <a:solidFill>
              <a:srgbClr val="B0BEC5"/>
            </a:solidFill>
            <a:prstDash val="solid"/>
          </a:ln>
        </p:spPr>
      </p:sp>
      <p:sp>
        <p:nvSpPr>
          <p:cNvPr id="10" name="Text 8"/>
          <p:cNvSpPr txBox="1"/>
          <p:nvPr/>
        </p:nvSpPr>
        <p:spPr>
          <a:xfrm>
            <a:off x="6255868" y="1554480"/>
            <a:ext cx="2533574" cy="1097280"/>
          </a:xfrm>
          <a:prstGeom prst="rect">
            <a:avLst/>
          </a:prstGeom>
          <a:noFill/>
          <a:ln/>
        </p:spPr>
        <p:txBody>
          <a:bodyPr wrap="square" lIns="0" tIns="0" rIns="0" bIns="0" rtlCol="0" anchor="ctr"/>
          <a:lstStyle/>
          <a:p>
            <a:pPr algn="ctr" indent="0" marL="0">
              <a:buNone/>
            </a:pPr>
            <a:r>
              <a:rPr lang="en-US" sz="4800" b="1" dirty="0">
                <a:solidFill>
                  <a:srgbClr val="B71C1C"/>
                </a:solidFill>
              </a:rPr>
              <a:t>5</a:t>
            </a:r>
            <a:endParaRPr lang="en-US" sz="4800" dirty="0"/>
          </a:p>
        </p:txBody>
      </p:sp>
      <p:sp>
        <p:nvSpPr>
          <p:cNvPr id="11" name="Text 9"/>
          <p:cNvSpPr txBox="1"/>
          <p:nvPr/>
        </p:nvSpPr>
        <p:spPr>
          <a:xfrm>
            <a:off x="6393028" y="2651760"/>
            <a:ext cx="2259254" cy="868680"/>
          </a:xfrm>
          <a:prstGeom prst="rect">
            <a:avLst/>
          </a:prstGeom>
          <a:noFill/>
          <a:ln/>
        </p:spPr>
        <p:txBody>
          <a:bodyPr wrap="square" lIns="0" tIns="0" rIns="0" bIns="0" rtlCol="0" anchor="t"/>
          <a:lstStyle/>
          <a:p>
            <a:pPr algn="ctr" indent="0" marL="0">
              <a:buNone/>
            </a:pPr>
            <a:r>
              <a:rPr lang="en-US" sz="1400" dirty="0">
                <a:solidFill>
                  <a:srgbClr val="546E7A"/>
                </a:solidFill>
              </a:rPr>
              <a:t>α-heliks (HELIX kayıtları), β-tabaka yok</a:t>
            </a:r>
            <a:endParaRPr lang="en-US" sz="1400" dirty="0"/>
          </a:p>
        </p:txBody>
      </p:sp>
      <p:sp>
        <p:nvSpPr>
          <p:cNvPr id="12" name="Shape 10"/>
          <p:cNvSpPr/>
          <p:nvPr/>
        </p:nvSpPr>
        <p:spPr>
          <a:xfrm>
            <a:off x="9109481" y="1417320"/>
            <a:ext cx="2533574" cy="2194560"/>
          </a:xfrm>
          <a:prstGeom prst="roundRect">
            <a:avLst>
              <a:gd name="adj" fmla="val 3333"/>
            </a:avLst>
          </a:prstGeom>
          <a:solidFill>
            <a:srgbClr val="F7F9FA"/>
          </a:solidFill>
          <a:ln w="12700">
            <a:solidFill>
              <a:srgbClr val="B0BEC5"/>
            </a:solidFill>
            <a:prstDash val="solid"/>
          </a:ln>
        </p:spPr>
      </p:sp>
      <p:sp>
        <p:nvSpPr>
          <p:cNvPr id="13" name="Text 11"/>
          <p:cNvSpPr txBox="1"/>
          <p:nvPr/>
        </p:nvSpPr>
        <p:spPr>
          <a:xfrm>
            <a:off x="9109481" y="1554480"/>
            <a:ext cx="2533574" cy="1097280"/>
          </a:xfrm>
          <a:prstGeom prst="rect">
            <a:avLst/>
          </a:prstGeom>
          <a:noFill/>
          <a:ln/>
        </p:spPr>
        <p:txBody>
          <a:bodyPr wrap="square" lIns="0" tIns="0" rIns="0" bIns="0" rtlCol="0" anchor="ctr"/>
          <a:lstStyle/>
          <a:p>
            <a:pPr algn="ctr" indent="0" marL="0">
              <a:buNone/>
            </a:pPr>
            <a:r>
              <a:rPr lang="en-US" sz="4800" b="1" dirty="0">
                <a:solidFill>
                  <a:srgbClr val="B71C1C"/>
                </a:solidFill>
              </a:rPr>
              <a:t>88</a:t>
            </a:r>
            <a:endParaRPr lang="en-US" sz="4800" dirty="0"/>
          </a:p>
        </p:txBody>
      </p:sp>
      <p:sp>
        <p:nvSpPr>
          <p:cNvPr id="14" name="Text 12"/>
          <p:cNvSpPr txBox="1"/>
          <p:nvPr/>
        </p:nvSpPr>
        <p:spPr>
          <a:xfrm>
            <a:off x="9246641" y="2651760"/>
            <a:ext cx="2259254" cy="868680"/>
          </a:xfrm>
          <a:prstGeom prst="rect">
            <a:avLst/>
          </a:prstGeom>
          <a:noFill/>
          <a:ln/>
        </p:spPr>
        <p:txBody>
          <a:bodyPr wrap="square" lIns="0" tIns="0" rIns="0" bIns="0" rtlCol="0" anchor="t"/>
          <a:lstStyle/>
          <a:p>
            <a:pPr algn="ctr" indent="0" marL="0">
              <a:buNone/>
            </a:pPr>
            <a:r>
              <a:rPr lang="en-US" sz="1400" dirty="0">
                <a:solidFill>
                  <a:srgbClr val="546E7A"/>
                </a:solidFill>
              </a:rPr>
              <a:t>Su molekülü (HETATM, </a:t>
            </a:r>
            <a:r>
              <a:rPr lang="en-US" sz="1400" dirty="0">
                <a:solidFill>
                  <a:srgbClr val="455A64"/>
                </a:solidFill>
                <a:latin typeface="Courier New" pitchFamily="34" charset="0"/>
                <a:ea typeface="Courier New" pitchFamily="34" charset="-122"/>
                <a:cs typeface="Courier New" pitchFamily="34" charset="-120"/>
              </a:rPr>
              <a:t>W</a:t>
            </a:r>
            <a:r>
              <a:rPr lang="en-US" sz="1400" dirty="0">
                <a:solidFill>
                  <a:srgbClr val="546E7A"/>
                </a:solidFill>
              </a:rPr>
              <a:t>)</a:t>
            </a:r>
            <a:endParaRPr lang="en-US" sz="1400" dirty="0"/>
          </a:p>
        </p:txBody>
      </p:sp>
      <p:sp>
        <p:nvSpPr>
          <p:cNvPr id="15" name="Text 13"/>
          <p:cNvSpPr txBox="1"/>
          <p:nvPr/>
        </p:nvSpPr>
        <p:spPr>
          <a:xfrm>
            <a:off x="548640" y="3886200"/>
            <a:ext cx="11094415" cy="237744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4 metiyonin </a:t>
            </a:r>
            <a:r>
              <a:rPr lang="en-US" sz="1800" b="1" dirty="0">
                <a:solidFill>
                  <a:srgbClr val="212121"/>
                </a:solidFill>
                <a:latin typeface="Calibri" pitchFamily="34" charset="0"/>
                <a:ea typeface="Calibri" pitchFamily="34" charset="-122"/>
                <a:cs typeface="Calibri" pitchFamily="34" charset="-120"/>
              </a:rPr>
              <a:t>selenometiyonin (MSE)</a:t>
            </a:r>
            <a:r>
              <a:rPr lang="en-US" sz="1800" dirty="0">
                <a:solidFill>
                  <a:srgbClr val="212121"/>
                </a:solidFill>
                <a:latin typeface="Calibri" pitchFamily="34" charset="0"/>
                <a:ea typeface="Calibri" pitchFamily="34" charset="-122"/>
                <a:cs typeface="Calibri" pitchFamily="34" charset="-120"/>
              </a:rPr>
              <a:t> olarak kristallendirilmiş → HETATM kaydı: faz problemini çözmek için kullanılan yaygın bir teknik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Toplam </a:t>
            </a:r>
            <a:r>
              <a:rPr lang="en-US" sz="1800" b="1" dirty="0">
                <a:solidFill>
                  <a:srgbClr val="212121"/>
                </a:solidFill>
                <a:latin typeface="Calibri" pitchFamily="34" charset="0"/>
                <a:ea typeface="Calibri" pitchFamily="34" charset="-122"/>
                <a:cs typeface="Calibri" pitchFamily="34" charset="-120"/>
              </a:rPr>
              <a:t>644 atom</a:t>
            </a:r>
            <a:r>
              <a:rPr lang="en-US" sz="1800" dirty="0">
                <a:solidFill>
                  <a:srgbClr val="212121"/>
                </a:solidFill>
                <a:latin typeface="Calibri" pitchFamily="34" charset="0"/>
                <a:ea typeface="Calibri" pitchFamily="34" charset="-122"/>
                <a:cs typeface="Calibri" pitchFamily="34" charset="-120"/>
              </a:rPr>
              <a:t>; CYS198–CYS218 arasında bir </a:t>
            </a:r>
            <a:r>
              <a:rPr lang="en-US" sz="1800" b="1" dirty="0">
                <a:solidFill>
                  <a:srgbClr val="212121"/>
                </a:solidFill>
                <a:latin typeface="Calibri" pitchFamily="34" charset="0"/>
                <a:ea typeface="Calibri" pitchFamily="34" charset="-122"/>
                <a:cs typeface="Calibri" pitchFamily="34" charset="-120"/>
              </a:rPr>
              <a:t>disülfit bağı</a:t>
            </a:r>
            <a:endParaRPr lang="en-US" sz="1800" dirty="0"/>
          </a:p>
        </p:txBody>
      </p:sp>
      <p:sp>
        <p:nvSpPr>
          <p:cNvPr id="16" name="Text 1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7" name="Text 1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PDB formatı ve SMCRA hiyerarşisi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Sabit sütunlu metin dosyasından nesne ağacına</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PDB formatı: ATOM satırı (sabit sütunlu)</a:t>
            </a:r>
            <a:endParaRPr lang="en-US" sz="30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ATOM     10  CA  ASP A 152      21.835  36.306  28.144  1.00 20.88           C</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622316"/>
                <a:gridCol w="2218883"/>
                <a:gridCol w="3025750"/>
                <a:gridCol w="3227466"/>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Sütunlar (1 tabanlı)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Python dilimi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Alan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Örnek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s[0:6]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Kayıt tipi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ATOM</a:t>
                      </a:r>
                      <a:r>
                        <a:rPr lang="en-US" sz="1600" dirty="0">
                          <a:solidFill>
                            <a:srgbClr val="212121"/>
                          </a:solidFill>
                          <a:latin typeface="Calibri" pitchFamily="34" charset="0"/>
                          <a:ea typeface="Calibri" pitchFamily="34" charset="-122"/>
                          <a:cs typeface="Calibri" pitchFamily="34" charset="-120"/>
                        </a:rPr>
                        <a:t> / </a:t>
                      </a:r>
                      <a:r>
                        <a:rPr lang="en-US" sz="1600" dirty="0">
                          <a:solidFill>
                            <a:srgbClr val="455A64"/>
                          </a:solidFill>
                          <a:latin typeface="Courier New" pitchFamily="34" charset="0"/>
                          <a:ea typeface="Courier New" pitchFamily="34" charset="-122"/>
                          <a:cs typeface="Courier New" pitchFamily="34" charset="-120"/>
                        </a:rPr>
                        <a:t>HETATM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13–16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s[12:16]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Atom adı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CA</a:t>
                      </a:r>
                      <a:r>
                        <a:rPr lang="en-US" sz="1600" dirty="0">
                          <a:solidFill>
                            <a:srgbClr val="212121"/>
                          </a:solidFill>
                          <a:latin typeface="Calibri" pitchFamily="34" charset="0"/>
                          <a:ea typeface="Calibri" pitchFamily="34" charset="-122"/>
                          <a:cs typeface="Calibri" pitchFamily="34" charset="-120"/>
                        </a:rPr>
                        <a:t> (α-karbonu)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18–20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s[17:20]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Kalıntı adı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ASP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s[21]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Zincir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23–26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s[22:26]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Kalıntı numarası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152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31–38 / 39–46 / 47–54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s[30:38]</a:t>
                      </a:r>
                      <a:r>
                        <a:rPr lang="en-US" sz="1600" dirty="0">
                          <a:solidFill>
                            <a:srgbClr val="212121"/>
                          </a:solidFill>
                          <a:latin typeface="Calibri" pitchFamily="34" charset="0"/>
                          <a:ea typeface="Calibri" pitchFamily="34" charset="-122"/>
                          <a:cs typeface="Calibri" pitchFamily="34" charset="-120"/>
                        </a:rPr>
                        <a: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x, y, z (Å)</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21.835  36.306  28.144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55–60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s[54:60]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Doluluk (occupancy)</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61–66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s[60:66]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Sıcaklık (B) faktörü, Å²</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20.88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ATOM satırını elle ayrıştırmak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Önceki slayttaki ASP152 Cα satırından (</a:t>
            </a:r>
            <a:r>
              <a:rPr lang="en-US" sz="1800" dirty="0">
                <a:solidFill>
                  <a:srgbClr val="455A64"/>
                </a:solidFill>
                <a:latin typeface="Courier New" pitchFamily="34" charset="0"/>
                <a:ea typeface="Courier New" pitchFamily="34" charset="-122"/>
                <a:cs typeface="Courier New" pitchFamily="34" charset="-120"/>
              </a:rPr>
              <a:t>s</a:t>
            </a:r>
            <a:r>
              <a:rPr lang="en-US" sz="1800" dirty="0">
                <a:solidFill>
                  <a:srgbClr val="212121"/>
                </a:solidFill>
                <a:latin typeface="Calibri" pitchFamily="34" charset="0"/>
                <a:ea typeface="Calibri" pitchFamily="34" charset="-122"/>
                <a:cs typeface="Calibri" pitchFamily="34" charset="-120"/>
              </a:rPr>
              <a:t> değişkeni) atom adı, kalıntı, zincir, numara, koordinatlar ve B-faktörünü Python dilimleriyle çıkarın.</a:t>
            </a:r>
            <a:endParaRPr lang="en-US" sz="1800" dirty="0"/>
          </a:p>
        </p:txBody>
      </p:sp>
      <p:sp>
        <p:nvSpPr>
          <p:cNvPr id="6" name="Text 4"/>
          <p:cNvSpPr txBox="1"/>
          <p:nvPr/>
        </p:nvSpPr>
        <p:spPr>
          <a:xfrm>
            <a:off x="548640" y="2779776"/>
            <a:ext cx="6212873"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Sütun 13–16 → </a:t>
            </a:r>
            <a:r>
              <a:rPr lang="en-US" sz="1800" dirty="0">
                <a:solidFill>
                  <a:srgbClr val="455A64"/>
                </a:solidFill>
                <a:latin typeface="Courier New" pitchFamily="34" charset="0"/>
                <a:ea typeface="Courier New" pitchFamily="34" charset="-122"/>
                <a:cs typeface="Courier New" pitchFamily="34" charset="-120"/>
              </a:rPr>
              <a:t>s[12:16]</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 CA "</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strip()</a:t>
            </a:r>
            <a:r>
              <a:rPr lang="en-US" sz="1800" dirty="0">
                <a:solidFill>
                  <a:srgbClr val="212121"/>
                </a:solidFill>
                <a:latin typeface="Calibri" pitchFamily="34" charset="0"/>
                <a:ea typeface="Calibri" pitchFamily="34" charset="-122"/>
                <a:cs typeface="Calibri" pitchFamily="34" charset="-120"/>
              </a:rPr>
              <a:t> → </a:t>
            </a:r>
            <a:r>
              <a:rPr lang="en-US" sz="1800" b="1" dirty="0">
                <a:solidFill>
                  <a:srgbClr val="212121"/>
                </a:solidFill>
                <a:latin typeface="Calibri" pitchFamily="34" charset="0"/>
                <a:ea typeface="Calibri" pitchFamily="34" charset="-122"/>
                <a:cs typeface="Calibri" pitchFamily="34" charset="-120"/>
              </a:rPr>
              <a:t>CA</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s[17:20]</a:t>
            </a:r>
            <a:r>
              <a:rPr lang="en-US" sz="1800" dirty="0">
                <a:solidFill>
                  <a:srgbClr val="212121"/>
                </a:solidFill>
                <a:latin typeface="Calibri" pitchFamily="34" charset="0"/>
                <a:ea typeface="Calibri" pitchFamily="34" charset="-122"/>
                <a:cs typeface="Calibri" pitchFamily="34" charset="-120"/>
              </a:rPr>
              <a:t> = </a:t>
            </a:r>
            <a:r>
              <a:rPr lang="en-US" sz="1800" b="1" dirty="0">
                <a:solidFill>
                  <a:srgbClr val="212121"/>
                </a:solidFill>
                <a:latin typeface="Calibri" pitchFamily="34" charset="0"/>
                <a:ea typeface="Calibri" pitchFamily="34" charset="-122"/>
                <a:cs typeface="Calibri" pitchFamily="34" charset="-120"/>
              </a:rPr>
              <a:t>ASP</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s[21]</a:t>
            </a:r>
            <a:r>
              <a:rPr lang="en-US" sz="1800" dirty="0">
                <a:solidFill>
                  <a:srgbClr val="212121"/>
                </a:solidFill>
                <a:latin typeface="Calibri" pitchFamily="34" charset="0"/>
                <a:ea typeface="Calibri" pitchFamily="34" charset="-122"/>
                <a:cs typeface="Calibri" pitchFamily="34" charset="-120"/>
              </a:rPr>
              <a:t> = </a:t>
            </a:r>
            <a:r>
              <a:rPr lang="en-US" sz="1800" b="1" dirty="0">
                <a:solidFill>
                  <a:srgbClr val="212121"/>
                </a:solidFill>
                <a:latin typeface="Calibri" pitchFamily="34" charset="0"/>
                <a:ea typeface="Calibri" pitchFamily="34" charset="-122"/>
                <a:cs typeface="Calibri" pitchFamily="34" charset="-120"/>
              </a:rPr>
              <a:t>A</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int(s[22:26])</a:t>
            </a:r>
            <a:r>
              <a:rPr lang="en-US" sz="1800" dirty="0">
                <a:solidFill>
                  <a:srgbClr val="212121"/>
                </a:solidFill>
                <a:latin typeface="Calibri" pitchFamily="34" charset="0"/>
                <a:ea typeface="Calibri" pitchFamily="34" charset="-122"/>
                <a:cs typeface="Calibri" pitchFamily="34" charset="-120"/>
              </a:rPr>
              <a:t> = </a:t>
            </a:r>
            <a:r>
              <a:rPr lang="en-US" sz="1800" b="1" dirty="0">
                <a:solidFill>
                  <a:srgbClr val="212121"/>
                </a:solidFill>
                <a:latin typeface="Calibri" pitchFamily="34" charset="0"/>
                <a:ea typeface="Calibri" pitchFamily="34" charset="-122"/>
                <a:cs typeface="Calibri" pitchFamily="34" charset="-120"/>
              </a:rPr>
              <a:t>152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float(s[30:38])</a:t>
            </a:r>
            <a:r>
              <a:rPr lang="en-US" sz="1800" dirty="0">
                <a:solidFill>
                  <a:srgbClr val="212121"/>
                </a:solidFill>
                <a:latin typeface="Calibri" pitchFamily="34" charset="0"/>
                <a:ea typeface="Calibri" pitchFamily="34" charset="-122"/>
                <a:cs typeface="Calibri" pitchFamily="34" charset="-120"/>
              </a:rPr>
              <a:t> = 21.835, </a:t>
            </a:r>
            <a:r>
              <a:rPr lang="en-US" sz="1800" dirty="0">
                <a:solidFill>
                  <a:srgbClr val="455A64"/>
                </a:solidFill>
                <a:latin typeface="Courier New" pitchFamily="34" charset="0"/>
                <a:ea typeface="Courier New" pitchFamily="34" charset="-122"/>
                <a:cs typeface="Courier New" pitchFamily="34" charset="-120"/>
              </a:rPr>
              <a:t>float(s[38:46])</a:t>
            </a:r>
            <a:r>
              <a:rPr lang="en-US" sz="1800" dirty="0">
                <a:solidFill>
                  <a:srgbClr val="212121"/>
                </a:solidFill>
                <a:latin typeface="Calibri" pitchFamily="34" charset="0"/>
                <a:ea typeface="Calibri" pitchFamily="34" charset="-122"/>
                <a:cs typeface="Calibri" pitchFamily="34" charset="-120"/>
              </a:rPr>
              <a:t> = 36.306, </a:t>
            </a:r>
            <a:r>
              <a:rPr lang="en-US" sz="1800" dirty="0">
                <a:solidFill>
                  <a:srgbClr val="455A64"/>
                </a:solidFill>
                <a:latin typeface="Courier New" pitchFamily="34" charset="0"/>
                <a:ea typeface="Courier New" pitchFamily="34" charset="-122"/>
                <a:cs typeface="Courier New" pitchFamily="34" charset="-120"/>
              </a:rPr>
              <a:t>float(s[46:54])</a:t>
            </a:r>
            <a:r>
              <a:rPr lang="en-US" sz="1800" dirty="0">
                <a:solidFill>
                  <a:srgbClr val="212121"/>
                </a:solidFill>
                <a:latin typeface="Calibri" pitchFamily="34" charset="0"/>
                <a:ea typeface="Calibri" pitchFamily="34" charset="-122"/>
                <a:cs typeface="Calibri" pitchFamily="34" charset="-120"/>
              </a:rPr>
              <a:t> = 28.144</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float(s[60:66])</a:t>
            </a:r>
            <a:r>
              <a:rPr lang="en-US" sz="1800" dirty="0">
                <a:solidFill>
                  <a:srgbClr val="212121"/>
                </a:solidFill>
                <a:latin typeface="Calibri" pitchFamily="34" charset="0"/>
                <a:ea typeface="Calibri" pitchFamily="34" charset="-122"/>
                <a:cs typeface="Calibri" pitchFamily="34" charset="-120"/>
              </a:rPr>
              <a:t> = </a:t>
            </a:r>
            <a:r>
              <a:rPr lang="en-US" sz="1800" b="1" dirty="0">
                <a:solidFill>
                  <a:srgbClr val="212121"/>
                </a:solidFill>
                <a:latin typeface="Calibri" pitchFamily="34" charset="0"/>
                <a:ea typeface="Calibri" pitchFamily="34" charset="-122"/>
                <a:cs typeface="Calibri" pitchFamily="34" charset="-120"/>
              </a:rPr>
              <a:t>20.88</a:t>
            </a:r>
            <a:r>
              <a:rPr lang="en-US" sz="1800" dirty="0">
                <a:solidFill>
                  <a:srgbClr val="212121"/>
                </a:solidFill>
                <a:latin typeface="Calibri" pitchFamily="34" charset="0"/>
                <a:ea typeface="Calibri" pitchFamily="34" charset="-122"/>
                <a:cs typeface="Calibri" pitchFamily="34" charset="-120"/>
              </a:rPr>
              <a:t> Å² (B-faktörü: termal titreşim / düzensizlik)</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ile ortalama yer değiştirme: ⟨u²⟩ = B / (8π²) = 20.88 / 78.96 ≈ 0.26 Å² → √ ≈ </a:t>
            </a:r>
            <a:r>
              <a:rPr lang="en-US" sz="1800" b="1" dirty="0">
                <a:solidFill>
                  <a:srgbClr val="212121"/>
                </a:solidFill>
                <a:latin typeface="Calibri" pitchFamily="34" charset="0"/>
                <a:ea typeface="Calibri" pitchFamily="34" charset="-122"/>
                <a:cs typeface="Calibri" pitchFamily="34" charset="-120"/>
              </a:rPr>
              <a:t>0.51 Å</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081553" y="2779776"/>
          <a:ext cx="4561503" cy="914400"/>
        </p:xfrm>
        <a:graphic>
          <a:graphicData uri="http://schemas.openxmlformats.org/drawingml/2006/table">
            <a:tbl>
              <a:tblPr/>
              <a:tblGrid>
                <a:gridCol w="886959"/>
                <a:gridCol w="886959"/>
                <a:gridCol w="278758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Alan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Dilim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Değer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Atom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[12:16]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Kalıntı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[17:20]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ASP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Zincir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[22:26]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x, y, 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[30:54]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21.835, 36.306, 28.144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[60:66]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20.88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Notebook çıktısı: </a:t>
            </a:r>
            <a:r>
              <a:rPr lang="en-US" sz="1700" dirty="0">
                <a:solidFill>
                  <a:srgbClr val="455A64"/>
                </a:solidFill>
                <a:latin typeface="Courier New" pitchFamily="34" charset="0"/>
                <a:ea typeface="Courier New" pitchFamily="34" charset="-122"/>
                <a:cs typeface="Courier New" pitchFamily="34" charset="-120"/>
              </a:rPr>
              <a:t>atom: CA | kalıntı: ASP | zincir: A | no: 152 | xyz: 21.835 36.306 28.144 | B: 20.88</a:t>
            </a:r>
            <a:r>
              <a:rPr lang="en-US" sz="1700" dirty="0">
                <a:solidFill>
                  <a:srgbClr val="212121"/>
                </a:solidFill>
                <a:latin typeface="Calibri" pitchFamily="34" charset="0"/>
                <a:ea typeface="Calibri" pitchFamily="34" charset="-122"/>
                <a:cs typeface="Calibri" pitchFamily="34" charset="-120"/>
              </a:rPr>
              <a:t> ✓</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600" b="1" dirty="0">
                <a:solidFill>
                  <a:srgbClr val="263238"/>
                </a:solidFill>
                <a:latin typeface="Calibri" pitchFamily="34" charset="0"/>
                <a:ea typeface="Calibri" pitchFamily="34" charset="-122"/>
                <a:cs typeface="Calibri" pitchFamily="34" charset="-120"/>
              </a:rPr>
              <a:t>SMCRA hiyerarşisi: Structure → Model → Chain → Residue → Atom</a:t>
            </a:r>
            <a:endParaRPr lang="en-US" sz="2600" dirty="0"/>
          </a:p>
        </p:txBody>
      </p:sp>
      <p:sp>
        <p:nvSpPr>
          <p:cNvPr id="3" name="Shape 1"/>
          <p:cNvSpPr/>
          <p:nvPr/>
        </p:nvSpPr>
        <p:spPr>
          <a:xfrm>
            <a:off x="548640" y="1417320"/>
            <a:ext cx="1889699" cy="1554480"/>
          </a:xfrm>
          <a:prstGeom prst="roundRect">
            <a:avLst>
              <a:gd name="adj" fmla="val 4706"/>
            </a:avLst>
          </a:prstGeom>
          <a:solidFill>
            <a:srgbClr val="F7F9FA"/>
          </a:solidFill>
          <a:ln w="12700">
            <a:solidFill>
              <a:srgbClr val="B0BEC5"/>
            </a:solidFill>
            <a:prstDash val="solid"/>
          </a:ln>
        </p:spPr>
      </p:sp>
      <p:sp>
        <p:nvSpPr>
          <p:cNvPr id="4" name="Text 2"/>
          <p:cNvSpPr txBox="1"/>
          <p:nvPr/>
        </p:nvSpPr>
        <p:spPr>
          <a:xfrm>
            <a:off x="621792" y="1417320"/>
            <a:ext cx="1743395" cy="155448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Structure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a:t>
            </a:r>
            <a:r>
              <a:rPr lang="en-US" sz="1200" dirty="0">
                <a:solidFill>
                  <a:srgbClr val="455A64"/>
                </a:solidFill>
                <a:latin typeface="Courier New" pitchFamily="34" charset="0"/>
                <a:ea typeface="Courier New" pitchFamily="34" charset="-122"/>
                <a:cs typeface="Courier New" pitchFamily="34" charset="-120"/>
              </a:rPr>
              <a:t>"1A8O"</a:t>
            </a:r>
            <a:endParaRPr lang="en-US" sz="1500" dirty="0"/>
          </a:p>
        </p:txBody>
      </p:sp>
      <p:sp>
        <p:nvSpPr>
          <p:cNvPr id="5" name="Shape 3"/>
          <p:cNvSpPr/>
          <p:nvPr/>
        </p:nvSpPr>
        <p:spPr>
          <a:xfrm>
            <a:off x="2484059" y="2194560"/>
            <a:ext cx="320040" cy="0"/>
          </a:xfrm>
          <a:prstGeom prst="line">
            <a:avLst/>
          </a:prstGeom>
          <a:noFill/>
          <a:ln w="19050">
            <a:solidFill>
              <a:srgbClr val="546E7A"/>
            </a:solidFill>
            <a:prstDash val="solid"/>
            <a:tailEnd type="triangle"/>
          </a:ln>
        </p:spPr>
      </p:sp>
      <p:sp>
        <p:nvSpPr>
          <p:cNvPr id="6" name="Shape 4"/>
          <p:cNvSpPr/>
          <p:nvPr/>
        </p:nvSpPr>
        <p:spPr>
          <a:xfrm>
            <a:off x="2849819" y="1417320"/>
            <a:ext cx="1889699" cy="1554480"/>
          </a:xfrm>
          <a:prstGeom prst="roundRect">
            <a:avLst>
              <a:gd name="adj" fmla="val 4706"/>
            </a:avLst>
          </a:prstGeom>
          <a:solidFill>
            <a:srgbClr val="F7F9FA"/>
          </a:solidFill>
          <a:ln w="12700">
            <a:solidFill>
              <a:srgbClr val="B0BEC5"/>
            </a:solidFill>
            <a:prstDash val="solid"/>
          </a:ln>
        </p:spPr>
      </p:sp>
      <p:sp>
        <p:nvSpPr>
          <p:cNvPr id="7" name="Text 5"/>
          <p:cNvSpPr txBox="1"/>
          <p:nvPr/>
        </p:nvSpPr>
        <p:spPr>
          <a:xfrm>
            <a:off x="2922971" y="1417320"/>
            <a:ext cx="1743395" cy="155448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Model</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a:t>
            </a:r>
            <a:r>
              <a:rPr lang="en-US" sz="1200" dirty="0">
                <a:solidFill>
                  <a:srgbClr val="455A64"/>
                </a:solidFill>
                <a:latin typeface="Courier New" pitchFamily="34" charset="0"/>
                <a:ea typeface="Courier New" pitchFamily="34" charset="-122"/>
                <a:cs typeface="Courier New" pitchFamily="34" charset="-120"/>
              </a:rPr>
              <a:t>0</a:t>
            </a:r>
            <a:r>
              <a:rPr lang="en-US" sz="1200" dirty="0">
                <a:solidFill>
                  <a:srgbClr val="37474F"/>
                </a:solidFill>
                <a:latin typeface="Calibri" pitchFamily="34" charset="0"/>
                <a:ea typeface="Calibri" pitchFamily="34" charset="-122"/>
                <a:cs typeface="Calibri" pitchFamily="34" charset="-120"/>
              </a:rPr>
              <a:t> (NMR'de 0, 1, 2…)</a:t>
            </a:r>
            <a:endParaRPr lang="en-US" sz="1500" dirty="0"/>
          </a:p>
        </p:txBody>
      </p:sp>
      <p:sp>
        <p:nvSpPr>
          <p:cNvPr id="8" name="Shape 6"/>
          <p:cNvSpPr/>
          <p:nvPr/>
        </p:nvSpPr>
        <p:spPr>
          <a:xfrm>
            <a:off x="4785238" y="2194560"/>
            <a:ext cx="320040" cy="0"/>
          </a:xfrm>
          <a:prstGeom prst="line">
            <a:avLst/>
          </a:prstGeom>
          <a:noFill/>
          <a:ln w="19050">
            <a:solidFill>
              <a:srgbClr val="546E7A"/>
            </a:solidFill>
            <a:prstDash val="solid"/>
            <a:tailEnd type="triangle"/>
          </a:ln>
        </p:spPr>
      </p:sp>
      <p:sp>
        <p:nvSpPr>
          <p:cNvPr id="9" name="Shape 7"/>
          <p:cNvSpPr/>
          <p:nvPr/>
        </p:nvSpPr>
        <p:spPr>
          <a:xfrm>
            <a:off x="5150998" y="1417320"/>
            <a:ext cx="1889699" cy="1554480"/>
          </a:xfrm>
          <a:prstGeom prst="roundRect">
            <a:avLst>
              <a:gd name="adj" fmla="val 4706"/>
            </a:avLst>
          </a:prstGeom>
          <a:solidFill>
            <a:srgbClr val="F7F9FA"/>
          </a:solidFill>
          <a:ln w="12700">
            <a:solidFill>
              <a:srgbClr val="B0BEC5"/>
            </a:solidFill>
            <a:prstDash val="solid"/>
          </a:ln>
        </p:spPr>
      </p:sp>
      <p:sp>
        <p:nvSpPr>
          <p:cNvPr id="10" name="Text 8"/>
          <p:cNvSpPr txBox="1"/>
          <p:nvPr/>
        </p:nvSpPr>
        <p:spPr>
          <a:xfrm>
            <a:off x="5224150" y="1417320"/>
            <a:ext cx="1743395" cy="155448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Chain</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a:t>
            </a:r>
            <a:r>
              <a:rPr lang="en-US" sz="1200" dirty="0">
                <a:solidFill>
                  <a:srgbClr val="455A64"/>
                </a:solidFill>
                <a:latin typeface="Courier New" pitchFamily="34" charset="0"/>
                <a:ea typeface="Courier New" pitchFamily="34" charset="-122"/>
                <a:cs typeface="Courier New" pitchFamily="34" charset="-120"/>
              </a:rPr>
              <a:t>"A"</a:t>
            </a:r>
            <a:endParaRPr lang="en-US" sz="1500" dirty="0"/>
          </a:p>
        </p:txBody>
      </p:sp>
      <p:sp>
        <p:nvSpPr>
          <p:cNvPr id="11" name="Shape 9"/>
          <p:cNvSpPr/>
          <p:nvPr/>
        </p:nvSpPr>
        <p:spPr>
          <a:xfrm>
            <a:off x="7086417" y="2194560"/>
            <a:ext cx="320040" cy="0"/>
          </a:xfrm>
          <a:prstGeom prst="line">
            <a:avLst/>
          </a:prstGeom>
          <a:noFill/>
          <a:ln w="19050">
            <a:solidFill>
              <a:srgbClr val="546E7A"/>
            </a:solidFill>
            <a:prstDash val="solid"/>
            <a:tailEnd type="triangle"/>
          </a:ln>
        </p:spPr>
      </p:sp>
      <p:sp>
        <p:nvSpPr>
          <p:cNvPr id="12" name="Shape 10"/>
          <p:cNvSpPr/>
          <p:nvPr/>
        </p:nvSpPr>
        <p:spPr>
          <a:xfrm>
            <a:off x="7452177" y="1417320"/>
            <a:ext cx="1889699" cy="1554480"/>
          </a:xfrm>
          <a:prstGeom prst="roundRect">
            <a:avLst>
              <a:gd name="adj" fmla="val 4706"/>
            </a:avLst>
          </a:prstGeom>
          <a:solidFill>
            <a:srgbClr val="FDECEA"/>
          </a:solidFill>
          <a:ln w="12700">
            <a:solidFill>
              <a:srgbClr val="B71C1C"/>
            </a:solidFill>
            <a:prstDash val="solid"/>
          </a:ln>
        </p:spPr>
      </p:sp>
      <p:sp>
        <p:nvSpPr>
          <p:cNvPr id="13" name="Text 11"/>
          <p:cNvSpPr txBox="1"/>
          <p:nvPr/>
        </p:nvSpPr>
        <p:spPr>
          <a:xfrm>
            <a:off x="7525329" y="1417320"/>
            <a:ext cx="1743395" cy="155448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Residue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kimlik: (bayrak, no, ins.)</a:t>
            </a:r>
            <a:endParaRPr lang="en-US" sz="1500" dirty="0"/>
          </a:p>
        </p:txBody>
      </p:sp>
      <p:sp>
        <p:nvSpPr>
          <p:cNvPr id="14" name="Shape 12"/>
          <p:cNvSpPr/>
          <p:nvPr/>
        </p:nvSpPr>
        <p:spPr>
          <a:xfrm>
            <a:off x="9387596" y="2194560"/>
            <a:ext cx="320040" cy="0"/>
          </a:xfrm>
          <a:prstGeom prst="line">
            <a:avLst/>
          </a:prstGeom>
          <a:noFill/>
          <a:ln w="19050">
            <a:solidFill>
              <a:srgbClr val="546E7A"/>
            </a:solidFill>
            <a:prstDash val="solid"/>
            <a:tailEnd type="triangle"/>
          </a:ln>
        </p:spPr>
      </p:sp>
      <p:sp>
        <p:nvSpPr>
          <p:cNvPr id="15" name="Shape 13"/>
          <p:cNvSpPr/>
          <p:nvPr/>
        </p:nvSpPr>
        <p:spPr>
          <a:xfrm>
            <a:off x="9753356" y="1417320"/>
            <a:ext cx="1889699" cy="1554480"/>
          </a:xfrm>
          <a:prstGeom prst="roundRect">
            <a:avLst>
              <a:gd name="adj" fmla="val 4706"/>
            </a:avLst>
          </a:prstGeom>
          <a:solidFill>
            <a:srgbClr val="F7F9FA"/>
          </a:solidFill>
          <a:ln w="12700">
            <a:solidFill>
              <a:srgbClr val="B0BEC5"/>
            </a:solidFill>
            <a:prstDash val="solid"/>
          </a:ln>
        </p:spPr>
      </p:sp>
      <p:sp>
        <p:nvSpPr>
          <p:cNvPr id="16" name="Text 14"/>
          <p:cNvSpPr txBox="1"/>
          <p:nvPr/>
        </p:nvSpPr>
        <p:spPr>
          <a:xfrm>
            <a:off x="9826508" y="1417320"/>
            <a:ext cx="1743395" cy="155448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Atom</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a:t>
            </a:r>
            <a:r>
              <a:rPr lang="en-US" sz="1200" dirty="0">
                <a:solidFill>
                  <a:srgbClr val="455A64"/>
                </a:solidFill>
                <a:latin typeface="Courier New" pitchFamily="34" charset="0"/>
                <a:ea typeface="Courier New" pitchFamily="34" charset="-122"/>
                <a:cs typeface="Courier New" pitchFamily="34" charset="-120"/>
              </a:rPr>
              <a:t>"CA"</a:t>
            </a:r>
            <a:r>
              <a:rPr lang="en-US" sz="1200" dirty="0">
                <a:solidFill>
                  <a:srgbClr val="37474F"/>
                </a:solidFill>
                <a:latin typeface="Calibri" pitchFamily="34" charset="0"/>
                <a:ea typeface="Calibri" pitchFamily="34" charset="-122"/>
                <a:cs typeface="Calibri" pitchFamily="34" charset="-120"/>
              </a:rPr>
              <a:t>: coord, B, element</a:t>
            </a:r>
            <a:endParaRPr lang="en-US" sz="1500" dirty="0"/>
          </a:p>
        </p:txBody>
      </p:sp>
      <p:sp>
        <p:nvSpPr>
          <p:cNvPr id="17" name="Text 15"/>
          <p:cNvSpPr txBox="1"/>
          <p:nvPr/>
        </p:nvSpPr>
        <p:spPr>
          <a:xfrm>
            <a:off x="548640" y="3520440"/>
            <a:ext cx="11094415" cy="2743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Erişim sözlük gibi: </a:t>
            </a:r>
            <a:r>
              <a:rPr lang="en-US" sz="1700" dirty="0">
                <a:solidFill>
                  <a:srgbClr val="455A64"/>
                </a:solidFill>
                <a:latin typeface="Courier New" pitchFamily="34" charset="0"/>
                <a:ea typeface="Courier New" pitchFamily="34" charset="-122"/>
                <a:cs typeface="Courier New" pitchFamily="34" charset="-120"/>
              </a:rPr>
              <a:t>yapi[0]["A"][152]["CA"].coord</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[21.835 36.306 28.144]</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Kalıntı kimliği </a:t>
            </a:r>
            <a:r>
              <a:rPr lang="en-US" sz="1700" b="1" dirty="0">
                <a:solidFill>
                  <a:srgbClr val="212121"/>
                </a:solidFill>
                <a:latin typeface="Calibri" pitchFamily="34" charset="0"/>
                <a:ea typeface="Calibri" pitchFamily="34" charset="-122"/>
                <a:cs typeface="Calibri" pitchFamily="34" charset="-120"/>
              </a:rPr>
              <a:t>üçlüdür</a:t>
            </a:r>
            <a:r>
              <a:rPr lang="en-US" sz="1700" dirty="0">
                <a:solidFill>
                  <a:srgbClr val="212121"/>
                </a:solidFill>
                <a:latin typeface="Calibri" pitchFamily="34" charset="0"/>
                <a:ea typeface="Calibri" pitchFamily="34" charset="-122"/>
                <a:cs typeface="Calibri" pitchFamily="34" charset="-120"/>
              </a:rPr>
              <a:t>: (hetero bayrağı, numara, insersiyon kodu) → </a:t>
            </a:r>
            <a:r>
              <a:rPr lang="en-US" sz="1700" dirty="0">
                <a:solidFill>
                  <a:srgbClr val="455A64"/>
                </a:solidFill>
                <a:latin typeface="Courier New" pitchFamily="34" charset="0"/>
                <a:ea typeface="Courier New" pitchFamily="34" charset="-122"/>
                <a:cs typeface="Courier New" pitchFamily="34" charset="-120"/>
              </a:rPr>
              <a:t>(' ', 152, ' ')</a:t>
            </a:r>
            <a:r>
              <a:rPr lang="en-US" sz="1700" dirty="0">
                <a:solidFill>
                  <a:srgbClr val="212121"/>
                </a:solidFill>
                <a:latin typeface="Calibri" pitchFamily="34" charset="0"/>
                <a:ea typeface="Calibri" pitchFamily="34" charset="-122"/>
                <a:cs typeface="Calibri" pitchFamily="34" charset="-120"/>
              </a:rPr>
              <a:t> ASP,  </a:t>
            </a:r>
            <a:r>
              <a:rPr lang="en-US" sz="1700" dirty="0">
                <a:solidFill>
                  <a:srgbClr val="455A64"/>
                </a:solidFill>
                <a:latin typeface="Courier New" pitchFamily="34" charset="0"/>
                <a:ea typeface="Courier New" pitchFamily="34" charset="-122"/>
                <a:cs typeface="Courier New" pitchFamily="34" charset="-120"/>
              </a:rPr>
              <a:t>('H_MSE', 151, ' ')</a:t>
            </a:r>
            <a:r>
              <a:rPr lang="en-US" sz="1700" dirty="0">
                <a:solidFill>
                  <a:srgbClr val="212121"/>
                </a:solidFill>
                <a:latin typeface="Calibri" pitchFamily="34" charset="0"/>
                <a:ea typeface="Calibri" pitchFamily="34" charset="-122"/>
                <a:cs typeface="Calibri" pitchFamily="34" charset="-120"/>
              </a:rPr>
              <a:t> selenometiyonin,  </a:t>
            </a:r>
            <a:r>
              <a:rPr lang="en-US" sz="1700" dirty="0">
                <a:solidFill>
                  <a:srgbClr val="455A64"/>
                </a:solidFill>
                <a:latin typeface="Courier New" pitchFamily="34" charset="0"/>
                <a:ea typeface="Courier New" pitchFamily="34" charset="-122"/>
                <a:cs typeface="Courier New" pitchFamily="34" charset="-120"/>
              </a:rPr>
              <a:t>('W', 1, ' ')</a:t>
            </a:r>
            <a:r>
              <a:rPr lang="en-US" sz="1700" dirty="0">
                <a:solidFill>
                  <a:srgbClr val="212121"/>
                </a:solidFill>
                <a:latin typeface="Calibri" pitchFamily="34" charset="0"/>
                <a:ea typeface="Calibri" pitchFamily="34" charset="-122"/>
                <a:cs typeface="Calibri" pitchFamily="34" charset="-120"/>
              </a:rPr>
              <a:t> su</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Standart kalıntıda yalnızca numara yeter (</a:t>
            </a:r>
            <a:r>
              <a:rPr lang="en-US" sz="1700" dirty="0">
                <a:solidFill>
                  <a:srgbClr val="455A64"/>
                </a:solidFill>
                <a:latin typeface="Courier New" pitchFamily="34" charset="0"/>
                <a:ea typeface="Courier New" pitchFamily="34" charset="-122"/>
                <a:cs typeface="Courier New" pitchFamily="34" charset="-120"/>
              </a:rPr>
              <a:t>zincir[152]</a:t>
            </a:r>
            <a:r>
              <a:rPr lang="en-US" sz="1700" dirty="0">
                <a:solidFill>
                  <a:srgbClr val="212121"/>
                </a:solidFill>
                <a:latin typeface="Calibri" pitchFamily="34" charset="0"/>
                <a:ea typeface="Calibri" pitchFamily="34" charset="-122"/>
                <a:cs typeface="Calibri" pitchFamily="34" charset="-120"/>
              </a:rPr>
              <a:t>); hetero kalıntıda </a:t>
            </a:r>
            <a:r>
              <a:rPr lang="en-US" sz="1700" b="1" dirty="0">
                <a:solidFill>
                  <a:srgbClr val="212121"/>
                </a:solidFill>
                <a:latin typeface="Calibri" pitchFamily="34" charset="0"/>
                <a:ea typeface="Calibri" pitchFamily="34" charset="-122"/>
                <a:cs typeface="Calibri" pitchFamily="34" charset="-120"/>
              </a:rPr>
              <a:t>tam üçlü</a:t>
            </a:r>
            <a:r>
              <a:rPr lang="en-US" sz="1700" dirty="0">
                <a:solidFill>
                  <a:srgbClr val="212121"/>
                </a:solidFill>
                <a:latin typeface="Calibri" pitchFamily="34" charset="0"/>
                <a:ea typeface="Calibri" pitchFamily="34" charset="-122"/>
                <a:cs typeface="Calibri" pitchFamily="34" charset="-120"/>
              </a:rPr>
              <a:t> gerekir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Gezinme: </a:t>
            </a:r>
            <a:r>
              <a:rPr lang="en-US" sz="1700" dirty="0">
                <a:solidFill>
                  <a:srgbClr val="455A64"/>
                </a:solidFill>
                <a:latin typeface="Courier New" pitchFamily="34" charset="0"/>
                <a:ea typeface="Courier New" pitchFamily="34" charset="-122"/>
                <a:cs typeface="Courier New" pitchFamily="34" charset="-120"/>
              </a:rPr>
              <a:t>yapi.get_atoms()</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zincir.get_residues()</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atom.get_parent()</a:t>
            </a:r>
            <a:r>
              <a:rPr lang="en-US" sz="1700" dirty="0">
                <a:solidFill>
                  <a:srgbClr val="212121"/>
                </a:solidFill>
                <a:latin typeface="Calibri" pitchFamily="34" charset="0"/>
                <a:ea typeface="Calibri" pitchFamily="34" charset="-122"/>
                <a:cs typeface="Calibri" pitchFamily="34" charset="-120"/>
              </a:rPr>
              <a:t> (yukarı doğru)</a:t>
            </a:r>
            <a:endParaRPr lang="en-US" sz="1700" dirty="0"/>
          </a:p>
        </p:txBody>
      </p:sp>
      <p:sp>
        <p:nvSpPr>
          <p:cNvPr id="18" name="Text 16"/>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9" name="Text 1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PDBParser ile gezinme</a:t>
            </a:r>
            <a:endParaRPr lang="en-US" sz="3000" dirty="0"/>
          </a:p>
        </p:txBody>
      </p:sp>
      <p:sp>
        <p:nvSpPr>
          <p:cNvPr id="3" name="Text 1"/>
          <p:cNvSpPr txBox="1"/>
          <p:nvPr/>
        </p:nvSpPr>
        <p:spPr>
          <a:xfrm>
            <a:off x="548640" y="4910328"/>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138928"/>
            <a:ext cx="6878537" cy="1124712"/>
          </a:xfrm>
          <a:prstGeom prst="roundRect">
            <a:avLst>
              <a:gd name="adj" fmla="val 6504"/>
            </a:avLst>
          </a:prstGeom>
          <a:solidFill>
            <a:srgbClr val="FFFFFF"/>
          </a:solidFill>
          <a:ln w="12700">
            <a:solidFill>
              <a:srgbClr val="B0BEC5"/>
            </a:solidFill>
            <a:prstDash val="solid"/>
          </a:ln>
        </p:spPr>
      </p:sp>
      <p:sp>
        <p:nvSpPr>
          <p:cNvPr id="5" name="Text 3"/>
          <p:cNvSpPr txBox="1"/>
          <p:nvPr/>
        </p:nvSpPr>
        <p:spPr>
          <a:xfrm>
            <a:off x="658368" y="5212080"/>
            <a:ext cx="6659081" cy="978408"/>
          </a:xfrm>
          <a:prstGeom prst="rect">
            <a:avLst/>
          </a:prstGeom>
          <a:noFill/>
          <a:ln/>
        </p:spPr>
        <p:txBody>
          <a:bodyPr wrap="square" lIns="0" tIns="0" rIns="0" bIns="0" rtlCol="0" anchor="t"/>
          <a:lstStyle/>
          <a:p>
            <a:pPr indent="0" marL="0">
              <a:lnSpc>
                <a:spcPct val="100000"/>
              </a:lnSpc>
              <a:buNone/>
            </a:pPr>
            <a:r>
              <a:rPr lang="en-US" sz="1250" dirty="0">
                <a:solidFill>
                  <a:srgbClr val="37474F"/>
                </a:solidFill>
                <a:latin typeface="Courier New" pitchFamily="34" charset="0"/>
                <a:ea typeface="Courier New" pitchFamily="34" charset="-122"/>
                <a:cs typeface="Courier New" pitchFamily="34" charset="-120"/>
              </a:rPr>
              <a:t>Model 0, Zincir A: 158 kalıntı -&gt; standart=66, hetero(MSE)=4, su=88</a:t>
            </a:r>
            <a:endParaRPr lang="en-US" sz="1250" dirty="0"/>
          </a:p>
          <a:p>
            <a:pPr indent="0" marL="0">
              <a:lnSpc>
                <a:spcPct val="100000"/>
              </a:lnSpc>
              <a:buNone/>
            </a:pPr>
            <a:r>
              <a:rPr lang="en-US" sz="1250" dirty="0">
                <a:solidFill>
                  <a:srgbClr val="37474F"/>
                </a:solidFill>
                <a:latin typeface="Courier New" pitchFamily="34" charset="0"/>
                <a:ea typeface="Courier New" pitchFamily="34" charset="-122"/>
                <a:cs typeface="Courier New" pitchFamily="34" charset="-120"/>
              </a:rPr>
              <a:t>Toplam atom: 644</a:t>
            </a:r>
            <a:endParaRPr lang="en-US" sz="1250" dirty="0"/>
          </a:p>
          <a:p>
            <a:pPr indent="0" marL="0">
              <a:lnSpc>
                <a:spcPct val="100000"/>
              </a:lnSpc>
              <a:buNone/>
            </a:pPr>
            <a:r>
              <a:rPr lang="en-US" sz="1250" dirty="0">
                <a:solidFill>
                  <a:srgbClr val="37474F"/>
                </a:solidFill>
                <a:latin typeface="Courier New" pitchFamily="34" charset="0"/>
                <a:ea typeface="Courier New" pitchFamily="34" charset="-122"/>
                <a:cs typeface="Courier New" pitchFamily="34" charset="-120"/>
              </a:rPr>
              <a:t>Kalıntı 152: ASP ['N', 'CA', 'C', 'O', 'CB', 'CG', 'OD1', 'OD2']</a:t>
            </a:r>
            <a:endParaRPr lang="en-US" sz="1250" dirty="0"/>
          </a:p>
          <a:p>
            <a:pPr indent="0" marL="0">
              <a:lnSpc>
                <a:spcPct val="100000"/>
              </a:lnSpc>
              <a:buNone/>
            </a:pPr>
            <a:r>
              <a:rPr lang="en-US" sz="1250" dirty="0">
                <a:solidFill>
                  <a:srgbClr val="37474F"/>
                </a:solidFill>
                <a:latin typeface="Courier New" pitchFamily="34" charset="0"/>
                <a:ea typeface="Courier New" pitchFamily="34" charset="-122"/>
                <a:cs typeface="Courier New" pitchFamily="34" charset="-120"/>
              </a:rPr>
              <a:t>CA: [21.835 36.306 28.144] | B: 20.88</a:t>
            </a:r>
            <a:endParaRPr lang="en-US" sz="1250" dirty="0"/>
          </a:p>
        </p:txBody>
      </p:sp>
      <p:sp>
        <p:nvSpPr>
          <p:cNvPr id="6" name="Shape 4"/>
          <p:cNvSpPr/>
          <p:nvPr/>
        </p:nvSpPr>
        <p:spPr>
          <a:xfrm>
            <a:off x="548640" y="1234440"/>
            <a:ext cx="6878537" cy="3630168"/>
          </a:xfrm>
          <a:prstGeom prst="roundRect">
            <a:avLst>
              <a:gd name="adj" fmla="val 2015"/>
            </a:avLst>
          </a:prstGeom>
          <a:solidFill>
            <a:srgbClr val="F4F6F7"/>
          </a:solidFill>
          <a:ln w="12700">
            <a:solidFill>
              <a:srgbClr val="B0BEC5"/>
            </a:solidFill>
            <a:prstDash val="solid"/>
          </a:ln>
        </p:spPr>
      </p:sp>
      <p:sp>
        <p:nvSpPr>
          <p:cNvPr id="7" name="Text 5"/>
          <p:cNvSpPr txBox="1"/>
          <p:nvPr/>
        </p:nvSpPr>
        <p:spPr>
          <a:xfrm>
            <a:off x="658368" y="1307592"/>
            <a:ext cx="6659081" cy="3483864"/>
          </a:xfrm>
          <a:prstGeom prst="rect">
            <a:avLst/>
          </a:prstGeom>
          <a:noFill/>
          <a:ln/>
        </p:spPr>
        <p:txBody>
          <a:bodyPr wrap="square" lIns="0" tIns="0" rIns="0" bIns="0" rtlCol="0" anchor="t"/>
          <a:lstStyle/>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from Bio.PDB import PDBParser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from collections import Counter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yapi = PDBParser(QUIET=True).get_structure("1A8O",</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"veri/1A8O.pdb")</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for model in yapi:</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for zincir in model:</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tipler = Counter(r.id[0] for r in zincir)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print(f"Model {model.id}, Zincir {zincir.id}: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f"{len(zincir)} kalıntı -&gt; standart={tipler[' ']},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f"hetero(MSE)={tipler['H_MSE']}, su={tipler['W']}")</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print("Toplam atom:", len(list(yapi.get_atoms())))</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zincir = yapi[0]["A"]</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k = zincir[152]</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print("Kalıntı 152:", k.get_resname(),</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[a.get_id() for a in k])</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print("CA:", k["CA"].coord, "| B:", k["CA"].get_bfactor())</a:t>
            </a:r>
            <a:endParaRPr lang="en-US" sz="1250" dirty="0"/>
          </a:p>
        </p:txBody>
      </p:sp>
      <p:sp>
        <p:nvSpPr>
          <p:cNvPr id="8" name="Text 6"/>
          <p:cNvSpPr txBox="1"/>
          <p:nvPr/>
        </p:nvSpPr>
        <p:spPr>
          <a:xfrm>
            <a:off x="7747217" y="1234440"/>
            <a:ext cx="389583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QUIET=True</a:t>
            </a:r>
            <a:r>
              <a:rPr lang="en-US" sz="1700" dirty="0">
                <a:solidFill>
                  <a:srgbClr val="212121"/>
                </a:solidFill>
                <a:latin typeface="Calibri" pitchFamily="34" charset="0"/>
                <a:ea typeface="Calibri" pitchFamily="34" charset="-122"/>
                <a:cs typeface="Calibri" pitchFamily="34" charset="-120"/>
              </a:rPr>
              <a:t>: format uyarılarını bastırır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Zincir 158 "kalıntı" içerir: 66 + 4 + </a:t>
            </a:r>
            <a:r>
              <a:rPr lang="en-US" sz="1700" b="1" dirty="0">
                <a:solidFill>
                  <a:srgbClr val="212121"/>
                </a:solidFill>
                <a:latin typeface="Calibri" pitchFamily="34" charset="0"/>
                <a:ea typeface="Calibri" pitchFamily="34" charset="-122"/>
                <a:cs typeface="Calibri" pitchFamily="34" charset="-120"/>
              </a:rPr>
              <a:t>88 su</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Protein = 66 + 4 = </a:t>
            </a:r>
            <a:r>
              <a:rPr lang="en-US" sz="1700" b="1" dirty="0">
                <a:solidFill>
                  <a:srgbClr val="212121"/>
                </a:solidFill>
                <a:latin typeface="Calibri" pitchFamily="34" charset="0"/>
                <a:ea typeface="Calibri" pitchFamily="34" charset="-122"/>
                <a:cs typeface="Calibri" pitchFamily="34" charset="-120"/>
              </a:rPr>
              <a:t>70</a:t>
            </a:r>
            <a:r>
              <a:rPr lang="en-US" sz="1700" dirty="0">
                <a:solidFill>
                  <a:srgbClr val="212121"/>
                </a:solidFill>
                <a:latin typeface="Calibri" pitchFamily="34" charset="0"/>
                <a:ea typeface="Calibri" pitchFamily="34" charset="-122"/>
                <a:cs typeface="Calibri" pitchFamily="34" charset="-120"/>
              </a:rPr>
              <a:t> amino asit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coord</a:t>
            </a:r>
            <a:r>
              <a:rPr lang="en-US" sz="1700" dirty="0">
                <a:solidFill>
                  <a:srgbClr val="212121"/>
                </a:solidFill>
                <a:latin typeface="Calibri" pitchFamily="34" charset="0"/>
                <a:ea typeface="Calibri" pitchFamily="34" charset="-122"/>
                <a:cs typeface="Calibri" pitchFamily="34" charset="-120"/>
              </a:rPr>
              <a:t>: NumPy dizisi (float32) → doğrudan vektör işlemleri</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Diziyi yapıdan çıkarmak: hetero kalıntı tuzağı</a:t>
            </a:r>
            <a:endParaRPr lang="en-US" sz="2800" dirty="0"/>
          </a:p>
        </p:txBody>
      </p:sp>
      <p:sp>
        <p:nvSpPr>
          <p:cNvPr id="3" name="Shape 1"/>
          <p:cNvSpPr/>
          <p:nvPr/>
        </p:nvSpPr>
        <p:spPr>
          <a:xfrm>
            <a:off x="548640" y="1234440"/>
            <a:ext cx="5364328" cy="5029200"/>
          </a:xfrm>
          <a:prstGeom prst="roundRect">
            <a:avLst>
              <a:gd name="adj" fmla="val 1455"/>
            </a:avLst>
          </a:prstGeom>
          <a:solidFill>
            <a:srgbClr val="F7F9FA"/>
          </a:solidFill>
          <a:ln w="12700">
            <a:solidFill>
              <a:srgbClr val="B0BEC5"/>
            </a:solidFill>
            <a:prstDash val="solid"/>
          </a:ln>
        </p:spPr>
      </p:sp>
      <p:sp>
        <p:nvSpPr>
          <p:cNvPr id="4" name="Text 2"/>
          <p:cNvSpPr txBox="1"/>
          <p:nvPr/>
        </p:nvSpPr>
        <p:spPr>
          <a:xfrm>
            <a:off x="731520"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PPBuilder (varsayılan)</a:t>
            </a:r>
            <a:endParaRPr lang="en-US" sz="1800" dirty="0"/>
          </a:p>
        </p:txBody>
      </p:sp>
      <p:sp>
        <p:nvSpPr>
          <p:cNvPr id="5" name="Shape 3"/>
          <p:cNvSpPr/>
          <p:nvPr/>
        </p:nvSpPr>
        <p:spPr>
          <a:xfrm>
            <a:off x="731520" y="1828800"/>
            <a:ext cx="4998568" cy="4297680"/>
          </a:xfrm>
          <a:prstGeom prst="roundRect">
            <a:avLst>
              <a:gd name="adj" fmla="val 1702"/>
            </a:avLst>
          </a:prstGeom>
          <a:solidFill>
            <a:srgbClr val="F4F6F7"/>
          </a:solidFill>
          <a:ln w="12700">
            <a:solidFill>
              <a:srgbClr val="B0BEC5"/>
            </a:solidFill>
            <a:prstDash val="solid"/>
          </a:ln>
        </p:spPr>
      </p:sp>
      <p:sp>
        <p:nvSpPr>
          <p:cNvPr id="6" name="Text 4"/>
          <p:cNvSpPr txBox="1"/>
          <p:nvPr/>
        </p:nvSpPr>
        <p:spPr>
          <a:xfrm>
            <a:off x="841248" y="1901952"/>
            <a:ext cx="4779112" cy="4151376"/>
          </a:xfrm>
          <a:prstGeom prst="rect">
            <a:avLst/>
          </a:prstGeom>
          <a:noFill/>
          <a:ln/>
        </p:spPr>
        <p:txBody>
          <a:bodyPr wrap="square" lIns="0" tIns="0" rIns="0" bIns="0" rtlCol="0" anchor="t"/>
          <a:lstStyle/>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from Bio.PDB import PPBuilder</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for pp in PPBuilder().build_peptides(yapi):</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print(pp[0].id[1], pp[-1].id[1],</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pp.get_sequence())</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152 184 DIRQGPKEPFRDYVDRFYKTLRAEQASQEVKNW</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186 213 TETLLVQNANPDCKTILKALGPGATLEE</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216 220 TACQG</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-&gt; MSE'lerde (151, 185, 214, 215) bölünür</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33 + 28 + 5 = 66 aa: 4 MSE kayboldu</a:t>
            </a:r>
            <a:endParaRPr lang="en-US" sz="1400" dirty="0"/>
          </a:p>
        </p:txBody>
      </p:sp>
      <p:sp>
        <p:nvSpPr>
          <p:cNvPr id="7" name="Shape 5"/>
          <p:cNvSpPr/>
          <p:nvPr/>
        </p:nvSpPr>
        <p:spPr>
          <a:xfrm>
            <a:off x="6278728" y="1234440"/>
            <a:ext cx="5364328" cy="5029200"/>
          </a:xfrm>
          <a:prstGeom prst="roundRect">
            <a:avLst>
              <a:gd name="adj" fmla="val 1455"/>
            </a:avLst>
          </a:prstGeom>
          <a:solidFill>
            <a:srgbClr val="FDECEA"/>
          </a:solidFill>
          <a:ln w="12700">
            <a:solidFill>
              <a:srgbClr val="B0BEC5"/>
            </a:solidFill>
            <a:prstDash val="solid"/>
          </a:ln>
        </p:spPr>
      </p:sp>
      <p:sp>
        <p:nvSpPr>
          <p:cNvPr id="8" name="Text 6"/>
          <p:cNvSpPr txBox="1"/>
          <p:nvPr/>
        </p:nvSpPr>
        <p:spPr>
          <a:xfrm>
            <a:off x="6461608" y="1344168"/>
            <a:ext cx="4998568" cy="411480"/>
          </a:xfrm>
          <a:prstGeom prst="rect">
            <a:avLst/>
          </a:prstGeom>
          <a:noFill/>
          <a:ln/>
        </p:spPr>
        <p:txBody>
          <a:bodyPr wrap="square" lIns="0" tIns="0" rIns="0" bIns="0" rtlCol="0" anchor="ctr"/>
          <a:lstStyle/>
          <a:p>
            <a:pPr indent="0" marL="0">
              <a:buNone/>
            </a:pPr>
            <a:r>
              <a:rPr lang="en-US" sz="1800" b="1" dirty="0">
                <a:solidFill>
                  <a:srgbClr val="B71C1C"/>
                </a:solidFill>
              </a:rPr>
              <a:t>is_aa + seq1 (doğru yol)</a:t>
            </a:r>
            <a:endParaRPr lang="en-US" sz="1800" dirty="0"/>
          </a:p>
        </p:txBody>
      </p:sp>
      <p:sp>
        <p:nvSpPr>
          <p:cNvPr id="9" name="Shape 7"/>
          <p:cNvSpPr/>
          <p:nvPr/>
        </p:nvSpPr>
        <p:spPr>
          <a:xfrm>
            <a:off x="6461608" y="1828800"/>
            <a:ext cx="4998568" cy="4297680"/>
          </a:xfrm>
          <a:prstGeom prst="roundRect">
            <a:avLst>
              <a:gd name="adj" fmla="val 1702"/>
            </a:avLst>
          </a:prstGeom>
          <a:solidFill>
            <a:srgbClr val="F4F6F7"/>
          </a:solidFill>
          <a:ln w="12700">
            <a:solidFill>
              <a:srgbClr val="B0BEC5"/>
            </a:solidFill>
            <a:prstDash val="solid"/>
          </a:ln>
        </p:spPr>
      </p:sp>
      <p:sp>
        <p:nvSpPr>
          <p:cNvPr id="10" name="Text 8"/>
          <p:cNvSpPr txBox="1"/>
          <p:nvPr/>
        </p:nvSpPr>
        <p:spPr>
          <a:xfrm>
            <a:off x="6571336" y="1901952"/>
            <a:ext cx="4779112" cy="4151376"/>
          </a:xfrm>
          <a:prstGeom prst="rect">
            <a:avLst/>
          </a:prstGeom>
          <a:noFill/>
          <a:ln/>
        </p:spPr>
        <p:txBody>
          <a:bodyPr wrap="square" lIns="0" tIns="0" rIns="0" bIns="0" rtlCol="0" anchor="t"/>
          <a:lstStyle/>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from Bio.PDB import is_aa</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from Bio.SeqUtils import seq1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kal = [r for r in zincir</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if is_aa(r, standard=False)]</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dizi = seq1("".join(r.get_resname()</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for r in kal),</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custom_map={"MSE": "M"})</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print(len(dizi), dizi[:20])</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70 MDIRQGPKEPFRDYVDRFYK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standard=False: MSE de amino asit</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custom_map: MSE -&gt; M  =&gt; tam dizi</a:t>
            </a:r>
            <a:endParaRPr lang="en-US" sz="1500" dirty="0"/>
          </a:p>
        </p:txBody>
      </p:sp>
      <p:sp>
        <p:nvSpPr>
          <p:cNvPr id="11" name="Text 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2" name="Text 1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Geometri: uzaklık, açı, dihedral</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Koordinatlardan yapısal parametrelere; Ramachandran grafiği</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Geometrik ölçüler</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Uzaklık</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d = √((x₂−x₁)² + (y₂−y₁)² + (z₂−z₁)²)</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Biopython: </a:t>
            </a:r>
            <a:r>
              <a:rPr lang="en-US" sz="1300" dirty="0">
                <a:solidFill>
                  <a:srgbClr val="455A64"/>
                </a:solidFill>
                <a:latin typeface="Courier New" pitchFamily="34" charset="0"/>
                <a:ea typeface="Courier New" pitchFamily="34" charset="-122"/>
                <a:cs typeface="Courier New" pitchFamily="34" charset="-120"/>
              </a:rPr>
              <a:t>atom1 - atom2</a:t>
            </a:r>
            <a:r>
              <a:rPr lang="en-US" sz="1300" dirty="0">
                <a:solidFill>
                  <a:srgbClr val="546E7A"/>
                </a:solidFill>
                <a:latin typeface="Calibri" pitchFamily="34" charset="0"/>
                <a:ea typeface="Calibri" pitchFamily="34" charset="-122"/>
                <a:cs typeface="Calibri" pitchFamily="34" charset="-120"/>
              </a:rPr>
              <a:t> doğrudan uzaklık (Å)</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Açı (A–B–C)</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cos θ = (u · v) / (|u| |v|),  u = A − B, v = C − B</a:t>
            </a:r>
            <a:endParaRPr lang="en-US" sz="15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Tepe noktası ortadaki atom; </a:t>
            </a:r>
            <a:r>
              <a:rPr lang="en-US" sz="1300" dirty="0">
                <a:solidFill>
                  <a:srgbClr val="455A64"/>
                </a:solidFill>
                <a:latin typeface="Courier New" pitchFamily="34" charset="0"/>
                <a:ea typeface="Courier New" pitchFamily="34" charset="-122"/>
                <a:cs typeface="Courier New" pitchFamily="34" charset="-120"/>
              </a:rPr>
              <a:t>calc_angle(a, b, c)</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Dihedral (A–B–C–D)</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φ = atan2((b̂₁ × v) · w,  v · w)</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v, w: b₀ ve b₂'nin B–C eksenine dik bileşenleri; −180°…+180°</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Omurga açıları</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φ: C(i−1)–N–Cα–C    ψ: N–Cα–C–N(i+1)</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ω (peptit bağı) ≈ 180°: düzlemsel; serbestlik φ ve ψ'de</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Dihedral açısı, B–C bağı etrafındaki </a:t>
            </a:r>
            <a:r>
              <a:rPr lang="en-US" sz="1600" b="1" dirty="0">
                <a:solidFill>
                  <a:srgbClr val="212121"/>
                </a:solidFill>
                <a:latin typeface="Calibri" pitchFamily="34" charset="0"/>
                <a:ea typeface="Calibri" pitchFamily="34" charset="-122"/>
                <a:cs typeface="Calibri" pitchFamily="34" charset="-120"/>
              </a:rPr>
              <a:t>dönmeyi</a:t>
            </a:r>
            <a:r>
              <a:rPr lang="en-US" sz="1600" dirty="0">
                <a:solidFill>
                  <a:srgbClr val="212121"/>
                </a:solidFill>
                <a:latin typeface="Calibri" pitchFamily="34" charset="0"/>
                <a:ea typeface="Calibri" pitchFamily="34" charset="-122"/>
                <a:cs typeface="Calibri" pitchFamily="34" charset="-120"/>
              </a:rPr>
              <a:t> ölçer: A ve D'nin B–C eksenine bakıldığında aralarındaki açı. İşaret önemlidir (saat yönü / tersi); bu yüzden </a:t>
            </a:r>
            <a:r>
              <a:rPr lang="en-US" sz="1600" dirty="0">
                <a:solidFill>
                  <a:srgbClr val="455A64"/>
                </a:solidFill>
                <a:latin typeface="Courier New" pitchFamily="34" charset="0"/>
                <a:ea typeface="Courier New" pitchFamily="34" charset="-122"/>
                <a:cs typeface="Courier New" pitchFamily="34" charset="-120"/>
              </a:rPr>
              <a:t>arccos</a:t>
            </a:r>
            <a:r>
              <a:rPr lang="en-US" sz="1600" dirty="0">
                <a:solidFill>
                  <a:srgbClr val="212121"/>
                </a:solidFill>
                <a:latin typeface="Calibri" pitchFamily="34" charset="0"/>
                <a:ea typeface="Calibri" pitchFamily="34" charset="-122"/>
                <a:cs typeface="Calibri" pitchFamily="34" charset="-120"/>
              </a:rPr>
              <a:t> değil </a:t>
            </a:r>
            <a:r>
              <a:rPr lang="en-US" sz="1600" b="1" dirty="0">
                <a:solidFill>
                  <a:srgbClr val="212121"/>
                </a:solidFill>
                <a:latin typeface="Calibri" pitchFamily="34" charset="0"/>
                <a:ea typeface="Calibri" pitchFamily="34" charset="-122"/>
                <a:cs typeface="Calibri" pitchFamily="34" charset="-120"/>
              </a:rPr>
              <a:t>atan2</a:t>
            </a:r>
            <a:r>
              <a:rPr lang="en-US" sz="1600" dirty="0">
                <a:solidFill>
                  <a:srgbClr val="212121"/>
                </a:solidFill>
                <a:latin typeface="Calibri" pitchFamily="34" charset="0"/>
                <a:ea typeface="Calibri" pitchFamily="34" charset="-122"/>
                <a:cs typeface="Calibri" pitchFamily="34" charset="-120"/>
              </a:rPr>
              <a:t> kullanılır.</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Uzaklık: basit örnek ve gerçek bir temas</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A = (1, 2, 3), B = (4, 6, 3) arasındaki uzaklık? (b) 1A8O'da VAL165 Cα = (23.720, 37.002, 15.614) ile LEU190 Cα = (16.876, 35.211, 18.356) arasındaki uzaklık? 8 Å temas eşiğine göre temas var mı?</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Δ = (3, 4, 0) → d = √(9 + 16 + 0) = √25 = </a:t>
            </a:r>
            <a:r>
              <a:rPr lang="en-US" sz="1800" b="1" dirty="0">
                <a:solidFill>
                  <a:srgbClr val="212121"/>
                </a:solidFill>
                <a:latin typeface="Calibri" pitchFamily="34" charset="0"/>
                <a:ea typeface="Calibri" pitchFamily="34" charset="-122"/>
                <a:cs typeface="Calibri" pitchFamily="34" charset="-120"/>
              </a:rPr>
              <a:t>5 Å</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Δ = (−6.844, −1.791, 2.742)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Kareler: 46.84 + 3.21 + 7.52 = 57.57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 = √57.57 = </a:t>
            </a:r>
            <a:r>
              <a:rPr lang="en-US" sz="1800" b="1" dirty="0">
                <a:solidFill>
                  <a:srgbClr val="212121"/>
                </a:solidFill>
                <a:latin typeface="Calibri" pitchFamily="34" charset="0"/>
                <a:ea typeface="Calibri" pitchFamily="34" charset="-122"/>
                <a:cs typeface="Calibri" pitchFamily="34" charset="-120"/>
              </a:rPr>
              <a:t>7.59 Å</a:t>
            </a:r>
            <a:r>
              <a:rPr lang="en-US" sz="1800" dirty="0">
                <a:solidFill>
                  <a:srgbClr val="212121"/>
                </a:solidFill>
                <a:latin typeface="Calibri" pitchFamily="34" charset="0"/>
                <a:ea typeface="Calibri" pitchFamily="34" charset="-122"/>
                <a:cs typeface="Calibri" pitchFamily="34" charset="-120"/>
              </a:rPr>
              <a:t> &lt; 8 Å → </a:t>
            </a:r>
            <a:r>
              <a:rPr lang="en-US" sz="1800" b="1" dirty="0">
                <a:solidFill>
                  <a:srgbClr val="212121"/>
                </a:solidFill>
                <a:latin typeface="Calibri" pitchFamily="34" charset="0"/>
                <a:ea typeface="Calibri" pitchFamily="34" charset="-122"/>
                <a:cs typeface="Calibri" pitchFamily="34" charset="-120"/>
              </a:rPr>
              <a:t>temas var</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Dizide 25 kalıntı uzak ama uzayda yakın → </a:t>
            </a:r>
            <a:r>
              <a:rPr lang="en-US" sz="1800" b="1" dirty="0">
                <a:solidFill>
                  <a:srgbClr val="212121"/>
                </a:solidFill>
                <a:latin typeface="Calibri" pitchFamily="34" charset="0"/>
                <a:ea typeface="Calibri" pitchFamily="34" charset="-122"/>
                <a:cs typeface="Calibri" pitchFamily="34" charset="-120"/>
              </a:rPr>
              <a:t>üçüncül yapı</a:t>
            </a:r>
            <a:r>
              <a:rPr lang="en-US" sz="1800" dirty="0">
                <a:solidFill>
                  <a:srgbClr val="212121"/>
                </a:solidFill>
                <a:latin typeface="Calibri" pitchFamily="34" charset="0"/>
                <a:ea typeface="Calibri" pitchFamily="34" charset="-122"/>
                <a:cs typeface="Calibri" pitchFamily="34" charset="-120"/>
              </a:rPr>
              <a:t> teması (heliks 1 ile heliks 2–3 arası)</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 </a:t>
            </a:r>
            <a:r>
              <a:rPr lang="en-US" sz="1700" b="1" dirty="0">
                <a:solidFill>
                  <a:srgbClr val="212121"/>
                </a:solidFill>
                <a:latin typeface="Calibri" pitchFamily="34" charset="0"/>
                <a:ea typeface="Calibri" pitchFamily="34" charset="-122"/>
                <a:cs typeface="Calibri" pitchFamily="34" charset="-120"/>
              </a:rPr>
              <a:t>5 Å</a:t>
            </a:r>
            <a:r>
              <a:rPr lang="en-US" sz="1700" dirty="0">
                <a:solidFill>
                  <a:srgbClr val="212121"/>
                </a:solidFill>
                <a:latin typeface="Calibri" pitchFamily="34" charset="0"/>
                <a:ea typeface="Calibri" pitchFamily="34" charset="-122"/>
                <a:cs typeface="Calibri" pitchFamily="34" charset="-120"/>
              </a:rPr>
              <a:t>; (b) </a:t>
            </a:r>
            <a:r>
              <a:rPr lang="en-US" sz="1700" b="1" dirty="0">
                <a:solidFill>
                  <a:srgbClr val="212121"/>
                </a:solidFill>
                <a:latin typeface="Calibri" pitchFamily="34" charset="0"/>
                <a:ea typeface="Calibri" pitchFamily="34" charset="-122"/>
                <a:cs typeface="Calibri" pitchFamily="34" charset="-120"/>
              </a:rPr>
              <a:t>7.59 Å</a:t>
            </a:r>
            <a:r>
              <a:rPr lang="en-US" sz="1700" dirty="0">
                <a:solidFill>
                  <a:srgbClr val="212121"/>
                </a:solidFill>
                <a:latin typeface="Calibri" pitchFamily="34" charset="0"/>
                <a:ea typeface="Calibri" pitchFamily="34" charset="-122"/>
                <a:cs typeface="Calibri" pitchFamily="34" charset="-120"/>
              </a:rPr>
              <a:t> — iki farklı heliksteki kalıntılar temas halinde. Temas haritasında köşegenden uzak siyah noktalar bu tür temaslardır.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Bağ açısı: LYS170'te N–Cα–C</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gerçek koordinatlarla)</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LYS170: N = (27.508, 32.195, 19.432), Cα = (28.691, 31.859, 20.208), C = (28.183, 31.155, 21.468). Tepe noktası Cα olan N–Cα–C açısını hesaplayın.</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u = N − Cα = (−1.183, 0.336, −0.776);  v = C − Cα = (−0.508, −0.704, 1.260)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u · v = 0.601 − 0.237 − 0.978 = </a:t>
            </a:r>
            <a:r>
              <a:rPr lang="en-US" sz="1800" b="1" dirty="0">
                <a:solidFill>
                  <a:srgbClr val="212121"/>
                </a:solidFill>
                <a:latin typeface="Calibri" pitchFamily="34" charset="0"/>
                <a:ea typeface="Calibri" pitchFamily="34" charset="-122"/>
                <a:cs typeface="Calibri" pitchFamily="34" charset="-120"/>
              </a:rPr>
              <a:t>−0.613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|u| = </a:t>
            </a:r>
            <a:r>
              <a:rPr lang="en-US" sz="1800" b="1" dirty="0">
                <a:solidFill>
                  <a:srgbClr val="212121"/>
                </a:solidFill>
                <a:latin typeface="Calibri" pitchFamily="34" charset="0"/>
                <a:ea typeface="Calibri" pitchFamily="34" charset="-122"/>
                <a:cs typeface="Calibri" pitchFamily="34" charset="-120"/>
              </a:rPr>
              <a:t>1.454 Å</a:t>
            </a:r>
            <a:r>
              <a:rPr lang="en-US" sz="1800" dirty="0">
                <a:solidFill>
                  <a:srgbClr val="212121"/>
                </a:solidFill>
                <a:latin typeface="Calibri" pitchFamily="34" charset="0"/>
                <a:ea typeface="Calibri" pitchFamily="34" charset="-122"/>
                <a:cs typeface="Calibri" pitchFamily="34" charset="-120"/>
              </a:rPr>
              <a:t> (N–Cα bağı);  |v| = </a:t>
            </a:r>
            <a:r>
              <a:rPr lang="en-US" sz="1800" b="1" dirty="0">
                <a:solidFill>
                  <a:srgbClr val="212121"/>
                </a:solidFill>
                <a:latin typeface="Calibri" pitchFamily="34" charset="0"/>
                <a:ea typeface="Calibri" pitchFamily="34" charset="-122"/>
                <a:cs typeface="Calibri" pitchFamily="34" charset="-120"/>
              </a:rPr>
              <a:t>1.530 Å</a:t>
            </a:r>
            <a:r>
              <a:rPr lang="en-US" sz="1800" dirty="0">
                <a:solidFill>
                  <a:srgbClr val="212121"/>
                </a:solidFill>
                <a:latin typeface="Calibri" pitchFamily="34" charset="0"/>
                <a:ea typeface="Calibri" pitchFamily="34" charset="-122"/>
                <a:cs typeface="Calibri" pitchFamily="34" charset="-120"/>
              </a:rPr>
              <a:t> (Cα–C bağı)</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cos θ = −0.613 / (1.454 × 1.530) = </a:t>
            </a:r>
            <a:r>
              <a:rPr lang="en-US" sz="1800" b="1" dirty="0">
                <a:solidFill>
                  <a:srgbClr val="212121"/>
                </a:solidFill>
                <a:latin typeface="Calibri" pitchFamily="34" charset="0"/>
                <a:ea typeface="Calibri" pitchFamily="34" charset="-122"/>
                <a:cs typeface="Calibri" pitchFamily="34" charset="-120"/>
              </a:rPr>
              <a:t>−0.2757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θ = arccos(−0.2757) = </a:t>
            </a:r>
            <a:r>
              <a:rPr lang="en-US" sz="1800" b="1" dirty="0">
                <a:solidFill>
                  <a:srgbClr val="212121"/>
                </a:solidFill>
                <a:latin typeface="Calibri" pitchFamily="34" charset="0"/>
                <a:ea typeface="Calibri" pitchFamily="34" charset="-122"/>
                <a:cs typeface="Calibri" pitchFamily="34" charset="-120"/>
              </a:rPr>
              <a:t>106.0°</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1921606"/>
                <a:gridCol w="1372575"/>
                <a:gridCol w="82354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Ölçü</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1A8O (170)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Tipik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N–Cα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1.454 Å</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1.46 Å</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Cα–C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1.530 Å</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1.52 Å</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N–Cα–C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106.0°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111°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Cα–Cα (i, i+1)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3.82 Å</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 Å</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θ = </a:t>
            </a:r>
            <a:r>
              <a:rPr lang="en-US" sz="1700" b="1" dirty="0">
                <a:solidFill>
                  <a:srgbClr val="212121"/>
                </a:solidFill>
                <a:latin typeface="Calibri" pitchFamily="34" charset="0"/>
                <a:ea typeface="Calibri" pitchFamily="34" charset="-122"/>
                <a:cs typeface="Calibri" pitchFamily="34" charset="-120"/>
              </a:rPr>
              <a:t>106.0°</a:t>
            </a:r>
            <a:r>
              <a:rPr lang="en-US" sz="1700" dirty="0">
                <a:solidFill>
                  <a:srgbClr val="212121"/>
                </a:solidFill>
                <a:latin typeface="Calibri" pitchFamily="34" charset="0"/>
                <a:ea typeface="Calibri" pitchFamily="34" charset="-122"/>
                <a:cs typeface="Calibri" pitchFamily="34" charset="-120"/>
              </a:rPr>
              <a:t> — notebook </a:t>
            </a:r>
            <a:r>
              <a:rPr lang="en-US" sz="1700" dirty="0">
                <a:solidFill>
                  <a:srgbClr val="455A64"/>
                </a:solidFill>
                <a:latin typeface="Courier New" pitchFamily="34" charset="0"/>
                <a:ea typeface="Courier New" pitchFamily="34" charset="-122"/>
                <a:cs typeface="Courier New" pitchFamily="34" charset="-120"/>
              </a:rPr>
              <a:t>calc_angle</a:t>
            </a:r>
            <a:r>
              <a:rPr lang="en-US" sz="1700" dirty="0">
                <a:solidFill>
                  <a:srgbClr val="212121"/>
                </a:solidFill>
                <a:latin typeface="Calibri" pitchFamily="34" charset="0"/>
                <a:ea typeface="Calibri" pitchFamily="34" charset="-122"/>
                <a:cs typeface="Calibri" pitchFamily="34" charset="-120"/>
              </a:rPr>
              <a:t> çıktısıyla aynı. Tipik değerden ≈ 5° sapma, kristal yapılarda görülen normal dağılım içindedir.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Dihedral açısını elle hesaplamak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p0 = (1, 0, 0), p1 = (0, 0, 0), p2 = (0, 0, 1.5), p3 = (0.5, −0.866, 1.5). p1–p2 ekseni etrafındaki dihedral açısını bulun.</a:t>
            </a:r>
            <a:endParaRPr lang="en-US" sz="1800" dirty="0"/>
          </a:p>
        </p:txBody>
      </p:sp>
      <p:sp>
        <p:nvSpPr>
          <p:cNvPr id="6" name="Text 4"/>
          <p:cNvSpPr txBox="1"/>
          <p:nvPr/>
        </p:nvSpPr>
        <p:spPr>
          <a:xfrm>
            <a:off x="548640" y="2779776"/>
            <a:ext cx="521437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b0 = p0 − p1 = (1, 0, 0);  b1 = p2 − p1 = (0, 0, 1.5) → b̂1 = (0, 0, 1);  b2 = p3 − p2 = (0.5, −0.866, 0)</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Eksene dik bileşenler: v = b0 − (b0·b̂1)b̂1 = (1, 0, 0);  w = b2 − (b2·b̂1)b̂1 = (0.5, −0.866, 0)</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x = v · w = </a:t>
            </a:r>
            <a:r>
              <a:rPr lang="en-US" sz="1450" b="1" dirty="0">
                <a:solidFill>
                  <a:srgbClr val="212121"/>
                </a:solidFill>
                <a:latin typeface="Calibri" pitchFamily="34" charset="0"/>
                <a:ea typeface="Calibri" pitchFamily="34" charset="-122"/>
                <a:cs typeface="Calibri" pitchFamily="34" charset="-120"/>
              </a:rPr>
              <a:t>0.5</a:t>
            </a:r>
            <a:r>
              <a:rPr lang="en-US" sz="1450" dirty="0">
                <a:solidFill>
                  <a:srgbClr val="212121"/>
                </a:solidFill>
                <a:latin typeface="Calibri" pitchFamily="34" charset="0"/>
                <a:ea typeface="Calibri" pitchFamily="34" charset="-122"/>
                <a:cs typeface="Calibri" pitchFamily="34" charset="-120"/>
              </a:rPr>
              <a:t>;  b̂1 × v = (0, 1, 0) → y = (b̂1 × v) · w = </a:t>
            </a:r>
            <a:r>
              <a:rPr lang="en-US" sz="1450" b="1" dirty="0">
                <a:solidFill>
                  <a:srgbClr val="212121"/>
                </a:solidFill>
                <a:latin typeface="Calibri" pitchFamily="34" charset="0"/>
                <a:ea typeface="Calibri" pitchFamily="34" charset="-122"/>
                <a:cs typeface="Calibri" pitchFamily="34" charset="-120"/>
              </a:rPr>
              <a:t>−0.866</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φ = atan2(−0.866, 0.5) = </a:t>
            </a:r>
            <a:r>
              <a:rPr lang="en-US" sz="1450" b="1" dirty="0">
                <a:solidFill>
                  <a:srgbClr val="212121"/>
                </a:solidFill>
                <a:latin typeface="Calibri" pitchFamily="34" charset="0"/>
                <a:ea typeface="Calibri" pitchFamily="34" charset="-122"/>
                <a:cs typeface="Calibri" pitchFamily="34" charset="-120"/>
              </a:rPr>
              <a:t>−60°</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p3 = (−0.5, +0.866, 1.5) olsaydı: x = −0.5, y = +0.866 → </a:t>
            </a:r>
            <a:r>
              <a:rPr lang="en-US" sz="1450" b="1" dirty="0">
                <a:solidFill>
                  <a:srgbClr val="212121"/>
                </a:solidFill>
                <a:latin typeface="Calibri" pitchFamily="34" charset="0"/>
                <a:ea typeface="Calibri" pitchFamily="34" charset="-122"/>
                <a:cs typeface="Calibri" pitchFamily="34" charset="-120"/>
              </a:rPr>
              <a:t>+120°</a:t>
            </a:r>
            <a:endParaRPr lang="en-US" sz="1450" dirty="0"/>
          </a:p>
        </p:txBody>
      </p:sp>
      <p:pic>
        <p:nvPicPr>
          <p:cNvPr id="7" name="Image 0" descr="p10_dihedral.png">    </p:cNvPr>
          <p:cNvPicPr>
            <a:picLocks noChangeAspect="1"/>
          </p:cNvPicPr>
          <p:nvPr/>
        </p:nvPicPr>
        <p:blipFill>
          <a:blip r:embed="rId1"/>
          <a:stretch>
            <a:fillRect/>
          </a:stretch>
        </p:blipFill>
        <p:spPr>
          <a:xfrm>
            <a:off x="6117112" y="2779776"/>
            <a:ext cx="5491886"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Dihedral = </a:t>
            </a:r>
            <a:r>
              <a:rPr lang="en-US" sz="1700" b="1" dirty="0">
                <a:solidFill>
                  <a:srgbClr val="212121"/>
                </a:solidFill>
                <a:latin typeface="Calibri" pitchFamily="34" charset="0"/>
                <a:ea typeface="Calibri" pitchFamily="34" charset="-122"/>
                <a:cs typeface="Calibri" pitchFamily="34" charset="-120"/>
              </a:rPr>
              <a:t>−60°</a:t>
            </a:r>
            <a:r>
              <a:rPr lang="en-US" sz="1700" dirty="0">
                <a:solidFill>
                  <a:srgbClr val="212121"/>
                </a:solidFill>
                <a:latin typeface="Calibri" pitchFamily="34" charset="0"/>
                <a:ea typeface="Calibri" pitchFamily="34" charset="-122"/>
                <a:cs typeface="Calibri" pitchFamily="34" charset="-120"/>
              </a:rPr>
              <a:t> (α-heliks φ değerine yakın). </a:t>
            </a:r>
            <a:r>
              <a:rPr lang="en-US" sz="1700" dirty="0">
                <a:solidFill>
                  <a:srgbClr val="455A64"/>
                </a:solidFill>
                <a:latin typeface="Courier New" pitchFamily="34" charset="0"/>
                <a:ea typeface="Courier New" pitchFamily="34" charset="-122"/>
                <a:cs typeface="Courier New" pitchFamily="34" charset="-120"/>
              </a:rPr>
              <a:t>calc_dihedral</a:t>
            </a:r>
            <a:r>
              <a:rPr lang="en-US" sz="1700" dirty="0">
                <a:solidFill>
                  <a:srgbClr val="212121"/>
                </a:solidFill>
                <a:latin typeface="Calibri" pitchFamily="34" charset="0"/>
                <a:ea typeface="Calibri" pitchFamily="34" charset="-122"/>
                <a:cs typeface="Calibri" pitchFamily="34" charset="-120"/>
              </a:rPr>
              <a:t> aynı sonucu verir. 1A8O'da kalıntı 170: φ = </a:t>
            </a:r>
            <a:r>
              <a:rPr lang="en-US" sz="1700" b="1" dirty="0">
                <a:solidFill>
                  <a:srgbClr val="212121"/>
                </a:solidFill>
                <a:latin typeface="Calibri" pitchFamily="34" charset="0"/>
                <a:ea typeface="Calibri" pitchFamily="34" charset="-122"/>
                <a:cs typeface="Calibri" pitchFamily="34" charset="-120"/>
              </a:rPr>
              <a:t>−67.6°</a:t>
            </a:r>
            <a:r>
              <a:rPr lang="en-US" sz="1700" dirty="0">
                <a:solidFill>
                  <a:srgbClr val="212121"/>
                </a:solidFill>
                <a:latin typeface="Calibri" pitchFamily="34" charset="0"/>
                <a:ea typeface="Calibri" pitchFamily="34" charset="-122"/>
                <a:cs typeface="Calibri" pitchFamily="34" charset="-120"/>
              </a:rPr>
              <a:t>, ψ = </a:t>
            </a:r>
            <a:r>
              <a:rPr lang="en-US" sz="1700" b="1" dirty="0">
                <a:solidFill>
                  <a:srgbClr val="212121"/>
                </a:solidFill>
                <a:latin typeface="Calibri" pitchFamily="34" charset="0"/>
                <a:ea typeface="Calibri" pitchFamily="34" charset="-122"/>
                <a:cs typeface="Calibri" pitchFamily="34" charset="-120"/>
              </a:rPr>
              <a:t>−42.9°</a:t>
            </a:r>
            <a:r>
              <a:rPr lang="en-US" sz="1700" dirty="0">
                <a:solidFill>
                  <a:srgbClr val="212121"/>
                </a:solidFill>
                <a:latin typeface="Calibri" pitchFamily="34" charset="0"/>
                <a:ea typeface="Calibri" pitchFamily="34" charset="-122"/>
                <a:cs typeface="Calibri" pitchFamily="34" charset="-120"/>
              </a:rPr>
              <a:t>.</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Gerçek koordinatlarla φ ve ψ: LYS170</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1A8O koordinatlarıyla)</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φ: C₁₆₉ (26.755, 31.256, 18.875), N (27.508, 32.195, 19.432), Cα (28.691, 31.859, 20.208), C (28.183, 31.155, 21.468). Dört adımı izleyin; ψ için N₁₇₁ (27.116, 31.695, 22.055).</a:t>
            </a:r>
            <a:endParaRPr lang="en-US" sz="1800" dirty="0"/>
          </a:p>
        </p:txBody>
      </p:sp>
      <p:sp>
        <p:nvSpPr>
          <p:cNvPr id="6" name="Text 4"/>
          <p:cNvSpPr txBox="1"/>
          <p:nvPr/>
        </p:nvSpPr>
        <p:spPr>
          <a:xfrm>
            <a:off x="548640" y="2779776"/>
            <a:ext cx="4881543"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Bağ vektörleri: b0 = C₁₆₉ − N, b1 = Cα − N (dönme ekseni), b2 = C − Cα</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|b1| = 1.454 Å (N–Cα bağı) → b̂1 = b1 / 1.454</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Eksene dik bileşenler: v = b0 − (b0·b̂1) b̂1, w = b2 − (b2·b̂1) b̂1</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x = v · w = </a:t>
            </a:r>
            <a:r>
              <a:rPr lang="en-US" sz="1550" b="1" dirty="0">
                <a:solidFill>
                  <a:srgbClr val="212121"/>
                </a:solidFill>
                <a:latin typeface="Calibri" pitchFamily="34" charset="0"/>
                <a:ea typeface="Calibri" pitchFamily="34" charset="-122"/>
                <a:cs typeface="Calibri" pitchFamily="34" charset="-120"/>
              </a:rPr>
              <a:t>0.634</a:t>
            </a:r>
            <a:r>
              <a:rPr lang="en-US" sz="1550" dirty="0">
                <a:solidFill>
                  <a:srgbClr val="212121"/>
                </a:solidFill>
                <a:latin typeface="Calibri" pitchFamily="34" charset="0"/>
                <a:ea typeface="Calibri" pitchFamily="34" charset="-122"/>
                <a:cs typeface="Calibri" pitchFamily="34" charset="-120"/>
              </a:rPr>
              <a:t>;  y = (b̂1 × v) · w = </a:t>
            </a:r>
            <a:r>
              <a:rPr lang="en-US" sz="1550" b="1" dirty="0">
                <a:solidFill>
                  <a:srgbClr val="212121"/>
                </a:solidFill>
                <a:latin typeface="Calibri" pitchFamily="34" charset="0"/>
                <a:ea typeface="Calibri" pitchFamily="34" charset="-122"/>
                <a:cs typeface="Calibri" pitchFamily="34" charset="-120"/>
              </a:rPr>
              <a:t>−1.538</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φ = atan2(−1.538, 0.634) = </a:t>
            </a:r>
            <a:r>
              <a:rPr lang="en-US" sz="1550" b="1" dirty="0">
                <a:solidFill>
                  <a:srgbClr val="212121"/>
                </a:solidFill>
                <a:latin typeface="Calibri" pitchFamily="34" charset="0"/>
                <a:ea typeface="Calibri" pitchFamily="34" charset="-122"/>
                <a:cs typeface="Calibri" pitchFamily="34" charset="-120"/>
              </a:rPr>
              <a:t>−67.6°</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ψ: aynı adımlar N, Cα, C, N₁₇₁ ile → </a:t>
            </a:r>
            <a:r>
              <a:rPr lang="en-US" sz="1550" b="1" dirty="0">
                <a:solidFill>
                  <a:srgbClr val="212121"/>
                </a:solidFill>
                <a:latin typeface="Calibri" pitchFamily="34" charset="0"/>
                <a:ea typeface="Calibri" pitchFamily="34" charset="-122"/>
                <a:cs typeface="Calibri" pitchFamily="34" charset="-120"/>
              </a:rPr>
              <a:t>−42.9°</a:t>
            </a:r>
            <a:endParaRPr lang="en-US" sz="15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50223" y="2779776"/>
          <a:ext cx="5892833" cy="914400"/>
        </p:xfrm>
        <a:graphic>
          <a:graphicData uri="http://schemas.openxmlformats.org/drawingml/2006/table">
            <a:tbl>
              <a:tblPr/>
              <a:tblGrid>
                <a:gridCol w="1255850"/>
                <a:gridCol w="2318491"/>
                <a:gridCol w="2318491"/>
              </a:tblGrid>
              <a:tr h="0">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Ara değer</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φ</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ψ</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b0</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(−0.75, −0.94, −0.56)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(−1.18, 0.34, −0.78)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b̂1</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(0.81, −0.23, 0.53)</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(−0.33, −0.46, 0.82)</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b2</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(−0.51, −0.70, 1.26)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(−1.07, 0.54, 0.59)</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v</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(−0.19, −1.10, −0.19)</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(−1.32, 0.15, −0.45)</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w</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(−0.85, −0.61, 1.04)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(−0.87, 0.81, 0.10)</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x, y → açı</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0.634, −1.538 → </a:t>
                      </a:r>
                      <a:r>
                        <a:rPr lang="en-US" sz="1500" b="1" dirty="0">
                          <a:solidFill>
                            <a:srgbClr val="212121"/>
                          </a:solidFill>
                          <a:latin typeface="Calibri" pitchFamily="34" charset="0"/>
                          <a:ea typeface="Calibri" pitchFamily="34" charset="-122"/>
                          <a:cs typeface="Calibri" pitchFamily="34" charset="-120"/>
                        </a:rPr>
                        <a:t>−67.6°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1.224, −1.136 → </a:t>
                      </a:r>
                      <a:r>
                        <a:rPr lang="en-US" sz="1500" b="1" dirty="0">
                          <a:solidFill>
                            <a:srgbClr val="212121"/>
                          </a:solidFill>
                          <a:latin typeface="Calibri" pitchFamily="34" charset="0"/>
                          <a:ea typeface="Calibri" pitchFamily="34" charset="-122"/>
                          <a:cs typeface="Calibri" pitchFamily="34" charset="-120"/>
                        </a:rPr>
                        <a:t>−42.9°</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(φ, ψ) = (</a:t>
            </a:r>
            <a:r>
              <a:rPr lang="en-US" sz="1700" b="1" dirty="0">
                <a:solidFill>
                  <a:srgbClr val="212121"/>
                </a:solidFill>
                <a:latin typeface="Calibri" pitchFamily="34" charset="0"/>
                <a:ea typeface="Calibri" pitchFamily="34" charset="-122"/>
                <a:cs typeface="Calibri" pitchFamily="34" charset="-120"/>
              </a:rPr>
              <a:t>−67.6°</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−42.9°</a:t>
            </a:r>
            <a:r>
              <a:rPr lang="en-US" sz="1700" dirty="0">
                <a:solidFill>
                  <a:srgbClr val="212121"/>
                </a:solidFill>
                <a:latin typeface="Calibri" pitchFamily="34" charset="0"/>
                <a:ea typeface="Calibri" pitchFamily="34" charset="-122"/>
                <a:cs typeface="Calibri" pitchFamily="34" charset="-120"/>
              </a:rPr>
              <a:t>) → Ramachandran grafiğinde </a:t>
            </a:r>
            <a:r>
              <a:rPr lang="en-US" sz="1700" b="1" dirty="0">
                <a:solidFill>
                  <a:srgbClr val="212121"/>
                </a:solidFill>
                <a:latin typeface="Calibri" pitchFamily="34" charset="0"/>
                <a:ea typeface="Calibri" pitchFamily="34" charset="-122"/>
                <a:cs typeface="Calibri" pitchFamily="34" charset="-120"/>
              </a:rPr>
              <a:t>α-heliks</a:t>
            </a:r>
            <a:r>
              <a:rPr lang="en-US" sz="1700" dirty="0">
                <a:solidFill>
                  <a:srgbClr val="212121"/>
                </a:solidFill>
                <a:latin typeface="Calibri" pitchFamily="34" charset="0"/>
                <a:ea typeface="Calibri" pitchFamily="34" charset="-122"/>
                <a:cs typeface="Calibri" pitchFamily="34" charset="-120"/>
              </a:rPr>
              <a:t> bölgesi; LYS170 gerçekten heliks 1'in (161–175) içinde.</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Açı ve dihedral: Biopython ve kendi fonksiyonumuz</a:t>
            </a:r>
            <a:endParaRPr lang="en-US" sz="2800" dirty="0"/>
          </a:p>
        </p:txBody>
      </p:sp>
      <p:sp>
        <p:nvSpPr>
          <p:cNvPr id="3" name="Text 1"/>
          <p:cNvSpPr txBox="1"/>
          <p:nvPr/>
        </p:nvSpPr>
        <p:spPr>
          <a:xfrm>
            <a:off x="548640" y="5312664"/>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541264"/>
            <a:ext cx="7100426" cy="722376"/>
          </a:xfrm>
          <a:prstGeom prst="roundRect">
            <a:avLst>
              <a:gd name="adj" fmla="val 10127"/>
            </a:avLst>
          </a:prstGeom>
          <a:solidFill>
            <a:srgbClr val="FFFFFF"/>
          </a:solidFill>
          <a:ln w="12700">
            <a:solidFill>
              <a:srgbClr val="B0BEC5"/>
            </a:solidFill>
            <a:prstDash val="solid"/>
          </a:ln>
        </p:spPr>
      </p:sp>
      <p:sp>
        <p:nvSpPr>
          <p:cNvPr id="5" name="Text 3"/>
          <p:cNvSpPr txBox="1"/>
          <p:nvPr/>
        </p:nvSpPr>
        <p:spPr>
          <a:xfrm>
            <a:off x="658368" y="5614416"/>
            <a:ext cx="6880970" cy="576072"/>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[106.  -67.6 -42.9]</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Kendi fonksiyonumuz: φ = -67.6</a:t>
            </a:r>
            <a:endParaRPr lang="en-US" sz="1300" dirty="0"/>
          </a:p>
        </p:txBody>
      </p:sp>
      <p:sp>
        <p:nvSpPr>
          <p:cNvPr id="6" name="Shape 4"/>
          <p:cNvSpPr/>
          <p:nvPr/>
        </p:nvSpPr>
        <p:spPr>
          <a:xfrm>
            <a:off x="548640" y="1234440"/>
            <a:ext cx="7100426" cy="4032504"/>
          </a:xfrm>
          <a:prstGeom prst="roundRect">
            <a:avLst>
              <a:gd name="adj" fmla="val 1814"/>
            </a:avLst>
          </a:prstGeom>
          <a:solidFill>
            <a:srgbClr val="F4F6F7"/>
          </a:solidFill>
          <a:ln w="12700">
            <a:solidFill>
              <a:srgbClr val="B0BEC5"/>
            </a:solidFill>
            <a:prstDash val="solid"/>
          </a:ln>
        </p:spPr>
      </p:sp>
      <p:sp>
        <p:nvSpPr>
          <p:cNvPr id="7" name="Text 5"/>
          <p:cNvSpPr txBox="1"/>
          <p:nvPr/>
        </p:nvSpPr>
        <p:spPr>
          <a:xfrm>
            <a:off x="658368" y="1307592"/>
            <a:ext cx="6880970" cy="3886200"/>
          </a:xfrm>
          <a:prstGeom prst="rect">
            <a:avLst/>
          </a:prstGeom>
          <a:noFill/>
          <a:ln/>
        </p:spPr>
        <p:txBody>
          <a:bodyPr wrap="square" lIns="0" tIns="0" rIns="0" bIns="0" rtlCol="0" anchor="t"/>
          <a:lstStyle/>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Bio.PDB.vectors import calc_angle, calc_dihedral</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r, onceki, sonraki = zincir[170], zincir[169], zincir[171]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aci = calc_angle(r["N"].get_vector(), r["CA"].get_vector(),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r["C"].get_vector())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phi = calc_dihedral(onceki["C"].get_vector(), r["N"].get_vector(),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r["CA"].get_vector(), r["C"].get_vector())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psi = calc_dihedral(r["N"].get_vector(), r["CA"].get_vector(),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r["C"].get_vector(), sonraki["N"].get_vector())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print(np.degrees([aci, phi, psi]).round(1))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def dihedral(p0, p1, p2, p3):</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b0, b1, b2 = p0 - p1, p2 - p1, p3 - p2</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b1 = b1 / np.linalg.norm(b1)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v = b0 - np.dot(b0, b1) * b1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w = b2 - np.dot(b2, b1) * b1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x = np.dot(v, w); y = np.dot(np.cross(b1, v), w)</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return np.degrees(np.arctan2(y, x))</a:t>
            </a:r>
            <a:endParaRPr lang="en-US" sz="1300" dirty="0"/>
          </a:p>
        </p:txBody>
      </p:sp>
      <p:sp>
        <p:nvSpPr>
          <p:cNvPr id="8" name="Text 6"/>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get_vector()</a:t>
            </a:r>
            <a:r>
              <a:rPr lang="en-US" sz="1700" dirty="0">
                <a:solidFill>
                  <a:srgbClr val="212121"/>
                </a:solidFill>
                <a:latin typeface="Calibri" pitchFamily="34" charset="0"/>
                <a:ea typeface="Calibri" pitchFamily="34" charset="-122"/>
                <a:cs typeface="Calibri" pitchFamily="34" charset="-120"/>
              </a:rPr>
              <a:t>: Biopython </a:t>
            </a:r>
            <a:r>
              <a:rPr lang="en-US" sz="1700" dirty="0">
                <a:solidFill>
                  <a:srgbClr val="455A64"/>
                </a:solidFill>
                <a:latin typeface="Courier New" pitchFamily="34" charset="0"/>
                <a:ea typeface="Courier New" pitchFamily="34" charset="-122"/>
                <a:cs typeface="Courier New" pitchFamily="34" charset="-120"/>
              </a:rPr>
              <a:t>Vector</a:t>
            </a:r>
            <a:r>
              <a:rPr lang="en-US" sz="1700" dirty="0">
                <a:solidFill>
                  <a:srgbClr val="212121"/>
                </a:solidFill>
                <a:latin typeface="Calibri" pitchFamily="34" charset="0"/>
                <a:ea typeface="Calibri" pitchFamily="34" charset="-122"/>
                <a:cs typeface="Calibri" pitchFamily="34" charset="-120"/>
              </a:rPr>
              <a:t> nesnesi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calc_*</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radyan</a:t>
            </a:r>
            <a:r>
              <a:rPr lang="en-US" sz="1700" dirty="0">
                <a:solidFill>
                  <a:srgbClr val="212121"/>
                </a:solidFill>
                <a:latin typeface="Calibri" pitchFamily="34" charset="0"/>
                <a:ea typeface="Calibri" pitchFamily="34" charset="-122"/>
                <a:cs typeface="Calibri" pitchFamily="34" charset="-120"/>
              </a:rPr>
              <a:t> döndürür → </a:t>
            </a:r>
            <a:r>
              <a:rPr lang="en-US" sz="1700" dirty="0">
                <a:solidFill>
                  <a:srgbClr val="455A64"/>
                </a:solidFill>
                <a:latin typeface="Courier New" pitchFamily="34" charset="0"/>
                <a:ea typeface="Courier New" pitchFamily="34" charset="-122"/>
                <a:cs typeface="Courier New" pitchFamily="34" charset="-120"/>
              </a:rPr>
              <a:t>np.degrees</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φ için </a:t>
            </a:r>
            <a:r>
              <a:rPr lang="en-US" sz="1700" b="1" dirty="0">
                <a:solidFill>
                  <a:srgbClr val="212121"/>
                </a:solidFill>
                <a:latin typeface="Calibri" pitchFamily="34" charset="0"/>
                <a:ea typeface="Calibri" pitchFamily="34" charset="-122"/>
                <a:cs typeface="Calibri" pitchFamily="34" charset="-120"/>
              </a:rPr>
              <a:t>önceki</a:t>
            </a:r>
            <a:r>
              <a:rPr lang="en-US" sz="1700" dirty="0">
                <a:solidFill>
                  <a:srgbClr val="212121"/>
                </a:solidFill>
                <a:latin typeface="Calibri" pitchFamily="34" charset="0"/>
                <a:ea typeface="Calibri" pitchFamily="34" charset="-122"/>
                <a:cs typeface="Calibri" pitchFamily="34" charset="-120"/>
              </a:rPr>
              <a:t> kalıntının C'si, ψ için </a:t>
            </a:r>
            <a:r>
              <a:rPr lang="en-US" sz="1700" b="1" dirty="0">
                <a:solidFill>
                  <a:srgbClr val="212121"/>
                </a:solidFill>
                <a:latin typeface="Calibri" pitchFamily="34" charset="0"/>
                <a:ea typeface="Calibri" pitchFamily="34" charset="-122"/>
                <a:cs typeface="Calibri" pitchFamily="34" charset="-120"/>
              </a:rPr>
              <a:t>sonraki</a:t>
            </a:r>
            <a:r>
              <a:rPr lang="en-US" sz="1700" dirty="0">
                <a:solidFill>
                  <a:srgbClr val="212121"/>
                </a:solidFill>
                <a:latin typeface="Calibri" pitchFamily="34" charset="0"/>
                <a:ea typeface="Calibri" pitchFamily="34" charset="-122"/>
                <a:cs typeface="Calibri" pitchFamily="34" charset="-120"/>
              </a:rPr>
              <a:t> kalıntının N'si gerekir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Zincir uçlarında (ilk φ, son ψ) açı tanımsızdır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İkincil yapı ve φ/ψ açıları</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4053729"/>
                <a:gridCol w="1386802"/>
                <a:gridCol w="1386802"/>
                <a:gridCol w="2026864"/>
                <a:gridCol w="2240218"/>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Yapı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φ (°)</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ψ (°)</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Kalıntı / dönüş</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Yükselme / kalıntı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α-heliks (sağ el)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−60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−45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3.6</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1.5 Å</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3₁₀-heliks</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−50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−25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2.0 Å</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β-tabaka (antiparalel)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−120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+130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3.3–3.5 Å</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Sol el heliks (nadir, çoğunlukla Gly)</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+60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+45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1A8O HELIX kalıntıları (ortalama)</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−65.0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−37.9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4" name="Shape 1"/>
          <p:cNvSpPr/>
          <p:nvPr/>
        </p:nvSpPr>
        <p:spPr>
          <a:xfrm>
            <a:off x="548640" y="4590288"/>
            <a:ext cx="11094415" cy="822960"/>
          </a:xfrm>
          <a:prstGeom prst="roundRect">
            <a:avLst>
              <a:gd name="adj" fmla="val 8889"/>
            </a:avLst>
          </a:prstGeom>
          <a:solidFill>
            <a:srgbClr val="FDECEA"/>
          </a:solidFill>
          <a:ln/>
        </p:spPr>
      </p:sp>
      <p:sp>
        <p:nvSpPr>
          <p:cNvPr id="5" name="Text 2"/>
          <p:cNvSpPr txBox="1"/>
          <p:nvPr/>
        </p:nvSpPr>
        <p:spPr>
          <a:xfrm>
            <a:off x="731520" y="4590288"/>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1A8O'nun 5 heliksi (161–175, 179–187, 189–192, 196–205, 211–217) ideal α-heliks değerlerine yakın. Heliks 161–175'te Cα(i)–Cα(i+3) ortalaması </a:t>
            </a:r>
            <a:r>
              <a:rPr lang="en-US" sz="1600" b="1" dirty="0">
                <a:solidFill>
                  <a:srgbClr val="212121"/>
                </a:solidFill>
                <a:latin typeface="Calibri" pitchFamily="34" charset="0"/>
                <a:ea typeface="Calibri" pitchFamily="34" charset="-122"/>
                <a:cs typeface="Calibri" pitchFamily="34" charset="-120"/>
              </a:rPr>
              <a:t>5.15 Å</a:t>
            </a:r>
            <a:r>
              <a:rPr lang="en-US" sz="1600" dirty="0">
                <a:solidFill>
                  <a:srgbClr val="212121"/>
                </a:solidFill>
                <a:latin typeface="Calibri" pitchFamily="34" charset="0"/>
                <a:ea typeface="Calibri" pitchFamily="34" charset="-122"/>
                <a:cs typeface="Calibri" pitchFamily="34" charset="-120"/>
              </a:rPr>
              <a:t>, Cα(i)–Cα(i+4) </a:t>
            </a:r>
            <a:r>
              <a:rPr lang="en-US" sz="1600" b="1" dirty="0">
                <a:solidFill>
                  <a:srgbClr val="212121"/>
                </a:solidFill>
                <a:latin typeface="Calibri" pitchFamily="34" charset="0"/>
                <a:ea typeface="Calibri" pitchFamily="34" charset="-122"/>
                <a:cs typeface="Calibri" pitchFamily="34" charset="-120"/>
              </a:rPr>
              <a:t>6.33 Å</a:t>
            </a:r>
            <a:r>
              <a:rPr lang="en-US" sz="1600" dirty="0">
                <a:solidFill>
                  <a:srgbClr val="212121"/>
                </a:solidFill>
                <a:latin typeface="Calibri" pitchFamily="34" charset="0"/>
                <a:ea typeface="Calibri" pitchFamily="34" charset="-122"/>
                <a:cs typeface="Calibri" pitchFamily="34" charset="-120"/>
              </a:rPr>
              <a:t> → i, i+4 H-bağı düzeni.</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Ramachandran grafiği (1A8O)</a:t>
            </a:r>
            <a:endParaRPr lang="en-US" sz="3000" dirty="0"/>
          </a:p>
        </p:txBody>
      </p:sp>
      <p:pic>
        <p:nvPicPr>
          <p:cNvPr id="3" name="Image 0" descr="g10_ramachandran.png">    </p:cNvPr>
          <p:cNvPicPr>
            <a:picLocks noChangeAspect="1"/>
          </p:cNvPicPr>
          <p:nvPr/>
        </p:nvPicPr>
        <p:blipFill>
          <a:blip r:embed="rId1"/>
          <a:stretch>
            <a:fillRect/>
          </a:stretch>
        </p:blipFill>
        <p:spPr>
          <a:xfrm>
            <a:off x="705007" y="1234440"/>
            <a:ext cx="5234473" cy="5029200"/>
          </a:xfrm>
          <a:prstGeom prst="rect">
            <a:avLst/>
          </a:prstGeom>
        </p:spPr>
      </p:pic>
      <p:sp>
        <p:nvSpPr>
          <p:cNvPr id="4" name="Text 1"/>
          <p:cNvSpPr txBox="1"/>
          <p:nvPr/>
        </p:nvSpPr>
        <p:spPr>
          <a:xfrm>
            <a:off x="6415888" y="1234440"/>
            <a:ext cx="522716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nokta bir kalıntı: (φ, ψ)</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Kırmızı: HELIX kayıtlarındaki kalıntılar → </a:t>
            </a:r>
            <a:r>
              <a:rPr lang="en-US" sz="1700" b="1" dirty="0">
                <a:solidFill>
                  <a:srgbClr val="212121"/>
                </a:solidFill>
                <a:latin typeface="Calibri" pitchFamily="34" charset="0"/>
                <a:ea typeface="Calibri" pitchFamily="34" charset="-122"/>
                <a:cs typeface="Calibri" pitchFamily="34" charset="-120"/>
              </a:rPr>
              <a:t>α-heliks bölgesinde</a:t>
            </a:r>
            <a:r>
              <a:rPr lang="en-US" sz="1700" dirty="0">
                <a:solidFill>
                  <a:srgbClr val="212121"/>
                </a:solidFill>
                <a:latin typeface="Calibri" pitchFamily="34" charset="0"/>
                <a:ea typeface="Calibri" pitchFamily="34" charset="-122"/>
                <a:cs typeface="Calibri" pitchFamily="34" charset="-120"/>
              </a:rPr>
              <a:t> (kesikli kutu) toplanır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Gri: döngü ve uç kalıntıları → daha dağınık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Sağ üst çeyrek (φ &gt; 0) sterik olarak zordur; oradaki kalıntılar çoğunlukla </a:t>
            </a:r>
            <a:r>
              <a:rPr lang="en-US" sz="1700" b="1" dirty="0">
                <a:solidFill>
                  <a:srgbClr val="212121"/>
                </a:solidFill>
                <a:latin typeface="Calibri" pitchFamily="34" charset="0"/>
                <a:ea typeface="Calibri" pitchFamily="34" charset="-122"/>
                <a:cs typeface="Calibri" pitchFamily="34" charset="-120"/>
              </a:rPr>
              <a:t>glisin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Yapı doğrulama: izin verilmeyen bölgelerdeki kalıntılar </a:t>
            </a:r>
            <a:r>
              <a:rPr lang="en-US" sz="1700" b="1" dirty="0">
                <a:solidFill>
                  <a:srgbClr val="212121"/>
                </a:solidFill>
                <a:latin typeface="Calibri" pitchFamily="34" charset="0"/>
                <a:ea typeface="Calibri" pitchFamily="34" charset="-122"/>
                <a:cs typeface="Calibri" pitchFamily="34" charset="-120"/>
              </a:rPr>
              <a:t>model hatası</a:t>
            </a:r>
            <a:r>
              <a:rPr lang="en-US" sz="1700" dirty="0">
                <a:solidFill>
                  <a:srgbClr val="212121"/>
                </a:solidFill>
                <a:latin typeface="Calibri" pitchFamily="34" charset="0"/>
                <a:ea typeface="Calibri" pitchFamily="34" charset="-122"/>
                <a:cs typeface="Calibri" pitchFamily="34" charset="-120"/>
              </a:rPr>
              <a:t> olabilir</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Temas haritası ve global özellikler</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Uzaklık matrisi, temaslar, disülfit bağı, dönme yarıçapı, B-faktörü</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Küçük bir temas haritası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1A8O Cα koordinatlarıyla)</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Kalıntılar 165–169 (heliks 1) ve 190 için Cα uzaklık matrisi veriliyor. 8 Å eşiğiyle hangi çiftler temas halindedir?</a:t>
            </a:r>
            <a:endParaRPr lang="en-US" sz="1800" dirty="0"/>
          </a:p>
        </p:txBody>
      </p:sp>
      <p:sp>
        <p:nvSpPr>
          <p:cNvPr id="6" name="Text 4"/>
          <p:cNvSpPr txBox="1"/>
          <p:nvPr/>
        </p:nvSpPr>
        <p:spPr>
          <a:xfrm>
            <a:off x="548640" y="2779776"/>
            <a:ext cx="554720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i, i+1 uzaklıkları hep </a:t>
            </a:r>
            <a:r>
              <a:rPr lang="en-US" sz="1600" b="1" dirty="0">
                <a:solidFill>
                  <a:srgbClr val="212121"/>
                </a:solidFill>
                <a:latin typeface="Calibri" pitchFamily="34" charset="0"/>
                <a:ea typeface="Calibri" pitchFamily="34" charset="-122"/>
                <a:cs typeface="Calibri" pitchFamily="34" charset="-120"/>
              </a:rPr>
              <a:t>3.8 Å</a:t>
            </a:r>
            <a:r>
              <a:rPr lang="en-US" sz="1600" dirty="0">
                <a:solidFill>
                  <a:srgbClr val="212121"/>
                </a:solidFill>
                <a:latin typeface="Calibri" pitchFamily="34" charset="0"/>
                <a:ea typeface="Calibri" pitchFamily="34" charset="-122"/>
                <a:cs typeface="Calibri" pitchFamily="34" charset="-120"/>
              </a:rPr>
              <a:t> (peptit geometrisi)</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Heliks içinde i, i+2 ≈ 5.2–5.5, i, i+3 ≈ 5.0–5.4, i, i+4 = 6.1 Å → hepsi &lt; 8 → </a:t>
            </a:r>
            <a:r>
              <a:rPr lang="en-US" sz="1600" b="1" dirty="0">
                <a:solidFill>
                  <a:srgbClr val="212121"/>
                </a:solidFill>
                <a:latin typeface="Calibri" pitchFamily="34" charset="0"/>
                <a:ea typeface="Calibri" pitchFamily="34" charset="-122"/>
                <a:cs typeface="Calibri" pitchFamily="34" charset="-120"/>
              </a:rPr>
              <a:t>temas</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190 ile: 165 (</a:t>
            </a:r>
            <a:r>
              <a:rPr lang="en-US" sz="1600" b="1" dirty="0">
                <a:solidFill>
                  <a:srgbClr val="212121"/>
                </a:solidFill>
                <a:latin typeface="Calibri" pitchFamily="34" charset="0"/>
                <a:ea typeface="Calibri" pitchFamily="34" charset="-122"/>
                <a:cs typeface="Calibri" pitchFamily="34" charset="-120"/>
              </a:rPr>
              <a:t>7.6</a:t>
            </a:r>
            <a:r>
              <a:rPr lang="en-US" sz="1600" dirty="0">
                <a:solidFill>
                  <a:srgbClr val="212121"/>
                </a:solidFill>
                <a:latin typeface="Calibri" pitchFamily="34" charset="0"/>
                <a:ea typeface="Calibri" pitchFamily="34" charset="-122"/>
                <a:cs typeface="Calibri" pitchFamily="34" charset="-120"/>
              </a:rPr>
              <a:t>) ve 168 (</a:t>
            </a:r>
            <a:r>
              <a:rPr lang="en-US" sz="1600" b="1" dirty="0">
                <a:solidFill>
                  <a:srgbClr val="212121"/>
                </a:solidFill>
                <a:latin typeface="Calibri" pitchFamily="34" charset="0"/>
                <a:ea typeface="Calibri" pitchFamily="34" charset="-122"/>
                <a:cs typeface="Calibri" pitchFamily="34" charset="-120"/>
              </a:rPr>
              <a:t>7.3</a:t>
            </a:r>
            <a:r>
              <a:rPr lang="en-US" sz="1600" dirty="0">
                <a:solidFill>
                  <a:srgbClr val="212121"/>
                </a:solidFill>
                <a:latin typeface="Calibri" pitchFamily="34" charset="0"/>
                <a:ea typeface="Calibri" pitchFamily="34" charset="-122"/>
                <a:cs typeface="Calibri" pitchFamily="34" charset="-120"/>
              </a:rPr>
              <a:t>) temas; 166 (10.8), 167 (10.5), 169 (9.3) değil</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15 çiftin </a:t>
            </a:r>
            <a:r>
              <a:rPr lang="en-US" sz="1600" b="1" dirty="0">
                <a:solidFill>
                  <a:srgbClr val="212121"/>
                </a:solidFill>
                <a:latin typeface="Calibri" pitchFamily="34" charset="0"/>
                <a:ea typeface="Calibri" pitchFamily="34" charset="-122"/>
                <a:cs typeface="Calibri" pitchFamily="34" charset="-120"/>
              </a:rPr>
              <a:t>12</a:t>
            </a:r>
            <a:r>
              <a:rPr lang="en-US" sz="1600" dirty="0">
                <a:solidFill>
                  <a:srgbClr val="212121"/>
                </a:solidFill>
                <a:latin typeface="Calibri" pitchFamily="34" charset="0"/>
                <a:ea typeface="Calibri" pitchFamily="34" charset="-122"/>
                <a:cs typeface="Calibri" pitchFamily="34" charset="-120"/>
              </a:rPr>
              <a:t>'si temas; heliks içi 10 temas köşegene paralel bant oluşturur</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165–190 ve 168–190: köşegenden uzak → </a:t>
            </a:r>
            <a:r>
              <a:rPr lang="en-US" sz="1600" b="1" dirty="0">
                <a:solidFill>
                  <a:srgbClr val="212121"/>
                </a:solidFill>
                <a:latin typeface="Calibri" pitchFamily="34" charset="0"/>
                <a:ea typeface="Calibri" pitchFamily="34" charset="-122"/>
                <a:cs typeface="Calibri" pitchFamily="34" charset="-120"/>
              </a:rPr>
              <a:t>heliksler arası paketlenme</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15888" y="2779776"/>
          <a:ext cx="5227168" cy="914400"/>
        </p:xfrm>
        <a:graphic>
          <a:graphicData uri="http://schemas.openxmlformats.org/drawingml/2006/table">
            <a:tbl>
              <a:tblPr/>
              <a:tblGrid>
                <a:gridCol w="653396"/>
                <a:gridCol w="653396"/>
                <a:gridCol w="871195"/>
                <a:gridCol w="871195"/>
                <a:gridCol w="653396"/>
                <a:gridCol w="653396"/>
                <a:gridCol w="871195"/>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165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166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168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169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7.6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7.3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Temas haritası = </a:t>
            </a:r>
            <a:r>
              <a:rPr lang="en-US" sz="1700" dirty="0">
                <a:solidFill>
                  <a:srgbClr val="455A64"/>
                </a:solidFill>
                <a:latin typeface="Courier New" pitchFamily="34" charset="0"/>
                <a:ea typeface="Courier New" pitchFamily="34" charset="-122"/>
                <a:cs typeface="Courier New" pitchFamily="34" charset="-120"/>
              </a:rPr>
              <a:t>uzaklık &lt; 8 Å</a:t>
            </a:r>
            <a:r>
              <a:rPr lang="en-US" sz="1700" dirty="0">
                <a:solidFill>
                  <a:srgbClr val="212121"/>
                </a:solidFill>
                <a:latin typeface="Calibri" pitchFamily="34" charset="0"/>
                <a:ea typeface="Calibri" pitchFamily="34" charset="-122"/>
                <a:cs typeface="Calibri" pitchFamily="34" charset="-120"/>
              </a:rPr>
              <a:t> mantıksal matrisi. 165 ve 168 aynı heliks yüzünde (≈ 3.6 kalıntı arayla) → ikisi de heliks 2'deki LEU190'a bakıyor.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Tüm yapı: uzaklık matrisi ve temas haritası</a:t>
            </a:r>
            <a:endParaRPr lang="en-US" sz="3000" dirty="0"/>
          </a:p>
        </p:txBody>
      </p:sp>
      <p:pic>
        <p:nvPicPr>
          <p:cNvPr id="3" name="Image 0" descr="g10_temas.png">    </p:cNvPr>
          <p:cNvPicPr>
            <a:picLocks noChangeAspect="1"/>
          </p:cNvPicPr>
          <p:nvPr/>
        </p:nvPicPr>
        <p:blipFill>
          <a:blip r:embed="rId1"/>
          <a:stretch>
            <a:fillRect/>
          </a:stretch>
        </p:blipFill>
        <p:spPr>
          <a:xfrm>
            <a:off x="548640" y="1801554"/>
            <a:ext cx="7766091" cy="3483491"/>
          </a:xfrm>
          <a:prstGeom prst="rect">
            <a:avLst/>
          </a:prstGeom>
        </p:spPr>
      </p:pic>
      <p:sp>
        <p:nvSpPr>
          <p:cNvPr id="4" name="Text 1"/>
          <p:cNvSpPr txBox="1"/>
          <p:nvPr/>
        </p:nvSpPr>
        <p:spPr>
          <a:xfrm>
            <a:off x="8634771" y="1234440"/>
            <a:ext cx="3008285"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 boyunca kalın bantlar: </a:t>
            </a:r>
            <a:r>
              <a:rPr lang="en-US" sz="1700" b="1" dirty="0">
                <a:solidFill>
                  <a:srgbClr val="212121"/>
                </a:solidFill>
                <a:latin typeface="Calibri" pitchFamily="34" charset="0"/>
                <a:ea typeface="Calibri" pitchFamily="34" charset="-122"/>
                <a:cs typeface="Calibri" pitchFamily="34" charset="-120"/>
              </a:rPr>
              <a:t>heliksler</a:t>
            </a:r>
            <a:r>
              <a:rPr lang="en-US" sz="1700" dirty="0">
                <a:solidFill>
                  <a:srgbClr val="212121"/>
                </a:solidFill>
                <a:latin typeface="Calibri" pitchFamily="34" charset="0"/>
                <a:ea typeface="Calibri" pitchFamily="34" charset="-122"/>
                <a:cs typeface="Calibri" pitchFamily="34" charset="-120"/>
              </a:rPr>
              <a:t> (i, i+4'e kadar temas)</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Köşegenden uzak adacıklar: heliks–heliks </a:t>
            </a:r>
            <a:r>
              <a:rPr lang="en-US" sz="1700" b="1" dirty="0">
                <a:solidFill>
                  <a:srgbClr val="212121"/>
                </a:solidFill>
                <a:latin typeface="Calibri" pitchFamily="34" charset="0"/>
                <a:ea typeface="Calibri" pitchFamily="34" charset="-122"/>
                <a:cs typeface="Calibri" pitchFamily="34" charset="-120"/>
              </a:rPr>
              <a:t>üçüncül</a:t>
            </a:r>
            <a:r>
              <a:rPr lang="en-US" sz="1700" dirty="0">
                <a:solidFill>
                  <a:srgbClr val="212121"/>
                </a:solidFill>
                <a:latin typeface="Calibri" pitchFamily="34" charset="0"/>
                <a:ea typeface="Calibri" pitchFamily="34" charset="-122"/>
                <a:cs typeface="Calibri" pitchFamily="34" charset="-120"/>
              </a:rPr>
              <a:t> temasları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Kalıntı başına ortalama </a:t>
            </a:r>
            <a:r>
              <a:rPr lang="en-US" sz="1700" b="1" dirty="0">
                <a:solidFill>
                  <a:srgbClr val="212121"/>
                </a:solidFill>
                <a:latin typeface="Calibri" pitchFamily="34" charset="0"/>
                <a:ea typeface="Calibri" pitchFamily="34" charset="-122"/>
                <a:cs typeface="Calibri" pitchFamily="34" charset="-120"/>
              </a:rPr>
              <a:t>8.3</a:t>
            </a:r>
            <a:r>
              <a:rPr lang="en-US" sz="1700" dirty="0">
                <a:solidFill>
                  <a:srgbClr val="212121"/>
                </a:solidFill>
                <a:latin typeface="Calibri" pitchFamily="34" charset="0"/>
                <a:ea typeface="Calibri" pitchFamily="34" charset="-122"/>
                <a:cs typeface="Calibri" pitchFamily="34" charset="-120"/>
              </a:rPr>
              <a:t> temas</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β-tabakalar köşegene dik (antiparalel) ya da paralel çizgiler oluşturur (1A8O'da yok)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Temas haritası, yapı tahmininde (AlphaFold dahil) </a:t>
            </a:r>
            <a:r>
              <a:rPr lang="en-US" sz="1700" b="1" dirty="0">
                <a:solidFill>
                  <a:srgbClr val="212121"/>
                </a:solidFill>
                <a:latin typeface="Calibri" pitchFamily="34" charset="0"/>
                <a:ea typeface="Calibri" pitchFamily="34" charset="-122"/>
                <a:cs typeface="Calibri" pitchFamily="34" charset="-120"/>
              </a:rPr>
              <a:t>ara çıktı</a:t>
            </a:r>
            <a:r>
              <a:rPr lang="en-US" sz="1700" dirty="0">
                <a:solidFill>
                  <a:srgbClr val="212121"/>
                </a:solidFill>
                <a:latin typeface="Calibri" pitchFamily="34" charset="0"/>
                <a:ea typeface="Calibri" pitchFamily="34" charset="-122"/>
                <a:cs typeface="Calibri" pitchFamily="34" charset="-120"/>
              </a:rPr>
              <a:t> olarak kullanılır</a:t>
            </a:r>
            <a:endParaRPr lang="en-US" sz="1700" dirty="0"/>
          </a:p>
        </p:txBody>
      </p:sp>
      <p:sp>
        <p:nvSpPr>
          <p:cNvPr id="5" name="Text 2"/>
          <p:cNvSpPr txBox="1"/>
          <p:nvPr/>
        </p:nvSpPr>
        <p:spPr>
          <a:xfrm>
            <a:off x="548640" y="5358198"/>
            <a:ext cx="7766091" cy="320040"/>
          </a:xfrm>
          <a:prstGeom prst="rect">
            <a:avLst/>
          </a:prstGeom>
          <a:noFill/>
          <a:ln/>
        </p:spPr>
        <p:txBody>
          <a:bodyPr wrap="square" lIns="0" tIns="0" rIns="0" bIns="0" rtlCol="0" anchor="ctr"/>
          <a:lstStyle/>
          <a:p>
            <a:pPr algn="ctr" indent="0" marL="0">
              <a:buNone/>
            </a:pPr>
            <a:r>
              <a:rPr lang="en-US" sz="1100" i="1" dirty="0">
                <a:solidFill>
                  <a:srgbClr val="546E7A"/>
                </a:solidFill>
              </a:rPr>
              <a:t>Sol: 70 × 70 Cα uzaklık matrisi (koyu = yakın). Sağ: 8 Å eşikli temas haritası.</a:t>
            </a:r>
            <a:endParaRPr lang="en-US" sz="11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Uzaklık matrisi, NeighborSearch ve disülfit bağı</a:t>
            </a:r>
            <a:endParaRPr lang="en-US" sz="2800" dirty="0"/>
          </a:p>
        </p:txBody>
      </p:sp>
      <p:sp>
        <p:nvSpPr>
          <p:cNvPr id="3" name="Text 1"/>
          <p:cNvSpPr txBox="1"/>
          <p:nvPr/>
        </p:nvSpPr>
        <p:spPr>
          <a:xfrm>
            <a:off x="548640" y="5111496"/>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340096"/>
            <a:ext cx="7100426" cy="923544"/>
          </a:xfrm>
          <a:prstGeom prst="roundRect">
            <a:avLst>
              <a:gd name="adj" fmla="val 7921"/>
            </a:avLst>
          </a:prstGeom>
          <a:solidFill>
            <a:srgbClr val="FFFFFF"/>
          </a:solidFill>
          <a:ln w="12700">
            <a:solidFill>
              <a:srgbClr val="B0BEC5"/>
            </a:solidFill>
            <a:prstDash val="solid"/>
          </a:ln>
        </p:spPr>
      </p:sp>
      <p:sp>
        <p:nvSpPr>
          <p:cNvPr id="5" name="Text 3"/>
          <p:cNvSpPr txBox="1"/>
          <p:nvPr/>
        </p:nvSpPr>
        <p:spPr>
          <a:xfrm>
            <a:off x="658368" y="5413248"/>
            <a:ext cx="6880970" cy="777240"/>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Ort. temas: 8.3</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CYS198-CYS218 SG-SG: 2.04 Å</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[155, 161, 194, 195, 197, 198, 199, 201, 202, 214, 217, 218]</a:t>
            </a:r>
            <a:endParaRPr lang="en-US" sz="1300" dirty="0"/>
          </a:p>
        </p:txBody>
      </p:sp>
      <p:sp>
        <p:nvSpPr>
          <p:cNvPr id="6" name="Shape 4"/>
          <p:cNvSpPr/>
          <p:nvPr/>
        </p:nvSpPr>
        <p:spPr>
          <a:xfrm>
            <a:off x="548640" y="1234440"/>
            <a:ext cx="7100426" cy="3831336"/>
          </a:xfrm>
          <a:prstGeom prst="roundRect">
            <a:avLst>
              <a:gd name="adj" fmla="val 1909"/>
            </a:avLst>
          </a:prstGeom>
          <a:solidFill>
            <a:srgbClr val="F4F6F7"/>
          </a:solidFill>
          <a:ln w="12700">
            <a:solidFill>
              <a:srgbClr val="B0BEC5"/>
            </a:solidFill>
            <a:prstDash val="solid"/>
          </a:ln>
        </p:spPr>
      </p:sp>
      <p:sp>
        <p:nvSpPr>
          <p:cNvPr id="7" name="Text 5"/>
          <p:cNvSpPr txBox="1"/>
          <p:nvPr/>
        </p:nvSpPr>
        <p:spPr>
          <a:xfrm>
            <a:off x="658368" y="1307592"/>
            <a:ext cx="6880970" cy="3685032"/>
          </a:xfrm>
          <a:prstGeom prst="rect">
            <a:avLst/>
          </a:prstGeom>
          <a:noFill/>
          <a:ln/>
        </p:spPr>
        <p:txBody>
          <a:bodyPr wrap="square" lIns="0" tIns="0" rIns="0" bIns="0" rtlCol="0" anchor="t"/>
          <a:lstStyle/>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CA = np.array([r["CA"].coord for r in kalintilar])   # (70, 3)</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Dm = np.sqrt(((CA[:, None, :] - CA[None, :, :]) ** 2).sum(-1))</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temas = Dm &lt; 8.0</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print("Ort. temas:", round((temas.sum(1) - 1).mean(), 1))</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from Bio.PDB import NeighborSearch</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atomlar = [a for a in yapi.get_atoms()</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if a.get_parent().id[0] != "W"]          # suları at</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ns = NeighborSearch(atomlar)</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cys = [r for r in kalintilar if r.get_resname() == "CYS"]</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 = cys[0]["SG"] - cys[1]["SG"]</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print(f"CYS{cys[0].id[1]}-CYS{cys[1].id[1]} SG-SG: {d:.2f} Å")</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yakin = ns.search(cys[0]["SG"].coord, 6.0, level="R")</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print(sorted(r.id[1] for r in yakin))</a:t>
            </a:r>
            <a:endParaRPr lang="en-US" sz="1400" dirty="0"/>
          </a:p>
        </p:txBody>
      </p:sp>
      <p:sp>
        <p:nvSpPr>
          <p:cNvPr id="8" name="Text 6"/>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Yayın (broadcasting):</a:t>
            </a:r>
            <a:r>
              <a:rPr lang="en-US" sz="1700" dirty="0">
                <a:solidFill>
                  <a:srgbClr val="212121"/>
                </a:solidFill>
                <a:latin typeface="Calibri" pitchFamily="34" charset="0"/>
                <a:ea typeface="Calibri" pitchFamily="34" charset="-122"/>
                <a:cs typeface="Calibri" pitchFamily="34" charset="-120"/>
              </a:rPr>
              <a:t> (70,1,3) − (1,70,3) → (70,70,3) → tek satırda tüm çiftler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− 1</a:t>
            </a:r>
            <a:r>
              <a:rPr lang="en-US" sz="1700" dirty="0">
                <a:solidFill>
                  <a:srgbClr val="212121"/>
                </a:solidFill>
                <a:latin typeface="Calibri" pitchFamily="34" charset="0"/>
                <a:ea typeface="Calibri" pitchFamily="34" charset="-122"/>
                <a:cs typeface="Calibri" pitchFamily="34" charset="-120"/>
              </a:rPr>
              <a:t>: köşegendeki kendisiyle teması çıkar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Disülfit: SG–SG ≈ </a:t>
            </a:r>
            <a:r>
              <a:rPr lang="en-US" sz="1700" b="1" dirty="0">
                <a:solidFill>
                  <a:srgbClr val="212121"/>
                </a:solidFill>
                <a:latin typeface="Calibri" pitchFamily="34" charset="0"/>
                <a:ea typeface="Calibri" pitchFamily="34" charset="-122"/>
                <a:cs typeface="Calibri" pitchFamily="34" charset="-120"/>
              </a:rPr>
              <a:t>2.05 Å</a:t>
            </a:r>
            <a:r>
              <a:rPr lang="en-US" sz="1700" dirty="0">
                <a:solidFill>
                  <a:srgbClr val="212121"/>
                </a:solidFill>
                <a:latin typeface="Calibri" pitchFamily="34" charset="0"/>
                <a:ea typeface="Calibri" pitchFamily="34" charset="-122"/>
                <a:cs typeface="Calibri" pitchFamily="34" charset="-120"/>
              </a:rPr>
              <a:t> (kovalent S–S bağı); 2.04 Å → </a:t>
            </a:r>
            <a:r>
              <a:rPr lang="en-US" sz="1700" b="1" dirty="0">
                <a:solidFill>
                  <a:srgbClr val="212121"/>
                </a:solidFill>
                <a:latin typeface="Calibri" pitchFamily="34" charset="0"/>
                <a:ea typeface="Calibri" pitchFamily="34" charset="-122"/>
                <a:cs typeface="Calibri" pitchFamily="34" charset="-120"/>
              </a:rPr>
              <a:t>bağ var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NeighborSearch</a:t>
            </a:r>
            <a:r>
              <a:rPr lang="en-US" sz="1700" dirty="0">
                <a:solidFill>
                  <a:srgbClr val="212121"/>
                </a:solidFill>
                <a:latin typeface="Calibri" pitchFamily="34" charset="0"/>
                <a:ea typeface="Calibri" pitchFamily="34" charset="-122"/>
                <a:cs typeface="Calibri" pitchFamily="34" charset="-120"/>
              </a:rPr>
              <a:t>: k-d ağacı; tüm atom çiftlerini denemeden yarıçap sorgusu</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Dönme yarıçapı (Rg): proteinin kompaktlığı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 notebook sonucu)</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Dört nokta: (0,0,0), (4,0,0), (0,3,0), (4,3,0). Rg = √[(1/N) Σ ‖rᵢ − r̄‖²] nedir? (b) 1A8O'nun 70 Cα atomu için Rg = 11.13 Å. Küresel protein beklentisi 2.2·N^0.38 ile karşılaştırın.</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Merkez r̄ = (8/4, 6/4, 0) = </a:t>
            </a:r>
            <a:r>
              <a:rPr lang="en-US" sz="1800" b="1" dirty="0">
                <a:solidFill>
                  <a:srgbClr val="212121"/>
                </a:solidFill>
                <a:latin typeface="Calibri" pitchFamily="34" charset="0"/>
                <a:ea typeface="Calibri" pitchFamily="34" charset="-122"/>
                <a:cs typeface="Calibri" pitchFamily="34" charset="-120"/>
              </a:rPr>
              <a:t>(2, 1.5, 0)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Her noktanın merkeze kare uzaklığı: 2² + 1.5² = 4 + 2.25 = </a:t>
            </a:r>
            <a:r>
              <a:rPr lang="en-US" sz="1800" b="1" dirty="0">
                <a:solidFill>
                  <a:srgbClr val="212121"/>
                </a:solidFill>
                <a:latin typeface="Calibri" pitchFamily="34" charset="0"/>
                <a:ea typeface="Calibri" pitchFamily="34" charset="-122"/>
                <a:cs typeface="Calibri" pitchFamily="34" charset="-120"/>
              </a:rPr>
              <a:t>6.25</a:t>
            </a:r>
            <a:r>
              <a:rPr lang="en-US" sz="1800" dirty="0">
                <a:solidFill>
                  <a:srgbClr val="212121"/>
                </a:solidFill>
                <a:latin typeface="Calibri" pitchFamily="34" charset="0"/>
                <a:ea typeface="Calibri" pitchFamily="34" charset="-122"/>
                <a:cs typeface="Calibri" pitchFamily="34" charset="-120"/>
              </a:rPr>
              <a:t> (dördü de aynı)</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Rg = √(4 × 6.25 / 4) = √6.25 = </a:t>
            </a:r>
            <a:r>
              <a:rPr lang="en-US" sz="1800" b="1" dirty="0">
                <a:solidFill>
                  <a:srgbClr val="212121"/>
                </a:solidFill>
                <a:latin typeface="Calibri" pitchFamily="34" charset="0"/>
                <a:ea typeface="Calibri" pitchFamily="34" charset="-122"/>
                <a:cs typeface="Calibri" pitchFamily="34" charset="-120"/>
              </a:rPr>
              <a:t>2.5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70^0.38 = e^(0.38 · ln 70) = e^(0.38 × 4.248) = e^1.614 = </a:t>
            </a:r>
            <a:r>
              <a:rPr lang="en-US" sz="1800" b="1" dirty="0">
                <a:solidFill>
                  <a:srgbClr val="212121"/>
                </a:solidFill>
                <a:latin typeface="Calibri" pitchFamily="34" charset="0"/>
                <a:ea typeface="Calibri" pitchFamily="34" charset="-122"/>
                <a:cs typeface="Calibri" pitchFamily="34" charset="-120"/>
              </a:rPr>
              <a:t>5.03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Beklenti = 2.2 × 5.03 = </a:t>
            </a:r>
            <a:r>
              <a:rPr lang="en-US" sz="1800" b="1" dirty="0">
                <a:solidFill>
                  <a:srgbClr val="212121"/>
                </a:solidFill>
                <a:latin typeface="Calibri" pitchFamily="34" charset="0"/>
                <a:ea typeface="Calibri" pitchFamily="34" charset="-122"/>
                <a:cs typeface="Calibri" pitchFamily="34" charset="-120"/>
              </a:rPr>
              <a:t>11.06 Å</a:t>
            </a:r>
            <a:r>
              <a:rPr lang="en-US" sz="1800" dirty="0">
                <a:solidFill>
                  <a:srgbClr val="212121"/>
                </a:solidFill>
                <a:latin typeface="Calibri" pitchFamily="34" charset="0"/>
                <a:ea typeface="Calibri" pitchFamily="34" charset="-122"/>
                <a:cs typeface="Calibri" pitchFamily="34" charset="-120"/>
              </a:rPr>
              <a:t>;  gözlenen 11.13 Å → oran 1.006</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Yalnızca heliks Cα'ları: Rg = 10.48 Å (alıştırma 5)</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 </a:t>
            </a:r>
            <a:r>
              <a:rPr lang="en-US" sz="1700" b="1" dirty="0">
                <a:solidFill>
                  <a:srgbClr val="212121"/>
                </a:solidFill>
                <a:latin typeface="Calibri" pitchFamily="34" charset="0"/>
                <a:ea typeface="Calibri" pitchFamily="34" charset="-122"/>
                <a:cs typeface="Calibri" pitchFamily="34" charset="-120"/>
              </a:rPr>
              <a:t>Rg = 2.5</a:t>
            </a:r>
            <a:r>
              <a:rPr lang="en-US" sz="1700" dirty="0">
                <a:solidFill>
                  <a:srgbClr val="212121"/>
                </a:solidFill>
                <a:latin typeface="Calibri" pitchFamily="34" charset="0"/>
                <a:ea typeface="Calibri" pitchFamily="34" charset="-122"/>
                <a:cs typeface="Calibri" pitchFamily="34" charset="-120"/>
              </a:rPr>
              <a:t>; (b) 1A8O'nun Rg'si (</a:t>
            </a:r>
            <a:r>
              <a:rPr lang="en-US" sz="1700" b="1" dirty="0">
                <a:solidFill>
                  <a:srgbClr val="212121"/>
                </a:solidFill>
                <a:latin typeface="Calibri" pitchFamily="34" charset="0"/>
                <a:ea typeface="Calibri" pitchFamily="34" charset="-122"/>
                <a:cs typeface="Calibri" pitchFamily="34" charset="-120"/>
              </a:rPr>
              <a:t>11.13 Å</a:t>
            </a:r>
            <a:r>
              <a:rPr lang="en-US" sz="1700" dirty="0">
                <a:solidFill>
                  <a:srgbClr val="212121"/>
                </a:solidFill>
                <a:latin typeface="Calibri" pitchFamily="34" charset="0"/>
                <a:ea typeface="Calibri" pitchFamily="34" charset="-122"/>
                <a:cs typeface="Calibri" pitchFamily="34" charset="-120"/>
              </a:rPr>
              <a:t>) küresel beklentiye (</a:t>
            </a:r>
            <a:r>
              <a:rPr lang="en-US" sz="1700" b="1" dirty="0">
                <a:solidFill>
                  <a:srgbClr val="212121"/>
                </a:solidFill>
                <a:latin typeface="Calibri" pitchFamily="34" charset="0"/>
                <a:ea typeface="Calibri" pitchFamily="34" charset="-122"/>
                <a:cs typeface="Calibri" pitchFamily="34" charset="-120"/>
              </a:rPr>
              <a:t>11.06 Å</a:t>
            </a:r>
            <a:r>
              <a:rPr lang="en-US" sz="1700" dirty="0">
                <a:solidFill>
                  <a:srgbClr val="212121"/>
                </a:solidFill>
                <a:latin typeface="Calibri" pitchFamily="34" charset="0"/>
                <a:ea typeface="Calibri" pitchFamily="34" charset="-122"/>
                <a:cs typeface="Calibri" pitchFamily="34" charset="-120"/>
              </a:rPr>
              <a:t>) çok yakın → domen </a:t>
            </a:r>
            <a:r>
              <a:rPr lang="en-US" sz="1700" b="1" dirty="0">
                <a:solidFill>
                  <a:srgbClr val="212121"/>
                </a:solidFill>
                <a:latin typeface="Calibri" pitchFamily="34" charset="0"/>
                <a:ea typeface="Calibri" pitchFamily="34" charset="-122"/>
                <a:cs typeface="Calibri" pitchFamily="34" charset="-120"/>
              </a:rPr>
              <a:t>kompakt ve küresel</a:t>
            </a:r>
            <a:r>
              <a:rPr lang="en-US" sz="1700" dirty="0">
                <a:solidFill>
                  <a:srgbClr val="212121"/>
                </a:solidFill>
                <a:latin typeface="Calibri" pitchFamily="34" charset="0"/>
                <a:ea typeface="Calibri" pitchFamily="34" charset="-122"/>
                <a:cs typeface="Calibri" pitchFamily="34" charset="-120"/>
              </a:rPr>
              <a:t>. Açılmış (denatüre) bir zincirde Rg çok daha büyük olurdu.</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B-faktörü: yapının esnek bölgeleri</a:t>
            </a:r>
            <a:endParaRPr lang="en-US" sz="3000" dirty="0"/>
          </a:p>
        </p:txBody>
      </p:sp>
      <p:pic>
        <p:nvPicPr>
          <p:cNvPr id="3" name="Image 0" descr="p10_bfaktor.png">    </p:cNvPr>
          <p:cNvPicPr>
            <a:picLocks noChangeAspect="1"/>
          </p:cNvPicPr>
          <p:nvPr/>
        </p:nvPicPr>
        <p:blipFill>
          <a:blip r:embed="rId1"/>
          <a:stretch>
            <a:fillRect/>
          </a:stretch>
        </p:blipFill>
        <p:spPr>
          <a:xfrm>
            <a:off x="548640" y="1531364"/>
            <a:ext cx="6656649" cy="4023872"/>
          </a:xfrm>
          <a:prstGeom prst="rect">
            <a:avLst/>
          </a:prstGeom>
        </p:spPr>
      </p:pic>
      <p:sp>
        <p:nvSpPr>
          <p:cNvPr id="4" name="Text 1"/>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B-faktörü: atomun </a:t>
            </a:r>
            <a:r>
              <a:rPr lang="en-US" sz="1700" b="1" dirty="0">
                <a:solidFill>
                  <a:srgbClr val="212121"/>
                </a:solidFill>
                <a:latin typeface="Calibri" pitchFamily="34" charset="0"/>
                <a:ea typeface="Calibri" pitchFamily="34" charset="-122"/>
                <a:cs typeface="Calibri" pitchFamily="34" charset="-120"/>
              </a:rPr>
              <a:t>termal titreşimi / düzensizliği</a:t>
            </a:r>
            <a:r>
              <a:rPr lang="en-US" sz="1700" dirty="0">
                <a:solidFill>
                  <a:srgbClr val="212121"/>
                </a:solidFill>
                <a:latin typeface="Calibri" pitchFamily="34" charset="0"/>
                <a:ea typeface="Calibri" pitchFamily="34" charset="-122"/>
                <a:cs typeface="Calibri" pitchFamily="34" charset="-120"/>
              </a:rPr>
              <a:t> (Å²)</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Heliksler genellikle daha düşük B → daha </a:t>
            </a:r>
            <a:r>
              <a:rPr lang="en-US" sz="1700" b="1" dirty="0">
                <a:solidFill>
                  <a:srgbClr val="212121"/>
                </a:solidFill>
                <a:latin typeface="Calibri" pitchFamily="34" charset="0"/>
                <a:ea typeface="Calibri" pitchFamily="34" charset="-122"/>
                <a:cs typeface="Calibri" pitchFamily="34" charset="-120"/>
              </a:rPr>
              <a:t>rijit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Uçlar ve döngüler daha yüksek B → </a:t>
            </a:r>
            <a:r>
              <a:rPr lang="en-US" sz="1700" b="1" dirty="0">
                <a:solidFill>
                  <a:srgbClr val="212121"/>
                </a:solidFill>
                <a:latin typeface="Calibri" pitchFamily="34" charset="0"/>
                <a:ea typeface="Calibri" pitchFamily="34" charset="-122"/>
                <a:cs typeface="Calibri" pitchFamily="34" charset="-120"/>
              </a:rPr>
              <a:t>esnek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1A8O: en yüksek B </a:t>
            </a:r>
            <a:r>
              <a:rPr lang="en-US" sz="1700" b="1" dirty="0">
                <a:solidFill>
                  <a:srgbClr val="212121"/>
                </a:solidFill>
                <a:latin typeface="Calibri" pitchFamily="34" charset="0"/>
                <a:ea typeface="Calibri" pitchFamily="34" charset="-122"/>
                <a:cs typeface="Calibri" pitchFamily="34" charset="-120"/>
              </a:rPr>
              <a:t>176</a:t>
            </a:r>
            <a:r>
              <a:rPr lang="en-US" sz="1700" dirty="0">
                <a:solidFill>
                  <a:srgbClr val="212121"/>
                </a:solidFill>
                <a:latin typeface="Calibri" pitchFamily="34" charset="0"/>
                <a:ea typeface="Calibri" pitchFamily="34" charset="-122"/>
                <a:cs typeface="Calibri" pitchFamily="34" charset="-120"/>
              </a:rPr>
              <a:t> (heliks 1–2 arası döngü, 34.8 Å²) ve C-ucu </a:t>
            </a:r>
            <a:r>
              <a:rPr lang="en-US" sz="1700" b="1" dirty="0">
                <a:solidFill>
                  <a:srgbClr val="212121"/>
                </a:solidFill>
                <a:latin typeface="Calibri" pitchFamily="34" charset="0"/>
                <a:ea typeface="Calibri" pitchFamily="34" charset="-122"/>
                <a:cs typeface="Calibri" pitchFamily="34" charset="-120"/>
              </a:rPr>
              <a:t>220</a:t>
            </a:r>
            <a:r>
              <a:rPr lang="en-US" sz="1700" dirty="0">
                <a:solidFill>
                  <a:srgbClr val="212121"/>
                </a:solidFill>
                <a:latin typeface="Calibri" pitchFamily="34" charset="0"/>
                <a:ea typeface="Calibri" pitchFamily="34" charset="-122"/>
                <a:cs typeface="Calibri" pitchFamily="34" charset="-120"/>
              </a:rPr>
              <a:t> (32.7 Å²); en düşük heliks 1 çekirdeği (165: 11.7 Å²)</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Heliks ortalaması 20.4, diğer kalıntılar 21.0 Å²: yüzeydeki uzun yan zincirler heliks içinde de B'yi yükseltir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AlphaFold dosyalarında aynı sütun </a:t>
            </a:r>
            <a:r>
              <a:rPr lang="en-US" sz="1700" b="1" dirty="0">
                <a:solidFill>
                  <a:srgbClr val="212121"/>
                </a:solidFill>
                <a:latin typeface="Calibri" pitchFamily="34" charset="0"/>
                <a:ea typeface="Calibri" pitchFamily="34" charset="-122"/>
                <a:cs typeface="Calibri" pitchFamily="34" charset="-120"/>
              </a:rPr>
              <a:t>pLDDT</a:t>
            </a:r>
            <a:r>
              <a:rPr lang="en-US" sz="1700" dirty="0">
                <a:solidFill>
                  <a:srgbClr val="212121"/>
                </a:solidFill>
                <a:latin typeface="Calibri" pitchFamily="34" charset="0"/>
                <a:ea typeface="Calibri" pitchFamily="34" charset="-122"/>
                <a:cs typeface="Calibri" pitchFamily="34" charset="-120"/>
              </a:rPr>
              <a:t> (güven) taşır: yorum tersine döner (yüksek = iyi)</a:t>
            </a:r>
            <a:endParaRPr lang="en-US" sz="1700" dirty="0"/>
          </a:p>
        </p:txBody>
      </p:sp>
      <p:sp>
        <p:nvSpPr>
          <p:cNvPr id="5" name="Text 2"/>
          <p:cNvSpPr txBox="1"/>
          <p:nvPr/>
        </p:nvSpPr>
        <p:spPr>
          <a:xfrm>
            <a:off x="548640" y="5628388"/>
            <a:ext cx="6656649" cy="320040"/>
          </a:xfrm>
          <a:prstGeom prst="rect">
            <a:avLst/>
          </a:prstGeom>
          <a:noFill/>
          <a:ln/>
        </p:spPr>
        <p:txBody>
          <a:bodyPr wrap="square" lIns="0" tIns="0" rIns="0" bIns="0" rtlCol="0" anchor="ctr"/>
          <a:lstStyle/>
          <a:p>
            <a:pPr algn="ctr" indent="0" marL="0">
              <a:buNone/>
            </a:pPr>
            <a:r>
              <a:rPr lang="en-US" sz="1100" i="1" dirty="0">
                <a:solidFill>
                  <a:srgbClr val="546E7A"/>
                </a:solidFill>
              </a:rPr>
              <a:t>Kalıntı başına ortalama B-faktörü; pembe bantlar HELIX kayıtları</a:t>
            </a:r>
            <a:endParaRPr lang="en-US" sz="11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5</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Üst üste çakıştırma: RMSD ve Kabsch</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İki yapı ne kadar benzer? En iyi dönme + öteleme, sonra kök ortalama kare sapma</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RMSD ve Kabsch algoritması</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RMSD</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RMSD = √[(1/N) Σ ‖aᵢ − bᵢ‖²]</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Eşleşen N atom çifti; birim Å. Yalnızca </a:t>
            </a:r>
            <a:r>
              <a:rPr lang="en-US" sz="1300" b="1" dirty="0">
                <a:solidFill>
                  <a:srgbClr val="546E7A"/>
                </a:solidFill>
                <a:latin typeface="Calibri" pitchFamily="34" charset="0"/>
                <a:ea typeface="Calibri" pitchFamily="34" charset="-122"/>
                <a:cs typeface="Calibri" pitchFamily="34" charset="-120"/>
              </a:rPr>
              <a:t>eşleştirme</a:t>
            </a:r>
            <a:r>
              <a:rPr lang="en-US" sz="1300" dirty="0">
                <a:solidFill>
                  <a:srgbClr val="546E7A"/>
                </a:solidFill>
                <a:latin typeface="Calibri" pitchFamily="34" charset="0"/>
                <a:ea typeface="Calibri" pitchFamily="34" charset="-122"/>
                <a:cs typeface="Calibri" pitchFamily="34" charset="-120"/>
              </a:rPr>
              <a:t> biliniyorsa anlamlı</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1. Öteleme</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aᵢ ← aᵢ − ā,   bᵢ ← bᵢ − b̄</a:t>
            </a:r>
            <a:endParaRPr lang="en-US" sz="18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Her iki yapıyı ağırlık merkezine taşı (en iyi öteleme)</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2. Kovaryans + SVD</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H = Bᵀ A = U Σ Vᵀ</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A, B: merkezlenmiş N × 3 koordinat matrisleri</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3. Dönme</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R = V · diag(1, 1, d) · Uᵀ,  d = sign(det(V Uᵀ))</a:t>
            </a:r>
            <a:endParaRPr lang="en-US" sz="15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d, yansımayı (det = −1) engeller; sonra RMSD(A, B Rᵀ)</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Kabsch (1976), RMSD'yi en küçükleyen dönmeyi </a:t>
            </a:r>
            <a:r>
              <a:rPr lang="en-US" sz="1600" b="1" dirty="0">
                <a:solidFill>
                  <a:srgbClr val="212121"/>
                </a:solidFill>
                <a:latin typeface="Calibri" pitchFamily="34" charset="0"/>
                <a:ea typeface="Calibri" pitchFamily="34" charset="-122"/>
                <a:cs typeface="Calibri" pitchFamily="34" charset="-120"/>
              </a:rPr>
              <a:t>kapalı biçimde</a:t>
            </a:r>
            <a:r>
              <a:rPr lang="en-US" sz="1600" dirty="0">
                <a:solidFill>
                  <a:srgbClr val="212121"/>
                </a:solidFill>
                <a:latin typeface="Calibri" pitchFamily="34" charset="0"/>
                <a:ea typeface="Calibri" pitchFamily="34" charset="-122"/>
                <a:cs typeface="Calibri" pitchFamily="34" charset="-120"/>
              </a:rPr>
              <a:t> (SVD ile) bulur; iteratif arama gerekmez. Biopython: </a:t>
            </a:r>
            <a:r>
              <a:rPr lang="en-US" sz="1600" dirty="0">
                <a:solidFill>
                  <a:srgbClr val="455A64"/>
                </a:solidFill>
                <a:latin typeface="Courier New" pitchFamily="34" charset="0"/>
                <a:ea typeface="Courier New" pitchFamily="34" charset="-122"/>
                <a:cs typeface="Courier New" pitchFamily="34" charset="-120"/>
              </a:rPr>
              <a:t>Superimposer</a:t>
            </a:r>
            <a:r>
              <a:rPr lang="en-US" sz="1600" dirty="0">
                <a:solidFill>
                  <a:srgbClr val="212121"/>
                </a:solidFill>
                <a:latin typeface="Calibri" pitchFamily="34" charset="0"/>
                <a:ea typeface="Calibri" pitchFamily="34" charset="-122"/>
                <a:cs typeface="Calibri" pitchFamily="34" charset="-120"/>
              </a:rPr>
              <a:t>, </a:t>
            </a:r>
            <a:r>
              <a:rPr lang="en-US" sz="1600" dirty="0">
                <a:solidFill>
                  <a:srgbClr val="455A64"/>
                </a:solidFill>
                <a:latin typeface="Courier New" pitchFamily="34" charset="0"/>
                <a:ea typeface="Courier New" pitchFamily="34" charset="-122"/>
                <a:cs typeface="Courier New" pitchFamily="34" charset="-120"/>
              </a:rPr>
              <a:t>SVDSuperimposer</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Sınav tipi soru: RMSD ve çakıştırmanın etkisi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(ders notu + 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 {(0,0,0), (1,0,0), (0,1,0)}, b = {(0,0,1), (1,0,1), (0,1,2)}. (a) Çakıştırmadan RMSD? (b) Yalnızca merkezleme (en iyi öteleme) sonrası RMSD?</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Farklar: (0,0,1), (0,0,1), (0,0,2) → kare uzaklıklar </a:t>
            </a:r>
            <a:r>
              <a:rPr lang="en-US" sz="1800" b="1" dirty="0">
                <a:solidFill>
                  <a:srgbClr val="212121"/>
                </a:solidFill>
                <a:latin typeface="Calibri" pitchFamily="34" charset="0"/>
                <a:ea typeface="Calibri" pitchFamily="34" charset="-122"/>
                <a:cs typeface="Calibri" pitchFamily="34" charset="-120"/>
              </a:rPr>
              <a:t>1, 1, 4</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RMSD = √((1 + 1 + 4)/3) = √2 ≈ </a:t>
            </a:r>
            <a:r>
              <a:rPr lang="en-US" sz="1800" b="1" dirty="0">
                <a:solidFill>
                  <a:srgbClr val="212121"/>
                </a:solidFill>
                <a:latin typeface="Calibri" pitchFamily="34" charset="0"/>
                <a:ea typeface="Calibri" pitchFamily="34" charset="-122"/>
                <a:cs typeface="Calibri" pitchFamily="34" charset="-120"/>
              </a:rPr>
              <a:t>1.41 Å</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ā = (1/3, 1/3, 0), b̄ = (1/3, 1/3, 4/3) → ortalama fark (0, 0, 4/3)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Merkezlenmiş farklar: (0,0,−1/3), (0,0,−1/3), (0,0,2/3) → kareler 1/9, 1/9, 4/9</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RMSD = √((6/9)/3) = √(2/9) ≈ </a:t>
            </a:r>
            <a:r>
              <a:rPr lang="en-US" sz="1800" b="1" dirty="0">
                <a:solidFill>
                  <a:srgbClr val="212121"/>
                </a:solidFill>
                <a:latin typeface="Calibri" pitchFamily="34" charset="0"/>
                <a:ea typeface="Calibri" pitchFamily="34" charset="-122"/>
                <a:cs typeface="Calibri" pitchFamily="34" charset="-120"/>
              </a:rPr>
              <a:t>0.47 Å</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Kabsch dönmesi de eklenince (</a:t>
            </a:r>
            <a:r>
              <a:rPr lang="en-US" sz="1800" dirty="0">
                <a:solidFill>
                  <a:srgbClr val="455A64"/>
                </a:solidFill>
                <a:latin typeface="Courier New" pitchFamily="34" charset="0"/>
                <a:ea typeface="Courier New" pitchFamily="34" charset="-122"/>
                <a:cs typeface="Courier New" pitchFamily="34" charset="-120"/>
              </a:rPr>
              <a:t>Superimposer</a:t>
            </a:r>
            <a:r>
              <a:rPr lang="en-US" sz="1800" dirty="0">
                <a:solidFill>
                  <a:srgbClr val="212121"/>
                </a:solidFill>
                <a:latin typeface="Calibri" pitchFamily="34" charset="0"/>
                <a:ea typeface="Calibri" pitchFamily="34" charset="-122"/>
                <a:cs typeface="Calibri" pitchFamily="34" charset="-120"/>
              </a:rPr>
              <a:t>): </a:t>
            </a:r>
            <a:r>
              <a:rPr lang="en-US" sz="1800" b="1" dirty="0">
                <a:solidFill>
                  <a:srgbClr val="212121"/>
                </a:solidFill>
                <a:latin typeface="Calibri" pitchFamily="34" charset="0"/>
                <a:ea typeface="Calibri" pitchFamily="34" charset="-122"/>
                <a:cs typeface="Calibri" pitchFamily="34" charset="-120"/>
              </a:rPr>
              <a:t>0.18 Å</a:t>
            </a:r>
            <a:r>
              <a:rPr lang="en-US" sz="1800" dirty="0">
                <a:solidFill>
                  <a:srgbClr val="212121"/>
                </a:solidFill>
                <a:latin typeface="Calibri" pitchFamily="34" charset="0"/>
                <a:ea typeface="Calibri" pitchFamily="34" charset="-122"/>
                <a:cs typeface="Calibri" pitchFamily="34" charset="-120"/>
              </a:rPr>
              <a:t> (b rijit bir kopya değil)</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Çakıştırmasız </a:t>
            </a:r>
            <a:r>
              <a:rPr lang="en-US" sz="1700" b="1" dirty="0">
                <a:solidFill>
                  <a:srgbClr val="212121"/>
                </a:solidFill>
                <a:latin typeface="Calibri" pitchFamily="34" charset="0"/>
                <a:ea typeface="Calibri" pitchFamily="34" charset="-122"/>
                <a:cs typeface="Calibri" pitchFamily="34" charset="-120"/>
              </a:rPr>
              <a:t>1.41 Å</a:t>
            </a:r>
            <a:r>
              <a:rPr lang="en-US" sz="1700" dirty="0">
                <a:solidFill>
                  <a:srgbClr val="212121"/>
                </a:solidFill>
                <a:latin typeface="Calibri" pitchFamily="34" charset="0"/>
                <a:ea typeface="Calibri" pitchFamily="34" charset="-122"/>
                <a:cs typeface="Calibri" pitchFamily="34" charset="-120"/>
              </a:rPr>
              <a:t> → öteleme sonrası </a:t>
            </a:r>
            <a:r>
              <a:rPr lang="en-US" sz="1700" b="1" dirty="0">
                <a:solidFill>
                  <a:srgbClr val="212121"/>
                </a:solidFill>
                <a:latin typeface="Calibri" pitchFamily="34" charset="0"/>
                <a:ea typeface="Calibri" pitchFamily="34" charset="-122"/>
                <a:cs typeface="Calibri" pitchFamily="34" charset="-120"/>
              </a:rPr>
              <a:t>0.47 Å</a:t>
            </a:r>
            <a:r>
              <a:rPr lang="en-US" sz="1700" dirty="0">
                <a:solidFill>
                  <a:srgbClr val="212121"/>
                </a:solidFill>
                <a:latin typeface="Calibri" pitchFamily="34" charset="0"/>
                <a:ea typeface="Calibri" pitchFamily="34" charset="-122"/>
                <a:cs typeface="Calibri" pitchFamily="34" charset="-120"/>
              </a:rPr>
              <a:t> → öteleme + dönme sonrası </a:t>
            </a:r>
            <a:r>
              <a:rPr lang="en-US" sz="1700" b="1" dirty="0">
                <a:solidFill>
                  <a:srgbClr val="212121"/>
                </a:solidFill>
                <a:latin typeface="Calibri" pitchFamily="34" charset="0"/>
                <a:ea typeface="Calibri" pitchFamily="34" charset="-122"/>
                <a:cs typeface="Calibri" pitchFamily="34" charset="-120"/>
              </a:rPr>
              <a:t>0.18 Å</a:t>
            </a:r>
            <a:r>
              <a:rPr lang="en-US" sz="1700" dirty="0">
                <a:solidFill>
                  <a:srgbClr val="212121"/>
                </a:solidFill>
                <a:latin typeface="Calibri" pitchFamily="34" charset="0"/>
                <a:ea typeface="Calibri" pitchFamily="34" charset="-122"/>
                <a:cs typeface="Calibri" pitchFamily="34" charset="-120"/>
              </a:rPr>
              <a:t>. RMSD her zaman </a:t>
            </a:r>
            <a:r>
              <a:rPr lang="en-US" sz="1700" b="1" dirty="0">
                <a:solidFill>
                  <a:srgbClr val="212121"/>
                </a:solidFill>
                <a:latin typeface="Calibri" pitchFamily="34" charset="0"/>
                <a:ea typeface="Calibri" pitchFamily="34" charset="-122"/>
                <a:cs typeface="Calibri" pitchFamily="34" charset="-120"/>
              </a:rPr>
              <a:t>çakıştırmadan sonra</a:t>
            </a:r>
            <a:r>
              <a:rPr lang="en-US" sz="1700" dirty="0">
                <a:solidFill>
                  <a:srgbClr val="212121"/>
                </a:solidFill>
                <a:latin typeface="Calibri" pitchFamily="34" charset="0"/>
                <a:ea typeface="Calibri" pitchFamily="34" charset="-122"/>
                <a:cs typeface="Calibri" pitchFamily="34" charset="-120"/>
              </a:rPr>
              <a:t> raporlanmalıdır.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Kabsch'ı adım adım izlemek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 {(0,0,0), (2,0,0), (0,1,0)}; b, a'nın z ekseni etrafında </a:t>
            </a:r>
            <a:r>
              <a:rPr lang="en-US" sz="1800" b="1" dirty="0">
                <a:solidFill>
                  <a:srgbClr val="212121"/>
                </a:solidFill>
                <a:latin typeface="Calibri" pitchFamily="34" charset="0"/>
                <a:ea typeface="Calibri" pitchFamily="34" charset="-122"/>
                <a:cs typeface="Calibri" pitchFamily="34" charset="-120"/>
              </a:rPr>
              <a:t>+90°</a:t>
            </a:r>
            <a:r>
              <a:rPr lang="en-US" sz="1800" dirty="0">
                <a:solidFill>
                  <a:srgbClr val="212121"/>
                </a:solidFill>
                <a:latin typeface="Calibri" pitchFamily="34" charset="0"/>
                <a:ea typeface="Calibri" pitchFamily="34" charset="-122"/>
                <a:cs typeface="Calibri" pitchFamily="34" charset="-120"/>
              </a:rPr>
              <a:t> döndürülüp (1,1,1) ötelenmiş hâli: {(1,1,1), (1,3,1), (0,1,1)}. Kabsch ile RMSD'yi bulun.</a:t>
            </a:r>
            <a:endParaRPr lang="en-US" sz="1800" dirty="0"/>
          </a:p>
        </p:txBody>
      </p:sp>
      <p:sp>
        <p:nvSpPr>
          <p:cNvPr id="6" name="Text 4"/>
          <p:cNvSpPr txBox="1"/>
          <p:nvPr/>
        </p:nvSpPr>
        <p:spPr>
          <a:xfrm>
            <a:off x="548640" y="2779776"/>
            <a:ext cx="4659654"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Ham RMSD: kare uzaklıklar 3, 11, 1 → √(15/3) = √5 ≈ </a:t>
            </a:r>
            <a:r>
              <a:rPr lang="en-US" sz="1550" b="1" dirty="0">
                <a:solidFill>
                  <a:srgbClr val="212121"/>
                </a:solidFill>
                <a:latin typeface="Calibri" pitchFamily="34" charset="0"/>
                <a:ea typeface="Calibri" pitchFamily="34" charset="-122"/>
                <a:cs typeface="Calibri" pitchFamily="34" charset="-120"/>
              </a:rPr>
              <a:t>2.24</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Merkezler: ā = (0.667, 0.333, 0), b̄ = (0.667, 1.667, 1) → merkezleme sonrası RMSD </a:t>
            </a:r>
            <a:r>
              <a:rPr lang="en-US" sz="1550" b="1" dirty="0">
                <a:solidFill>
                  <a:srgbClr val="212121"/>
                </a:solidFill>
                <a:latin typeface="Calibri" pitchFamily="34" charset="0"/>
                <a:ea typeface="Calibri" pitchFamily="34" charset="-122"/>
                <a:cs typeface="Calibri" pitchFamily="34" charset="-120"/>
              </a:rPr>
              <a:t>1.49</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H = Bᵀ A = [[0.667, −0.667, 0], [2.667, −0.667, 0], [0, 0, 0]] → SVD, d = +1</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R = [[0, 1, 0], [−1, 0, 0], [0, 0, 1]] → z etrafında </a:t>
            </a:r>
            <a:r>
              <a:rPr lang="en-US" sz="1550" b="1" dirty="0">
                <a:solidFill>
                  <a:srgbClr val="212121"/>
                </a:solidFill>
                <a:latin typeface="Calibri" pitchFamily="34" charset="0"/>
                <a:ea typeface="Calibri" pitchFamily="34" charset="-122"/>
                <a:cs typeface="Calibri" pitchFamily="34" charset="-120"/>
              </a:rPr>
              <a:t>−90°</a:t>
            </a:r>
            <a:r>
              <a:rPr lang="en-US" sz="1550" dirty="0">
                <a:solidFill>
                  <a:srgbClr val="212121"/>
                </a:solidFill>
                <a:latin typeface="Calibri" pitchFamily="34" charset="0"/>
                <a:ea typeface="Calibri" pitchFamily="34" charset="-122"/>
                <a:cs typeface="Calibri" pitchFamily="34" charset="-120"/>
              </a:rPr>
              <a:t>: uygulanan dönmenin tersi ✓</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B Rᵀ = A (tam çakışma) → RMSD = </a:t>
            </a:r>
            <a:r>
              <a:rPr lang="en-US" sz="1550" b="1" dirty="0">
                <a:solidFill>
                  <a:srgbClr val="212121"/>
                </a:solidFill>
                <a:latin typeface="Calibri" pitchFamily="34" charset="0"/>
                <a:ea typeface="Calibri" pitchFamily="34" charset="-122"/>
                <a:cs typeface="Calibri" pitchFamily="34" charset="-120"/>
              </a:rPr>
              <a:t>0</a:t>
            </a:r>
            <a:endParaRPr lang="en-US" sz="1550" dirty="0"/>
          </a:p>
        </p:txBody>
      </p:sp>
      <p:pic>
        <p:nvPicPr>
          <p:cNvPr id="7" name="Image 0" descr="p10_kabsch.png">    </p:cNvPr>
          <p:cNvPicPr>
            <a:picLocks noChangeAspect="1"/>
          </p:cNvPicPr>
          <p:nvPr/>
        </p:nvPicPr>
        <p:blipFill>
          <a:blip r:embed="rId1"/>
          <a:stretch>
            <a:fillRect/>
          </a:stretch>
        </p:blipFill>
        <p:spPr>
          <a:xfrm>
            <a:off x="5528334" y="3004553"/>
            <a:ext cx="6114721" cy="2165630"/>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Kabsch, uygulanan dönmeyi ve ötelemeyi </a:t>
            </a:r>
            <a:r>
              <a:rPr lang="en-US" sz="1700" b="1" dirty="0">
                <a:solidFill>
                  <a:srgbClr val="212121"/>
                </a:solidFill>
                <a:latin typeface="Calibri" pitchFamily="34" charset="0"/>
                <a:ea typeface="Calibri" pitchFamily="34" charset="-122"/>
                <a:cs typeface="Calibri" pitchFamily="34" charset="-120"/>
              </a:rPr>
              <a:t>tam olarak</a:t>
            </a:r>
            <a:r>
              <a:rPr lang="en-US" sz="1700" dirty="0">
                <a:solidFill>
                  <a:srgbClr val="212121"/>
                </a:solidFill>
                <a:latin typeface="Calibri" pitchFamily="34" charset="0"/>
                <a:ea typeface="Calibri" pitchFamily="34" charset="-122"/>
                <a:cs typeface="Calibri" pitchFamily="34" charset="-120"/>
              </a:rPr>
              <a:t> geri bulur: RMSD 2.24 → 1.49 → </a:t>
            </a:r>
            <a:r>
              <a:rPr lang="en-US" sz="1700" b="1" dirty="0">
                <a:solidFill>
                  <a:srgbClr val="212121"/>
                </a:solidFill>
                <a:latin typeface="Calibri" pitchFamily="34" charset="0"/>
                <a:ea typeface="Calibri" pitchFamily="34" charset="-122"/>
                <a:cs typeface="Calibri" pitchFamily="34" charset="-120"/>
              </a:rPr>
              <a:t>0</a:t>
            </a:r>
            <a:r>
              <a:rPr lang="en-US" sz="1700" dirty="0">
                <a:solidFill>
                  <a:srgbClr val="212121"/>
                </a:solidFill>
                <a:latin typeface="Calibri" pitchFamily="34" charset="0"/>
                <a:ea typeface="Calibri" pitchFamily="34" charset="-122"/>
                <a:cs typeface="Calibri" pitchFamily="34" charset="-120"/>
              </a:rPr>
              <a:t>. Gürültü olsaydı kalan RMSD gürültünün büyüklüğünü yansıtırdı.</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Superimposer: gürültülü kopyayı çakıştırmak</a:t>
            </a:r>
            <a:endParaRPr lang="en-US" sz="3000" dirty="0"/>
          </a:p>
        </p:txBody>
      </p:sp>
      <p:sp>
        <p:nvSpPr>
          <p:cNvPr id="3" name="Text 1"/>
          <p:cNvSpPr txBox="1"/>
          <p:nvPr/>
        </p:nvSpPr>
        <p:spPr>
          <a:xfrm>
            <a:off x="548640" y="5111496"/>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340096"/>
            <a:ext cx="6878537" cy="923544"/>
          </a:xfrm>
          <a:prstGeom prst="roundRect">
            <a:avLst>
              <a:gd name="adj" fmla="val 7921"/>
            </a:avLst>
          </a:prstGeom>
          <a:solidFill>
            <a:srgbClr val="FFFFFF"/>
          </a:solidFill>
          <a:ln w="12700">
            <a:solidFill>
              <a:srgbClr val="B0BEC5"/>
            </a:solidFill>
            <a:prstDash val="solid"/>
          </a:ln>
        </p:spPr>
      </p:sp>
      <p:sp>
        <p:nvSpPr>
          <p:cNvPr id="5" name="Text 3"/>
          <p:cNvSpPr txBox="1"/>
          <p:nvPr/>
        </p:nvSpPr>
        <p:spPr>
          <a:xfrm>
            <a:off x="658368" y="5413248"/>
            <a:ext cx="6659081" cy="777240"/>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Önce: 50.93</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Sonra: 0.818</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True</a:t>
            </a:r>
            <a:endParaRPr lang="en-US" sz="1300" dirty="0"/>
          </a:p>
        </p:txBody>
      </p:sp>
      <p:sp>
        <p:nvSpPr>
          <p:cNvPr id="6" name="Shape 4"/>
          <p:cNvSpPr/>
          <p:nvPr/>
        </p:nvSpPr>
        <p:spPr>
          <a:xfrm>
            <a:off x="548640" y="1234440"/>
            <a:ext cx="6878537" cy="3831336"/>
          </a:xfrm>
          <a:prstGeom prst="roundRect">
            <a:avLst>
              <a:gd name="adj" fmla="val 1909"/>
            </a:avLst>
          </a:prstGeom>
          <a:solidFill>
            <a:srgbClr val="F4F6F7"/>
          </a:solidFill>
          <a:ln w="12700">
            <a:solidFill>
              <a:srgbClr val="B0BEC5"/>
            </a:solidFill>
            <a:prstDash val="solid"/>
          </a:ln>
        </p:spPr>
      </p:sp>
      <p:sp>
        <p:nvSpPr>
          <p:cNvPr id="7" name="Text 5"/>
          <p:cNvSpPr txBox="1"/>
          <p:nvPr/>
        </p:nvSpPr>
        <p:spPr>
          <a:xfrm>
            <a:off x="658368" y="1307592"/>
            <a:ext cx="6659081" cy="3685032"/>
          </a:xfrm>
          <a:prstGeom prst="rect">
            <a:avLst/>
          </a:prstGeom>
          <a:noFill/>
          <a:ln/>
        </p:spPr>
        <p:txBody>
          <a:bodyPr wrap="square" lIns="0" tIns="0" rIns="0" bIns="0" rtlCol="0" anchor="t"/>
          <a:lstStyle/>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from Bio.PDB import Superimposer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from Bio.PDB.Atom import Atom</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from scipy.spatial.transform import Rotation</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rng = np.random.default_rng(0)</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R = Rotation.from_euler("xyz", [40, -25, 70],</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degrees=True).as_matrix()</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t = np.array([10.0, -5.0, 3.0])</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kopya = CA @ R.T + t + rng.normal(0, 0.5, CA.shape)</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print("Önce:", np.sqrt(((CA - kopya)**2).sum(1).mean()).round(2))</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sabit = [r["CA"] for r in kalintilar]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hareketli = [Atom("CA", x, 0, 1, " ", "CA", i, "C")</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for i, x in enumerate(kopya)]</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sup = Superimposer()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sup.set_atoms(sabit, hareketli)</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print("Sonra:", round(sup.rms, 3))</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rot, tran = sup.rotran</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print(np.allclose(rot, R, atol=0.05))</a:t>
            </a:r>
            <a:endParaRPr lang="en-US" sz="1250" dirty="0"/>
          </a:p>
        </p:txBody>
      </p:sp>
      <p:sp>
        <p:nvSpPr>
          <p:cNvPr id="8" name="Text 6"/>
          <p:cNvSpPr txBox="1"/>
          <p:nvPr/>
        </p:nvSpPr>
        <p:spPr>
          <a:xfrm>
            <a:off x="7747217" y="1234440"/>
            <a:ext cx="389583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Kopya: 70 Cα döndürülüp ötelendi, σ = 0.5 Å </a:t>
            </a:r>
            <a:r>
              <a:rPr lang="en-US" sz="1700" b="1" dirty="0">
                <a:solidFill>
                  <a:srgbClr val="212121"/>
                </a:solidFill>
                <a:latin typeface="Calibri" pitchFamily="34" charset="0"/>
                <a:ea typeface="Calibri" pitchFamily="34" charset="-122"/>
                <a:cs typeface="Calibri" pitchFamily="34" charset="-120"/>
              </a:rPr>
              <a:t>gürültü</a:t>
            </a:r>
            <a:r>
              <a:rPr lang="en-US" sz="1700" dirty="0">
                <a:solidFill>
                  <a:srgbClr val="212121"/>
                </a:solidFill>
                <a:latin typeface="Calibri" pitchFamily="34" charset="0"/>
                <a:ea typeface="Calibri" pitchFamily="34" charset="-122"/>
                <a:cs typeface="Calibri" pitchFamily="34" charset="-120"/>
              </a:rPr>
              <a:t> eklendi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Çakıştırma öncesi </a:t>
            </a:r>
            <a:r>
              <a:rPr lang="en-US" sz="1700" b="1" dirty="0">
                <a:solidFill>
                  <a:srgbClr val="212121"/>
                </a:solidFill>
                <a:latin typeface="Calibri" pitchFamily="34" charset="0"/>
                <a:ea typeface="Calibri" pitchFamily="34" charset="-122"/>
                <a:cs typeface="Calibri" pitchFamily="34" charset="-120"/>
              </a:rPr>
              <a:t>50.93 Å</a:t>
            </a:r>
            <a:r>
              <a:rPr lang="en-US" sz="1700" dirty="0">
                <a:solidFill>
                  <a:srgbClr val="212121"/>
                </a:solidFill>
                <a:latin typeface="Calibri" pitchFamily="34" charset="0"/>
                <a:ea typeface="Calibri" pitchFamily="34" charset="-122"/>
                <a:cs typeface="Calibri" pitchFamily="34" charset="-120"/>
              </a:rPr>
              <a:t> → sonrası </a:t>
            </a:r>
            <a:r>
              <a:rPr lang="en-US" sz="1700" b="1" dirty="0">
                <a:solidFill>
                  <a:srgbClr val="212121"/>
                </a:solidFill>
                <a:latin typeface="Calibri" pitchFamily="34" charset="0"/>
                <a:ea typeface="Calibri" pitchFamily="34" charset="-122"/>
                <a:cs typeface="Calibri" pitchFamily="34" charset="-120"/>
              </a:rPr>
              <a:t>0.818 Å</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Beklenen ≈ σ·√3 = 0.5 × 1.732 ≈ </a:t>
            </a:r>
            <a:r>
              <a:rPr lang="en-US" sz="1700" b="1" dirty="0">
                <a:solidFill>
                  <a:srgbClr val="212121"/>
                </a:solidFill>
                <a:latin typeface="Calibri" pitchFamily="34" charset="0"/>
                <a:ea typeface="Calibri" pitchFamily="34" charset="-122"/>
                <a:cs typeface="Calibri" pitchFamily="34" charset="-120"/>
              </a:rPr>
              <a:t>0.87 Å</a:t>
            </a:r>
            <a:r>
              <a:rPr lang="en-US" sz="1700" dirty="0">
                <a:solidFill>
                  <a:srgbClr val="212121"/>
                </a:solidFill>
                <a:latin typeface="Calibri" pitchFamily="34" charset="0"/>
                <a:ea typeface="Calibri" pitchFamily="34" charset="-122"/>
                <a:cs typeface="Calibri" pitchFamily="34" charset="-120"/>
              </a:rPr>
              <a:t> (3 boyutta gürültü)</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rotran</a:t>
            </a:r>
            <a:r>
              <a:rPr lang="en-US" sz="1700" dirty="0">
                <a:solidFill>
                  <a:srgbClr val="212121"/>
                </a:solidFill>
                <a:latin typeface="Calibri" pitchFamily="34" charset="0"/>
                <a:ea typeface="Calibri" pitchFamily="34" charset="-122"/>
                <a:cs typeface="Calibri" pitchFamily="34" charset="-120"/>
              </a:rPr>
              <a:t>: Biopython koordinatı </a:t>
            </a:r>
            <a:r>
              <a:rPr lang="en-US" sz="1700" b="1" dirty="0">
                <a:solidFill>
                  <a:srgbClr val="212121"/>
                </a:solidFill>
                <a:latin typeface="Calibri" pitchFamily="34" charset="0"/>
                <a:ea typeface="Calibri" pitchFamily="34" charset="-122"/>
                <a:cs typeface="Calibri" pitchFamily="34" charset="-120"/>
              </a:rPr>
              <a:t>sağdan</a:t>
            </a:r>
            <a:r>
              <a:rPr lang="en-US" sz="1700" dirty="0">
                <a:solidFill>
                  <a:srgbClr val="212121"/>
                </a:solidFill>
                <a:latin typeface="Calibri" pitchFamily="34" charset="0"/>
                <a:ea typeface="Calibri" pitchFamily="34" charset="-122"/>
                <a:cs typeface="Calibri" pitchFamily="34" charset="-120"/>
              </a:rPr>
              <a:t> çarpar (x @ rot + tran)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sup.apply(atomlar)</a:t>
            </a:r>
            <a:r>
              <a:rPr lang="en-US" sz="1700" dirty="0">
                <a:solidFill>
                  <a:srgbClr val="212121"/>
                </a:solidFill>
                <a:latin typeface="Calibri" pitchFamily="34" charset="0"/>
                <a:ea typeface="Calibri" pitchFamily="34" charset="-122"/>
                <a:cs typeface="Calibri" pitchFamily="34" charset="-120"/>
              </a:rPr>
              <a:t> hareketli yapıyı yerinde taşır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Alt yapıyı kaydetmek (PDBIO) ve 3B görselleştirme</a:t>
            </a:r>
            <a:endParaRPr lang="en-US" sz="28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6878537"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659081"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Kaydedildi: 45125 bayt</a:t>
            </a:r>
            <a:endParaRPr lang="en-US" sz="1300" dirty="0"/>
          </a:p>
        </p:txBody>
      </p:sp>
      <p:sp>
        <p:nvSpPr>
          <p:cNvPr id="6" name="Shape 4"/>
          <p:cNvSpPr/>
          <p:nvPr/>
        </p:nvSpPr>
        <p:spPr>
          <a:xfrm>
            <a:off x="548640" y="1234440"/>
            <a:ext cx="6878537"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659081" cy="4087368"/>
          </a:xfrm>
          <a:prstGeom prst="rect">
            <a:avLst/>
          </a:prstGeom>
          <a:noFill/>
          <a:ln/>
        </p:spPr>
        <p:txBody>
          <a:bodyPr wrap="square" lIns="0" tIns="0" rIns="0" bIns="0" rtlCol="0" anchor="t"/>
          <a:lstStyle/>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from Bio.PDB import PDBIO, Select</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class SadeceProtein(Select):</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def accept_residue(self, residue):</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return residue.id[0] != "W"          # suları at</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io = PDBIO()</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io.set_structure(yapi)</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io.save("1A8O_susuz.pdb", SadeceProtein())</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import py3Dmol                               # !pip install py3Dmol</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v = py3Dmol.view(width=600, height=400)</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v.addModel(open("1A8O_susuz.pdb").read(), "pdb")</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v.setStyle({"cartoon": {"color": "spectrum"}})</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v.addStyle({"resn": "CYS"}, {"stick": {}})   # disülfit</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v.zoomTo(); v.show()</a:t>
            </a:r>
            <a:endParaRPr lang="en-US" sz="1250" dirty="0"/>
          </a:p>
        </p:txBody>
      </p:sp>
      <p:sp>
        <p:nvSpPr>
          <p:cNvPr id="8" name="Text 6"/>
          <p:cNvSpPr txBox="1"/>
          <p:nvPr/>
        </p:nvSpPr>
        <p:spPr>
          <a:xfrm>
            <a:off x="7747217" y="1234440"/>
            <a:ext cx="389583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Select</a:t>
            </a:r>
            <a:r>
              <a:rPr lang="en-US" sz="1700" dirty="0">
                <a:solidFill>
                  <a:srgbClr val="212121"/>
                </a:solidFill>
                <a:latin typeface="Calibri" pitchFamily="34" charset="0"/>
                <a:ea typeface="Calibri" pitchFamily="34" charset="-122"/>
                <a:cs typeface="Calibri" pitchFamily="34" charset="-120"/>
              </a:rPr>
              <a:t> alt sınıfı: </a:t>
            </a:r>
            <a:r>
              <a:rPr lang="en-US" sz="1700" dirty="0">
                <a:solidFill>
                  <a:srgbClr val="455A64"/>
                </a:solidFill>
                <a:latin typeface="Courier New" pitchFamily="34" charset="0"/>
                <a:ea typeface="Courier New" pitchFamily="34" charset="-122"/>
                <a:cs typeface="Courier New" pitchFamily="34" charset="-120"/>
              </a:rPr>
              <a:t>accept_model/chain/residue/atom</a:t>
            </a:r>
            <a:r>
              <a:rPr lang="en-US" sz="1700" dirty="0">
                <a:solidFill>
                  <a:srgbClr val="212121"/>
                </a:solidFill>
                <a:latin typeface="Calibri" pitchFamily="34" charset="0"/>
                <a:ea typeface="Calibri" pitchFamily="34" charset="-122"/>
                <a:cs typeface="Calibri" pitchFamily="34" charset="-120"/>
              </a:rPr>
              <a:t> ile süzme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Susuz dosya 83 024 → </a:t>
            </a:r>
            <a:r>
              <a:rPr lang="en-US" sz="1700" b="1" dirty="0">
                <a:solidFill>
                  <a:srgbClr val="212121"/>
                </a:solidFill>
                <a:latin typeface="Calibri" pitchFamily="34" charset="0"/>
                <a:ea typeface="Calibri" pitchFamily="34" charset="-122"/>
                <a:cs typeface="Calibri" pitchFamily="34" charset="-120"/>
              </a:rPr>
              <a:t>45 125</a:t>
            </a:r>
            <a:r>
              <a:rPr lang="en-US" sz="1700" dirty="0">
                <a:solidFill>
                  <a:srgbClr val="212121"/>
                </a:solidFill>
                <a:latin typeface="Calibri" pitchFamily="34" charset="0"/>
                <a:ea typeface="Calibri" pitchFamily="34" charset="-122"/>
                <a:cs typeface="Calibri" pitchFamily="34" charset="-120"/>
              </a:rPr>
              <a:t> bayt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py3Dmol: tarayıcıda WebGL; </a:t>
            </a:r>
            <a:r>
              <a:rPr lang="en-US" sz="1700" b="1" dirty="0">
                <a:solidFill>
                  <a:srgbClr val="212121"/>
                </a:solidFill>
                <a:latin typeface="Calibri" pitchFamily="34" charset="0"/>
                <a:ea typeface="Calibri" pitchFamily="34" charset="-122"/>
                <a:cs typeface="Calibri" pitchFamily="34" charset="-120"/>
              </a:rPr>
              <a:t>cartoon</a:t>
            </a:r>
            <a:r>
              <a:rPr lang="en-US" sz="1700" dirty="0">
                <a:solidFill>
                  <a:srgbClr val="212121"/>
                </a:solidFill>
                <a:latin typeface="Calibri" pitchFamily="34" charset="0"/>
                <a:ea typeface="Calibri" pitchFamily="34" charset="-122"/>
                <a:cs typeface="Calibri" pitchFamily="34" charset="-120"/>
              </a:rPr>
              <a:t> ikincil yapıyı gösterir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Büyük yapılar için </a:t>
            </a:r>
            <a:r>
              <a:rPr lang="en-US" sz="1700" b="1" dirty="0">
                <a:solidFill>
                  <a:srgbClr val="212121"/>
                </a:solidFill>
                <a:latin typeface="Calibri" pitchFamily="34" charset="0"/>
                <a:ea typeface="Calibri" pitchFamily="34" charset="-122"/>
                <a:cs typeface="Calibri" pitchFamily="34" charset="-120"/>
              </a:rPr>
              <a:t>mmCIF</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MMCIFParser</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PDBList().retrieve_pdb_file(..., file_format="mmCif")</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a:t>
            </a:r>
            <a:endParaRPr lang="en-US" sz="3000" dirty="0"/>
          </a:p>
        </p:txBody>
      </p:sp>
      <p:sp>
        <p:nvSpPr>
          <p:cNvPr id="3" name="Text 1"/>
          <p:cNvSpPr txBox="1"/>
          <p:nvPr/>
        </p:nvSpPr>
        <p:spPr>
          <a:xfrm>
            <a:off x="548640" y="1234440"/>
            <a:ext cx="11094415"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PDB satırını split() ile ayrıştırmak</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Sütunlar birleşebilir (−100.123−45.678); sabit sütun dilimleri kullanın</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len(zincir) değerini protein uzunluğu sanmak</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1A8O: 158 = 70 amino asit + 88 su</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Hetero kalıntıları unutmak</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PPBuilder MSE'de keser; </a:t>
            </a:r>
            <a:r>
              <a:rPr lang="en-US" sz="2000" dirty="0">
                <a:solidFill>
                  <a:srgbClr val="455A64"/>
                </a:solidFill>
                <a:latin typeface="Courier New" pitchFamily="34" charset="0"/>
                <a:ea typeface="Courier New" pitchFamily="34" charset="-122"/>
                <a:cs typeface="Courier New" pitchFamily="34" charset="-120"/>
              </a:rPr>
              <a:t>zincir[151]</a:t>
            </a:r>
            <a:r>
              <a:rPr lang="en-US" sz="2000" dirty="0">
                <a:solidFill>
                  <a:srgbClr val="37474F"/>
                </a:solidFill>
                <a:latin typeface="Calibri" pitchFamily="34" charset="0"/>
                <a:ea typeface="Calibri" pitchFamily="34" charset="-122"/>
                <a:cs typeface="Calibri" pitchFamily="34" charset="-120"/>
              </a:rPr>
              <a:t> KeyError → </a:t>
            </a:r>
            <a:r>
              <a:rPr lang="en-US" sz="2000" dirty="0">
                <a:solidFill>
                  <a:srgbClr val="455A64"/>
                </a:solidFill>
                <a:latin typeface="Courier New" pitchFamily="34" charset="0"/>
                <a:ea typeface="Courier New" pitchFamily="34" charset="-122"/>
                <a:cs typeface="Courier New" pitchFamily="34" charset="-120"/>
              </a:rPr>
              <a:t>zincir[('H_MSE', 151, ' ')]</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Açıları radyan / derece karıştırmak</a:t>
            </a:r>
            <a:r>
              <a:rPr lang="en-US" sz="2200" dirty="0">
                <a:solidFill>
                  <a:srgbClr val="212121"/>
                </a:solidFill>
                <a:latin typeface="Calibri" pitchFamily="34" charset="0"/>
                <a:ea typeface="Calibri" pitchFamily="34" charset="-122"/>
                <a:cs typeface="Calibri" pitchFamily="34" charset="-120"/>
              </a:rPr>
              <a:t> (</a:t>
            </a:r>
            <a:r>
              <a:rPr lang="en-US" sz="2200" dirty="0">
                <a:solidFill>
                  <a:srgbClr val="455A64"/>
                </a:solidFill>
                <a:latin typeface="Courier New" pitchFamily="34" charset="0"/>
                <a:ea typeface="Courier New" pitchFamily="34" charset="-122"/>
                <a:cs typeface="Courier New" pitchFamily="34" charset="-120"/>
              </a:rPr>
              <a:t>calc_*</a:t>
            </a:r>
            <a:r>
              <a:rPr lang="en-US" sz="2200" dirty="0">
                <a:solidFill>
                  <a:srgbClr val="212121"/>
                </a:solidFill>
                <a:latin typeface="Calibri" pitchFamily="34" charset="0"/>
                <a:ea typeface="Calibri" pitchFamily="34" charset="-122"/>
                <a:cs typeface="Calibri" pitchFamily="34" charset="-120"/>
              </a:rPr>
              <a:t> radyan döndürür)</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Açı vektörlerini ters kurmak</a:t>
            </a:r>
            <a:r>
              <a:rPr lang="en-US" sz="2200" dirty="0">
                <a:solidFill>
                  <a:srgbClr val="212121"/>
                </a:solidFill>
                <a:latin typeface="Calibri" pitchFamily="34" charset="0"/>
                <a:ea typeface="Calibri" pitchFamily="34" charset="-122"/>
                <a:cs typeface="Calibri" pitchFamily="34" charset="-120"/>
              </a:rPr>
              <a:t>: u = Cα − N → 180° − θ bulunur</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RMSD'yi çakıştırmadan raporlamak</a:t>
            </a:r>
            <a:r>
              <a:rPr lang="en-US" sz="2200" dirty="0">
                <a:solidFill>
                  <a:srgbClr val="212121"/>
                </a:solidFill>
                <a:latin typeface="Calibri" pitchFamily="34" charset="0"/>
                <a:ea typeface="Calibri" pitchFamily="34" charset="-122"/>
                <a:cs typeface="Calibri" pitchFamily="34" charset="-120"/>
              </a:rPr>
              <a:t> ya da farklı atom kümelerini (ör. tüm atom vs Cα) karşılaştırmak</a:t>
            </a:r>
            <a:endParaRPr lang="en-US" sz="22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5"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hafta10_protein_yapisi_biopdb.ipynb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(2, −1, 0) ile (5, 3, 12) arasındaki uzaklığı elle hesaplayın. (</a:t>
            </a:r>
            <a:r>
              <a:rPr lang="en-US" sz="1800" b="1" dirty="0">
                <a:solidFill>
                  <a:srgbClr val="212121"/>
                </a:solidFill>
                <a:latin typeface="Calibri" pitchFamily="34" charset="0"/>
                <a:ea typeface="Calibri" pitchFamily="34" charset="-122"/>
                <a:cs typeface="Calibri" pitchFamily="34" charset="-120"/>
              </a:rPr>
              <a:t>13 Å</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Yapıdaki kalıntı tiplerinin frekansını çıkarın; en sık 5 kalıntıyı yazdırın. (GLU, THR, LEU, ALA: 6; GLN: 5)</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Her heliks için ortalama φ/ψ ve uzunluk tablosu oluşturun; 1.5 Å/kalıntı yükselmeyle beklenen boyu ilk–son Cα uzaklığıyla karşılaştırın (161–175: 21.0 / 21.7 Å).</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Temas eşiğini 6, 8, 10, 12 Å alarak kalıntı başına ortalama temas sayısını çizin.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Yalnızca heliks kalıntılarının Cα atomlarıyla dönme yarıçapını hesaplayın. (</a:t>
            </a:r>
            <a:r>
              <a:rPr lang="en-US" sz="1800" b="1" dirty="0">
                <a:solidFill>
                  <a:srgbClr val="212121"/>
                </a:solidFill>
                <a:latin typeface="Calibri" pitchFamily="34" charset="0"/>
                <a:ea typeface="Calibri" pitchFamily="34" charset="-122"/>
                <a:cs typeface="Calibri" pitchFamily="34" charset="-120"/>
              </a:rPr>
              <a:t>10.48 Å</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b="1" dirty="0">
                <a:solidFill>
                  <a:srgbClr val="212121"/>
                </a:solidFill>
                <a:latin typeface="Calibri" pitchFamily="34" charset="0"/>
                <a:ea typeface="Calibri" pitchFamily="34" charset="-122"/>
                <a:cs typeface="Calibri" pitchFamily="34" charset="-120"/>
              </a:rPr>
              <a:t>Elle:</a:t>
            </a:r>
            <a:r>
              <a:rPr lang="en-US" sz="1800" dirty="0">
                <a:solidFill>
                  <a:srgbClr val="212121"/>
                </a:solidFill>
                <a:latin typeface="Calibri" pitchFamily="34" charset="0"/>
                <a:ea typeface="Calibri" pitchFamily="34" charset="-122"/>
                <a:cs typeface="Calibri" pitchFamily="34" charset="-120"/>
              </a:rPr>
              <a:t> LYS170 için ψ'nin −42.9° olduğunu </a:t>
            </a:r>
            <a:r>
              <a:rPr lang="en-US" sz="1800" dirty="0">
                <a:solidFill>
                  <a:srgbClr val="455A64"/>
                </a:solidFill>
                <a:latin typeface="Courier New" pitchFamily="34" charset="0"/>
                <a:ea typeface="Courier New" pitchFamily="34" charset="-122"/>
                <a:cs typeface="Courier New" pitchFamily="34" charset="-120"/>
              </a:rPr>
              <a:t>dihedral</a:t>
            </a:r>
            <a:r>
              <a:rPr lang="en-US" sz="1800" dirty="0">
                <a:solidFill>
                  <a:srgbClr val="212121"/>
                </a:solidFill>
                <a:latin typeface="Calibri" pitchFamily="34" charset="0"/>
                <a:ea typeface="Calibri" pitchFamily="34" charset="-122"/>
                <a:cs typeface="Calibri" pitchFamily="34" charset="-120"/>
              </a:rPr>
              <a:t> fonksiyonunuzla ve Biopython ile doğrulayın; ardından 20 kalıntılık bir heliksin beklenen boyunu hesaplayın (28.5 Å).</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10: Protein yapısı ve Bio.PDB</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Yapı düzeyleri: birincil → ikincil (heliks, tabaka) → üçüncül → dördüncül; yapı diziden daha korunmuştur</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PDB: </a:t>
            </a:r>
            <a:r>
              <a:rPr lang="en-US" sz="2000" b="1" dirty="0">
                <a:solidFill>
                  <a:srgbClr val="ECEFF1"/>
                </a:solidFill>
                <a:latin typeface="Calibri" pitchFamily="34" charset="0"/>
                <a:ea typeface="Calibri" pitchFamily="34" charset="-122"/>
                <a:cs typeface="Calibri" pitchFamily="34" charset="-120"/>
              </a:rPr>
              <a:t>sabit sütunlu</a:t>
            </a:r>
            <a:r>
              <a:rPr lang="en-US" sz="2000" dirty="0">
                <a:solidFill>
                  <a:srgbClr val="ECEFF1"/>
                </a:solidFill>
                <a:latin typeface="Calibri" pitchFamily="34" charset="0"/>
                <a:ea typeface="Calibri" pitchFamily="34" charset="-122"/>
                <a:cs typeface="Calibri" pitchFamily="34" charset="-120"/>
              </a:rPr>
              <a:t> kayıtlar; Biopython </a:t>
            </a:r>
            <a:r>
              <a:rPr lang="en-US" sz="2000" b="1" dirty="0">
                <a:solidFill>
                  <a:srgbClr val="ECEFF1"/>
                </a:solidFill>
                <a:latin typeface="Calibri" pitchFamily="34" charset="0"/>
                <a:ea typeface="Calibri" pitchFamily="34" charset="-122"/>
                <a:cs typeface="Calibri" pitchFamily="34" charset="-120"/>
              </a:rPr>
              <a:t>SMCRA</a:t>
            </a:r>
            <a:r>
              <a:rPr lang="en-US" sz="2000" dirty="0">
                <a:solidFill>
                  <a:srgbClr val="ECEFF1"/>
                </a:solidFill>
                <a:latin typeface="Calibri" pitchFamily="34" charset="0"/>
                <a:ea typeface="Calibri" pitchFamily="34" charset="-122"/>
                <a:cs typeface="Calibri" pitchFamily="34" charset="-120"/>
              </a:rPr>
              <a:t> ağacı; hetero kalıntılar (MSE, su) için tam kalıntı kimliği</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Geometri: uzaklık, açı (nokta çarpım), </a:t>
            </a:r>
            <a:r>
              <a:rPr lang="en-US" sz="2000" b="1" dirty="0">
                <a:solidFill>
                  <a:srgbClr val="ECEFF1"/>
                </a:solidFill>
                <a:latin typeface="Calibri" pitchFamily="34" charset="0"/>
                <a:ea typeface="Calibri" pitchFamily="34" charset="-122"/>
                <a:cs typeface="Calibri" pitchFamily="34" charset="-120"/>
              </a:rPr>
              <a:t>dihedral (atan2)</a:t>
            </a:r>
            <a:r>
              <a:rPr lang="en-US" sz="2000" dirty="0">
                <a:solidFill>
                  <a:srgbClr val="ECEFF1"/>
                </a:solidFill>
                <a:latin typeface="Calibri" pitchFamily="34" charset="0"/>
                <a:ea typeface="Calibri" pitchFamily="34" charset="-122"/>
                <a:cs typeface="Calibri" pitchFamily="34" charset="-120"/>
              </a:rPr>
              <a:t>; φ/ψ → Ramachandran grafiği</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Temas haritası (&lt; 8 Å), disülfit (SG–SG ≈ 2.05 Å), </a:t>
            </a:r>
            <a:r>
              <a:rPr lang="en-US" sz="2000" b="1" dirty="0">
                <a:solidFill>
                  <a:srgbClr val="ECEFF1"/>
                </a:solidFill>
                <a:latin typeface="Calibri" pitchFamily="34" charset="0"/>
                <a:ea typeface="Calibri" pitchFamily="34" charset="-122"/>
                <a:cs typeface="Calibri" pitchFamily="34" charset="-120"/>
              </a:rPr>
              <a:t>Rg</a:t>
            </a:r>
            <a:r>
              <a:rPr lang="en-US" sz="2000" dirty="0">
                <a:solidFill>
                  <a:srgbClr val="ECEFF1"/>
                </a:solidFill>
                <a:latin typeface="Calibri" pitchFamily="34" charset="0"/>
                <a:ea typeface="Calibri" pitchFamily="34" charset="-122"/>
                <a:cs typeface="Calibri" pitchFamily="34" charset="-120"/>
              </a:rPr>
              <a:t> (1A8O: 11.13 Å, küresel)</a:t>
            </a:r>
            <a:endParaRPr lang="en-US" sz="2000" dirty="0"/>
          </a:p>
          <a:p>
            <a:pPr marL="228600" indent="-228600">
              <a:spcAft>
                <a:spcPts val="800"/>
              </a:spcAft>
              <a:buSzPct val="100000"/>
              <a:buChar char="•"/>
            </a:pPr>
            <a:r>
              <a:rPr lang="en-US" sz="2000" b="1" dirty="0">
                <a:solidFill>
                  <a:srgbClr val="ECEFF1"/>
                </a:solidFill>
                <a:latin typeface="Calibri" pitchFamily="34" charset="0"/>
                <a:ea typeface="Calibri" pitchFamily="34" charset="-122"/>
                <a:cs typeface="Calibri" pitchFamily="34" charset="-120"/>
              </a:rPr>
              <a:t>RMSD</a:t>
            </a:r>
            <a:r>
              <a:rPr lang="en-US" sz="2000" dirty="0">
                <a:solidFill>
                  <a:srgbClr val="ECEFF1"/>
                </a:solidFill>
                <a:latin typeface="Calibri" pitchFamily="34" charset="0"/>
                <a:ea typeface="Calibri" pitchFamily="34" charset="-122"/>
                <a:cs typeface="Calibri" pitchFamily="34" charset="-120"/>
              </a:rPr>
              <a:t> yalnızca çakıştırmadan sonra anlamlı; </a:t>
            </a:r>
            <a:r>
              <a:rPr lang="en-US" sz="2000" b="1" dirty="0">
                <a:solidFill>
                  <a:srgbClr val="ECEFF1"/>
                </a:solidFill>
                <a:latin typeface="Calibri" pitchFamily="34" charset="0"/>
                <a:ea typeface="Calibri" pitchFamily="34" charset="-122"/>
                <a:cs typeface="Calibri" pitchFamily="34" charset="-120"/>
              </a:rPr>
              <a:t>Kabsch</a:t>
            </a:r>
            <a:r>
              <a:rPr lang="en-US" sz="2000" dirty="0">
                <a:solidFill>
                  <a:srgbClr val="ECEFF1"/>
                </a:solidFill>
                <a:latin typeface="Calibri" pitchFamily="34" charset="0"/>
                <a:ea typeface="Calibri" pitchFamily="34" charset="-122"/>
                <a:cs typeface="Calibri" pitchFamily="34" charset="-120"/>
              </a:rPr>
              <a:t> en iyi dönmeyi SVD ile bulur (50.93 → 0.82 Å)</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Gen ifadesi analizi: RNA-seq sayım verisi, normalizasyon, diferansiyel ifade, çoklu test düzeltmesi, volkan grafiği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10: Protein Yapısı ve Bio.PDB: Koordinatlar, Geometri, Temas Haritaları</dc:title>
  <dc:subject>PptxGenJS Presentation</dc:subject>
  <dc:creator>Biyoenformatiğe Giriş</dc:creator>
  <cp:lastModifiedBy>Biyoenformatiğe Giriş</cp:lastModifiedBy>
  <cp:revision>1</cp:revision>
  <dcterms:created xsi:type="dcterms:W3CDTF">2026-09-23T18:54:00Z</dcterms:created>
  <dcterms:modified xsi:type="dcterms:W3CDTF">2026-09-23T18:54:00Z</dcterms:modified>
</cp:coreProperties>
</file>