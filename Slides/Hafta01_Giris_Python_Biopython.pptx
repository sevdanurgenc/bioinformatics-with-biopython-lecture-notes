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Dersin ilk haftası. Amacımız, biyolojiyi bilmeyen bir bilgisayar mühendisinin bu dönem boyunca ihtiyaç duyacağı biyoloji kavramlarını veri yapısı gözüyle kurmak ve çalışma ortamını hazırlamak.
İlk saat kavramsal, ikinci saat saf Python, üçüncü saat Biopython'a giriş olarak planlandı. Öğrencilerden derse dizüstü bilgisayar ve bir Google hesabıyla gelmelerini isteyin.
Açılışta sınıfa şunu sorun: 'Bir insan genomunu bir metin dosyası olarak kaydetsek kaç GB olur?' Cevabı dersin ortasında birlikte hesaplayacağız.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Hedefleri tahtaya yazın ve ders sonunda tek tek geri dönüp hangilerine ulaştığımızı sorun.
Ders akışı tablosu haftalık ritmi gösteriyor: kavram → elle çözülen sayısal örnek → canlı kodlama → laboratuvar. Bu ritim dönem boyunca aynı kalacak.
Programlama geçmişi farklı öğrenciler olabilir; Python'da sözlük, dilimleme ve list comprehension bilgisinin yeterli olduğunu söyleyin.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biyolojinin bir veri bilimi hâline geldiğini vurgulayın. Sayıları abartmadan verin: insan genomu yaklaşık 3.1 Gbp.
Dizileme maliyetindeki düşüş Moore yasasından hızlıdır; bu, darboğazın laboratuvardan hesaplamaya kaydığı anlamına gelir.
Sınıfa sorun: 'Hangi algoritma derslerinizdeki konuların biyolojide karşılığı olabilir?' Cevapları bir sonraki tablodaki satırlarla eşleştirin.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aynı zamanda dersin yol haritası. Her satırın sağındaki hafta sütununu gösterin.
Öğrencilere hangi bilgisayar bilimi konularının geri döneceğini söyleyin: dinamik programlama, hash tabloları, ağaçlar, istatistik.
Bir örnek verin: 'İki gen ne kadar benzer?' sorusu, düzenleme uzaklığı (edit distance) probleminin biyolojik versiyonudur.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blok var: ilk beş hafta Biopython ile dizilerle çalışmayı öğretir, ikinci blok klasik algoritmaları, üçüncü blok modern veri analizi ve makine öğrenmesini kapsar.
Her hafta bir Colab notebook'u ve çoğu hafta bir veri seti var. Notebook'lar veri dosyası yoksa veriyi kendisi üretir; bu yüzden internet bağlantısı sorun olmaz.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oku bir dönüşüm fonksiyonu olarak anlatın: replikasyon kopyalama, transkripsiyon T→U harf değişimi, translasyon ise 3 harften 1 harfe eşleme.
Kırmızı yazılar Biopython yöntemleri. Bu hafta bunları önce kendimiz yazacağız, sonra kütüphaneyle karşılaştıracağız.
Merkezi dogmanın istisnalarını (ters transkripsiyon, retrovirüsler) bir cümleyle anın; ayrıntıya girmeyin.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Protein alfabesinin tek harf kodlarını ezberletmeyin; tabloyu Biopython'dan her zaman alabiliriz. Asıl nokta: üç molekül de sonlu alfabe üzerindeki dizgilerdir, dolayısıyla dizgi algoritmaları doğrudan uygulanır.
Gerçek verilerde yalnızca ACGT görmeyeceklerini vurgulayın: dizileme cihazının karar veremediği bazlar N olarak yazılır. Bugünkü GC alıştırması bu yüzden N'yi dışarıda bırakıyor.
64 kodonun 61'i amino asit, 3'ü dur kodonu. Birimlere dikkat: DNA için bp, tek iplikli RNA için nt, protein için 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Tahtada küçük bir çift sarmal çizin; iki ipliğin zıt yönlü olduğunu okla gösterin.
Öğrencilere bir dakika verip ATGGCC'nin ters tamamlayıcısını buldurun: GGCCAT. Yalnızca tamamlayan (TACCGG) ya da yalnızca ters çeviren (CCGGTA) öğrencilerin cevaplarını tahtaya yazıp neden yanlış olduğunu tartışın.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Tabloyu satır satır doldurun: önce tamamlayıcı satırı, sonra aynı satırı sağdan sola okuyarak ters çevrilmiş satırı yazın.
İnvolüsyon özelliğini bir birim testi olarak önerin: rc(rc(s)) == s. Bu tür özellik tabanlı testler (property-based testing) biyoinformatik kodunda çok değerlidir.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k-mer, k uzunluğundaki alt dizi demektir; bu terimi dönem boyunca sık kullanacağız.
Beklentinin doğrusallığı: konumlar birbirinden bağımsız olmasa bile (örtüşen pencereler) beklenen toplam, beklentilerin toplamıdır. Bu ince noktayı ileri öğrenciler için belirtin.
Sıfır hipotezi fikrini şimdiden ekin: 'Bir motifi beklenenden çok daha sık görüyorsak biyolojik bir anlamı olabilir.'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Adımları tahtada yazın: önce tek bazın olasılığı, sonra bağımsızlık ile çarpım, sonra konum sayısı.
Tablodaki vurgulu satırı gösterin: 12-mer E. coli'de beklenen 0.28 kez; yani rastgele bir 12-mer genomda ya hiç yoktur ya da bir kez vardır. Primer tasarımı ve BLAST tohumları bu fikre dayanır.
Öğrencilere sorun: 'İnsan genomunda benzersiz bir adres için kaç baz gerekir?' 4ᵏ ≈ 3.1 × 10⁹ → k ≈ 16 cevabına götürün.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Palindrom kavramı biyolojide farklıdır: dizinin kendisi değil ters tamamlayıcısı ile aynı olması. Restriksiyon enzimlerinin çoğu palindromik yerleri tanır çünkü homodimer olarak çalışırlar.
Son adımda ±2σ aralığını (1132.7 ± 67) verin; gerçek E. coli genomunda sayı bu aralığın dışındaysa i.i.d. modelinin yetersizliğine işaret eder. Bu, dersin sonundaki tartışma sorusuna köprü.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Gözlenen sayının tam 244 çıkmamasını tartışın: rastgele değişkenlik. Poisson yaklaşımıyla standart sapma yaklaşık 16; (251 − 244.1)/15.6 ≈ 0.44σ.
Öğrencilere seed değerini değiştirip tekrar çalıştırmalarını ve sonuçları sınıfta toplamalarını söyleyin; değerlerin 244 civarında toplandığını birlikte görün.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Açılışta sorduğumuz soruya dönün: metin olarak ≈ 3.1 GB, 2-bit ile ≈ 775 MB.
Bu örnek bilgisayar mühendislerine tanıdık gelir: bit kaydırma ve maske. Gerçek formatlar (UCSC .2bit, BAM, CRAM) bu tür sıkıştırmaları kullanır.
N bazlarının neden ayrı saklanması gerektiğini sorun: 5 simge log₂5 ≈ 2.32 bit ister; sabit uzunlukta 3 bit gerekir. N'ler genellikle uzun bloklar hâlinde olduğundan (başlangıç, bitiş) konumlarını bir liste olarak saklamak çok daha ucuzdur.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Tabloyu tahtada satır satır doldurun; her satırda önceki sayıyı 4 ile çarpıp yeni kodu eklemenin yeterli olduğunu gösterin (8 = 4·2 + 0, 35 = 4·8 + 3, 143 = 4·35 + 3 …).
Bu aslında 4 tabanında bir sayı yazmaktır; son adımdaki kontrol bunu açıkça gösteriyor. Öğrencilere sorun: 'AAAC ve C aynı sayıyı verir mi?' (Evet, 1) → uzunluk ayrıca saklanmalı.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madde önemli: AAAC ile C aynı sayıya (1) paketlenir. Bu yüzden uzunluk bilgisi gerekir. Öğrencilere bu hatayı kendilerinin bulmasını sağlayın.
ac fonksiyonunu 9156 için birlikte izleyin: 9156 &gt;&gt; 12 = 2 (G), &gt;&gt; 10 = 8 → &amp;3 = 0 (A), &gt;&gt; 8 = 35 → 3 (T), &gt;&gt; 6 = 143 → 3 (T), &gt;&gt; 4 = 572 → 0 (A), &gt;&gt; 2 = 2289 → 1 (C), &gt;&gt; 0 → 0 (A).
ac fonksiyonu 4. alıştırmanın çözümüdür; laboratuvarda önce kendileri denesinler.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ilk diziyi kâğıt üzerinde saydırın (1–2 dakika); farklı sayım yapanlar olacaktır. Bu, sayımı neden bilgisayara yaptırdığımızın en iyi gerekçesi.
İkinci dizi 1. alıştırmanın cevabıdır. Biopython'daki gc_fraction fonksiyonu varsayılan olarak N'leri paydadan çıkarır (0.667); ambiguous='ignore' ile 0.5 verir. Bunu 5. haftada tekrar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dict.get kalıbını ve Counter'ı karşılaştırın; ikisi de O(N) tek geçiştir.
GC oranının biyolojik anlamını kısaca verin: erime sıcaklığı, termofil organizmalar, PCR primer tasarımı (2. hafta).
upper() satırının nedenini sorun: bazı genom dosyalarında tekrar bölgeleri küçük harfle yazılır; upper() olmadan bu bazlar sayılmaz.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Çıktıları elle kontrol ettirin: dizinin ilk üç bazı ATG, ters tamamlayıcının son üç bazı CAT olmalı.
str.maketrans çoğu öğrenci için yenidir; iki dizgiyi harf harf eşleyen bir çeviri tablosu ürettiğini gösterin. Hız farkını birazdan ölçeceğiz.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Sayıları birlikte hesaplayın: 4.6 × 10⁶ × 6 ≈ 2.8 × 10⁷; (3.1 × 10⁹)² ≈ 9.6 × 10¹⁸. Saniyede bir milyar işlemle 9.6 × 10⁹ saniye, yaklaşık 300 yıl eder.
Bu slayt dönem boyunca tekrar edeceğimiz bir temayı açıyor: kesin ama pahalı algoritmalar (Smith–Waterman) ile hızlı ama sezgisel algoritmalar (BLAST) arasındaki denge.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hataların hepsi laboratuvarda mutlaka karşımıza çıkacak; slaytı hızlıca geçip alıştırmalar sırasında geri dönün.
Canlı gösterim önerisi: tamamlayici('ATGN') çağırıp KeyError'u gösterin, ardından sözlüğe 'N': 'N' ekleyerek düzeltin.
Öğrencilere sorun: 'Dizimizin 25 bazı olsaydı translate ne yapardı?' Son bir baz kodon oluşturamaz; Biopython bunu uyarıyla bildirir.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Laboratuvarda bu beş adımı herkesle birlikte yapın; kurulum hücresi herkeste çalışmadan bir sonraki slayta geçmeyin.
En sık sorun hücrelerin sırasız çalıştırılması; tanımlanmamış değişken hatası gördüklerinde 'yeniden başlat ve tümünü çalıştır' seçeneğini hatırlatın.
Kopyayı kendi Drive'larına kaydetmezlerse yaptıkları değişikliklerin kaybolacağını vurgulayın.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Laboratuvarda herkesin Colab'a girdiğinden ve ilk hücreyi çalıştırdığından emin olun; sürüm çıktısı notebook'ta 1.88.
Oturum sıfırlanması en sık karşılaşılan sorun; notebook'larımız veri dosyası yoksa veriyi yeniden ürettiği için bu sorun değil.
Drive bağlarken izin penceresi açılır; kurumsal hesaplarda bu adımın engellenebileceğini, kişisel hesabın daha sorunsuz olduğunu söyleyin.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Modülleri ezberletmeyin; tablo, hangi hafta hangi modülü öğreneceğimizin haritası.
Son dört haftada Biopython'u özellik çıkarımı için kullanacağız; modelleri scikit-learn ve PyTorch ile kuracağız.
Öğrencilere belgelerin 'Tutorial and Cookbook' bölümünün örnek odaklı olduğunu ve her hafta işe yarayacağını söyleyin.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assert satırlarının hata vermemesi, bizim yazdığımız fonksiyonların Biopython ile aynı sonucu ürettiğini gösterir; bu alışkanlığı dönem boyunca sürdüreceğiz.
Seq nesnesini str() ile dizgiye çevirmemiz gerektiğine dikkat çekin: Seq ile str karşılaştırması çalışır ama türleri farklıdır.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Kodonları tahtada dikey çizgilerle ayırın; okuma çerçevesinin 1. bazdan başladığını vurgulayın. Çerçeve bir baz kaysaydı tamamen farklı bir protein çıkardı: bu, gelecek haftanın altı okuma çerçevesi konusu.
Genetik kod tablosunu şimdilik ezberletmeyin; kodonları Biopython'un tablosundan okuyacağız. Öğrencilere sorun: 'Dizinin sonuna bir baz ekleseydik ne olurdu?' (25 baz, son baz kodon oluşturmaz, uyarı verilir.)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Ölçümler bir örnek çalıştırmadan alınmıştır (47.9 / 1.3 ≈ 37 kat); Colab'da mutlak süreler farklı çıkar ama sözlük yönteminin kabaca 40 kat yavaş olduğu oranı korunur.
Ders: önce algoritmayı anlamak için saf Python yazıyoruz, sonra aynı işi kütüphaneyle hem daha hızlı hem daha güvenli yapıyoruz. Son satırdaki doğruluk kontrolü hız ölçümü kadar önemli.
Öğrencilere sorun: 3.1 Gbp'lik insan genomu için sözlük yöntemi yaklaşık ne kadar sürer? (48 ms × 3100 ≈ 149 s, yaklaşık 2.5 dakika; str.translate ile ≈ 4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Matplotlib ile ilk grafiği birlikte çizin; Counter sonucunu uzunluğa bölerek oranları elde ettiğimizi gösterin. Kesikli kırmızı çizgi i.i.d. modelin beklediği 0.25 değeri.
Öğrencilere sorun: 'Soldaki dizide G'nin 0.29 çıkması bu dizinin rastgele olmadığını mı gösterir?' Hayır; 24 bazda bu kadar sapma şaşırtıcı değildir, çünkü örneklem çok küçüktür.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saatin ikinci yarısı bu alıştırmalara ayrıldı. Çözümler notebook'un sonunda; öğrencilere önce kendilerinin denemesini söyleyin.
3. sorunun hesabı: (3 × 10⁹ − 7) / 65 536 ≈ 45 776. Tartışma sorusunu sınıfça yapın: GAATTC'de CpG yoktur, ama CpG içeren tanıma dizileri (ör. NotI) omurgalılarda beklenenden çok daha seyrektir.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Cevaplar: (1) GGATCC; ters tamamlayıcısı kendisi olduğu için palindromiktir. (2) (1 000 000 − 3) / 256 ≈ 3906.2. (3) 10 × 2 = 20 bit → en az 3 bayt. (4) ATG-AAA-TGA → MK* (Met, Lys, dur). (5) G + C = 2, bilinen baz = 4 → 0.5.
Öğrencilere 5 dakika verin, sonra cevapları sınıfça tartışın. Yanlış cevap veren öğrencilerin hangi adımda hata yaptığını bulmaya çalışın; özellikle 2. soruda N − k + 1 yerine N kullanan olabilir (fark önemsiz ama kavram önemli).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slaytında öğrencilere bir soru bırakın: 64 kodon 21 anlama (20 amino asit + dur) eşleniyorsa, tek bir baz değişiminin proteini değiştirmeme olasılığı nedir? Gelecek hafta hesaplayacağız.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238"/>
        </a:solidFill>
      </p:bgPr>
    </p:bg>
    <p:spTree>
      <p:nvGrpSpPr>
        <p:cNvPr id="1" name=""/>
        <p:cNvGrpSpPr/>
        <p:nvPr/>
      </p:nvGrpSpPr>
      <p:grpSpPr>
        <a:xfrm>
          <a:off x="0" y="0"/>
          <a:ext cx="0" cy="0"/>
          <a:chOff x="0" y="0"/>
          <a:chExt cx="0" cy="0"/>
        </a:xfrm>
      </p:grpSpPr>
      <p:sp>
        <p:nvSpPr>
          <p:cNvPr id="2" name="Shape 0"/>
          <p:cNvSpPr/>
          <p:nvPr/>
        </p:nvSpPr>
        <p:spPr>
          <a:xfrm>
            <a:off x="548640" y="1188720"/>
            <a:ext cx="1143000" cy="1143000"/>
          </a:xfrm>
          <a:prstGeom prst="roundRect">
            <a:avLst>
              <a:gd name="adj" fmla="val 9600"/>
            </a:avLst>
          </a:prstGeom>
          <a:solidFill>
            <a:srgbClr val="B71C1C"/>
          </a:solidFill>
          <a:ln/>
        </p:spPr>
      </p:sp>
      <p:sp>
        <p:nvSpPr>
          <p:cNvPr id="3" name="Text 1"/>
          <p:cNvSpPr txBox="1"/>
          <p:nvPr/>
        </p:nvSpPr>
        <p:spPr>
          <a:xfrm>
            <a:off x="548640" y="1188720"/>
            <a:ext cx="114300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HAFTA</a:t>
            </a:r>
            <a:endParaRPr lang="en-US" sz="1200" dirty="0"/>
          </a:p>
          <a:p>
            <a:pPr algn="ctr" indent="0" marL="0">
              <a:buNone/>
            </a:pPr>
            <a:r>
              <a:rPr lang="en-US" sz="40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548640" y="2606040"/>
            <a:ext cx="11094415"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Biyoenformatiğe Giriş, Moleküler Biyoloji Temelleri ve Çalışma Ortamı</a:t>
            </a:r>
            <a:endParaRPr lang="en-US" sz="3600" dirty="0"/>
          </a:p>
        </p:txBody>
      </p:sp>
      <p:sp>
        <p:nvSpPr>
          <p:cNvPr id="5" name="Text 3"/>
          <p:cNvSpPr txBox="1"/>
          <p:nvPr/>
        </p:nvSpPr>
        <p:spPr>
          <a:xfrm>
            <a:off x="548640" y="4023360"/>
            <a:ext cx="11094415" cy="731520"/>
          </a:xfrm>
          <a:prstGeom prst="rect">
            <a:avLst/>
          </a:prstGeom>
          <a:noFill/>
          <a:ln/>
        </p:spPr>
        <p:txBody>
          <a:bodyPr wrap="square" lIns="0" tIns="0" rIns="0" bIns="0" rtlCol="0" anchor="t"/>
          <a:lstStyle/>
          <a:p>
            <a:pPr indent="0" marL="0">
              <a:buNone/>
            </a:pPr>
            <a:r>
              <a:rPr lang="en-US" sz="1800" dirty="0">
                <a:solidFill>
                  <a:srgbClr val="CFD8DC"/>
                </a:solidFill>
                <a:latin typeface="Calibri" pitchFamily="34" charset="0"/>
                <a:ea typeface="Calibri" pitchFamily="34" charset="-122"/>
                <a:cs typeface="Calibri" pitchFamily="34" charset="-120"/>
              </a:rPr>
              <a:t>DNA'yı bir dizgi, proteini bir dizi, genomu bir veri seti olarak görmek</a:t>
            </a:r>
            <a:endParaRPr lang="en-US" sz="1800" dirty="0"/>
          </a:p>
        </p:txBody>
      </p:sp>
      <p:sp>
        <p:nvSpPr>
          <p:cNvPr id="6" name="Text 4"/>
          <p:cNvSpPr txBox="1"/>
          <p:nvPr/>
        </p:nvSpPr>
        <p:spPr>
          <a:xfrm>
            <a:off x="548640" y="5760720"/>
            <a:ext cx="8229600" cy="365760"/>
          </a:xfrm>
          <a:prstGeom prst="rect">
            <a:avLst/>
          </a:prstGeom>
          <a:noFill/>
          <a:ln/>
        </p:spPr>
        <p:txBody>
          <a:bodyPr wrap="square" lIns="0" tIns="0" rIns="0" bIns="0" rtlCol="0" anchor="ctr"/>
          <a:lstStyle/>
          <a:p>
            <a:pPr indent="0" marL="0">
              <a:buNone/>
            </a:pPr>
            <a:r>
              <a:rPr lang="en-US" sz="1300" dirty="0">
                <a:solidFill>
                  <a:srgbClr val="90A4AE"/>
                </a:solidFill>
                <a:latin typeface="Calibri" pitchFamily="34" charset="0"/>
                <a:ea typeface="Calibri" pitchFamily="34" charset="-122"/>
                <a:cs typeface="Calibri" pitchFamily="34" charset="-120"/>
              </a:rPr>
              <a:t>Biyoenformatiğe Giriş  ·  Python ve Biopython ile uygulamalı ders</a:t>
            </a:r>
            <a:endParaRPr lang="en-US" sz="1300" dirty="0"/>
          </a:p>
        </p:txBody>
      </p:sp>
      <p:sp>
        <p:nvSpPr>
          <p:cNvPr id="7" name="Text 5"/>
          <p:cNvSpPr txBox="1"/>
          <p:nvPr/>
        </p:nvSpPr>
        <p:spPr>
          <a:xfrm>
            <a:off x="548640" y="6126480"/>
            <a:ext cx="10058400" cy="320040"/>
          </a:xfrm>
          <a:prstGeom prst="rect">
            <a:avLst/>
          </a:prstGeom>
          <a:noFill/>
          <a:ln/>
        </p:spPr>
        <p:txBody>
          <a:bodyPr wrap="square" lIns="0" tIns="0" rIns="0" bIns="0" rtlCol="0" anchor="ctr"/>
          <a:lstStyle/>
          <a:p>
            <a:pPr indent="0" marL="0">
              <a:buNone/>
            </a:pPr>
            <a:r>
              <a:rPr lang="en-US" sz="1100" dirty="0">
                <a:solidFill>
                  <a:srgbClr val="90A4AE"/>
                </a:solidFill>
                <a:latin typeface="Courier New" pitchFamily="34" charset="0"/>
                <a:ea typeface="Courier New" pitchFamily="34" charset="-122"/>
                <a:cs typeface="Courier New" pitchFamily="34" charset="-120"/>
              </a:rPr>
              <a:t>Colab: hafta01_giris_python_biopython.ipynb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Bu haftanın hedefleri</a:t>
            </a:r>
            <a:endParaRPr lang="en-US" sz="3000" dirty="0"/>
          </a:p>
        </p:txBody>
      </p:sp>
      <p:sp>
        <p:nvSpPr>
          <p:cNvPr id="3" name="Text 1"/>
          <p:cNvSpPr txBox="1"/>
          <p:nvPr/>
        </p:nvSpPr>
        <p:spPr>
          <a:xfrm>
            <a:off x="548640" y="1234440"/>
            <a:ext cx="5486400" cy="4983480"/>
          </a:xfrm>
          <a:prstGeom prst="rect">
            <a:avLst/>
          </a:prstGeom>
          <a:noFill/>
          <a:ln/>
        </p:spPr>
        <p:txBody>
          <a:bodyPr wrap="square" lIns="25400" tIns="25400" rIns="50800" bIns="25400" rtlCol="0" anchor="t"/>
          <a:lstStyle/>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Biyoenformatiğin alt alanlarını ve </a:t>
            </a:r>
            <a:r>
              <a:rPr lang="en-US" sz="1800" b="1" dirty="0">
                <a:solidFill>
                  <a:srgbClr val="212121"/>
                </a:solidFill>
                <a:latin typeface="Calibri" pitchFamily="34" charset="0"/>
                <a:ea typeface="Calibri" pitchFamily="34" charset="-122"/>
                <a:cs typeface="Calibri" pitchFamily="34" charset="-120"/>
              </a:rPr>
              <a:t>bilgisayar bilimi karşılıklarını</a:t>
            </a:r>
            <a:r>
              <a:rPr lang="en-US" sz="1800" dirty="0">
                <a:solidFill>
                  <a:srgbClr val="212121"/>
                </a:solidFill>
                <a:latin typeface="Calibri" pitchFamily="34" charset="0"/>
                <a:ea typeface="Calibri" pitchFamily="34" charset="-122"/>
                <a:cs typeface="Calibri" pitchFamily="34" charset="-120"/>
              </a:rPr>
              <a:t> tanımak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DNA, RNA ve proteini </a:t>
            </a:r>
            <a:r>
              <a:rPr lang="en-US" sz="1800" b="1" dirty="0">
                <a:solidFill>
                  <a:srgbClr val="212121"/>
                </a:solidFill>
                <a:latin typeface="Calibri" pitchFamily="34" charset="0"/>
                <a:ea typeface="Calibri" pitchFamily="34" charset="-122"/>
                <a:cs typeface="Calibri" pitchFamily="34" charset="-120"/>
              </a:rPr>
              <a:t>bir alfabe üzerindeki dizgi</a:t>
            </a:r>
            <a:r>
              <a:rPr lang="en-US" sz="1800" dirty="0">
                <a:solidFill>
                  <a:srgbClr val="212121"/>
                </a:solidFill>
                <a:latin typeface="Calibri" pitchFamily="34" charset="0"/>
                <a:ea typeface="Calibri" pitchFamily="34" charset="-122"/>
                <a:cs typeface="Calibri" pitchFamily="34" charset="-120"/>
              </a:rPr>
              <a:t> olarak modellemek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Yön (5'→3') ve tamamlayıcılık kavramlarını kodla ifade etmek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Olasılık ile </a:t>
            </a:r>
            <a:r>
              <a:rPr lang="en-US" sz="1800" b="1" dirty="0">
                <a:solidFill>
                  <a:srgbClr val="212121"/>
                </a:solidFill>
                <a:latin typeface="Calibri" pitchFamily="34" charset="0"/>
                <a:ea typeface="Calibri" pitchFamily="34" charset="-122"/>
                <a:cs typeface="Calibri" pitchFamily="34" charset="-120"/>
              </a:rPr>
              <a:t>beklenen motif sayısını</a:t>
            </a:r>
            <a:r>
              <a:rPr lang="en-US" sz="1800" dirty="0">
                <a:solidFill>
                  <a:srgbClr val="212121"/>
                </a:solidFill>
                <a:latin typeface="Calibri" pitchFamily="34" charset="0"/>
                <a:ea typeface="Calibri" pitchFamily="34" charset="-122"/>
                <a:cs typeface="Calibri" pitchFamily="34" charset="-120"/>
              </a:rPr>
              <a:t> hesaplamak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Diziyi </a:t>
            </a:r>
            <a:r>
              <a:rPr lang="en-US" sz="1800" b="1" dirty="0">
                <a:solidFill>
                  <a:srgbClr val="212121"/>
                </a:solidFill>
                <a:latin typeface="Calibri" pitchFamily="34" charset="0"/>
                <a:ea typeface="Calibri" pitchFamily="34" charset="-122"/>
                <a:cs typeface="Calibri" pitchFamily="34" charset="-120"/>
              </a:rPr>
              <a:t>2 bit/baz</a:t>
            </a:r>
            <a:r>
              <a:rPr lang="en-US" sz="1800" dirty="0">
                <a:solidFill>
                  <a:srgbClr val="212121"/>
                </a:solidFill>
                <a:latin typeface="Calibri" pitchFamily="34" charset="0"/>
                <a:ea typeface="Calibri" pitchFamily="34" charset="-122"/>
                <a:cs typeface="Calibri" pitchFamily="34" charset="-120"/>
              </a:rPr>
              <a:t> ile paketlemek (bit kaydırma)</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Google Colab'ı kullanmak ve Biopython'u kurmak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İlk </a:t>
            </a:r>
            <a:r>
              <a:rPr lang="en-US" sz="1800" dirty="0">
                <a:solidFill>
                  <a:srgbClr val="455A64"/>
                </a:solidFill>
                <a:latin typeface="Courier New" pitchFamily="34" charset="0"/>
                <a:ea typeface="Courier New" pitchFamily="34" charset="-122"/>
                <a:cs typeface="Courier New" pitchFamily="34" charset="-120"/>
              </a:rPr>
              <a:t>Seq</a:t>
            </a:r>
            <a:r>
              <a:rPr lang="en-US" sz="1800" dirty="0">
                <a:solidFill>
                  <a:srgbClr val="212121"/>
                </a:solidFill>
                <a:latin typeface="Calibri" pitchFamily="34" charset="0"/>
                <a:ea typeface="Calibri" pitchFamily="34" charset="-122"/>
                <a:cs typeface="Calibri" pitchFamily="34" charset="-120"/>
              </a:rPr>
              <a:t> nesnesini oluşturup saf Python sonuçlarıyla karşılaştırmak</a:t>
            </a:r>
            <a:endParaRPr lang="en-US" sz="1800" dirty="0"/>
          </a:p>
        </p:txBody>
      </p:sp>
      <p:sp>
        <p:nvSpPr>
          <p:cNvPr id="4" name="Text 2"/>
          <p:cNvSpPr txBox="1"/>
          <p:nvPr/>
        </p:nvSpPr>
        <p:spPr>
          <a:xfrm>
            <a:off x="6400800" y="1234440"/>
            <a:ext cx="5242255" cy="365760"/>
          </a:xfrm>
          <a:prstGeom prst="rect">
            <a:avLst/>
          </a:prstGeom>
          <a:noFill/>
          <a:ln/>
        </p:spPr>
        <p:txBody>
          <a:bodyPr wrap="square" lIns="0" tIns="0" rIns="0" bIns="0" rtlCol="0" anchor="ctr"/>
          <a:lstStyle/>
          <a:p>
            <a:pPr indent="0" marL="0">
              <a:buNone/>
            </a:pPr>
            <a:r>
              <a:rPr lang="en-US" sz="1600" b="1" dirty="0">
                <a:solidFill>
                  <a:srgbClr val="263238"/>
                </a:solidFill>
              </a:rPr>
              <a:t>Ders akışı (3 saat)</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0" y="1691640"/>
          <a:ext cx="5242255" cy="914400"/>
        </p:xfrm>
        <a:graphic>
          <a:graphicData uri="http://schemas.openxmlformats.org/drawingml/2006/table">
            <a:tbl>
              <a:tblPr/>
              <a:tblGrid>
                <a:gridCol w="1048451"/>
                <a:gridCol w="4193804"/>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İçerik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Biyoenformatik nedir? Merkezi dogma, alfabeler, elle çözümlü örnekler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Saf Python ile dizi işlemleri: sayım, GC, ters tamamlayıcı, 2-bit kodlama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Colab + Biopython: kurulum, modül haritası, Seq, alıştırmalar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1</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Biyoenformatik nedir?</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Biyolojik veriyi saklamak, işlemek, analiz etmek ve yorumlamak için bilgisayar bilimi + istatistik + biyoloji</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Neden bilgisayar mühendislerine ihtiyaç var?</a:t>
            </a:r>
            <a:endParaRPr lang="en-US" sz="3000" dirty="0"/>
          </a:p>
        </p:txBody>
      </p:sp>
      <p:sp>
        <p:nvSpPr>
          <p:cNvPr id="3" name="Text 1"/>
          <p:cNvSpPr txBox="1"/>
          <p:nvPr/>
        </p:nvSpPr>
        <p:spPr>
          <a:xfrm>
            <a:off x="548640" y="1234440"/>
            <a:ext cx="11094415" cy="4389120"/>
          </a:xfrm>
          <a:prstGeom prst="rect">
            <a:avLst/>
          </a:prstGeom>
          <a:noFill/>
          <a:ln/>
        </p:spPr>
        <p:txBody>
          <a:bodyPr wrap="square" lIns="25400" tIns="25400" rIns="50800" bIns="25400" rtlCol="0" anchor="t"/>
          <a:lstStyle/>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Veri hacmi:</a:t>
            </a:r>
            <a:r>
              <a:rPr lang="en-US" sz="2200" dirty="0">
                <a:solidFill>
                  <a:srgbClr val="212121"/>
                </a:solidFill>
                <a:latin typeface="Calibri" pitchFamily="34" charset="0"/>
                <a:ea typeface="Calibri" pitchFamily="34" charset="-122"/>
                <a:cs typeface="Calibri" pitchFamily="34" charset="-120"/>
              </a:rPr>
              <a:t> tek bir insan genomu ≈ 3.1 milyar baz</a:t>
            </a:r>
            <a:endParaRPr lang="en-US" sz="2200" dirty="0"/>
          </a:p>
          <a:p>
            <a:pPr lvl="1" marL="406400" indent="-203200">
              <a:spcAft>
                <a:spcPts val="300"/>
              </a:spcAft>
              <a:buSzPct val="100000"/>
              <a:buChar char="–"/>
            </a:pPr>
            <a:r>
              <a:rPr lang="en-US" sz="2000" dirty="0">
                <a:solidFill>
                  <a:srgbClr val="37474F"/>
                </a:solidFill>
                <a:latin typeface="Calibri" pitchFamily="34" charset="0"/>
                <a:ea typeface="Calibri" pitchFamily="34" charset="-122"/>
                <a:cs typeface="Calibri" pitchFamily="34" charset="-120"/>
              </a:rPr>
              <a:t>Modern bir dizileme cihazı tek çalıştırmada terabaytlarca ham veri üretir</a:t>
            </a:r>
            <a:endParaRPr lang="en-US" sz="2200" dirty="0"/>
          </a:p>
          <a:p>
            <a:pPr lvl="1" marL="406400" indent="-203200">
              <a:spcAft>
                <a:spcPts val="300"/>
              </a:spcAft>
              <a:buSzPct val="100000"/>
              <a:buChar char="–"/>
            </a:pPr>
            <a:r>
              <a:rPr lang="en-US" sz="2000" dirty="0">
                <a:solidFill>
                  <a:srgbClr val="37474F"/>
                </a:solidFill>
                <a:latin typeface="Calibri" pitchFamily="34" charset="0"/>
                <a:ea typeface="Calibri" pitchFamily="34" charset="-122"/>
                <a:cs typeface="Calibri" pitchFamily="34" charset="-120"/>
              </a:rPr>
              <a:t>Genom başına dizileme maliyeti 20 yılda milyon kattan fazla düştü</a:t>
            </a:r>
            <a:endParaRPr lang="en-US" sz="2200" dirty="0"/>
          </a:p>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Algoritmik problemler:</a:t>
            </a:r>
            <a:r>
              <a:rPr lang="en-US" sz="2200" dirty="0">
                <a:solidFill>
                  <a:srgbClr val="212121"/>
                </a:solidFill>
                <a:latin typeface="Calibri" pitchFamily="34" charset="0"/>
                <a:ea typeface="Calibri" pitchFamily="34" charset="-122"/>
                <a:cs typeface="Calibri" pitchFamily="34" charset="-120"/>
              </a:rPr>
              <a:t> hizalama, arama, birleştirme (assembly), ağaç kurma</a:t>
            </a:r>
            <a:endParaRPr lang="en-US" sz="2200" dirty="0"/>
          </a:p>
          <a:p>
            <a:pPr lvl="1" marL="406400" indent="-203200">
              <a:spcAft>
                <a:spcPts val="300"/>
              </a:spcAft>
              <a:buSzPct val="100000"/>
              <a:buChar char="–"/>
            </a:pPr>
            <a:r>
              <a:rPr lang="en-US" sz="2000" dirty="0">
                <a:solidFill>
                  <a:srgbClr val="37474F"/>
                </a:solidFill>
                <a:latin typeface="Calibri" pitchFamily="34" charset="0"/>
                <a:ea typeface="Calibri" pitchFamily="34" charset="-122"/>
                <a:cs typeface="Calibri" pitchFamily="34" charset="-120"/>
              </a:rPr>
              <a:t>Çoğu, algoritma derslerindeki konuların (dinamik programlama, graflar, indeksleme) doğrudan uygulaması</a:t>
            </a:r>
            <a:endParaRPr lang="en-US" sz="2200" dirty="0"/>
          </a:p>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İstatistik ve öğrenme:</a:t>
            </a:r>
            <a:r>
              <a:rPr lang="en-US" sz="2200" dirty="0">
                <a:solidFill>
                  <a:srgbClr val="212121"/>
                </a:solidFill>
                <a:latin typeface="Calibri" pitchFamily="34" charset="0"/>
                <a:ea typeface="Calibri" pitchFamily="34" charset="-122"/>
                <a:cs typeface="Calibri" pitchFamily="34" charset="-120"/>
              </a:rPr>
              <a:t> binlerce gen, yüzlerce örnek → çoklu test, boyut indirgeme, sınıflandırma</a:t>
            </a:r>
            <a:endParaRPr lang="en-US" sz="2200" dirty="0"/>
          </a:p>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Yazılım mühendisliği:</a:t>
            </a:r>
            <a:r>
              <a:rPr lang="en-US" sz="2200" dirty="0">
                <a:solidFill>
                  <a:srgbClr val="212121"/>
                </a:solidFill>
                <a:latin typeface="Calibri" pitchFamily="34" charset="0"/>
                <a:ea typeface="Calibri" pitchFamily="34" charset="-122"/>
                <a:cs typeface="Calibri" pitchFamily="34" charset="-120"/>
              </a:rPr>
              <a:t> tekrarlanabilir boru hatları (pipeline), veri formatları, test</a:t>
            </a:r>
            <a:endParaRPr lang="en-US" sz="2200" dirty="0"/>
          </a:p>
        </p:txBody>
      </p:sp>
      <p:sp>
        <p:nvSpPr>
          <p:cNvPr id="4" name="Shape 2"/>
          <p:cNvSpPr/>
          <p:nvPr/>
        </p:nvSpPr>
        <p:spPr>
          <a:xfrm>
            <a:off x="548640" y="5440680"/>
            <a:ext cx="11094415" cy="822960"/>
          </a:xfrm>
          <a:prstGeom prst="roundRect">
            <a:avLst>
              <a:gd name="adj" fmla="val 8889"/>
            </a:avLst>
          </a:prstGeom>
          <a:solidFill>
            <a:srgbClr val="FDECEA"/>
          </a:solidFill>
          <a:ln/>
        </p:spPr>
      </p:sp>
      <p:sp>
        <p:nvSpPr>
          <p:cNvPr id="5" name="Text 3"/>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Bu derste biyolojiyi ezberlemeyeceğiz; biyolojik kavramları </a:t>
            </a:r>
            <a:r>
              <a:rPr lang="en-US" sz="1600" b="1" dirty="0">
                <a:solidFill>
                  <a:srgbClr val="212121"/>
                </a:solidFill>
                <a:latin typeface="Calibri" pitchFamily="34" charset="0"/>
                <a:ea typeface="Calibri" pitchFamily="34" charset="-122"/>
                <a:cs typeface="Calibri" pitchFamily="34" charset="-120"/>
              </a:rPr>
              <a:t>veri yapısı</a:t>
            </a:r>
            <a:r>
              <a:rPr lang="en-US" sz="1600" dirty="0">
                <a:solidFill>
                  <a:srgbClr val="212121"/>
                </a:solidFill>
                <a:latin typeface="Calibri" pitchFamily="34" charset="0"/>
                <a:ea typeface="Calibri" pitchFamily="34" charset="-122"/>
                <a:cs typeface="Calibri" pitchFamily="34" charset="-120"/>
              </a:rPr>
              <a:t> ve </a:t>
            </a:r>
            <a:r>
              <a:rPr lang="en-US" sz="1600" b="1" dirty="0">
                <a:solidFill>
                  <a:srgbClr val="212121"/>
                </a:solidFill>
                <a:latin typeface="Calibri" pitchFamily="34" charset="0"/>
                <a:ea typeface="Calibri" pitchFamily="34" charset="-122"/>
                <a:cs typeface="Calibri" pitchFamily="34" charset="-120"/>
              </a:rPr>
              <a:t>algoritma</a:t>
            </a:r>
            <a:r>
              <a:rPr lang="en-US" sz="1600" dirty="0">
                <a:solidFill>
                  <a:srgbClr val="212121"/>
                </a:solidFill>
                <a:latin typeface="Calibri" pitchFamily="34" charset="0"/>
                <a:ea typeface="Calibri" pitchFamily="34" charset="-122"/>
                <a:cs typeface="Calibri" pitchFamily="34" charset="-120"/>
              </a:rPr>
              <a:t> olarak modelleyeceğiz.</a:t>
            </a:r>
            <a:endParaRPr lang="en-US" sz="1600" dirty="0"/>
          </a:p>
        </p:txBody>
      </p:sp>
      <p:sp>
        <p:nvSpPr>
          <p:cNvPr id="6"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7"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Alt alanlar ve bilgisayar bilimi karşılıkları</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324544"/>
                <a:gridCol w="4226444"/>
                <a:gridCol w="3592477"/>
                <a:gridCol w="950950"/>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Alt alan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Tipik biyolojik soru</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Bilgisayar bilimi karşılığı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Hafta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Dizi analizi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Bu gen hangi proteini kodluyor?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Dizgi işleme, sonlu otomatlar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Dizi hizalama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İki gen ne kadar benzer?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Dinamik programlama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Veritabanı arama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Bu diziye benzeyen diziler hangileri?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İndeksleme, sezgisel arama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Filogenetik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Türler arasındaki akrabalık nasıl?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Ağaç veri yapıları, kümeleme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Yapısal biyoinformatik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Protein 3B'de nasıl katlanıyor?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Hesaplamalı geometri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Fonksiyonel genomik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Hastalıkta hangi genler farklı ifade ediliyor?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İstatistik, çoklu test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Makine öğrenmesi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Bu dizi bir promotör mü? Tümör hangi alt tipte?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Sınıflandırma, kümeleme, derin öğrenme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12–15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5023104"/>
            <a:ext cx="11094415" cy="822960"/>
          </a:xfrm>
          <a:prstGeom prst="roundRect">
            <a:avLst>
              <a:gd name="adj" fmla="val 8889"/>
            </a:avLst>
          </a:prstGeom>
          <a:solidFill>
            <a:srgbClr val="FDECEA"/>
          </a:solidFill>
          <a:ln/>
        </p:spPr>
      </p:sp>
      <p:sp>
        <p:nvSpPr>
          <p:cNvPr id="5" name="Text 2"/>
          <p:cNvSpPr txBox="1"/>
          <p:nvPr/>
        </p:nvSpPr>
        <p:spPr>
          <a:xfrm>
            <a:off x="731520" y="5023104"/>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Ortak nokta: girdi hemen her zaman bir </a:t>
            </a:r>
            <a:r>
              <a:rPr lang="en-US" sz="1600" b="1" dirty="0">
                <a:solidFill>
                  <a:srgbClr val="212121"/>
                </a:solidFill>
                <a:latin typeface="Calibri" pitchFamily="34" charset="0"/>
                <a:ea typeface="Calibri" pitchFamily="34" charset="-122"/>
                <a:cs typeface="Calibri" pitchFamily="34" charset="-120"/>
              </a:rPr>
              <a:t>dizi</a:t>
            </a:r>
            <a:r>
              <a:rPr lang="en-US" sz="1600" dirty="0">
                <a:solidFill>
                  <a:srgbClr val="212121"/>
                </a:solidFill>
                <a:latin typeface="Calibri" pitchFamily="34" charset="0"/>
                <a:ea typeface="Calibri" pitchFamily="34" charset="-122"/>
                <a:cs typeface="Calibri" pitchFamily="34" charset="-120"/>
              </a:rPr>
              <a:t> (DNA, RNA, protein) ya da diziden türetilmiş bir </a:t>
            </a:r>
            <a:r>
              <a:rPr lang="en-US" sz="1600" b="1" dirty="0">
                <a:solidFill>
                  <a:srgbClr val="212121"/>
                </a:solidFill>
                <a:latin typeface="Calibri" pitchFamily="34" charset="0"/>
                <a:ea typeface="Calibri" pitchFamily="34" charset="-122"/>
                <a:cs typeface="Calibri" pitchFamily="34" charset="-120"/>
              </a:rPr>
              <a:t>sayı tablosu</a:t>
            </a:r>
            <a:r>
              <a:rPr lang="en-US" sz="1600" dirty="0">
                <a:solidFill>
                  <a:srgbClr val="212121"/>
                </a:solidFill>
                <a:latin typeface="Calibri" pitchFamily="34" charset="0"/>
                <a:ea typeface="Calibri" pitchFamily="34" charset="-122"/>
                <a:cs typeface="Calibri" pitchFamily="34" charset="-120"/>
              </a:rPr>
              <a:t>dur. Bu yüzden ilk beş hafta diziyle çalışmayı öğreniyoruz.</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15 haftalık yol haritası</a:t>
            </a:r>
            <a:endParaRPr lang="en-US" sz="3000" dirty="0"/>
          </a:p>
        </p:txBody>
      </p:sp>
      <p:pic>
        <p:nvPicPr>
          <p:cNvPr id="3" name="Image 0" descr="f00_yol_haritasi.png">    </p:cNvPr>
          <p:cNvPicPr>
            <a:picLocks noChangeAspect="1"/>
          </p:cNvPicPr>
          <p:nvPr/>
        </p:nvPicPr>
        <p:blipFill>
          <a:blip r:embed="rId1"/>
          <a:stretch>
            <a:fillRect/>
          </a:stretch>
        </p:blipFill>
        <p:spPr>
          <a:xfrm>
            <a:off x="548640" y="1540810"/>
            <a:ext cx="11094415" cy="4004981"/>
          </a:xfrm>
          <a:prstGeom prst="rect">
            <a:avLst/>
          </a:prstGeom>
        </p:spPr>
      </p:pic>
      <p:sp>
        <p:nvSpPr>
          <p:cNvPr id="4" name="Text 1"/>
          <p:cNvSpPr txBox="1"/>
          <p:nvPr/>
        </p:nvSpPr>
        <p:spPr>
          <a:xfrm>
            <a:off x="548640" y="5618942"/>
            <a:ext cx="11094415" cy="320040"/>
          </a:xfrm>
          <a:prstGeom prst="rect">
            <a:avLst/>
          </a:prstGeom>
          <a:noFill/>
          <a:ln/>
        </p:spPr>
        <p:txBody>
          <a:bodyPr wrap="square" lIns="0" tIns="0" rIns="0" bIns="0" rtlCol="0" anchor="ctr"/>
          <a:lstStyle/>
          <a:p>
            <a:pPr algn="ctr" indent="0" marL="0">
              <a:buNone/>
            </a:pPr>
            <a:r>
              <a:rPr lang="en-US" sz="1200" i="1" dirty="0">
                <a:solidFill>
                  <a:srgbClr val="546E7A"/>
                </a:solidFill>
              </a:rPr>
              <a:t>Temeller → karşılaştırmalı analiz → veri analizi ve makine öğrenmesi</a:t>
            </a:r>
            <a:endParaRPr lang="en-US" sz="12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2</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Moleküler biyoloji: veri yapısı gözüyle</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Merkezi dogma, alfabeler, yön ve tamamlayıcılık</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Merkezi dogma: üç dönüşüm fonksiyonu</a:t>
            </a:r>
            <a:endParaRPr lang="en-US" sz="3000" dirty="0"/>
          </a:p>
        </p:txBody>
      </p:sp>
      <p:pic>
        <p:nvPicPr>
          <p:cNvPr id="3" name="Image 0" descr="f01_merkezi_dogma.png">    </p:cNvPr>
          <p:cNvPicPr>
            <a:picLocks noChangeAspect="1"/>
          </p:cNvPicPr>
          <p:nvPr/>
        </p:nvPicPr>
        <p:blipFill>
          <a:blip r:embed="rId1"/>
          <a:stretch>
            <a:fillRect/>
          </a:stretch>
        </p:blipFill>
        <p:spPr>
          <a:xfrm>
            <a:off x="548640" y="1949834"/>
            <a:ext cx="11094415" cy="3186932"/>
          </a:xfrm>
          <a:prstGeom prst="rect">
            <a:avLst/>
          </a:prstGeom>
        </p:spPr>
      </p:pic>
      <p:sp>
        <p:nvSpPr>
          <p:cNvPr id="4" name="Text 1"/>
          <p:cNvSpPr txBox="1"/>
          <p:nvPr/>
        </p:nvSpPr>
        <p:spPr>
          <a:xfrm>
            <a:off x="548640" y="5209918"/>
            <a:ext cx="11094415" cy="320040"/>
          </a:xfrm>
          <a:prstGeom prst="rect">
            <a:avLst/>
          </a:prstGeom>
          <a:noFill/>
          <a:ln/>
        </p:spPr>
        <p:txBody>
          <a:bodyPr wrap="square" lIns="0" tIns="0" rIns="0" bIns="0" rtlCol="0" anchor="ctr"/>
          <a:lstStyle/>
          <a:p>
            <a:pPr algn="ctr" indent="0" marL="0">
              <a:buNone/>
            </a:pPr>
            <a:r>
              <a:rPr lang="en-US" sz="1200" i="1" dirty="0">
                <a:solidFill>
                  <a:srgbClr val="546E7A"/>
                </a:solidFill>
              </a:rPr>
              <a:t>Replikasyon DNA → DNA  ·  Transkripsiyon DNA → mRNA (RNA polimeraz)  ·  Translasyon mRNA → protein (ribozom).  Kırmızı: Biopython yöntemi</a:t>
            </a:r>
            <a:endParaRPr lang="en-US" sz="12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Üç molekül, üç alfabe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033976"/>
                <a:gridCol w="3328325"/>
                <a:gridCol w="1016988"/>
                <a:gridCol w="1664162"/>
                <a:gridCol w="1571709"/>
                <a:gridCol w="1479255"/>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Molekül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Alfabe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Boyut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Uzunluk birimi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Örnek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Python'da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DNA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 C, G, 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bp (baz çifti)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ATGGCGTAA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str</a:t>
                      </a:r>
                      <a:r>
                        <a:rPr lang="en-US" sz="1600" dirty="0">
                          <a:solidFill>
                            <a:srgbClr val="212121"/>
                          </a:solidFill>
                          <a:latin typeface="Calibri" pitchFamily="34" charset="0"/>
                          <a:ea typeface="Calibri" pitchFamily="34" charset="-122"/>
                          <a:cs typeface="Calibri" pitchFamily="34" charset="-120"/>
                        </a:rPr>
                        <a:t> / </a:t>
                      </a:r>
                      <a:r>
                        <a:rPr lang="en-US" sz="1600" dirty="0">
                          <a:solidFill>
                            <a:srgbClr val="455A64"/>
                          </a:solidFill>
                          <a:latin typeface="Courier New" pitchFamily="34" charset="0"/>
                          <a:ea typeface="Courier New" pitchFamily="34" charset="-122"/>
                          <a:cs typeface="Courier New" pitchFamily="34" charset="-120"/>
                        </a:rPr>
                        <a:t>Seq</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RNA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 C, G, U</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nt (nükleotit)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AUGGCGUAA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str</a:t>
                      </a:r>
                      <a:r>
                        <a:rPr lang="en-US" sz="1600" dirty="0">
                          <a:solidFill>
                            <a:srgbClr val="212121"/>
                          </a:solidFill>
                          <a:latin typeface="Calibri" pitchFamily="34" charset="0"/>
                          <a:ea typeface="Calibri" pitchFamily="34" charset="-122"/>
                          <a:cs typeface="Calibri" pitchFamily="34" charset="-120"/>
                        </a:rPr>
                        <a:t> / </a:t>
                      </a:r>
                      <a:r>
                        <a:rPr lang="en-US" sz="1600" dirty="0">
                          <a:solidFill>
                            <a:srgbClr val="455A64"/>
                          </a:solidFill>
                          <a:latin typeface="Courier New" pitchFamily="34" charset="0"/>
                          <a:ea typeface="Courier New" pitchFamily="34" charset="-122"/>
                          <a:cs typeface="Courier New" pitchFamily="34" charset="-120"/>
                        </a:rPr>
                        <a:t>Seq</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Protein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 standart amino asit (tek harf kodu)</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 (amino asit)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str</a:t>
                      </a:r>
                      <a:r>
                        <a:rPr lang="en-US" sz="1600" dirty="0">
                          <a:solidFill>
                            <a:srgbClr val="212121"/>
                          </a:solidFill>
                          <a:latin typeface="Calibri" pitchFamily="34" charset="0"/>
                          <a:ea typeface="Calibri" pitchFamily="34" charset="-122"/>
                          <a:cs typeface="Calibri" pitchFamily="34" charset="-120"/>
                        </a:rPr>
                        <a:t> / </a:t>
                      </a:r>
                      <a:r>
                        <a:rPr lang="en-US" sz="1600" dirty="0">
                          <a:solidFill>
                            <a:srgbClr val="455A64"/>
                          </a:solidFill>
                          <a:latin typeface="Courier New" pitchFamily="34" charset="0"/>
                          <a:ea typeface="Courier New" pitchFamily="34" charset="-122"/>
                          <a:cs typeface="Courier New" pitchFamily="34" charset="-120"/>
                        </a:rPr>
                        <a:t>Seq</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Belirsiz baz (IUPAC)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N = herhangi, R = A/G, Y = C/T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15 simge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ATGNNCTA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str</a:t>
                      </a:r>
                      <a:r>
                        <a:rPr lang="en-US" sz="1600" dirty="0">
                          <a:solidFill>
                            <a:srgbClr val="212121"/>
                          </a:solidFill>
                          <a:latin typeface="Calibri" pitchFamily="34" charset="0"/>
                          <a:ea typeface="Calibri" pitchFamily="34" charset="-122"/>
                          <a:cs typeface="Calibri" pitchFamily="34" charset="-120"/>
                        </a:rPr>
                        <a:t> / </a:t>
                      </a:r>
                      <a:r>
                        <a:rPr lang="en-US" sz="1600" dirty="0">
                          <a:solidFill>
                            <a:srgbClr val="455A64"/>
                          </a:solidFill>
                          <a:latin typeface="Courier New" pitchFamily="34" charset="0"/>
                          <a:ea typeface="Courier New" pitchFamily="34" charset="-122"/>
                          <a:cs typeface="Courier New" pitchFamily="34" charset="-120"/>
                        </a:rPr>
                        <a:t>Seq</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4" name="Shape 1"/>
          <p:cNvSpPr/>
          <p:nvPr/>
        </p:nvSpPr>
        <p:spPr>
          <a:xfrm>
            <a:off x="548640" y="3718560"/>
            <a:ext cx="11094415" cy="822960"/>
          </a:xfrm>
          <a:prstGeom prst="roundRect">
            <a:avLst>
              <a:gd name="adj" fmla="val 8889"/>
            </a:avLst>
          </a:prstGeom>
          <a:solidFill>
            <a:srgbClr val="FDECEA"/>
          </a:solidFill>
          <a:ln/>
        </p:spPr>
      </p:sp>
      <p:sp>
        <p:nvSpPr>
          <p:cNvPr id="5" name="Text 2"/>
          <p:cNvSpPr txBox="1"/>
          <p:nvPr/>
        </p:nvSpPr>
        <p:spPr>
          <a:xfrm>
            <a:off x="731520" y="371856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Kod çözme oranı: 3 nükleotit (kodon) → 1 amino asit. 4³ = </a:t>
            </a:r>
            <a:r>
              <a:rPr lang="en-US" sz="1600" b="1" dirty="0">
                <a:solidFill>
                  <a:srgbClr val="212121"/>
                </a:solidFill>
                <a:latin typeface="Calibri" pitchFamily="34" charset="0"/>
                <a:ea typeface="Calibri" pitchFamily="34" charset="-122"/>
                <a:cs typeface="Calibri" pitchFamily="34" charset="-120"/>
              </a:rPr>
              <a:t>64 kodon</a:t>
            </a:r>
            <a:r>
              <a:rPr lang="en-US" sz="1600" dirty="0">
                <a:solidFill>
                  <a:srgbClr val="212121"/>
                </a:solidFill>
                <a:latin typeface="Calibri" pitchFamily="34" charset="0"/>
                <a:ea typeface="Calibri" pitchFamily="34" charset="-122"/>
                <a:cs typeface="Calibri" pitchFamily="34" charset="-120"/>
              </a:rPr>
              <a:t>, 20 amino asit + 3 dur kodonuna eşlenir; kod </a:t>
            </a:r>
            <a:r>
              <a:rPr lang="en-US" sz="1600" b="1" dirty="0">
                <a:solidFill>
                  <a:srgbClr val="212121"/>
                </a:solidFill>
                <a:latin typeface="Calibri" pitchFamily="34" charset="0"/>
                <a:ea typeface="Calibri" pitchFamily="34" charset="-122"/>
                <a:cs typeface="Calibri" pitchFamily="34" charset="-120"/>
              </a:rPr>
              <a:t>dejeneredir</a:t>
            </a:r>
            <a:r>
              <a:rPr lang="en-US" sz="1600" dirty="0">
                <a:solidFill>
                  <a:srgbClr val="212121"/>
                </a:solidFill>
                <a:latin typeface="Calibri" pitchFamily="34" charset="0"/>
                <a:ea typeface="Calibri" pitchFamily="34" charset="-122"/>
                <a:cs typeface="Calibri" pitchFamily="34" charset="-120"/>
              </a:rPr>
              <a:t> (bir amino asidi birden çok kodon kodlar).</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Yön ve tamamlayıcılık</a:t>
            </a:r>
            <a:endParaRPr lang="en-US" sz="3000" dirty="0"/>
          </a:p>
        </p:txBody>
      </p:sp>
      <p:sp>
        <p:nvSpPr>
          <p:cNvPr id="3" name="Shape 1"/>
          <p:cNvSpPr/>
          <p:nvPr/>
        </p:nvSpPr>
        <p:spPr>
          <a:xfrm>
            <a:off x="548640" y="1234440"/>
            <a:ext cx="5364328" cy="5029200"/>
          </a:xfrm>
          <a:prstGeom prst="roundRect">
            <a:avLst>
              <a:gd name="adj" fmla="val 1455"/>
            </a:avLst>
          </a:prstGeom>
          <a:solidFill>
            <a:srgbClr val="F7F9FA"/>
          </a:solidFill>
          <a:ln w="12700">
            <a:solidFill>
              <a:srgbClr val="B0BEC5"/>
            </a:solidFill>
            <a:prstDash val="solid"/>
          </a:ln>
        </p:spPr>
      </p:sp>
      <p:sp>
        <p:nvSpPr>
          <p:cNvPr id="4" name="Text 2"/>
          <p:cNvSpPr txBox="1"/>
          <p:nvPr/>
        </p:nvSpPr>
        <p:spPr>
          <a:xfrm>
            <a:off x="731520" y="1344168"/>
            <a:ext cx="4998568" cy="411480"/>
          </a:xfrm>
          <a:prstGeom prst="rect">
            <a:avLst/>
          </a:prstGeom>
          <a:noFill/>
          <a:ln/>
        </p:spPr>
        <p:txBody>
          <a:bodyPr wrap="square" lIns="0" tIns="0" rIns="0" bIns="0" rtlCol="0" anchor="ctr"/>
          <a:lstStyle/>
          <a:p>
            <a:pPr indent="0" marL="0">
              <a:buNone/>
            </a:pPr>
            <a:r>
              <a:rPr lang="en-US" sz="1800" b="1" dirty="0">
                <a:solidFill>
                  <a:srgbClr val="263238"/>
                </a:solidFill>
              </a:rPr>
              <a:t>Kurallar</a:t>
            </a:r>
            <a:endParaRPr lang="en-US" sz="1800" dirty="0"/>
          </a:p>
        </p:txBody>
      </p:sp>
      <p:sp>
        <p:nvSpPr>
          <p:cNvPr id="5" name="Text 3"/>
          <p:cNvSpPr txBox="1"/>
          <p:nvPr/>
        </p:nvSpPr>
        <p:spPr>
          <a:xfrm>
            <a:off x="685800" y="1828800"/>
            <a:ext cx="5090008" cy="429768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DNA iki ipliklidir; iplikler </a:t>
            </a:r>
            <a:r>
              <a:rPr lang="en-US" sz="1700" b="1" dirty="0">
                <a:solidFill>
                  <a:srgbClr val="212121"/>
                </a:solidFill>
                <a:latin typeface="Calibri" pitchFamily="34" charset="0"/>
                <a:ea typeface="Calibri" pitchFamily="34" charset="-122"/>
                <a:cs typeface="Calibri" pitchFamily="34" charset="-120"/>
              </a:rPr>
              <a:t>antiparaleldir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Eşleşme kuralı: </a:t>
            </a:r>
            <a:r>
              <a:rPr lang="en-US" sz="1700" b="1" dirty="0">
                <a:solidFill>
                  <a:srgbClr val="212121"/>
                </a:solidFill>
                <a:latin typeface="Calibri" pitchFamily="34" charset="0"/>
                <a:ea typeface="Calibri" pitchFamily="34" charset="-122"/>
                <a:cs typeface="Calibri" pitchFamily="34" charset="-120"/>
              </a:rPr>
              <a:t>A ↔ T</a:t>
            </a:r>
            <a:r>
              <a:rPr lang="en-US" sz="1700" dirty="0">
                <a:solidFill>
                  <a:srgbClr val="212121"/>
                </a:solidFill>
                <a:latin typeface="Calibri" pitchFamily="34" charset="0"/>
                <a:ea typeface="Calibri" pitchFamily="34" charset="-122"/>
                <a:cs typeface="Calibri" pitchFamily="34" charset="-120"/>
              </a:rPr>
              <a:t>, </a:t>
            </a:r>
            <a:r>
              <a:rPr lang="en-US" sz="1700" b="1" dirty="0">
                <a:solidFill>
                  <a:srgbClr val="212121"/>
                </a:solidFill>
                <a:latin typeface="Calibri" pitchFamily="34" charset="0"/>
                <a:ea typeface="Calibri" pitchFamily="34" charset="-122"/>
                <a:cs typeface="Calibri" pitchFamily="34" charset="-120"/>
              </a:rPr>
              <a:t>G ↔ C</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Diziler geleneksel olarak </a:t>
            </a:r>
            <a:r>
              <a:rPr lang="en-US" sz="1700" b="1" dirty="0">
                <a:solidFill>
                  <a:srgbClr val="212121"/>
                </a:solidFill>
                <a:latin typeface="Calibri" pitchFamily="34" charset="0"/>
                <a:ea typeface="Calibri" pitchFamily="34" charset="-122"/>
                <a:cs typeface="Calibri" pitchFamily="34" charset="-120"/>
              </a:rPr>
              <a:t>5' → 3'</a:t>
            </a:r>
            <a:r>
              <a:rPr lang="en-US" sz="1700" dirty="0">
                <a:solidFill>
                  <a:srgbClr val="212121"/>
                </a:solidFill>
                <a:latin typeface="Calibri" pitchFamily="34" charset="0"/>
                <a:ea typeface="Calibri" pitchFamily="34" charset="-122"/>
                <a:cs typeface="Calibri" pitchFamily="34" charset="-120"/>
              </a:rPr>
              <a:t> yazılır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Karşı ipliği 5'→3' yazmak için: </a:t>
            </a:r>
            <a:r>
              <a:rPr lang="en-US" sz="1700" b="1" dirty="0">
                <a:solidFill>
                  <a:srgbClr val="212121"/>
                </a:solidFill>
                <a:latin typeface="Calibri" pitchFamily="34" charset="0"/>
                <a:ea typeface="Calibri" pitchFamily="34" charset="-122"/>
                <a:cs typeface="Calibri" pitchFamily="34" charset="-120"/>
              </a:rPr>
              <a:t>tamamla + ters çevir</a:t>
            </a:r>
            <a:r>
              <a:rPr lang="en-US" sz="1700" dirty="0">
                <a:solidFill>
                  <a:srgbClr val="212121"/>
                </a:solidFill>
                <a:latin typeface="Calibri" pitchFamily="34" charset="0"/>
                <a:ea typeface="Calibri" pitchFamily="34" charset="-122"/>
                <a:cs typeface="Calibri" pitchFamily="34" charset="-120"/>
              </a:rPr>
              <a:t> = </a:t>
            </a:r>
            <a:r>
              <a:rPr lang="en-US" sz="1700" i="1" dirty="0">
                <a:solidFill>
                  <a:srgbClr val="212121"/>
                </a:solidFill>
                <a:latin typeface="Calibri" pitchFamily="34" charset="0"/>
                <a:ea typeface="Calibri" pitchFamily="34" charset="-122"/>
                <a:cs typeface="Calibri" pitchFamily="34" charset="-120"/>
              </a:rPr>
              <a:t>ters tamamlayıcı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Bir ipliği bilen diğerini bilir → veritabanlarında tek iplik saklanır</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Sık hata:</a:t>
            </a:r>
            <a:r>
              <a:rPr lang="en-US" sz="1700" dirty="0">
                <a:solidFill>
                  <a:srgbClr val="212121"/>
                </a:solidFill>
                <a:latin typeface="Calibri" pitchFamily="34" charset="0"/>
                <a:ea typeface="Calibri" pitchFamily="34" charset="-122"/>
                <a:cs typeface="Calibri" pitchFamily="34" charset="-120"/>
              </a:rPr>
              <a:t> yalnızca ters çevirmek (</a:t>
            </a:r>
            <a:r>
              <a:rPr lang="en-US" sz="1700" dirty="0">
                <a:solidFill>
                  <a:srgbClr val="455A64"/>
                </a:solidFill>
                <a:latin typeface="Courier New" pitchFamily="34" charset="0"/>
                <a:ea typeface="Courier New" pitchFamily="34" charset="-122"/>
                <a:cs typeface="Courier New" pitchFamily="34" charset="-120"/>
              </a:rPr>
              <a:t>s[::-1]</a:t>
            </a:r>
            <a:r>
              <a:rPr lang="en-US" sz="1700" dirty="0">
                <a:solidFill>
                  <a:srgbClr val="212121"/>
                </a:solidFill>
                <a:latin typeface="Calibri" pitchFamily="34" charset="0"/>
                <a:ea typeface="Calibri" pitchFamily="34" charset="-122"/>
                <a:cs typeface="Calibri" pitchFamily="34" charset="-120"/>
              </a:rPr>
              <a:t>) ya da yalnızca tamamlamak; </a:t>
            </a:r>
            <a:r>
              <a:rPr lang="en-US" sz="1700" b="1" dirty="0">
                <a:solidFill>
                  <a:srgbClr val="212121"/>
                </a:solidFill>
                <a:latin typeface="Calibri" pitchFamily="34" charset="0"/>
                <a:ea typeface="Calibri" pitchFamily="34" charset="-122"/>
                <a:cs typeface="Calibri" pitchFamily="34" charset="-120"/>
              </a:rPr>
              <a:t>ikisi birden</a:t>
            </a:r>
            <a:r>
              <a:rPr lang="en-US" sz="1700" dirty="0">
                <a:solidFill>
                  <a:srgbClr val="212121"/>
                </a:solidFill>
                <a:latin typeface="Calibri" pitchFamily="34" charset="0"/>
                <a:ea typeface="Calibri" pitchFamily="34" charset="-122"/>
                <a:cs typeface="Calibri" pitchFamily="34" charset="-120"/>
              </a:rPr>
              <a:t> gerekir</a:t>
            </a:r>
            <a:endParaRPr lang="en-US" sz="1700" dirty="0"/>
          </a:p>
        </p:txBody>
      </p:sp>
      <p:sp>
        <p:nvSpPr>
          <p:cNvPr id="6" name="Shape 4"/>
          <p:cNvSpPr/>
          <p:nvPr/>
        </p:nvSpPr>
        <p:spPr>
          <a:xfrm>
            <a:off x="6278728" y="1234440"/>
            <a:ext cx="5364328" cy="5029200"/>
          </a:xfrm>
          <a:prstGeom prst="roundRect">
            <a:avLst>
              <a:gd name="adj" fmla="val 1455"/>
            </a:avLst>
          </a:prstGeom>
          <a:solidFill>
            <a:srgbClr val="F7F9FA"/>
          </a:solidFill>
          <a:ln w="12700">
            <a:solidFill>
              <a:srgbClr val="B0BEC5"/>
            </a:solidFill>
            <a:prstDash val="solid"/>
          </a:ln>
        </p:spPr>
      </p:sp>
      <p:sp>
        <p:nvSpPr>
          <p:cNvPr id="7" name="Text 5"/>
          <p:cNvSpPr txBox="1"/>
          <p:nvPr/>
        </p:nvSpPr>
        <p:spPr>
          <a:xfrm>
            <a:off x="6461608" y="1344168"/>
            <a:ext cx="4998568" cy="411480"/>
          </a:xfrm>
          <a:prstGeom prst="rect">
            <a:avLst/>
          </a:prstGeom>
          <a:noFill/>
          <a:ln/>
        </p:spPr>
        <p:txBody>
          <a:bodyPr wrap="square" lIns="0" tIns="0" rIns="0" bIns="0" rtlCol="0" anchor="ctr"/>
          <a:lstStyle/>
          <a:p>
            <a:pPr indent="0" marL="0">
              <a:buNone/>
            </a:pPr>
            <a:r>
              <a:rPr lang="en-US" sz="1800" b="1" dirty="0">
                <a:solidFill>
                  <a:srgbClr val="263238"/>
                </a:solidFill>
              </a:rPr>
              <a:t>Görsel</a:t>
            </a:r>
            <a:endParaRPr lang="en-US" sz="1800" dirty="0"/>
          </a:p>
        </p:txBody>
      </p:sp>
      <p:sp>
        <p:nvSpPr>
          <p:cNvPr id="8" name="Shape 6"/>
          <p:cNvSpPr/>
          <p:nvPr/>
        </p:nvSpPr>
        <p:spPr>
          <a:xfrm>
            <a:off x="6461608" y="1828800"/>
            <a:ext cx="4998568" cy="4297680"/>
          </a:xfrm>
          <a:prstGeom prst="roundRect">
            <a:avLst>
              <a:gd name="adj" fmla="val 1702"/>
            </a:avLst>
          </a:prstGeom>
          <a:solidFill>
            <a:srgbClr val="F4F6F7"/>
          </a:solidFill>
          <a:ln w="12700">
            <a:solidFill>
              <a:srgbClr val="B0BEC5"/>
            </a:solidFill>
            <a:prstDash val="solid"/>
          </a:ln>
        </p:spPr>
      </p:sp>
      <p:sp>
        <p:nvSpPr>
          <p:cNvPr id="9" name="Text 7"/>
          <p:cNvSpPr txBox="1"/>
          <p:nvPr/>
        </p:nvSpPr>
        <p:spPr>
          <a:xfrm>
            <a:off x="6571336" y="1901952"/>
            <a:ext cx="4779112" cy="4151376"/>
          </a:xfrm>
          <a:prstGeom prst="rect">
            <a:avLst/>
          </a:prstGeom>
          <a:noFill/>
          <a:ln/>
        </p:spPr>
        <p:txBody>
          <a:bodyPr wrap="square" lIns="0" tIns="0" rIns="0" bIns="0" rtlCol="0" anchor="t"/>
          <a:lstStyle/>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5'- A T G G C C -3'   kodlayan iplik</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 | | | | |</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3'- T A C C G G -5'   kalıp iplik</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Kalıp ipliği 5'-&gt;3' okursak:</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5'- G G C C A T -3'</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 ters_tamamlayici('ATGGCC')</a:t>
            </a:r>
            <a:endParaRPr lang="en-US" sz="1500" dirty="0"/>
          </a:p>
        </p:txBody>
      </p:sp>
      <p:sp>
        <p:nvSpPr>
          <p:cNvPr id="10" name="Text 8"/>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1" name="Text 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Ters tamamlayıcıyı elle bulma</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795528"/>
          </a:xfrm>
          <a:prstGeom prst="roundRect">
            <a:avLst>
              <a:gd name="adj" fmla="val 9195"/>
            </a:avLst>
          </a:prstGeom>
          <a:solidFill>
            <a:srgbClr val="ECEFF1"/>
          </a:solidFill>
          <a:ln/>
        </p:spPr>
      </p:sp>
      <p:sp>
        <p:nvSpPr>
          <p:cNvPr id="5" name="Text 3"/>
          <p:cNvSpPr txBox="1"/>
          <p:nvPr/>
        </p:nvSpPr>
        <p:spPr>
          <a:xfrm>
            <a:off x="685800" y="1508760"/>
            <a:ext cx="10820095" cy="704088"/>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5'-ATGCC-3'</a:t>
            </a:r>
            <a:r>
              <a:rPr lang="en-US" sz="1800" dirty="0">
                <a:solidFill>
                  <a:srgbClr val="212121"/>
                </a:solidFill>
                <a:latin typeface="Calibri" pitchFamily="34" charset="0"/>
                <a:ea typeface="Calibri" pitchFamily="34" charset="-122"/>
                <a:cs typeface="Calibri" pitchFamily="34" charset="-120"/>
              </a:rPr>
              <a:t> dizisinin ters tamamlayıcısını bulun ve Python'da tek satırda ifade edin.</a:t>
            </a:r>
            <a:endParaRPr lang="en-US" sz="1800" dirty="0"/>
          </a:p>
        </p:txBody>
      </p:sp>
      <p:sp>
        <p:nvSpPr>
          <p:cNvPr id="6" name="Text 4"/>
          <p:cNvSpPr txBox="1"/>
          <p:nvPr/>
        </p:nvSpPr>
        <p:spPr>
          <a:xfrm>
            <a:off x="548640" y="2487168"/>
            <a:ext cx="5547208" cy="2907792"/>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Her bazı tamamla (A↔T, G↔C): </a:t>
            </a:r>
            <a:r>
              <a:rPr lang="en-US" sz="1800" dirty="0">
                <a:solidFill>
                  <a:srgbClr val="455A64"/>
                </a:solidFill>
                <a:latin typeface="Courier New" pitchFamily="34" charset="0"/>
                <a:ea typeface="Courier New" pitchFamily="34" charset="-122"/>
                <a:cs typeface="Courier New" pitchFamily="34" charset="-120"/>
              </a:rPr>
              <a:t>ATGCC</a:t>
            </a:r>
            <a:r>
              <a:rPr lang="en-US" sz="1800" dirty="0">
                <a:solidFill>
                  <a:srgbClr val="212121"/>
                </a:solidFill>
                <a:latin typeface="Calibri" pitchFamily="34" charset="0"/>
                <a:ea typeface="Calibri" pitchFamily="34" charset="-122"/>
                <a:cs typeface="Calibri" pitchFamily="34" charset="-120"/>
              </a:rPr>
              <a:t> → </a:t>
            </a:r>
            <a:r>
              <a:rPr lang="en-US" sz="1800" dirty="0">
                <a:solidFill>
                  <a:srgbClr val="455A64"/>
                </a:solidFill>
                <a:latin typeface="Courier New" pitchFamily="34" charset="0"/>
                <a:ea typeface="Courier New" pitchFamily="34" charset="-122"/>
                <a:cs typeface="Courier New" pitchFamily="34" charset="-120"/>
              </a:rPr>
              <a:t>TACGG</a:t>
            </a:r>
            <a:r>
              <a:rPr lang="en-US" sz="1800" dirty="0">
                <a:solidFill>
                  <a:srgbClr val="212121"/>
                </a:solidFill>
                <a:latin typeface="Calibri" pitchFamily="34" charset="0"/>
                <a:ea typeface="Calibri" pitchFamily="34" charset="-122"/>
                <a:cs typeface="Calibri" pitchFamily="34" charset="-120"/>
              </a:rPr>
              <a:t> (bu dizi 3'→5' yönünde okunur)</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5'→3' yazmak için ters çevir: </a:t>
            </a:r>
            <a:r>
              <a:rPr lang="en-US" sz="1800" dirty="0">
                <a:solidFill>
                  <a:srgbClr val="455A64"/>
                </a:solidFill>
                <a:latin typeface="Courier New" pitchFamily="34" charset="0"/>
                <a:ea typeface="Courier New" pitchFamily="34" charset="-122"/>
                <a:cs typeface="Courier New" pitchFamily="34" charset="-120"/>
              </a:rPr>
              <a:t>TACGG</a:t>
            </a:r>
            <a:r>
              <a:rPr lang="en-US" sz="1800" dirty="0">
                <a:solidFill>
                  <a:srgbClr val="212121"/>
                </a:solidFill>
                <a:latin typeface="Calibri" pitchFamily="34" charset="0"/>
                <a:ea typeface="Calibri" pitchFamily="34" charset="-122"/>
                <a:cs typeface="Calibri" pitchFamily="34" charset="-120"/>
              </a:rPr>
              <a:t> → </a:t>
            </a:r>
            <a:r>
              <a:rPr lang="en-US" sz="1800" dirty="0">
                <a:solidFill>
                  <a:srgbClr val="455A64"/>
                </a:solidFill>
                <a:latin typeface="Courier New" pitchFamily="34" charset="0"/>
                <a:ea typeface="Courier New" pitchFamily="34" charset="-122"/>
                <a:cs typeface="Courier New" pitchFamily="34" charset="-120"/>
              </a:rPr>
              <a:t>GGCAT</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Python: sözlükle eşle, </a:t>
            </a:r>
            <a:r>
              <a:rPr lang="en-US" sz="1800" dirty="0">
                <a:solidFill>
                  <a:srgbClr val="455A64"/>
                </a:solidFill>
                <a:latin typeface="Courier New" pitchFamily="34" charset="0"/>
                <a:ea typeface="Courier New" pitchFamily="34" charset="-122"/>
                <a:cs typeface="Courier New" pitchFamily="34" charset="-120"/>
              </a:rPr>
              <a:t>join</a:t>
            </a:r>
            <a:r>
              <a:rPr lang="en-US" sz="1800" dirty="0">
                <a:solidFill>
                  <a:srgbClr val="212121"/>
                </a:solidFill>
                <a:latin typeface="Calibri" pitchFamily="34" charset="0"/>
                <a:ea typeface="Calibri" pitchFamily="34" charset="-122"/>
                <a:cs typeface="Calibri" pitchFamily="34" charset="-120"/>
              </a:rPr>
              <a:t> ile birleştir, </a:t>
            </a:r>
            <a:r>
              <a:rPr lang="en-US" sz="1800" dirty="0">
                <a:solidFill>
                  <a:srgbClr val="455A64"/>
                </a:solidFill>
                <a:latin typeface="Courier New" pitchFamily="34" charset="0"/>
                <a:ea typeface="Courier New" pitchFamily="34" charset="-122"/>
                <a:cs typeface="Courier New" pitchFamily="34" charset="-120"/>
              </a:rPr>
              <a:t>[::-1]</a:t>
            </a:r>
            <a:r>
              <a:rPr lang="en-US" sz="1800" dirty="0">
                <a:solidFill>
                  <a:srgbClr val="212121"/>
                </a:solidFill>
                <a:latin typeface="Calibri" pitchFamily="34" charset="0"/>
                <a:ea typeface="Calibri" pitchFamily="34" charset="-122"/>
                <a:cs typeface="Calibri" pitchFamily="34" charset="-120"/>
              </a:rPr>
              <a:t> ile ters çevir</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Kontrol: ters tamamlayıcının ters tamamlayıcısı orijinal diziyi vermeli (involüsyon)</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15888" y="2487168"/>
          <a:ext cx="5227168" cy="914400"/>
        </p:xfrm>
        <a:graphic>
          <a:graphicData uri="http://schemas.openxmlformats.org/drawingml/2006/table">
            <a:tbl>
              <a:tblPr/>
              <a:tblGrid>
                <a:gridCol w="2304485"/>
                <a:gridCol w="584537"/>
                <a:gridCol w="584537"/>
                <a:gridCol w="584537"/>
                <a:gridCol w="584537"/>
                <a:gridCol w="584537"/>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Konum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Dizi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Tamamlayıcı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Ters çevrilmiş</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Sonuç  </a:t>
            </a:r>
            <a:r>
              <a:rPr lang="en-US" sz="1800" dirty="0">
                <a:solidFill>
                  <a:srgbClr val="212121"/>
                </a:solidFill>
                <a:latin typeface="Calibri" pitchFamily="34" charset="0"/>
                <a:ea typeface="Calibri" pitchFamily="34" charset="-122"/>
                <a:cs typeface="Calibri" pitchFamily="34" charset="-120"/>
              </a:rPr>
              <a:t>Ters tamamlayıcı = </a:t>
            </a:r>
            <a:r>
              <a:rPr lang="en-US" sz="1800" b="1" dirty="0">
                <a:solidFill>
                  <a:srgbClr val="212121"/>
                </a:solidFill>
                <a:latin typeface="Calibri" pitchFamily="34" charset="0"/>
                <a:ea typeface="Calibri" pitchFamily="34" charset="-122"/>
                <a:cs typeface="Calibri" pitchFamily="34" charset="-120"/>
              </a:rPr>
              <a:t>GGCAT</a:t>
            </a:r>
            <a:r>
              <a:rPr lang="en-US" sz="1800" dirty="0">
                <a:solidFill>
                  <a:srgbClr val="212121"/>
                </a:solidFill>
                <a:latin typeface="Calibri" pitchFamily="34" charset="0"/>
                <a:ea typeface="Calibri" pitchFamily="34" charset="-122"/>
                <a:cs typeface="Calibri" pitchFamily="34" charset="-120"/>
              </a:rPr>
              <a:t>;  Python: </a:t>
            </a:r>
            <a:r>
              <a:rPr lang="en-US" sz="1800" dirty="0">
                <a:solidFill>
                  <a:srgbClr val="455A64"/>
                </a:solidFill>
                <a:latin typeface="Courier New" pitchFamily="34" charset="0"/>
                <a:ea typeface="Courier New" pitchFamily="34" charset="-122"/>
                <a:cs typeface="Courier New" pitchFamily="34" charset="-120"/>
              </a:rPr>
              <a:t>"".join(es[b] for b in s)[::-1]</a:t>
            </a:r>
            <a:r>
              <a:rPr lang="en-US" sz="1800" dirty="0">
                <a:solidFill>
                  <a:srgbClr val="212121"/>
                </a:solidFill>
                <a:latin typeface="Calibri" pitchFamily="34" charset="0"/>
                <a:ea typeface="Calibri" pitchFamily="34" charset="-122"/>
                <a:cs typeface="Calibri" pitchFamily="34" charset="-120"/>
              </a:rPr>
              <a:t>  (es: A↔T, G↔C sözlüğü)</a:t>
            </a:r>
            <a:endParaRPr lang="en-US" sz="18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3</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Olasılıkla düşünmek</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Bir motif rastgele bir genomda kaç kez beklenir?</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Rastgele dizi modeli</a:t>
            </a:r>
            <a:endParaRPr lang="en-US" sz="3000" dirty="0"/>
          </a:p>
        </p:txBody>
      </p:sp>
      <p:sp>
        <p:nvSpPr>
          <p:cNvPr id="3" name="Shape 1"/>
          <p:cNvSpPr/>
          <p:nvPr/>
        </p:nvSpPr>
        <p:spPr>
          <a:xfrm>
            <a:off x="548640" y="1234440"/>
            <a:ext cx="11094415" cy="891540"/>
          </a:xfrm>
          <a:prstGeom prst="roundRect">
            <a:avLst>
              <a:gd name="adj" fmla="val 8205"/>
            </a:avLst>
          </a:prstGeom>
          <a:solidFill>
            <a:srgbClr val="F7F9FA"/>
          </a:solidFill>
          <a:ln w="12700">
            <a:solidFill>
              <a:srgbClr val="B0BEC5"/>
            </a:solidFill>
            <a:prstDash val="solid"/>
          </a:ln>
        </p:spPr>
      </p:sp>
      <p:sp>
        <p:nvSpPr>
          <p:cNvPr id="4" name="Text 2"/>
          <p:cNvSpPr txBox="1"/>
          <p:nvPr/>
        </p:nvSpPr>
        <p:spPr>
          <a:xfrm>
            <a:off x="731520" y="123444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Bir k-merin olasılığı</a:t>
            </a:r>
            <a:endParaRPr lang="en-US" sz="1600" dirty="0"/>
          </a:p>
        </p:txBody>
      </p:sp>
      <p:sp>
        <p:nvSpPr>
          <p:cNvPr id="5" name="Text 3"/>
          <p:cNvSpPr txBox="1"/>
          <p:nvPr/>
        </p:nvSpPr>
        <p:spPr>
          <a:xfrm>
            <a:off x="3474720" y="123444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p = (1/4)ᵏ</a:t>
            </a:r>
            <a:endParaRPr lang="en-US" sz="1800" dirty="0"/>
          </a:p>
        </p:txBody>
      </p:sp>
      <p:sp>
        <p:nvSpPr>
          <p:cNvPr id="6" name="Text 4"/>
          <p:cNvSpPr txBox="1"/>
          <p:nvPr/>
        </p:nvSpPr>
        <p:spPr>
          <a:xfrm>
            <a:off x="8412480" y="123444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Bazlar bağımsız ve eşit olasılıklı (i.i.d.) varsayımı</a:t>
            </a:r>
            <a:endParaRPr lang="en-US" sz="1300" dirty="0"/>
          </a:p>
        </p:txBody>
      </p:sp>
      <p:sp>
        <p:nvSpPr>
          <p:cNvPr id="7" name="Shape 5"/>
          <p:cNvSpPr/>
          <p:nvPr/>
        </p:nvSpPr>
        <p:spPr>
          <a:xfrm>
            <a:off x="548640" y="2308860"/>
            <a:ext cx="11094415" cy="891540"/>
          </a:xfrm>
          <a:prstGeom prst="roundRect">
            <a:avLst>
              <a:gd name="adj" fmla="val 8205"/>
            </a:avLst>
          </a:prstGeom>
          <a:solidFill>
            <a:srgbClr val="F7F9FA"/>
          </a:solidFill>
          <a:ln w="12700">
            <a:solidFill>
              <a:srgbClr val="B0BEC5"/>
            </a:solidFill>
            <a:prstDash val="solid"/>
          </a:ln>
        </p:spPr>
      </p:sp>
      <p:sp>
        <p:nvSpPr>
          <p:cNvPr id="8" name="Text 6"/>
          <p:cNvSpPr txBox="1"/>
          <p:nvPr/>
        </p:nvSpPr>
        <p:spPr>
          <a:xfrm>
            <a:off x="731520" y="230886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Konum sayısı</a:t>
            </a:r>
            <a:endParaRPr lang="en-US" sz="1600" dirty="0"/>
          </a:p>
        </p:txBody>
      </p:sp>
      <p:sp>
        <p:nvSpPr>
          <p:cNvPr id="9" name="Text 7"/>
          <p:cNvSpPr txBox="1"/>
          <p:nvPr/>
        </p:nvSpPr>
        <p:spPr>
          <a:xfrm>
            <a:off x="3474720" y="230886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N − k + 1</a:t>
            </a:r>
            <a:endParaRPr lang="en-US" sz="1800" dirty="0"/>
          </a:p>
        </p:txBody>
      </p:sp>
      <p:sp>
        <p:nvSpPr>
          <p:cNvPr id="10" name="Text 8"/>
          <p:cNvSpPr txBox="1"/>
          <p:nvPr/>
        </p:nvSpPr>
        <p:spPr>
          <a:xfrm>
            <a:off x="8412480" y="230886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Uzunluğu N olan dizideki k-uzunluklu pencereler</a:t>
            </a:r>
            <a:endParaRPr lang="en-US" sz="1300" dirty="0"/>
          </a:p>
        </p:txBody>
      </p:sp>
      <p:sp>
        <p:nvSpPr>
          <p:cNvPr id="11" name="Shape 9"/>
          <p:cNvSpPr/>
          <p:nvPr/>
        </p:nvSpPr>
        <p:spPr>
          <a:xfrm>
            <a:off x="548640" y="3383280"/>
            <a:ext cx="11094415" cy="891540"/>
          </a:xfrm>
          <a:prstGeom prst="roundRect">
            <a:avLst>
              <a:gd name="adj" fmla="val 8205"/>
            </a:avLst>
          </a:prstGeom>
          <a:solidFill>
            <a:srgbClr val="F7F9FA"/>
          </a:solidFill>
          <a:ln w="12700">
            <a:solidFill>
              <a:srgbClr val="B0BEC5"/>
            </a:solidFill>
            <a:prstDash val="solid"/>
          </a:ln>
        </p:spPr>
      </p:sp>
      <p:sp>
        <p:nvSpPr>
          <p:cNvPr id="12" name="Text 10"/>
          <p:cNvSpPr txBox="1"/>
          <p:nvPr/>
        </p:nvSpPr>
        <p:spPr>
          <a:xfrm>
            <a:off x="731520" y="338328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Beklenen sayı</a:t>
            </a:r>
            <a:endParaRPr lang="en-US" sz="1600" dirty="0"/>
          </a:p>
        </p:txBody>
      </p:sp>
      <p:sp>
        <p:nvSpPr>
          <p:cNvPr id="13" name="Text 11"/>
          <p:cNvSpPr txBox="1"/>
          <p:nvPr/>
        </p:nvSpPr>
        <p:spPr>
          <a:xfrm>
            <a:off x="3474720" y="338328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E = (N − k + 1) · (1/4)ᵏ</a:t>
            </a:r>
            <a:endParaRPr lang="en-US" sz="1800" dirty="0"/>
          </a:p>
        </p:txBody>
      </p:sp>
      <p:sp>
        <p:nvSpPr>
          <p:cNvPr id="14" name="Text 12"/>
          <p:cNvSpPr txBox="1"/>
          <p:nvPr/>
        </p:nvSpPr>
        <p:spPr>
          <a:xfrm>
            <a:off x="8412480" y="338328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Beklentinin doğrusallığı: her konum bir Bernoulli denemesi</a:t>
            </a:r>
            <a:endParaRPr lang="en-US" sz="1300" dirty="0"/>
          </a:p>
        </p:txBody>
      </p:sp>
      <p:sp>
        <p:nvSpPr>
          <p:cNvPr id="15" name="Shape 13"/>
          <p:cNvSpPr/>
          <p:nvPr/>
        </p:nvSpPr>
        <p:spPr>
          <a:xfrm>
            <a:off x="548640" y="4457700"/>
            <a:ext cx="11094415" cy="891540"/>
          </a:xfrm>
          <a:prstGeom prst="roundRect">
            <a:avLst>
              <a:gd name="adj" fmla="val 8205"/>
            </a:avLst>
          </a:prstGeom>
          <a:solidFill>
            <a:srgbClr val="F7F9FA"/>
          </a:solidFill>
          <a:ln w="12700">
            <a:solidFill>
              <a:srgbClr val="B0BEC5"/>
            </a:solidFill>
            <a:prstDash val="solid"/>
          </a:ln>
        </p:spPr>
      </p:sp>
      <p:sp>
        <p:nvSpPr>
          <p:cNvPr id="16" name="Text 14"/>
          <p:cNvSpPr txBox="1"/>
          <p:nvPr/>
        </p:nvSpPr>
        <p:spPr>
          <a:xfrm>
            <a:off x="731520" y="445770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Ortalama aralık</a:t>
            </a:r>
            <a:endParaRPr lang="en-US" sz="1600" dirty="0"/>
          </a:p>
        </p:txBody>
      </p:sp>
      <p:sp>
        <p:nvSpPr>
          <p:cNvPr id="17" name="Text 15"/>
          <p:cNvSpPr txBox="1"/>
          <p:nvPr/>
        </p:nvSpPr>
        <p:spPr>
          <a:xfrm>
            <a:off x="3474720" y="445770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4ᵏ baz</a:t>
            </a:r>
            <a:endParaRPr lang="en-US" sz="1800" dirty="0"/>
          </a:p>
        </p:txBody>
      </p:sp>
      <p:sp>
        <p:nvSpPr>
          <p:cNvPr id="18" name="Text 16"/>
          <p:cNvSpPr txBox="1"/>
          <p:nvPr/>
        </p:nvSpPr>
        <p:spPr>
          <a:xfrm>
            <a:off x="8412480" y="445770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İki ardışık isabet arası beklenen uzaklık (restriksiyon parçası boyu)</a:t>
            </a:r>
            <a:endParaRPr lang="en-US" sz="1300" dirty="0"/>
          </a:p>
        </p:txBody>
      </p:sp>
      <p:sp>
        <p:nvSpPr>
          <p:cNvPr id="19" name="Shape 17"/>
          <p:cNvSpPr/>
          <p:nvPr/>
        </p:nvSpPr>
        <p:spPr>
          <a:xfrm>
            <a:off x="548640" y="5440680"/>
            <a:ext cx="11094415" cy="822960"/>
          </a:xfrm>
          <a:prstGeom prst="roundRect">
            <a:avLst>
              <a:gd name="adj" fmla="val 8889"/>
            </a:avLst>
          </a:prstGeom>
          <a:solidFill>
            <a:srgbClr val="FDECEA"/>
          </a:solidFill>
          <a:ln/>
        </p:spPr>
      </p:sp>
      <p:sp>
        <p:nvSpPr>
          <p:cNvPr id="20" name="Text 18"/>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Gerçek genomlar i.i.d. değildir (ör. omurgalılarda CpG azdır), ama bu model </a:t>
            </a:r>
            <a:r>
              <a:rPr lang="en-US" sz="1600" b="1" dirty="0">
                <a:solidFill>
                  <a:srgbClr val="212121"/>
                </a:solidFill>
                <a:latin typeface="Calibri" pitchFamily="34" charset="0"/>
                <a:ea typeface="Calibri" pitchFamily="34" charset="-122"/>
                <a:cs typeface="Calibri" pitchFamily="34" charset="-120"/>
              </a:rPr>
              <a:t>sıfır hipotezi</a:t>
            </a:r>
            <a:r>
              <a:rPr lang="en-US" sz="1600" dirty="0">
                <a:solidFill>
                  <a:srgbClr val="212121"/>
                </a:solidFill>
                <a:latin typeface="Calibri" pitchFamily="34" charset="0"/>
                <a:ea typeface="Calibri" pitchFamily="34" charset="-122"/>
                <a:cs typeface="Calibri" pitchFamily="34" charset="-120"/>
              </a:rPr>
              <a:t> olarak çok kullanışlıdır.</a:t>
            </a:r>
            <a:endParaRPr lang="en-US" sz="16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k-mer olasılığı ve beklenen sayı: adım adım</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1000 bazlık rastgele bir dizide </a:t>
            </a:r>
            <a:r>
              <a:rPr lang="en-US" sz="1800" dirty="0">
                <a:solidFill>
                  <a:srgbClr val="455A64"/>
                </a:solidFill>
                <a:latin typeface="Courier New" pitchFamily="34" charset="0"/>
                <a:ea typeface="Courier New" pitchFamily="34" charset="-122"/>
                <a:cs typeface="Courier New" pitchFamily="34" charset="-120"/>
              </a:rPr>
              <a:t>ATG</a:t>
            </a:r>
            <a:r>
              <a:rPr lang="en-US" sz="1800" dirty="0">
                <a:solidFill>
                  <a:srgbClr val="212121"/>
                </a:solidFill>
                <a:latin typeface="Calibri" pitchFamily="34" charset="0"/>
                <a:ea typeface="Calibri" pitchFamily="34" charset="-122"/>
                <a:cs typeface="Calibri" pitchFamily="34" charset="-120"/>
              </a:rPr>
              <a:t> (başlangıç kodonu) kaç kez beklenir? k büyüdükçe beklenen sayı nasıl değişir?</a:t>
            </a:r>
            <a:endParaRPr lang="en-US" sz="1800" dirty="0"/>
          </a:p>
        </p:txBody>
      </p:sp>
      <p:sp>
        <p:nvSpPr>
          <p:cNvPr id="6" name="Text 4"/>
          <p:cNvSpPr txBox="1"/>
          <p:nvPr/>
        </p:nvSpPr>
        <p:spPr>
          <a:xfrm>
            <a:off x="548640" y="2779776"/>
            <a:ext cx="554720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Tek bazın olasılığı 1/4; bazlar bağımsız → P(A, T, G art arda) = 1/4 · 1/4 · 1/4</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p = (1/4)³ = </a:t>
            </a:r>
            <a:r>
              <a:rPr lang="en-US" sz="1550" b="1" dirty="0">
                <a:solidFill>
                  <a:srgbClr val="212121"/>
                </a:solidFill>
                <a:latin typeface="Calibri" pitchFamily="34" charset="0"/>
                <a:ea typeface="Calibri" pitchFamily="34" charset="-122"/>
                <a:cs typeface="Calibri" pitchFamily="34" charset="-120"/>
              </a:rPr>
              <a:t>1/64</a:t>
            </a:r>
            <a:r>
              <a:rPr lang="en-US" sz="1550" dirty="0">
                <a:solidFill>
                  <a:srgbClr val="212121"/>
                </a:solidFill>
                <a:latin typeface="Calibri" pitchFamily="34" charset="0"/>
                <a:ea typeface="Calibri" pitchFamily="34" charset="-122"/>
                <a:cs typeface="Calibri" pitchFamily="34" charset="-120"/>
              </a:rPr>
              <a:t> ≈ 0.0156</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Konum sayısı: N − k + 1 = 1000 − 3 + 1 = </a:t>
            </a:r>
            <a:r>
              <a:rPr lang="en-US" sz="1550" b="1" dirty="0">
                <a:solidFill>
                  <a:srgbClr val="212121"/>
                </a:solidFill>
                <a:latin typeface="Calibri" pitchFamily="34" charset="0"/>
                <a:ea typeface="Calibri" pitchFamily="34" charset="-122"/>
                <a:cs typeface="Calibri" pitchFamily="34" charset="-120"/>
              </a:rPr>
              <a:t>998</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E = 998 / 64 ≈ </a:t>
            </a:r>
            <a:r>
              <a:rPr lang="en-US" sz="1550" b="1" dirty="0">
                <a:solidFill>
                  <a:srgbClr val="212121"/>
                </a:solidFill>
                <a:latin typeface="Calibri" pitchFamily="34" charset="0"/>
                <a:ea typeface="Calibri" pitchFamily="34" charset="-122"/>
                <a:cs typeface="Calibri" pitchFamily="34" charset="-120"/>
              </a:rPr>
              <a:t>15.6</a:t>
            </a:r>
            <a:r>
              <a:rPr lang="en-US" sz="1550" dirty="0">
                <a:solidFill>
                  <a:srgbClr val="212121"/>
                </a:solidFill>
                <a:latin typeface="Calibri" pitchFamily="34" charset="0"/>
                <a:ea typeface="Calibri" pitchFamily="34" charset="-122"/>
                <a:cs typeface="Calibri" pitchFamily="34" charset="-120"/>
              </a:rPr>
              <a:t> kez</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k her 1 arttığında p </a:t>
            </a:r>
            <a:r>
              <a:rPr lang="en-US" sz="1550" b="1" dirty="0">
                <a:solidFill>
                  <a:srgbClr val="212121"/>
                </a:solidFill>
                <a:latin typeface="Calibri" pitchFamily="34" charset="0"/>
                <a:ea typeface="Calibri" pitchFamily="34" charset="-122"/>
                <a:cs typeface="Calibri" pitchFamily="34" charset="-120"/>
              </a:rPr>
              <a:t>4'e bölünür</a:t>
            </a:r>
            <a:r>
              <a:rPr lang="en-US" sz="1550" dirty="0">
                <a:solidFill>
                  <a:srgbClr val="212121"/>
                </a:solidFill>
                <a:latin typeface="Calibri" pitchFamily="34" charset="0"/>
                <a:ea typeface="Calibri" pitchFamily="34" charset="-122"/>
                <a:cs typeface="Calibri" pitchFamily="34" charset="-120"/>
              </a:rPr>
              <a:t> → beklenen sayı da ≈ 4 kat azalır</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Tabloda: k = 12'de </a:t>
            </a:r>
            <a:r>
              <a:rPr lang="en-US" sz="1550" i="1" dirty="0">
                <a:solidFill>
                  <a:srgbClr val="212121"/>
                </a:solidFill>
                <a:latin typeface="Calibri" pitchFamily="34" charset="0"/>
                <a:ea typeface="Calibri" pitchFamily="34" charset="-122"/>
                <a:cs typeface="Calibri" pitchFamily="34" charset="-120"/>
              </a:rPr>
              <a:t>E. coli</a:t>
            </a:r>
            <a:r>
              <a:rPr lang="en-US" sz="1550" dirty="0">
                <a:solidFill>
                  <a:srgbClr val="212121"/>
                </a:solidFill>
                <a:latin typeface="Calibri" pitchFamily="34" charset="0"/>
                <a:ea typeface="Calibri" pitchFamily="34" charset="-122"/>
                <a:cs typeface="Calibri" pitchFamily="34" charset="-120"/>
              </a:rPr>
              <a:t>'de beklenti &lt; 1 → 12-mer genomda çoğunlukla </a:t>
            </a:r>
            <a:r>
              <a:rPr lang="en-US" sz="1550" b="1" dirty="0">
                <a:solidFill>
                  <a:srgbClr val="212121"/>
                </a:solidFill>
                <a:latin typeface="Calibri" pitchFamily="34" charset="0"/>
                <a:ea typeface="Calibri" pitchFamily="34" charset="-122"/>
                <a:cs typeface="Calibri" pitchFamily="34" charset="-120"/>
              </a:rPr>
              <a:t>tek</a:t>
            </a:r>
            <a:r>
              <a:rPr lang="en-US" sz="1550" dirty="0">
                <a:solidFill>
                  <a:srgbClr val="212121"/>
                </a:solidFill>
                <a:latin typeface="Calibri" pitchFamily="34" charset="0"/>
                <a:ea typeface="Calibri" pitchFamily="34" charset="-122"/>
                <a:cs typeface="Calibri" pitchFamily="34" charset="-120"/>
              </a:rPr>
              <a:t>tir</a:t>
            </a:r>
            <a:endParaRPr lang="en-US" sz="15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15888" y="2779776"/>
          <a:ext cx="5227168" cy="914400"/>
        </p:xfrm>
        <a:graphic>
          <a:graphicData uri="http://schemas.openxmlformats.org/drawingml/2006/table">
            <a:tbl>
              <a:tblPr/>
              <a:tblGrid>
                <a:gridCol w="540741"/>
                <a:gridCol w="1441977"/>
                <a:gridCol w="1622224"/>
                <a:gridCol w="1622224"/>
              </a:tblGrid>
              <a:tr h="0">
                <a:tc>
                  <a:txBody>
                    <a:bodyPr/>
                    <a:lstStyle/>
                    <a:p>
                      <a:pPr algn="l" indent="0" marL="0">
                        <a:buNone/>
                      </a:pPr>
                      <a:r>
                        <a:rPr lang="en-US" sz="1500" b="1" dirty="0">
                          <a:solidFill>
                            <a:srgbClr val="212121"/>
                          </a:solidFill>
                          <a:latin typeface="Calibri" pitchFamily="34" charset="0"/>
                          <a:ea typeface="Calibri" pitchFamily="34" charset="-122"/>
                          <a:cs typeface="Calibri" pitchFamily="34" charset="-120"/>
                        </a:rPr>
                        <a:t>k</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500" b="1" dirty="0">
                          <a:solidFill>
                            <a:srgbClr val="212121"/>
                          </a:solidFill>
                          <a:latin typeface="Calibri" pitchFamily="34" charset="0"/>
                          <a:ea typeface="Calibri" pitchFamily="34" charset="-122"/>
                          <a:cs typeface="Calibri" pitchFamily="34" charset="-120"/>
                        </a:rPr>
                        <a:t>4ᵏ</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500" b="1" dirty="0">
                          <a:solidFill>
                            <a:srgbClr val="212121"/>
                          </a:solidFill>
                          <a:latin typeface="Calibri" pitchFamily="34" charset="0"/>
                          <a:ea typeface="Calibri" pitchFamily="34" charset="-122"/>
                          <a:cs typeface="Calibri" pitchFamily="34" charset="-120"/>
                        </a:rPr>
                        <a:t>E (E. coli, 4.6 Mbp)</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500" b="1" dirty="0">
                          <a:solidFill>
                            <a:srgbClr val="212121"/>
                          </a:solidFill>
                          <a:latin typeface="Calibri" pitchFamily="34" charset="0"/>
                          <a:ea typeface="Calibri" pitchFamily="34" charset="-122"/>
                          <a:cs typeface="Calibri" pitchFamily="34" charset="-120"/>
                        </a:rPr>
                        <a:t>E (insan, 3.1 Gbp)</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1 159 919</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7.75 × 10⁸</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64</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72 495</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4.84 × 10⁷</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4 096</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1 133</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756 836</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65 536</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70.8</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47 302</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16 777 216</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0.28</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184.8</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4.29 × 10⁹</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0.001</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0.72</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ATG</a:t>
            </a:r>
            <a:r>
              <a:rPr lang="en-US" sz="1700" dirty="0">
                <a:solidFill>
                  <a:srgbClr val="212121"/>
                </a:solidFill>
                <a:latin typeface="Calibri" pitchFamily="34" charset="0"/>
                <a:ea typeface="Calibri" pitchFamily="34" charset="-122"/>
                <a:cs typeface="Calibri" pitchFamily="34" charset="-120"/>
              </a:rPr>
              <a:t> 1000 bazda ≈ </a:t>
            </a:r>
            <a:r>
              <a:rPr lang="en-US" sz="1700" b="1" dirty="0">
                <a:solidFill>
                  <a:srgbClr val="212121"/>
                </a:solidFill>
                <a:latin typeface="Calibri" pitchFamily="34" charset="0"/>
                <a:ea typeface="Calibri" pitchFamily="34" charset="-122"/>
                <a:cs typeface="Calibri" pitchFamily="34" charset="-120"/>
              </a:rPr>
              <a:t>15.6</a:t>
            </a:r>
            <a:r>
              <a:rPr lang="en-US" sz="1700" dirty="0">
                <a:solidFill>
                  <a:srgbClr val="212121"/>
                </a:solidFill>
                <a:latin typeface="Calibri" pitchFamily="34" charset="0"/>
                <a:ea typeface="Calibri" pitchFamily="34" charset="-122"/>
                <a:cs typeface="Calibri" pitchFamily="34" charset="-120"/>
              </a:rPr>
              <a:t> kez beklenir. Uzun motifler (k ≥ 16) insan genomunda bile rastgele beklenmez → </a:t>
            </a:r>
            <a:r>
              <a:rPr lang="en-US" sz="1700" b="1" dirty="0">
                <a:solidFill>
                  <a:srgbClr val="212121"/>
                </a:solidFill>
                <a:latin typeface="Calibri" pitchFamily="34" charset="0"/>
                <a:ea typeface="Calibri" pitchFamily="34" charset="-122"/>
                <a:cs typeface="Calibri" pitchFamily="34" charset="-120"/>
              </a:rPr>
              <a:t>benzersiz adres</a:t>
            </a:r>
            <a:r>
              <a:rPr lang="en-US" sz="1700" dirty="0">
                <a:solidFill>
                  <a:srgbClr val="212121"/>
                </a:solidFill>
                <a:latin typeface="Calibri" pitchFamily="34" charset="0"/>
                <a:ea typeface="Calibri" pitchFamily="34" charset="-122"/>
                <a:cs typeface="Calibri" pitchFamily="34" charset="-120"/>
              </a:rPr>
              <a:t> gibi davranır.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EcoRI yeri E. coli genomunda kaç kez beklenir?</a:t>
            </a:r>
            <a:endParaRPr lang="en-US" sz="28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EcoRI enziminin tanıma dizisi </a:t>
            </a:r>
            <a:r>
              <a:rPr lang="en-US" sz="1800" dirty="0">
                <a:solidFill>
                  <a:srgbClr val="455A64"/>
                </a:solidFill>
                <a:latin typeface="Courier New" pitchFamily="34" charset="0"/>
                <a:ea typeface="Courier New" pitchFamily="34" charset="-122"/>
                <a:cs typeface="Courier New" pitchFamily="34" charset="-120"/>
              </a:rPr>
              <a:t>GAATTC</a:t>
            </a:r>
            <a:r>
              <a:rPr lang="en-US" sz="1800" dirty="0">
                <a:solidFill>
                  <a:srgbClr val="212121"/>
                </a:solidFill>
                <a:latin typeface="Calibri" pitchFamily="34" charset="0"/>
                <a:ea typeface="Calibri" pitchFamily="34" charset="-122"/>
                <a:cs typeface="Calibri" pitchFamily="34" charset="-120"/>
              </a:rPr>
              <a:t> (k = 6). </a:t>
            </a:r>
            <a:r>
              <a:rPr lang="en-US" sz="1800" i="1" dirty="0">
                <a:solidFill>
                  <a:srgbClr val="212121"/>
                </a:solidFill>
                <a:latin typeface="Calibri" pitchFamily="34" charset="0"/>
                <a:ea typeface="Calibri" pitchFamily="34" charset="-122"/>
                <a:cs typeface="Calibri" pitchFamily="34" charset="-120"/>
              </a:rPr>
              <a:t>E. coli</a:t>
            </a:r>
            <a:r>
              <a:rPr lang="en-US" sz="1800" dirty="0">
                <a:solidFill>
                  <a:srgbClr val="212121"/>
                </a:solidFill>
                <a:latin typeface="Calibri" pitchFamily="34" charset="0"/>
                <a:ea typeface="Calibri" pitchFamily="34" charset="-122"/>
                <a:cs typeface="Calibri" pitchFamily="34" charset="-120"/>
              </a:rPr>
              <a:t> K-12 genomu 4 639 675 bp. Rastgele dizi modelinde kaç tanıma yeri ve ortalama hangi boyda parçalar beklenir?</a:t>
            </a:r>
            <a:endParaRPr lang="en-US" sz="1800" dirty="0"/>
          </a:p>
        </p:txBody>
      </p:sp>
      <p:sp>
        <p:nvSpPr>
          <p:cNvPr id="6" name="Text 4"/>
          <p:cNvSpPr txBox="1"/>
          <p:nvPr/>
        </p:nvSpPr>
        <p:spPr>
          <a:xfrm>
            <a:off x="548640" y="2779776"/>
            <a:ext cx="1109441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Bir konumda eşleşme olasılığı: (1/4)⁶ = 1/4096 ≈ 2.44 × 10⁻⁴</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Konum sayısı: N − k + 1 = 4 639 675 − 5 = 4 639 670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Beklenen sayı: E = 4 639 670 / 4096 ≈ </a:t>
            </a:r>
            <a:r>
              <a:rPr lang="en-US" sz="1800" b="1" dirty="0">
                <a:solidFill>
                  <a:srgbClr val="212121"/>
                </a:solidFill>
                <a:latin typeface="Calibri" pitchFamily="34" charset="0"/>
                <a:ea typeface="Calibri" pitchFamily="34" charset="-122"/>
                <a:cs typeface="Calibri" pitchFamily="34" charset="-120"/>
              </a:rPr>
              <a:t>1132.7</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Ortalama parça: 4⁶ = </a:t>
            </a:r>
            <a:r>
              <a:rPr lang="en-US" sz="1800" b="1" dirty="0">
                <a:solidFill>
                  <a:srgbClr val="212121"/>
                </a:solidFill>
                <a:latin typeface="Calibri" pitchFamily="34" charset="0"/>
                <a:ea typeface="Calibri" pitchFamily="34" charset="-122"/>
                <a:cs typeface="Calibri" pitchFamily="34" charset="-120"/>
              </a:rPr>
              <a:t>4096 bp</a:t>
            </a:r>
            <a:r>
              <a:rPr lang="en-US" sz="1800" dirty="0">
                <a:solidFill>
                  <a:srgbClr val="212121"/>
                </a:solidFill>
                <a:latin typeface="Calibri" pitchFamily="34" charset="0"/>
                <a:ea typeface="Calibri" pitchFamily="34" charset="-122"/>
                <a:cs typeface="Calibri" pitchFamily="34" charset="-120"/>
              </a:rPr>
              <a:t> (≈ 4.1 kb)</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GAATTC</a:t>
            </a:r>
            <a:r>
              <a:rPr lang="en-US" sz="1800" dirty="0">
                <a:solidFill>
                  <a:srgbClr val="212121"/>
                </a:solidFill>
                <a:latin typeface="Calibri" pitchFamily="34" charset="0"/>
                <a:ea typeface="Calibri" pitchFamily="34" charset="-122"/>
                <a:cs typeface="Calibri" pitchFamily="34" charset="-120"/>
              </a:rPr>
              <a:t> </a:t>
            </a:r>
            <a:r>
              <a:rPr lang="en-US" sz="1800" b="1" dirty="0">
                <a:solidFill>
                  <a:srgbClr val="212121"/>
                </a:solidFill>
                <a:latin typeface="Calibri" pitchFamily="34" charset="0"/>
                <a:ea typeface="Calibri" pitchFamily="34" charset="-122"/>
                <a:cs typeface="Calibri" pitchFamily="34" charset="-120"/>
              </a:rPr>
              <a:t>palindromik</a:t>
            </a:r>
            <a:r>
              <a:rPr lang="en-US" sz="1800" dirty="0">
                <a:solidFill>
                  <a:srgbClr val="212121"/>
                </a:solidFill>
                <a:latin typeface="Calibri" pitchFamily="34" charset="0"/>
                <a:ea typeface="Calibri" pitchFamily="34" charset="-122"/>
                <a:cs typeface="Calibri" pitchFamily="34" charset="-120"/>
              </a:rPr>
              <a:t>tir (ters tamamlayıcısı kendisi) → karşı ipliği ayrıca saymaya gerek yok</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Rastgele dalgalanma (Poisson): σ ≈ √1132.7 ≈ </a:t>
            </a:r>
            <a:r>
              <a:rPr lang="en-US" sz="1800" b="1" dirty="0">
                <a:solidFill>
                  <a:srgbClr val="212121"/>
                </a:solidFill>
                <a:latin typeface="Calibri" pitchFamily="34" charset="0"/>
                <a:ea typeface="Calibri" pitchFamily="34" charset="-122"/>
                <a:cs typeface="Calibri" pitchFamily="34" charset="-120"/>
              </a:rPr>
              <a:t>33.7</a:t>
            </a:r>
            <a:r>
              <a:rPr lang="en-US" sz="1800" dirty="0">
                <a:solidFill>
                  <a:srgbClr val="212121"/>
                </a:solidFill>
                <a:latin typeface="Calibri" pitchFamily="34" charset="0"/>
                <a:ea typeface="Calibri" pitchFamily="34" charset="-122"/>
                <a:cs typeface="Calibri" pitchFamily="34" charset="-120"/>
              </a:rPr>
              <a:t> → gözlenen sayı çoğunlukla 1066–1200 arasında</a:t>
            </a:r>
            <a:endParaRPr lang="en-US" sz="1800" dirty="0"/>
          </a:p>
        </p:txBody>
      </p:sp>
      <p:sp>
        <p:nvSpPr>
          <p:cNvPr id="7" name="Shape 5"/>
          <p:cNvSpPr/>
          <p:nvPr/>
        </p:nvSpPr>
        <p:spPr>
          <a:xfrm>
            <a:off x="548640" y="5577840"/>
            <a:ext cx="11094415" cy="685800"/>
          </a:xfrm>
          <a:prstGeom prst="roundRect">
            <a:avLst>
              <a:gd name="adj" fmla="val 10667"/>
            </a:avLst>
          </a:prstGeom>
          <a:solidFill>
            <a:srgbClr val="FDECEA"/>
          </a:solidFill>
          <a:ln/>
        </p:spPr>
      </p:sp>
      <p:sp>
        <p:nvSpPr>
          <p:cNvPr id="8"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 </a:t>
            </a:r>
            <a:r>
              <a:rPr lang="en-US" sz="1700" b="1" dirty="0">
                <a:solidFill>
                  <a:srgbClr val="212121"/>
                </a:solidFill>
                <a:latin typeface="Calibri" pitchFamily="34" charset="0"/>
                <a:ea typeface="Calibri" pitchFamily="34" charset="-122"/>
                <a:cs typeface="Calibri" pitchFamily="34" charset="-120"/>
              </a:rPr>
              <a:t>1133</a:t>
            </a:r>
            <a:r>
              <a:rPr lang="en-US" sz="1700" dirty="0">
                <a:solidFill>
                  <a:srgbClr val="212121"/>
                </a:solidFill>
                <a:latin typeface="Calibri" pitchFamily="34" charset="0"/>
                <a:ea typeface="Calibri" pitchFamily="34" charset="-122"/>
                <a:cs typeface="Calibri" pitchFamily="34" charset="-120"/>
              </a:rPr>
              <a:t> EcoRI yeri, ortalama ≈ </a:t>
            </a:r>
            <a:r>
              <a:rPr lang="en-US" sz="1700" b="1" dirty="0">
                <a:solidFill>
                  <a:srgbClr val="212121"/>
                </a:solidFill>
                <a:latin typeface="Calibri" pitchFamily="34" charset="0"/>
                <a:ea typeface="Calibri" pitchFamily="34" charset="-122"/>
                <a:cs typeface="Calibri" pitchFamily="34" charset="-120"/>
              </a:rPr>
              <a:t>4.1 kb</a:t>
            </a:r>
            <a:r>
              <a:rPr lang="en-US" sz="1700" dirty="0">
                <a:solidFill>
                  <a:srgbClr val="212121"/>
                </a:solidFill>
                <a:latin typeface="Calibri" pitchFamily="34" charset="0"/>
                <a:ea typeface="Calibri" pitchFamily="34" charset="-122"/>
                <a:cs typeface="Calibri" pitchFamily="34" charset="-120"/>
              </a:rPr>
              <a:t> parçalar. Notebook'ta 1 Mbp'lik rastgele dizide simülasyonla doğrulanır (beklenen ≈ 244).</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Simülasyonla doğrulama</a:t>
            </a:r>
            <a:endParaRPr lang="en-US" sz="3000" dirty="0"/>
          </a:p>
        </p:txBody>
      </p:sp>
      <p:sp>
        <p:nvSpPr>
          <p:cNvPr id="3" name="Text 1"/>
          <p:cNvSpPr txBox="1"/>
          <p:nvPr/>
        </p:nvSpPr>
        <p:spPr>
          <a:xfrm>
            <a:off x="548640" y="5312664"/>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541264"/>
            <a:ext cx="6656649" cy="722376"/>
          </a:xfrm>
          <a:prstGeom prst="roundRect">
            <a:avLst>
              <a:gd name="adj" fmla="val 10127"/>
            </a:avLst>
          </a:prstGeom>
          <a:solidFill>
            <a:srgbClr val="FFFFFF"/>
          </a:solidFill>
          <a:ln w="12700">
            <a:solidFill>
              <a:srgbClr val="B0BEC5"/>
            </a:solidFill>
            <a:prstDash val="solid"/>
          </a:ln>
        </p:spPr>
      </p:sp>
      <p:sp>
        <p:nvSpPr>
          <p:cNvPr id="5" name="Text 3"/>
          <p:cNvSpPr txBox="1"/>
          <p:nvPr/>
        </p:nvSpPr>
        <p:spPr>
          <a:xfrm>
            <a:off x="658368" y="5614416"/>
            <a:ext cx="6437193" cy="576072"/>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Beklenen EcoRI yeri ≈ 1132.7</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gözlenen: 251 | beklenen: 244.1</a:t>
            </a:r>
            <a:endParaRPr lang="en-US" sz="1300" dirty="0"/>
          </a:p>
        </p:txBody>
      </p:sp>
      <p:sp>
        <p:nvSpPr>
          <p:cNvPr id="6" name="Shape 4"/>
          <p:cNvSpPr/>
          <p:nvPr/>
        </p:nvSpPr>
        <p:spPr>
          <a:xfrm>
            <a:off x="548640" y="1234440"/>
            <a:ext cx="6656649" cy="4032504"/>
          </a:xfrm>
          <a:prstGeom prst="roundRect">
            <a:avLst>
              <a:gd name="adj" fmla="val 1814"/>
            </a:avLst>
          </a:prstGeom>
          <a:solidFill>
            <a:srgbClr val="F4F6F7"/>
          </a:solidFill>
          <a:ln w="12700">
            <a:solidFill>
              <a:srgbClr val="B0BEC5"/>
            </a:solidFill>
            <a:prstDash val="solid"/>
          </a:ln>
        </p:spPr>
      </p:sp>
      <p:sp>
        <p:nvSpPr>
          <p:cNvPr id="7" name="Text 5"/>
          <p:cNvSpPr txBox="1"/>
          <p:nvPr/>
        </p:nvSpPr>
        <p:spPr>
          <a:xfrm>
            <a:off x="658368" y="1307592"/>
            <a:ext cx="6437193" cy="3886200"/>
          </a:xfrm>
          <a:prstGeom prst="rect">
            <a:avLst/>
          </a:prstGeom>
          <a:noFill/>
          <a:ln/>
        </p:spPr>
        <p:txBody>
          <a:bodyPr wrap="square" lIns="0" tIns="0" rIns="0" bIns="0" rtlCol="0" anchor="t"/>
          <a:lstStyle/>
          <a:p>
            <a:pPr indent="0" marL="0">
              <a:lnSpc>
                <a:spcPct val="100000"/>
              </a:lnSpc>
              <a:buNone/>
            </a:pPr>
            <a:r>
              <a:rPr lang="en-US" sz="1600" dirty="0">
                <a:solidFill>
                  <a:srgbClr val="263238"/>
                </a:solidFill>
                <a:latin typeface="Courier New" pitchFamily="34" charset="0"/>
                <a:ea typeface="Courier New" pitchFamily="34" charset="-122"/>
                <a:cs typeface="Courier New" pitchFamily="34" charset="-120"/>
              </a:rPr>
              <a:t>import random</a:t>
            </a:r>
            <a:endParaRPr lang="en-US" sz="1600" dirty="0"/>
          </a:p>
          <a:p>
            <a:pPr indent="0" marL="0">
              <a:lnSpc>
                <a:spcPct val="100000"/>
              </a:lnSpc>
              <a:buNone/>
            </a:pPr>
            <a:r>
              <a:rPr lang="en-US" sz="1600" dirty="0">
                <a:solidFill>
                  <a:srgbClr val="263238"/>
                </a:solidFill>
                <a:latin typeface="Courier New" pitchFamily="34" charset="0"/>
                <a:ea typeface="Courier New" pitchFamily="34" charset="-122"/>
                <a:cs typeface="Courier New" pitchFamily="34" charset="-120"/>
              </a:rPr>
              <a:t>N, k = 4_639_675, 6</a:t>
            </a:r>
            <a:endParaRPr lang="en-US" sz="1600" dirty="0"/>
          </a:p>
          <a:p>
            <a:pPr indent="0" marL="0">
              <a:lnSpc>
                <a:spcPct val="100000"/>
              </a:lnSpc>
              <a:buNone/>
            </a:pPr>
            <a:r>
              <a:rPr lang="en-US" sz="1600" dirty="0">
                <a:solidFill>
                  <a:srgbClr val="263238"/>
                </a:solidFill>
                <a:latin typeface="Courier New" pitchFamily="34" charset="0"/>
                <a:ea typeface="Courier New" pitchFamily="34" charset="-122"/>
                <a:cs typeface="Courier New" pitchFamily="34" charset="-120"/>
              </a:rPr>
              <a:t>E = (N - k + 1) / 4**k</a:t>
            </a:r>
            <a:endParaRPr lang="en-US" sz="1600" dirty="0"/>
          </a:p>
          <a:p>
            <a:pPr indent="0" marL="0">
              <a:lnSpc>
                <a:spcPct val="100000"/>
              </a:lnSpc>
              <a:buNone/>
            </a:pPr>
            <a:r>
              <a:rPr lang="en-US" sz="1600" dirty="0">
                <a:solidFill>
                  <a:srgbClr val="263238"/>
                </a:solidFill>
                <a:latin typeface="Courier New" pitchFamily="34" charset="0"/>
                <a:ea typeface="Courier New" pitchFamily="34" charset="-122"/>
                <a:cs typeface="Courier New" pitchFamily="34" charset="-120"/>
              </a:rPr>
              <a:t>print(f"Beklenen EcoRI yeri ≈ {E:.1f}")</a:t>
            </a:r>
            <a:endParaRPr lang="en-US" sz="1600" dirty="0"/>
          </a:p>
          <a:p>
            <a:pPr indent="0" marL="0">
              <a:lnSpc>
                <a:spcPct val="100000"/>
              </a:lnSpc>
              <a:buNone/>
            </a:pPr>
            <a:r>
              <a:rPr lang="en-US" sz="1600" dirty="0">
                <a:solidFill>
                  <a:srgbClr val="263238"/>
                </a:solidFill>
                <a:latin typeface="Courier New" pitchFamily="34" charset="0"/>
                <a:ea typeface="Courier New" pitchFamily="34" charset="-122"/>
                <a:cs typeface="Courier New" pitchFamily="34" charset="-120"/>
              </a:rPr>
              <a:t> </a:t>
            </a:r>
            <a:endParaRPr lang="en-US" sz="1600" dirty="0"/>
          </a:p>
          <a:p>
            <a:pPr indent="0" marL="0">
              <a:lnSpc>
                <a:spcPct val="100000"/>
              </a:lnSpc>
              <a:buNone/>
            </a:pPr>
            <a:r>
              <a:rPr lang="en-US" sz="1600" dirty="0">
                <a:solidFill>
                  <a:srgbClr val="263238"/>
                </a:solidFill>
                <a:latin typeface="Courier New" pitchFamily="34" charset="0"/>
                <a:ea typeface="Courier New" pitchFamily="34" charset="-122"/>
                <a:cs typeface="Courier New" pitchFamily="34" charset="-120"/>
              </a:rPr>
              <a:t>random.seed(0)</a:t>
            </a:r>
            <a:endParaRPr lang="en-US" sz="1600" dirty="0"/>
          </a:p>
          <a:p>
            <a:pPr indent="0" marL="0">
              <a:lnSpc>
                <a:spcPct val="100000"/>
              </a:lnSpc>
              <a:buNone/>
            </a:pPr>
            <a:r>
              <a:rPr lang="en-US" sz="1600" dirty="0">
                <a:solidFill>
                  <a:srgbClr val="263238"/>
                </a:solidFill>
                <a:latin typeface="Courier New" pitchFamily="34" charset="0"/>
                <a:ea typeface="Courier New" pitchFamily="34" charset="-122"/>
                <a:cs typeface="Courier New" pitchFamily="34" charset="-120"/>
              </a:rPr>
              <a:t>n_sim = 1_000_000</a:t>
            </a:r>
            <a:endParaRPr lang="en-US" sz="1600" dirty="0"/>
          </a:p>
          <a:p>
            <a:pPr indent="0" marL="0">
              <a:lnSpc>
                <a:spcPct val="100000"/>
              </a:lnSpc>
              <a:buNone/>
            </a:pPr>
            <a:r>
              <a:rPr lang="en-US" sz="1600" dirty="0">
                <a:solidFill>
                  <a:srgbClr val="263238"/>
                </a:solidFill>
                <a:latin typeface="Courier New" pitchFamily="34" charset="0"/>
                <a:ea typeface="Courier New" pitchFamily="34" charset="-122"/>
                <a:cs typeface="Courier New" pitchFamily="34" charset="-120"/>
              </a:rPr>
              <a:t>rastgele = "".join(random.choices("ACGT", k=n_sim))</a:t>
            </a:r>
            <a:endParaRPr lang="en-US" sz="1600" dirty="0"/>
          </a:p>
          <a:p>
            <a:pPr indent="0" marL="0">
              <a:lnSpc>
                <a:spcPct val="100000"/>
              </a:lnSpc>
              <a:buNone/>
            </a:pPr>
            <a:r>
              <a:rPr lang="en-US" sz="1600" dirty="0">
                <a:solidFill>
                  <a:srgbClr val="263238"/>
                </a:solidFill>
                <a:latin typeface="Courier New" pitchFamily="34" charset="0"/>
                <a:ea typeface="Courier New" pitchFamily="34" charset="-122"/>
                <a:cs typeface="Courier New" pitchFamily="34" charset="-120"/>
              </a:rPr>
              <a:t>gozlenen = sum(1 for i in range(n_sim - 5)</a:t>
            </a:r>
            <a:endParaRPr lang="en-US" sz="1600" dirty="0"/>
          </a:p>
          <a:p>
            <a:pPr indent="0" marL="0">
              <a:lnSpc>
                <a:spcPct val="100000"/>
              </a:lnSpc>
              <a:buNone/>
            </a:pPr>
            <a:r>
              <a:rPr lang="en-US" sz="1600" dirty="0">
                <a:solidFill>
                  <a:srgbClr val="263238"/>
                </a:solidFill>
                <a:latin typeface="Courier New" pitchFamily="34" charset="0"/>
                <a:ea typeface="Courier New" pitchFamily="34" charset="-122"/>
                <a:cs typeface="Courier New" pitchFamily="34" charset="-120"/>
              </a:rPr>
              <a:t>               if rastgele[i:i+6] == "GAATTC")</a:t>
            </a:r>
            <a:endParaRPr lang="en-US" sz="1600" dirty="0"/>
          </a:p>
          <a:p>
            <a:pPr indent="0" marL="0">
              <a:lnSpc>
                <a:spcPct val="100000"/>
              </a:lnSpc>
              <a:buNone/>
            </a:pPr>
            <a:r>
              <a:rPr lang="en-US" sz="1600" dirty="0">
                <a:solidFill>
                  <a:srgbClr val="263238"/>
                </a:solidFill>
                <a:latin typeface="Courier New" pitchFamily="34" charset="0"/>
                <a:ea typeface="Courier New" pitchFamily="34" charset="-122"/>
                <a:cs typeface="Courier New" pitchFamily="34" charset="-120"/>
              </a:rPr>
              <a:t>print("gözlenen:", gozlenen,</a:t>
            </a:r>
            <a:endParaRPr lang="en-US" sz="1600" dirty="0"/>
          </a:p>
          <a:p>
            <a:pPr indent="0" marL="0">
              <a:lnSpc>
                <a:spcPct val="100000"/>
              </a:lnSpc>
              <a:buNone/>
            </a:pPr>
            <a:r>
              <a:rPr lang="en-US" sz="1600" dirty="0">
                <a:solidFill>
                  <a:srgbClr val="263238"/>
                </a:solidFill>
                <a:latin typeface="Courier New" pitchFamily="34" charset="0"/>
                <a:ea typeface="Courier New" pitchFamily="34" charset="-122"/>
                <a:cs typeface="Courier New" pitchFamily="34" charset="-120"/>
              </a:rPr>
              <a:t>      "| beklenen:", round((n_sim - 5) / 4096, 1))</a:t>
            </a:r>
            <a:endParaRPr lang="en-US" sz="1600" dirty="0"/>
          </a:p>
        </p:txBody>
      </p:sp>
      <p:sp>
        <p:nvSpPr>
          <p:cNvPr id="8" name="Text 6"/>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random.choices</a:t>
            </a:r>
            <a:r>
              <a:rPr lang="en-US" sz="1700" dirty="0">
                <a:solidFill>
                  <a:srgbClr val="212121"/>
                </a:solidFill>
                <a:latin typeface="Calibri" pitchFamily="34" charset="0"/>
                <a:ea typeface="Calibri" pitchFamily="34" charset="-122"/>
                <a:cs typeface="Calibri" pitchFamily="34" charset="-120"/>
              </a:rPr>
              <a:t> ile i.i.d. dizi üretiyoruz</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Kayan pencere ile tüm 6-merleri kontrol ediyoruz: </a:t>
            </a:r>
            <a:r>
              <a:rPr lang="en-US" sz="1700" b="1" dirty="0">
                <a:solidFill>
                  <a:srgbClr val="212121"/>
                </a:solidFill>
                <a:latin typeface="Calibri" pitchFamily="34" charset="0"/>
                <a:ea typeface="Calibri" pitchFamily="34" charset="-122"/>
                <a:cs typeface="Calibri" pitchFamily="34" charset="-120"/>
              </a:rPr>
              <a:t>O(N·k)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Gözlenen sayı Poisson dağılımına yakın dalgalanır: σ ≈ √244 ≈ 16</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251, beklentiden yalnızca ≈ 0.4σ uzakta → model tutarlı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Tohum (</a:t>
            </a:r>
            <a:r>
              <a:rPr lang="en-US" sz="1700" dirty="0">
                <a:solidFill>
                  <a:srgbClr val="455A64"/>
                </a:solidFill>
                <a:latin typeface="Courier New" pitchFamily="34" charset="0"/>
                <a:ea typeface="Courier New" pitchFamily="34" charset="-122"/>
                <a:cs typeface="Courier New" pitchFamily="34" charset="-120"/>
              </a:rPr>
              <a:t>seed</a:t>
            </a:r>
            <a:r>
              <a:rPr lang="en-US" sz="1700" dirty="0">
                <a:solidFill>
                  <a:srgbClr val="212121"/>
                </a:solidFill>
                <a:latin typeface="Calibri" pitchFamily="34" charset="0"/>
                <a:ea typeface="Calibri" pitchFamily="34" charset="-122"/>
                <a:cs typeface="Calibri" pitchFamily="34" charset="-120"/>
              </a:rPr>
              <a:t>) sabitlenirse sonuç tekrarlanabilir</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Genom bellekte ne kadar yer kaplar?</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İnsan genomu ≈ 3.1 × 10⁹ baz. (a) Düz metin (ASCII) ve (b) en verimli sabit uzunluklu kodlama ile kaç bayt gerekir?</a:t>
            </a:r>
            <a:endParaRPr lang="en-US" sz="1800" dirty="0"/>
          </a:p>
        </p:txBody>
      </p:sp>
      <p:sp>
        <p:nvSpPr>
          <p:cNvPr id="6" name="Text 4"/>
          <p:cNvSpPr txBox="1"/>
          <p:nvPr/>
        </p:nvSpPr>
        <p:spPr>
          <a:xfrm>
            <a:off x="548640" y="2779776"/>
            <a:ext cx="6878537"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ASCII: her baz 1 bayt (8 bit) → 3.1 × 10⁹ bayt ≈ </a:t>
            </a:r>
            <a:r>
              <a:rPr lang="en-US" sz="1800" b="1" dirty="0">
                <a:solidFill>
                  <a:srgbClr val="212121"/>
                </a:solidFill>
                <a:latin typeface="Calibri" pitchFamily="34" charset="0"/>
                <a:ea typeface="Calibri" pitchFamily="34" charset="-122"/>
                <a:cs typeface="Calibri" pitchFamily="34" charset="-120"/>
              </a:rPr>
              <a:t>3.1 GB</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Alfabe boyutu 4 → her baz log₂4 = </a:t>
            </a:r>
            <a:r>
              <a:rPr lang="en-US" sz="1800" b="1" dirty="0">
                <a:solidFill>
                  <a:srgbClr val="212121"/>
                </a:solidFill>
                <a:latin typeface="Calibri" pitchFamily="34" charset="0"/>
                <a:ea typeface="Calibri" pitchFamily="34" charset="-122"/>
                <a:cs typeface="Calibri" pitchFamily="34" charset="-120"/>
              </a:rPr>
              <a:t>2 bit</a:t>
            </a:r>
            <a:r>
              <a:rPr lang="en-US" sz="1800" dirty="0">
                <a:solidFill>
                  <a:srgbClr val="212121"/>
                </a:solidFill>
                <a:latin typeface="Calibri" pitchFamily="34" charset="0"/>
                <a:ea typeface="Calibri" pitchFamily="34" charset="-122"/>
                <a:cs typeface="Calibri" pitchFamily="34" charset="-120"/>
              </a:rPr>
              <a:t> ile kodlanabilir</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2-bit kodlama: 3.1 × 10⁹ × 2 / 8 ≈ </a:t>
            </a:r>
            <a:r>
              <a:rPr lang="en-US" sz="1800" b="1" dirty="0">
                <a:solidFill>
                  <a:srgbClr val="212121"/>
                </a:solidFill>
                <a:latin typeface="Calibri" pitchFamily="34" charset="0"/>
                <a:ea typeface="Calibri" pitchFamily="34" charset="-122"/>
                <a:cs typeface="Calibri" pitchFamily="34" charset="-120"/>
              </a:rPr>
              <a:t>775 MB</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Kodlama tablosu: A = 00, C = 01, G = 10, T = 11</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N</a:t>
            </a:r>
            <a:r>
              <a:rPr lang="en-US" sz="1800" dirty="0">
                <a:solidFill>
                  <a:srgbClr val="212121"/>
                </a:solidFill>
                <a:latin typeface="Calibri" pitchFamily="34" charset="0"/>
                <a:ea typeface="Calibri" pitchFamily="34" charset="-122"/>
                <a:cs typeface="Calibri" pitchFamily="34" charset="-120"/>
              </a:rPr>
              <a:t> de eklenirse alfabe 5 olur → 2 bit yetmez, 3 bit gerekir (≈ 1.16 GB) ya da N'ler </a:t>
            </a:r>
            <a:r>
              <a:rPr lang="en-US" sz="1800" b="1" dirty="0">
                <a:solidFill>
                  <a:srgbClr val="212121"/>
                </a:solidFill>
                <a:latin typeface="Calibri" pitchFamily="34" charset="0"/>
                <a:ea typeface="Calibri" pitchFamily="34" charset="-122"/>
                <a:cs typeface="Calibri" pitchFamily="34" charset="-120"/>
              </a:rPr>
              <a:t>ayrı maske</a:t>
            </a:r>
            <a:r>
              <a:rPr lang="en-US" sz="1800" dirty="0">
                <a:solidFill>
                  <a:srgbClr val="212121"/>
                </a:solidFill>
                <a:latin typeface="Calibri" pitchFamily="34" charset="0"/>
                <a:ea typeface="Calibri" pitchFamily="34" charset="-122"/>
                <a:cs typeface="Calibri" pitchFamily="34" charset="-120"/>
              </a:rPr>
              <a:t> ile saklanır</a:t>
            </a:r>
            <a:endParaRPr lang="en-US" sz="1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47217" y="2779776"/>
          <a:ext cx="3895838" cy="914400"/>
        </p:xfrm>
        <a:graphic>
          <a:graphicData uri="http://schemas.openxmlformats.org/drawingml/2006/table">
            <a:tbl>
              <a:tblPr/>
              <a:tblGrid>
                <a:gridCol w="1062501"/>
                <a:gridCol w="1062501"/>
                <a:gridCol w="1770835"/>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Baz</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Kod</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Onluk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Sonuç  </a:t>
            </a:r>
            <a:r>
              <a:rPr lang="en-US" sz="1800" dirty="0">
                <a:solidFill>
                  <a:srgbClr val="212121"/>
                </a:solidFill>
                <a:latin typeface="Calibri" pitchFamily="34" charset="0"/>
                <a:ea typeface="Calibri" pitchFamily="34" charset="-122"/>
                <a:cs typeface="Calibri" pitchFamily="34" charset="-120"/>
              </a:rPr>
              <a:t>2-bit kodlama ASCII'ye göre </a:t>
            </a:r>
            <a:r>
              <a:rPr lang="en-US" sz="1800" b="1" dirty="0">
                <a:solidFill>
                  <a:srgbClr val="212121"/>
                </a:solidFill>
                <a:latin typeface="Calibri" pitchFamily="34" charset="0"/>
                <a:ea typeface="Calibri" pitchFamily="34" charset="-122"/>
                <a:cs typeface="Calibri" pitchFamily="34" charset="-120"/>
              </a:rPr>
              <a:t>4 kat</a:t>
            </a:r>
            <a:r>
              <a:rPr lang="en-US" sz="1800" dirty="0">
                <a:solidFill>
                  <a:srgbClr val="212121"/>
                </a:solidFill>
                <a:latin typeface="Calibri" pitchFamily="34" charset="0"/>
                <a:ea typeface="Calibri" pitchFamily="34" charset="-122"/>
                <a:cs typeface="Calibri" pitchFamily="34" charset="-120"/>
              </a:rPr>
              <a:t> kazanç sağlar; </a:t>
            </a:r>
            <a:r>
              <a:rPr lang="en-US" sz="1800" dirty="0">
                <a:solidFill>
                  <a:srgbClr val="455A64"/>
                </a:solidFill>
                <a:latin typeface="Courier New" pitchFamily="34" charset="0"/>
                <a:ea typeface="Courier New" pitchFamily="34" charset="-122"/>
                <a:cs typeface="Courier New" pitchFamily="34" charset="-120"/>
              </a:rPr>
              <a:t>N</a:t>
            </a:r>
            <a:r>
              <a:rPr lang="en-US" sz="1800" dirty="0">
                <a:solidFill>
                  <a:srgbClr val="212121"/>
                </a:solidFill>
                <a:latin typeface="Calibri" pitchFamily="34" charset="0"/>
                <a:ea typeface="Calibri" pitchFamily="34" charset="-122"/>
                <a:cs typeface="Calibri" pitchFamily="34" charset="-120"/>
              </a:rPr>
              <a:t> (bilinmeyen baz) için ek bir maske gerekir.</a:t>
            </a:r>
            <a:endParaRPr lang="en-US" sz="18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GATTACA'yı tek bir tamsayıya paketlemek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795528"/>
          </a:xfrm>
          <a:prstGeom prst="roundRect">
            <a:avLst>
              <a:gd name="adj" fmla="val 9195"/>
            </a:avLst>
          </a:prstGeom>
          <a:solidFill>
            <a:srgbClr val="ECEFF1"/>
          </a:solidFill>
          <a:ln/>
        </p:spPr>
      </p:sp>
      <p:sp>
        <p:nvSpPr>
          <p:cNvPr id="5" name="Text 3"/>
          <p:cNvSpPr txBox="1"/>
          <p:nvPr/>
        </p:nvSpPr>
        <p:spPr>
          <a:xfrm>
            <a:off x="685800" y="1508760"/>
            <a:ext cx="10820095" cy="704088"/>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GATTACA</a:t>
            </a:r>
            <a:r>
              <a:rPr lang="en-US" sz="1800" dirty="0">
                <a:solidFill>
                  <a:srgbClr val="212121"/>
                </a:solidFill>
                <a:latin typeface="Calibri" pitchFamily="34" charset="0"/>
                <a:ea typeface="Calibri" pitchFamily="34" charset="-122"/>
                <a:cs typeface="Calibri" pitchFamily="34" charset="-120"/>
              </a:rPr>
              <a:t> dizisini soldan sağa okuyup her adımda </a:t>
            </a:r>
            <a:r>
              <a:rPr lang="en-US" sz="1800" dirty="0">
                <a:solidFill>
                  <a:srgbClr val="455A64"/>
                </a:solidFill>
                <a:latin typeface="Courier New" pitchFamily="34" charset="0"/>
                <a:ea typeface="Courier New" pitchFamily="34" charset="-122"/>
                <a:cs typeface="Courier New" pitchFamily="34" charset="-120"/>
              </a:rPr>
              <a:t>sayi = (sayi &lt;&lt; 2) | kod[baz]</a:t>
            </a:r>
            <a:r>
              <a:rPr lang="en-US" sz="1800" dirty="0">
                <a:solidFill>
                  <a:srgbClr val="212121"/>
                </a:solidFill>
                <a:latin typeface="Calibri" pitchFamily="34" charset="0"/>
                <a:ea typeface="Calibri" pitchFamily="34" charset="-122"/>
                <a:cs typeface="Calibri" pitchFamily="34" charset="-120"/>
              </a:rPr>
              <a:t> uygulayın. Son sayı kaçtır?</a:t>
            </a:r>
            <a:endParaRPr lang="en-US" sz="1800" dirty="0"/>
          </a:p>
        </p:txBody>
      </p:sp>
      <p:sp>
        <p:nvSpPr>
          <p:cNvPr id="6" name="Text 4"/>
          <p:cNvSpPr txBox="1"/>
          <p:nvPr/>
        </p:nvSpPr>
        <p:spPr>
          <a:xfrm>
            <a:off x="548640" y="2487168"/>
            <a:ext cx="5547208" cy="2907792"/>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Başlangıç: sayi = 0</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a:t>
            </a:r>
            <a:r>
              <a:rPr lang="en-US" sz="1750" dirty="0">
                <a:solidFill>
                  <a:srgbClr val="455A64"/>
                </a:solidFill>
                <a:latin typeface="Courier New" pitchFamily="34" charset="0"/>
                <a:ea typeface="Courier New" pitchFamily="34" charset="-122"/>
                <a:cs typeface="Courier New" pitchFamily="34" charset="-120"/>
              </a:rPr>
              <a:t>&lt;&lt; 2</a:t>
            </a:r>
            <a:r>
              <a:rPr lang="en-US" sz="1750" dirty="0">
                <a:solidFill>
                  <a:srgbClr val="212121"/>
                </a:solidFill>
                <a:latin typeface="Calibri" pitchFamily="34" charset="0"/>
                <a:ea typeface="Calibri" pitchFamily="34" charset="-122"/>
                <a:cs typeface="Calibri" pitchFamily="34" charset="-120"/>
              </a:rPr>
              <a:t> sayıyı 2 bit sola kaydırır (= 4 ile çarpma), sağda 2 boş bit açar</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a:t>
            </a:r>
            <a:r>
              <a:rPr lang="en-US" sz="1750" dirty="0">
                <a:solidFill>
                  <a:srgbClr val="455A64"/>
                </a:solidFill>
                <a:latin typeface="Courier New" pitchFamily="34" charset="0"/>
                <a:ea typeface="Courier New" pitchFamily="34" charset="-122"/>
                <a:cs typeface="Courier New" pitchFamily="34" charset="-120"/>
              </a:rPr>
              <a:t>| kod[baz]</a:t>
            </a:r>
            <a:r>
              <a:rPr lang="en-US" sz="1750" dirty="0">
                <a:solidFill>
                  <a:srgbClr val="212121"/>
                </a:solidFill>
                <a:latin typeface="Calibri" pitchFamily="34" charset="0"/>
                <a:ea typeface="Calibri" pitchFamily="34" charset="-122"/>
                <a:cs typeface="Calibri" pitchFamily="34" charset="-120"/>
              </a:rPr>
              <a:t> yeni bazın 2 bitini bu boşluğa yazar</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Her satır: yeni sayı = 4 × önceki + kod</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7 baz → 14 bit; en soldaki G'nin </a:t>
            </a:r>
            <a:r>
              <a:rPr lang="en-US" sz="1750" dirty="0">
                <a:solidFill>
                  <a:srgbClr val="455A64"/>
                </a:solidFill>
                <a:latin typeface="Courier New" pitchFamily="34" charset="0"/>
                <a:ea typeface="Courier New" pitchFamily="34" charset="-122"/>
                <a:cs typeface="Courier New" pitchFamily="34" charset="-120"/>
              </a:rPr>
              <a:t>10</a:t>
            </a:r>
            <a:r>
              <a:rPr lang="en-US" sz="1750" dirty="0">
                <a:solidFill>
                  <a:srgbClr val="212121"/>
                </a:solidFill>
                <a:latin typeface="Calibri" pitchFamily="34" charset="0"/>
                <a:ea typeface="Calibri" pitchFamily="34" charset="-122"/>
                <a:cs typeface="Calibri" pitchFamily="34" charset="-120"/>
              </a:rPr>
              <a:t>'u en anlamlı bitlerdir</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Kontrol: 2·4⁶ + 0·4⁵ + 3·4⁴ + 3·4³ + 0·4² + 1·4 + 0 = 8192 + 768 + 192 + 4 = </a:t>
            </a:r>
            <a:r>
              <a:rPr lang="en-US" sz="1750" b="1" dirty="0">
                <a:solidFill>
                  <a:srgbClr val="212121"/>
                </a:solidFill>
                <a:latin typeface="Calibri" pitchFamily="34" charset="0"/>
                <a:ea typeface="Calibri" pitchFamily="34" charset="-122"/>
                <a:cs typeface="Calibri" pitchFamily="34" charset="-120"/>
              </a:rPr>
              <a:t>9156</a:t>
            </a:r>
            <a:endParaRPr lang="en-US" sz="17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15888" y="2487168"/>
          <a:ext cx="5227168" cy="914400"/>
        </p:xfrm>
        <a:graphic>
          <a:graphicData uri="http://schemas.openxmlformats.org/drawingml/2006/table">
            <a:tbl>
              <a:tblPr/>
              <a:tblGrid>
                <a:gridCol w="774395"/>
                <a:gridCol w="677596"/>
                <a:gridCol w="677596"/>
                <a:gridCol w="2129587"/>
                <a:gridCol w="967994"/>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Adım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Baz</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Kod</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sayi (ikili)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Onluk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100011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10001111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143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1000111100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572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100011110001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2289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10001111000100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9156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Sonuç  </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GATTACA</a:t>
            </a:r>
            <a:r>
              <a:rPr lang="en-US" sz="1800" dirty="0">
                <a:solidFill>
                  <a:srgbClr val="212121"/>
                </a:solidFill>
                <a:latin typeface="Calibri" pitchFamily="34" charset="0"/>
                <a:ea typeface="Calibri" pitchFamily="34" charset="-122"/>
                <a:cs typeface="Calibri" pitchFamily="34" charset="-120"/>
              </a:rPr>
              <a:t> → 0b10001111000100 = </a:t>
            </a:r>
            <a:r>
              <a:rPr lang="en-US" sz="1800" b="1" dirty="0">
                <a:solidFill>
                  <a:srgbClr val="212121"/>
                </a:solidFill>
                <a:latin typeface="Calibri" pitchFamily="34" charset="0"/>
                <a:ea typeface="Calibri" pitchFamily="34" charset="-122"/>
                <a:cs typeface="Calibri" pitchFamily="34" charset="-120"/>
              </a:rPr>
              <a:t>9156</a:t>
            </a:r>
            <a:r>
              <a:rPr lang="en-US" sz="1800" dirty="0">
                <a:solidFill>
                  <a:srgbClr val="212121"/>
                </a:solidFill>
                <a:latin typeface="Calibri" pitchFamily="34" charset="0"/>
                <a:ea typeface="Calibri" pitchFamily="34" charset="-122"/>
                <a:cs typeface="Calibri" pitchFamily="34" charset="-120"/>
              </a:rPr>
              <a:t>. Geri açmak için sağa kaydır ve </a:t>
            </a:r>
            <a:r>
              <a:rPr lang="en-US" sz="1800" dirty="0">
                <a:solidFill>
                  <a:srgbClr val="455A64"/>
                </a:solidFill>
                <a:latin typeface="Courier New" pitchFamily="34" charset="0"/>
                <a:ea typeface="Courier New" pitchFamily="34" charset="-122"/>
                <a:cs typeface="Courier New" pitchFamily="34" charset="-120"/>
              </a:rPr>
              <a:t>&amp; 0b11</a:t>
            </a:r>
            <a:r>
              <a:rPr lang="en-US" sz="1800" dirty="0">
                <a:solidFill>
                  <a:srgbClr val="212121"/>
                </a:solidFill>
                <a:latin typeface="Calibri" pitchFamily="34" charset="0"/>
                <a:ea typeface="Calibri" pitchFamily="34" charset="-122"/>
                <a:cs typeface="Calibri" pitchFamily="34" charset="-120"/>
              </a:rPr>
              <a:t> ile son iki biti oku.</a:t>
            </a:r>
            <a:endParaRPr lang="en-US" sz="18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2-bit paketleme ve açma: Python</a:t>
            </a:r>
            <a:endParaRPr lang="en-US" sz="3000" dirty="0"/>
          </a:p>
        </p:txBody>
      </p:sp>
      <p:sp>
        <p:nvSpPr>
          <p:cNvPr id="3" name="Text 1"/>
          <p:cNvSpPr txBox="1"/>
          <p:nvPr/>
        </p:nvSpPr>
        <p:spPr>
          <a:xfrm>
            <a:off x="548640" y="5513832"/>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742432"/>
            <a:ext cx="7100426" cy="521208"/>
          </a:xfrm>
          <a:prstGeom prst="roundRect">
            <a:avLst>
              <a:gd name="adj" fmla="val 14035"/>
            </a:avLst>
          </a:prstGeom>
          <a:solidFill>
            <a:srgbClr val="FFFFFF"/>
          </a:solidFill>
          <a:ln w="12700">
            <a:solidFill>
              <a:srgbClr val="B0BEC5"/>
            </a:solidFill>
            <a:prstDash val="solid"/>
          </a:ln>
        </p:spPr>
      </p:sp>
      <p:sp>
        <p:nvSpPr>
          <p:cNvPr id="5" name="Text 3"/>
          <p:cNvSpPr txBox="1"/>
          <p:nvPr/>
        </p:nvSpPr>
        <p:spPr>
          <a:xfrm>
            <a:off x="658368" y="5815584"/>
            <a:ext cx="6880970" cy="374904"/>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0b10001111000100 9156 GATTACA</a:t>
            </a:r>
            <a:endParaRPr lang="en-US" sz="1300" dirty="0"/>
          </a:p>
        </p:txBody>
      </p:sp>
      <p:sp>
        <p:nvSpPr>
          <p:cNvPr id="6" name="Shape 4"/>
          <p:cNvSpPr/>
          <p:nvPr/>
        </p:nvSpPr>
        <p:spPr>
          <a:xfrm>
            <a:off x="548640" y="1234440"/>
            <a:ext cx="7100426" cy="4233672"/>
          </a:xfrm>
          <a:prstGeom prst="roundRect">
            <a:avLst>
              <a:gd name="adj" fmla="val 1728"/>
            </a:avLst>
          </a:prstGeom>
          <a:solidFill>
            <a:srgbClr val="F4F6F7"/>
          </a:solidFill>
          <a:ln w="12700">
            <a:solidFill>
              <a:srgbClr val="B0BEC5"/>
            </a:solidFill>
            <a:prstDash val="solid"/>
          </a:ln>
        </p:spPr>
      </p:sp>
      <p:sp>
        <p:nvSpPr>
          <p:cNvPr id="7" name="Text 5"/>
          <p:cNvSpPr txBox="1"/>
          <p:nvPr/>
        </p:nvSpPr>
        <p:spPr>
          <a:xfrm>
            <a:off x="658368" y="1307592"/>
            <a:ext cx="6880970" cy="4087368"/>
          </a:xfrm>
          <a:prstGeom prst="rect">
            <a:avLst/>
          </a:prstGeom>
          <a:noFill/>
          <a:ln/>
        </p:spPr>
        <p:txBody>
          <a:bodyPr wrap="square" lIns="0" tIns="0" rIns="0" bIns="0" rtlCol="0" anchor="t"/>
          <a:lstStyle/>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kod = {"A": 0b00, "C": 0b01, "G": 0b10, "T": 0b11}</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def paketle(dizi):</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sayi = 0</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for b in dizi:</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sayi = (sayi &lt;&lt; 2) | kod[b]</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return sayi</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def ac(sayi, uzunluk):</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harf = "ACGT"</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sonuc = ""</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for i in range(uzunluk):</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kaydir = 2 * (uzunluk - 1 - i)</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sonuc += harf[(sayi &gt;&gt; kaydir) &amp; 0b11]</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return sonuc</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x = paketle("GATTACA")</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print(bin(x), x, ac(x, 7))</a:t>
            </a:r>
            <a:endParaRPr lang="en-US" sz="1500" dirty="0"/>
          </a:p>
        </p:txBody>
      </p:sp>
      <p:sp>
        <p:nvSpPr>
          <p:cNvPr id="8" name="Text 6"/>
          <p:cNvSpPr txBox="1"/>
          <p:nvPr/>
        </p:nvSpPr>
        <p:spPr>
          <a:xfrm>
            <a:off x="7969106" y="1234440"/>
            <a:ext cx="3673949"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&lt;&lt;</a:t>
            </a:r>
            <a:r>
              <a:rPr lang="en-US" sz="1700" dirty="0">
                <a:solidFill>
                  <a:srgbClr val="212121"/>
                </a:solidFill>
                <a:latin typeface="Calibri" pitchFamily="34" charset="0"/>
                <a:ea typeface="Calibri" pitchFamily="34" charset="-122"/>
                <a:cs typeface="Calibri" pitchFamily="34" charset="-120"/>
              </a:rPr>
              <a:t> sola kaydırma, </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bit düzeyinde VEYA</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&gt;&gt;</a:t>
            </a:r>
            <a:r>
              <a:rPr lang="en-US" sz="1700" dirty="0">
                <a:solidFill>
                  <a:srgbClr val="212121"/>
                </a:solidFill>
                <a:latin typeface="Calibri" pitchFamily="34" charset="0"/>
                <a:ea typeface="Calibri" pitchFamily="34" charset="-122"/>
                <a:cs typeface="Calibri" pitchFamily="34" charset="-120"/>
              </a:rPr>
              <a:t> sağa kaydırma, </a:t>
            </a:r>
            <a:r>
              <a:rPr lang="en-US" sz="1700" dirty="0">
                <a:solidFill>
                  <a:srgbClr val="455A64"/>
                </a:solidFill>
                <a:latin typeface="Courier New" pitchFamily="34" charset="0"/>
                <a:ea typeface="Courier New" pitchFamily="34" charset="-122"/>
                <a:cs typeface="Courier New" pitchFamily="34" charset="-120"/>
              </a:rPr>
              <a:t>&amp; 0b11</a:t>
            </a:r>
            <a:r>
              <a:rPr lang="en-US" sz="1700" dirty="0">
                <a:solidFill>
                  <a:srgbClr val="212121"/>
                </a:solidFill>
                <a:latin typeface="Calibri" pitchFamily="34" charset="0"/>
                <a:ea typeface="Calibri" pitchFamily="34" charset="-122"/>
                <a:cs typeface="Calibri" pitchFamily="34" charset="-120"/>
              </a:rPr>
              <a:t> son iki biti maskeler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ac</a:t>
            </a:r>
            <a:r>
              <a:rPr lang="en-US" sz="1700" dirty="0">
                <a:solidFill>
                  <a:srgbClr val="212121"/>
                </a:solidFill>
                <a:latin typeface="Calibri" pitchFamily="34" charset="0"/>
                <a:ea typeface="Calibri" pitchFamily="34" charset="-122"/>
                <a:cs typeface="Calibri" pitchFamily="34" charset="-120"/>
              </a:rPr>
              <a:t>: i = 0 için 12 bit kaydır → 2 → </a:t>
            </a:r>
            <a:r>
              <a:rPr lang="en-US" sz="1700" dirty="0">
                <a:solidFill>
                  <a:srgbClr val="455A64"/>
                </a:solidFill>
                <a:latin typeface="Courier New" pitchFamily="34" charset="0"/>
                <a:ea typeface="Courier New" pitchFamily="34" charset="-122"/>
                <a:cs typeface="Courier New" pitchFamily="34" charset="-120"/>
              </a:rPr>
              <a:t>G</a:t>
            </a:r>
            <a:r>
              <a:rPr lang="en-US" sz="1700" dirty="0">
                <a:solidFill>
                  <a:srgbClr val="212121"/>
                </a:solidFill>
                <a:latin typeface="Calibri" pitchFamily="34" charset="0"/>
                <a:ea typeface="Calibri" pitchFamily="34" charset="-122"/>
                <a:cs typeface="Calibri" pitchFamily="34" charset="-120"/>
              </a:rPr>
              <a:t>; i = 1 için 10 bit → 8 &amp; 3 = 0 → </a:t>
            </a:r>
            <a:r>
              <a:rPr lang="en-US" sz="1700" dirty="0">
                <a:solidFill>
                  <a:srgbClr val="455A64"/>
                </a:solidFill>
                <a:latin typeface="Courier New" pitchFamily="34" charset="0"/>
                <a:ea typeface="Courier New" pitchFamily="34" charset="-122"/>
                <a:cs typeface="Courier New" pitchFamily="34" charset="-120"/>
              </a:rPr>
              <a:t>A</a:t>
            </a:r>
            <a:r>
              <a:rPr lang="en-US" sz="1700" dirty="0">
                <a:solidFill>
                  <a:srgbClr val="212121"/>
                </a:solidFill>
                <a:latin typeface="Calibri" pitchFamily="34" charset="0"/>
                <a:ea typeface="Calibri" pitchFamily="34" charset="-122"/>
                <a:cs typeface="Calibri" pitchFamily="34" charset="-120"/>
              </a:rPr>
              <a:t> …</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Uzunluk ayrıca saklanmalı: baştaki </a:t>
            </a:r>
            <a:r>
              <a:rPr lang="en-US" sz="1700" dirty="0">
                <a:solidFill>
                  <a:srgbClr val="455A64"/>
                </a:solidFill>
                <a:latin typeface="Courier New" pitchFamily="34" charset="0"/>
                <a:ea typeface="Courier New" pitchFamily="34" charset="-122"/>
                <a:cs typeface="Courier New" pitchFamily="34" charset="-120"/>
              </a:rPr>
              <a:t>A</a:t>
            </a:r>
            <a:r>
              <a:rPr lang="en-US" sz="1700" dirty="0">
                <a:solidFill>
                  <a:srgbClr val="212121"/>
                </a:solidFill>
                <a:latin typeface="Calibri" pitchFamily="34" charset="0"/>
                <a:ea typeface="Calibri" pitchFamily="34" charset="-122"/>
                <a:cs typeface="Calibri" pitchFamily="34" charset="-120"/>
              </a:rPr>
              <a:t> (00) bazları sayıda kaybolur</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4</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Saf Python ile dizi işlemleri</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Önce algoritmayı yaz, sonra kütüphaneyle karşılaştır</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GC oranını elle hesaplamak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ATGGCGTACGTTAGCCTAGGCTAA</a:t>
            </a:r>
            <a:r>
              <a:rPr lang="en-US" sz="1800" dirty="0">
                <a:solidFill>
                  <a:srgbClr val="212121"/>
                </a:solidFill>
                <a:latin typeface="Calibri" pitchFamily="34" charset="0"/>
                <a:ea typeface="Calibri" pitchFamily="34" charset="-122"/>
                <a:cs typeface="Calibri" pitchFamily="34" charset="-120"/>
              </a:rPr>
              <a:t> (24 baz) dizisinin baz sayılarını ve GC oranını bulun. </a:t>
            </a:r>
            <a:r>
              <a:rPr lang="en-US" sz="1800" dirty="0">
                <a:solidFill>
                  <a:srgbClr val="455A64"/>
                </a:solidFill>
                <a:latin typeface="Courier New" pitchFamily="34" charset="0"/>
                <a:ea typeface="Courier New" pitchFamily="34" charset="-122"/>
                <a:cs typeface="Courier New" pitchFamily="34" charset="-120"/>
              </a:rPr>
              <a:t>GGCCNNAT</a:t>
            </a:r>
            <a:r>
              <a:rPr lang="en-US" sz="1800" dirty="0">
                <a:solidFill>
                  <a:srgbClr val="212121"/>
                </a:solidFill>
                <a:latin typeface="Calibri" pitchFamily="34" charset="0"/>
                <a:ea typeface="Calibri" pitchFamily="34" charset="-122"/>
                <a:cs typeface="Calibri" pitchFamily="34" charset="-120"/>
              </a:rPr>
              <a:t> dizisinde N'ler paydadan çıkarılırsa GC oranı ne olur?</a:t>
            </a:r>
            <a:endParaRPr lang="en-US" sz="1800" dirty="0"/>
          </a:p>
        </p:txBody>
      </p:sp>
      <p:sp>
        <p:nvSpPr>
          <p:cNvPr id="6" name="Text 4"/>
          <p:cNvSpPr txBox="1"/>
          <p:nvPr/>
        </p:nvSpPr>
        <p:spPr>
          <a:xfrm>
            <a:off x="548640" y="2779776"/>
            <a:ext cx="6656649"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Bazları say: A = 6, T = 6, G = 7, C = 5 (toplam 6 + 6 + 7 + 5 = 24)</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G + C = 7 + 5 = </a:t>
            </a:r>
            <a:r>
              <a:rPr lang="en-US" sz="1650" b="1" dirty="0">
                <a:solidFill>
                  <a:srgbClr val="212121"/>
                </a:solidFill>
                <a:latin typeface="Calibri" pitchFamily="34" charset="0"/>
                <a:ea typeface="Calibri" pitchFamily="34" charset="-122"/>
                <a:cs typeface="Calibri" pitchFamily="34" charset="-120"/>
              </a:rPr>
              <a:t>12</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GC oranı = 12 / 24 = </a:t>
            </a:r>
            <a:r>
              <a:rPr lang="en-US" sz="1650" b="1" dirty="0">
                <a:solidFill>
                  <a:srgbClr val="212121"/>
                </a:solidFill>
                <a:latin typeface="Calibri" pitchFamily="34" charset="0"/>
                <a:ea typeface="Calibri" pitchFamily="34" charset="-122"/>
                <a:cs typeface="Calibri" pitchFamily="34" charset="-120"/>
              </a:rPr>
              <a:t>0.50</a:t>
            </a:r>
            <a:r>
              <a:rPr lang="en-US" sz="1650" dirty="0">
                <a:solidFill>
                  <a:srgbClr val="212121"/>
                </a:solidFill>
                <a:latin typeface="Calibri" pitchFamily="34" charset="0"/>
                <a:ea typeface="Calibri" pitchFamily="34" charset="-122"/>
                <a:cs typeface="Calibri" pitchFamily="34" charset="-120"/>
              </a:rPr>
              <a:t> (%50); AT oranı = 1 − 0.50 = 0.50</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a:t>
            </a:r>
            <a:r>
              <a:rPr lang="en-US" sz="1650" dirty="0">
                <a:solidFill>
                  <a:srgbClr val="455A64"/>
                </a:solidFill>
                <a:latin typeface="Courier New" pitchFamily="34" charset="0"/>
                <a:ea typeface="Courier New" pitchFamily="34" charset="-122"/>
                <a:cs typeface="Courier New" pitchFamily="34" charset="-120"/>
              </a:rPr>
              <a:t>GGCCNNAT</a:t>
            </a:r>
            <a:r>
              <a:rPr lang="en-US" sz="1650" dirty="0">
                <a:solidFill>
                  <a:srgbClr val="212121"/>
                </a:solidFill>
                <a:latin typeface="Calibri" pitchFamily="34" charset="0"/>
                <a:ea typeface="Calibri" pitchFamily="34" charset="-122"/>
                <a:cs typeface="Calibri" pitchFamily="34" charset="-120"/>
              </a:rPr>
              <a:t>: G = 2, C = 2, A = 1, T = 1, N = 2</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N'ler dahil: 4 / 8 = 0.50 → </a:t>
            </a:r>
            <a:r>
              <a:rPr lang="en-US" sz="1650" b="1" dirty="0">
                <a:solidFill>
                  <a:srgbClr val="212121"/>
                </a:solidFill>
                <a:latin typeface="Calibri" pitchFamily="34" charset="0"/>
                <a:ea typeface="Calibri" pitchFamily="34" charset="-122"/>
                <a:cs typeface="Calibri" pitchFamily="34" charset="-120"/>
              </a:rPr>
              <a:t>yanlış</a:t>
            </a:r>
            <a:r>
              <a:rPr lang="en-US" sz="1650" dirty="0">
                <a:solidFill>
                  <a:srgbClr val="212121"/>
                </a:solidFill>
                <a:latin typeface="Calibri" pitchFamily="34" charset="0"/>
                <a:ea typeface="Calibri" pitchFamily="34" charset="-122"/>
                <a:cs typeface="Calibri" pitchFamily="34" charset="-120"/>
              </a:rPr>
              <a:t>, bilinmeyen bazlar oranı düşürür</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N'ler hariç: 4 / (8 − 2) = 4 / 6 = </a:t>
            </a:r>
            <a:r>
              <a:rPr lang="en-US" sz="1650" b="1" dirty="0">
                <a:solidFill>
                  <a:srgbClr val="212121"/>
                </a:solidFill>
                <a:latin typeface="Calibri" pitchFamily="34" charset="0"/>
                <a:ea typeface="Calibri" pitchFamily="34" charset="-122"/>
                <a:cs typeface="Calibri" pitchFamily="34" charset="-120"/>
              </a:rPr>
              <a:t>0.667</a:t>
            </a:r>
            <a:endParaRPr lang="en-US" sz="16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525329" y="2779776"/>
          <a:ext cx="4117726" cy="914400"/>
        </p:xfrm>
        <a:graphic>
          <a:graphicData uri="http://schemas.openxmlformats.org/drawingml/2006/table">
            <a:tbl>
              <a:tblPr/>
              <a:tblGrid>
                <a:gridCol w="1647090"/>
                <a:gridCol w="1235318"/>
                <a:gridCol w="1235318"/>
              </a:tblGrid>
              <a:tr h="0">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Baz</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Dizi 1</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Dizi 2</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G</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C</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Toplam</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24</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GC oranı</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0.500</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0.667</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GC = (G + C) / (A + C + G + T). Payda </a:t>
            </a:r>
            <a:r>
              <a:rPr lang="en-US" sz="1700" b="1" dirty="0">
                <a:solidFill>
                  <a:srgbClr val="212121"/>
                </a:solidFill>
                <a:latin typeface="Calibri" pitchFamily="34" charset="0"/>
                <a:ea typeface="Calibri" pitchFamily="34" charset="-122"/>
                <a:cs typeface="Calibri" pitchFamily="34" charset="-120"/>
              </a:rPr>
              <a:t>yalnızca bilinen bazları</a:t>
            </a:r>
            <a:r>
              <a:rPr lang="en-US" sz="1700" dirty="0">
                <a:solidFill>
                  <a:srgbClr val="212121"/>
                </a:solidFill>
                <a:latin typeface="Calibri" pitchFamily="34" charset="0"/>
                <a:ea typeface="Calibri" pitchFamily="34" charset="-122"/>
                <a:cs typeface="Calibri" pitchFamily="34" charset="-120"/>
              </a:rPr>
              <a:t> içermeli: 1. dizi 0.50, 2. dizi 0.667.</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Baz sayımı ve GC oranı</a:t>
            </a:r>
            <a:endParaRPr lang="en-US" sz="3000" dirty="0"/>
          </a:p>
        </p:txBody>
      </p:sp>
      <p:sp>
        <p:nvSpPr>
          <p:cNvPr id="3" name="Shape 1"/>
          <p:cNvSpPr/>
          <p:nvPr/>
        </p:nvSpPr>
        <p:spPr>
          <a:xfrm>
            <a:off x="548640" y="1234440"/>
            <a:ext cx="6656649" cy="5029200"/>
          </a:xfrm>
          <a:prstGeom prst="roundRect">
            <a:avLst>
              <a:gd name="adj" fmla="val 1455"/>
            </a:avLst>
          </a:prstGeom>
          <a:solidFill>
            <a:srgbClr val="F4F6F7"/>
          </a:solidFill>
          <a:ln w="12700">
            <a:solidFill>
              <a:srgbClr val="B0BEC5"/>
            </a:solidFill>
            <a:prstDash val="solid"/>
          </a:ln>
        </p:spPr>
      </p:sp>
      <p:sp>
        <p:nvSpPr>
          <p:cNvPr id="4" name="Text 2"/>
          <p:cNvSpPr txBox="1"/>
          <p:nvPr/>
        </p:nvSpPr>
        <p:spPr>
          <a:xfrm>
            <a:off x="658368" y="1307592"/>
            <a:ext cx="6437193" cy="4882896"/>
          </a:xfrm>
          <a:prstGeom prst="rect">
            <a:avLst/>
          </a:prstGeom>
          <a:noFill/>
          <a:ln/>
        </p:spPr>
        <p:txBody>
          <a:bodyPr wrap="square" lIns="0" tIns="0" rIns="0" bIns="0" rtlCol="0" anchor="t"/>
          <a:lstStyle/>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dna = "ATGGCGTACGTTAGCCTAGGCTAA"</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print("Uzunluk:", len(dna))                 # 24</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sayim =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for baz in dna:</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sayim[baz] = sayim.get(baz, 0) + 1</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print(sayim)          # {'A': 6, 'T': 6, 'G': 7, 'C': 5}</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from collections import Counter</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print(Counter(dna))   # aynı sonuç, tek satır</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def gc_orani(dizi):</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dizi = dizi.upper()</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return (dizi.count("G") + dizi.count("C")) / len(dizi)</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print(round(gc_orani(dna), 3))   # 12/24 = 0.5</a:t>
            </a:r>
            <a:endParaRPr lang="en-US" sz="1400" dirty="0"/>
          </a:p>
        </p:txBody>
      </p:sp>
      <p:sp>
        <p:nvSpPr>
          <p:cNvPr id="5" name="Text 3"/>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GC oranı</a:t>
            </a:r>
            <a:r>
              <a:rPr lang="en-US" sz="1700" dirty="0">
                <a:solidFill>
                  <a:srgbClr val="212121"/>
                </a:solidFill>
                <a:latin typeface="Calibri" pitchFamily="34" charset="0"/>
                <a:ea typeface="Calibri" pitchFamily="34" charset="-122"/>
                <a:cs typeface="Calibri" pitchFamily="34" charset="-120"/>
              </a:rPr>
              <a:t> = (G + C) / uzunluk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G–C çifti 3, A–T çifti 2 hidrojen bağı yapar → GC'ce zengin DNA daha </a:t>
            </a:r>
            <a:r>
              <a:rPr lang="en-US" sz="1700" b="1" dirty="0">
                <a:solidFill>
                  <a:srgbClr val="212121"/>
                </a:solidFill>
                <a:latin typeface="Calibri" pitchFamily="34" charset="0"/>
                <a:ea typeface="Calibri" pitchFamily="34" charset="-122"/>
                <a:cs typeface="Calibri" pitchFamily="34" charset="-120"/>
              </a:rPr>
              <a:t>kararlıdır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Türler arasında GC oranı %20–%75 arasında değişir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upper()</a:t>
            </a:r>
            <a:r>
              <a:rPr lang="en-US" sz="1700" dirty="0">
                <a:solidFill>
                  <a:srgbClr val="212121"/>
                </a:solidFill>
                <a:latin typeface="Calibri" pitchFamily="34" charset="0"/>
                <a:ea typeface="Calibri" pitchFamily="34" charset="-122"/>
                <a:cs typeface="Calibri" pitchFamily="34" charset="-120"/>
              </a:rPr>
              <a:t>: küçük harfli (maskelenmiş) bazları da sayar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Alıştırma 1: </a:t>
            </a:r>
            <a:r>
              <a:rPr lang="en-US" sz="1700" dirty="0">
                <a:solidFill>
                  <a:srgbClr val="455A64"/>
                </a:solidFill>
                <a:latin typeface="Courier New" pitchFamily="34" charset="0"/>
                <a:ea typeface="Courier New" pitchFamily="34" charset="-122"/>
                <a:cs typeface="Courier New" pitchFamily="34" charset="-120"/>
              </a:rPr>
              <a:t>N</a:t>
            </a:r>
            <a:r>
              <a:rPr lang="en-US" sz="1700" dirty="0">
                <a:solidFill>
                  <a:srgbClr val="212121"/>
                </a:solidFill>
                <a:latin typeface="Calibri" pitchFamily="34" charset="0"/>
                <a:ea typeface="Calibri" pitchFamily="34" charset="-122"/>
                <a:cs typeface="Calibri" pitchFamily="34" charset="-120"/>
              </a:rPr>
              <a:t> bazlarını paydadan çıkarın</a:t>
            </a:r>
            <a:endParaRPr lang="en-US" sz="1700" dirty="0"/>
          </a:p>
        </p:txBody>
      </p:sp>
      <p:sp>
        <p:nvSpPr>
          <p:cNvPr id="6"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7"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Tamamlayıcı, ters tamamlayıcı, transkripsiyon</a:t>
            </a:r>
            <a:endParaRPr lang="en-US" sz="3000" dirty="0"/>
          </a:p>
        </p:txBody>
      </p:sp>
      <p:sp>
        <p:nvSpPr>
          <p:cNvPr id="3" name="Shape 1"/>
          <p:cNvSpPr/>
          <p:nvPr/>
        </p:nvSpPr>
        <p:spPr>
          <a:xfrm>
            <a:off x="548640" y="1234440"/>
            <a:ext cx="6656649" cy="5029200"/>
          </a:xfrm>
          <a:prstGeom prst="roundRect">
            <a:avLst>
              <a:gd name="adj" fmla="val 1455"/>
            </a:avLst>
          </a:prstGeom>
          <a:solidFill>
            <a:srgbClr val="F4F6F7"/>
          </a:solidFill>
          <a:ln w="12700">
            <a:solidFill>
              <a:srgbClr val="B0BEC5"/>
            </a:solidFill>
            <a:prstDash val="solid"/>
          </a:ln>
        </p:spPr>
      </p:sp>
      <p:sp>
        <p:nvSpPr>
          <p:cNvPr id="4" name="Text 2"/>
          <p:cNvSpPr txBox="1"/>
          <p:nvPr/>
        </p:nvSpPr>
        <p:spPr>
          <a:xfrm>
            <a:off x="658368" y="1307592"/>
            <a:ext cx="6437193" cy="4882896"/>
          </a:xfrm>
          <a:prstGeom prst="rect">
            <a:avLst/>
          </a:prstGeom>
          <a:noFill/>
          <a:ln/>
        </p:spPr>
        <p:txBody>
          <a:bodyPr wrap="square" lIns="0" tIns="0" rIns="0" bIns="0" rtlCol="0" anchor="t"/>
          <a:lstStyle/>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def tamamlayici(dizi):</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eslesme = {"A": "T", "T": "A", "G": "C", "C": "G"}</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return "".join(eslesme[b] for b in dizi)</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def ters_tamamlayici(dizi):</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return tamamlayici(dizi)[::-1]</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dna = "ATGGCGTACGTTAGCCTAGGCTAA"</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print(tamamlayici(dna))       # TACCGCATGCAATCGGATCCGATT</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print(ters_tamamlayici(dna))  # TTAGCCTAGGCTAACGTACGCCAT</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print(dna.replace("T", "U"))  # AUGGCGUACGUUAGCCUAGGCUAA</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alternatif: str.maketrans ile tek geçişte</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tablo = str.maketrans("ACGT", "TGCA")</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assert dna.translate(tablo)[::-1] == ters_tamamlayici(dna)</a:t>
            </a:r>
            <a:endParaRPr lang="en-US" sz="1400" dirty="0"/>
          </a:p>
        </p:txBody>
      </p:sp>
      <p:sp>
        <p:nvSpPr>
          <p:cNvPr id="5" name="Text 3"/>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Sözlük eşlemesi okunaklı ama </a:t>
            </a:r>
            <a:r>
              <a:rPr lang="en-US" sz="1700" dirty="0">
                <a:solidFill>
                  <a:srgbClr val="455A64"/>
                </a:solidFill>
                <a:latin typeface="Courier New" pitchFamily="34" charset="0"/>
                <a:ea typeface="Courier New" pitchFamily="34" charset="-122"/>
                <a:cs typeface="Courier New" pitchFamily="34" charset="-120"/>
              </a:rPr>
              <a:t>str.translate</a:t>
            </a:r>
            <a:r>
              <a:rPr lang="en-US" sz="1700" dirty="0">
                <a:solidFill>
                  <a:srgbClr val="212121"/>
                </a:solidFill>
                <a:latin typeface="Calibri" pitchFamily="34" charset="0"/>
                <a:ea typeface="Calibri" pitchFamily="34" charset="-122"/>
                <a:cs typeface="Calibri" pitchFamily="34" charset="-120"/>
              </a:rPr>
              <a:t> </a:t>
            </a:r>
            <a:r>
              <a:rPr lang="en-US" sz="1700" b="1" dirty="0">
                <a:solidFill>
                  <a:srgbClr val="212121"/>
                </a:solidFill>
                <a:latin typeface="Calibri" pitchFamily="34" charset="0"/>
                <a:ea typeface="Calibri" pitchFamily="34" charset="-122"/>
                <a:cs typeface="Calibri" pitchFamily="34" charset="-120"/>
              </a:rPr>
              <a:t>çok daha hızlı</a:t>
            </a:r>
            <a:r>
              <a:rPr lang="en-US" sz="1700" dirty="0">
                <a:solidFill>
                  <a:srgbClr val="212121"/>
                </a:solidFill>
                <a:latin typeface="Calibri" pitchFamily="34" charset="0"/>
                <a:ea typeface="Calibri" pitchFamily="34" charset="-122"/>
                <a:cs typeface="Calibri" pitchFamily="34" charset="-120"/>
              </a:rPr>
              <a:t> (C'de çalışır)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Transkripsiyon, kodlayan iplikte yalnızca </a:t>
            </a:r>
            <a:r>
              <a:rPr lang="en-US" sz="1700" b="1" dirty="0">
                <a:solidFill>
                  <a:srgbClr val="212121"/>
                </a:solidFill>
                <a:latin typeface="Calibri" pitchFamily="34" charset="0"/>
                <a:ea typeface="Calibri" pitchFamily="34" charset="-122"/>
                <a:cs typeface="Calibri" pitchFamily="34" charset="-120"/>
              </a:rPr>
              <a:t>T → U</a:t>
            </a:r>
            <a:r>
              <a:rPr lang="en-US" sz="1700" dirty="0">
                <a:solidFill>
                  <a:srgbClr val="212121"/>
                </a:solidFill>
                <a:latin typeface="Calibri" pitchFamily="34" charset="0"/>
                <a:ea typeface="Calibri" pitchFamily="34" charset="-122"/>
                <a:cs typeface="Calibri" pitchFamily="34" charset="-120"/>
              </a:rPr>
              <a:t> değişimidir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assert</a:t>
            </a:r>
            <a:r>
              <a:rPr lang="en-US" sz="1700" dirty="0">
                <a:solidFill>
                  <a:srgbClr val="212121"/>
                </a:solidFill>
                <a:latin typeface="Calibri" pitchFamily="34" charset="0"/>
                <a:ea typeface="Calibri" pitchFamily="34" charset="-122"/>
                <a:cs typeface="Calibri" pitchFamily="34" charset="-120"/>
              </a:rPr>
              <a:t> ile iki yöntemin aynı sonucu verdiğini test ediyoruz</a:t>
            </a:r>
            <a:endParaRPr lang="en-US" sz="1700" dirty="0"/>
          </a:p>
        </p:txBody>
      </p:sp>
      <p:sp>
        <p:nvSpPr>
          <p:cNvPr id="6"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7"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Algoritmik karmaşıklık: bu işlemler ne kadar pahalı?</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3948860"/>
                <a:gridCol w="2256491"/>
                <a:gridCol w="2444532"/>
                <a:gridCol w="2444532"/>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İşlem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Karmaşıklık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E. coli (N = 4.6 Mbp)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İnsan (N = 3.1 Gbp)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Baz sayımı, GC oranı, ters tamamlayıcı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 4.6 × 10⁶ işlem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 3.1 × 10⁹ işlem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Naif motif arama (k = 6, kayan pencere)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O(N·k)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 2.8 × 10⁷</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 1.9 × 10¹⁰</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Tüm konum çiftlerini karşılaştırma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O(N²)</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 2.2 × 10¹³</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 9.6 × 10¹⁸</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İndeks (hash / sonek dizisi) üzerinden sorgu</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O(k), indeks bir kez O(N)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 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 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4" name="Shape 1"/>
          <p:cNvSpPr/>
          <p:nvPr/>
        </p:nvSpPr>
        <p:spPr>
          <a:xfrm>
            <a:off x="548640" y="3962400"/>
            <a:ext cx="11094415" cy="822960"/>
          </a:xfrm>
          <a:prstGeom prst="roundRect">
            <a:avLst>
              <a:gd name="adj" fmla="val 8889"/>
            </a:avLst>
          </a:prstGeom>
          <a:solidFill>
            <a:srgbClr val="FDECEA"/>
          </a:solidFill>
          <a:ln/>
        </p:spPr>
      </p:sp>
      <p:sp>
        <p:nvSpPr>
          <p:cNvPr id="5" name="Text 2"/>
          <p:cNvSpPr txBox="1"/>
          <p:nvPr/>
        </p:nvSpPr>
        <p:spPr>
          <a:xfrm>
            <a:off x="731520" y="396240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Saniyede 10⁹ işlemle bile insan genomunda O(N²) ≈ 9.6 × 10⁹ s ≈ </a:t>
            </a:r>
            <a:r>
              <a:rPr lang="en-US" sz="1600" b="1" dirty="0">
                <a:solidFill>
                  <a:srgbClr val="212121"/>
                </a:solidFill>
                <a:latin typeface="Calibri" pitchFamily="34" charset="0"/>
                <a:ea typeface="Calibri" pitchFamily="34" charset="-122"/>
                <a:cs typeface="Calibri" pitchFamily="34" charset="-120"/>
              </a:rPr>
              <a:t>300 yıl</a:t>
            </a:r>
            <a:r>
              <a:rPr lang="en-US" sz="1600" dirty="0">
                <a:solidFill>
                  <a:srgbClr val="212121"/>
                </a:solidFill>
                <a:latin typeface="Calibri" pitchFamily="34" charset="0"/>
                <a:ea typeface="Calibri" pitchFamily="34" charset="-122"/>
                <a:cs typeface="Calibri" pitchFamily="34" charset="-120"/>
              </a:rPr>
              <a:t> sürer. Biyoenformatikte karmaşıklık analizi bir lüks değil, zorunluluktur; BLAST (8. hafta) indeks fikrine dayanır.</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Sık yapılan hatalar</a:t>
            </a:r>
            <a:endParaRPr lang="en-US" sz="3000" dirty="0"/>
          </a:p>
        </p:txBody>
      </p:sp>
      <p:sp>
        <p:nvSpPr>
          <p:cNvPr id="3" name="Text 1"/>
          <p:cNvSpPr txBox="1"/>
          <p:nvPr/>
        </p:nvSpPr>
        <p:spPr>
          <a:xfrm>
            <a:off x="548640" y="1234440"/>
            <a:ext cx="11094415"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Yalnızca ters çevirmek</a:t>
            </a:r>
            <a:r>
              <a:rPr lang="en-US" sz="2200" dirty="0">
                <a:solidFill>
                  <a:srgbClr val="212121"/>
                </a:solidFill>
                <a:latin typeface="Calibri" pitchFamily="34" charset="0"/>
                <a:ea typeface="Calibri" pitchFamily="34" charset="-122"/>
                <a:cs typeface="Calibri" pitchFamily="34" charset="-120"/>
              </a:rPr>
              <a:t> (</a:t>
            </a:r>
            <a:r>
              <a:rPr lang="en-US" sz="2200" dirty="0">
                <a:solidFill>
                  <a:srgbClr val="455A64"/>
                </a:solidFill>
                <a:latin typeface="Courier New" pitchFamily="34" charset="0"/>
                <a:ea typeface="Courier New" pitchFamily="34" charset="-122"/>
                <a:cs typeface="Courier New" pitchFamily="34" charset="-120"/>
              </a:rPr>
              <a:t>s[::-1]</a:t>
            </a:r>
            <a:r>
              <a:rPr lang="en-US" sz="2200" dirty="0">
                <a:solidFill>
                  <a:srgbClr val="212121"/>
                </a:solidFill>
                <a:latin typeface="Calibri" pitchFamily="34" charset="0"/>
                <a:ea typeface="Calibri" pitchFamily="34" charset="-122"/>
                <a:cs typeface="Calibri" pitchFamily="34" charset="-120"/>
              </a:rPr>
              <a:t>) ya da yalnızca tamamlamak</a:t>
            </a:r>
            <a:endParaRPr lang="en-US" sz="2200" dirty="0"/>
          </a:p>
          <a:p>
            <a:pPr lvl="1" marL="406400" indent="-203200">
              <a:spcAft>
                <a:spcPts val="300"/>
              </a:spcAft>
              <a:buSzPct val="100000"/>
              <a:buChar char="–"/>
            </a:pPr>
            <a:r>
              <a:rPr lang="en-US" sz="2000" dirty="0">
                <a:solidFill>
                  <a:srgbClr val="37474F"/>
                </a:solidFill>
                <a:latin typeface="Calibri" pitchFamily="34" charset="0"/>
                <a:ea typeface="Calibri" pitchFamily="34" charset="-122"/>
                <a:cs typeface="Calibri" pitchFamily="34" charset="-120"/>
              </a:rPr>
              <a:t>Doğrusu: tamamla + ters çevir; test: </a:t>
            </a:r>
            <a:r>
              <a:rPr lang="en-US" sz="2000" dirty="0">
                <a:solidFill>
                  <a:srgbClr val="455A64"/>
                </a:solidFill>
                <a:latin typeface="Courier New" pitchFamily="34" charset="0"/>
                <a:ea typeface="Courier New" pitchFamily="34" charset="-122"/>
                <a:cs typeface="Courier New" pitchFamily="34" charset="-120"/>
              </a:rPr>
              <a:t>rc(rc(s)) == s</a:t>
            </a:r>
            <a:endParaRPr lang="en-US" sz="2200" dirty="0"/>
          </a:p>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Küçük/büyük harf:</a:t>
            </a:r>
            <a:r>
              <a:rPr lang="en-US" sz="2200" dirty="0">
                <a:solidFill>
                  <a:srgbClr val="212121"/>
                </a:solidFill>
                <a:latin typeface="Calibri" pitchFamily="34" charset="0"/>
                <a:ea typeface="Calibri" pitchFamily="34" charset="-122"/>
                <a:cs typeface="Calibri" pitchFamily="34" charset="-120"/>
              </a:rPr>
              <a:t> </a:t>
            </a:r>
            <a:r>
              <a:rPr lang="en-US" sz="2200" dirty="0">
                <a:solidFill>
                  <a:srgbClr val="455A64"/>
                </a:solidFill>
                <a:latin typeface="Courier New" pitchFamily="34" charset="0"/>
                <a:ea typeface="Courier New" pitchFamily="34" charset="-122"/>
                <a:cs typeface="Courier New" pitchFamily="34" charset="-120"/>
              </a:rPr>
              <a:t>atgc</a:t>
            </a:r>
            <a:r>
              <a:rPr lang="en-US" sz="2200" dirty="0">
                <a:solidFill>
                  <a:srgbClr val="212121"/>
                </a:solidFill>
                <a:latin typeface="Calibri" pitchFamily="34" charset="0"/>
                <a:ea typeface="Calibri" pitchFamily="34" charset="-122"/>
                <a:cs typeface="Calibri" pitchFamily="34" charset="-120"/>
              </a:rPr>
              <a:t> ile </a:t>
            </a:r>
            <a:r>
              <a:rPr lang="en-US" sz="2200" dirty="0">
                <a:solidFill>
                  <a:srgbClr val="455A64"/>
                </a:solidFill>
                <a:latin typeface="Courier New" pitchFamily="34" charset="0"/>
                <a:ea typeface="Courier New" pitchFamily="34" charset="-122"/>
                <a:cs typeface="Courier New" pitchFamily="34" charset="-120"/>
              </a:rPr>
              <a:t>ATGC</a:t>
            </a:r>
            <a:r>
              <a:rPr lang="en-US" sz="2200" dirty="0">
                <a:solidFill>
                  <a:srgbClr val="212121"/>
                </a:solidFill>
                <a:latin typeface="Calibri" pitchFamily="34" charset="0"/>
                <a:ea typeface="Calibri" pitchFamily="34" charset="-122"/>
                <a:cs typeface="Calibri" pitchFamily="34" charset="-120"/>
              </a:rPr>
              <a:t> farklı dizgilerdir</a:t>
            </a:r>
            <a:endParaRPr lang="en-US" sz="2200" dirty="0"/>
          </a:p>
          <a:p>
            <a:pPr lvl="1" marL="406400" indent="-203200">
              <a:spcAft>
                <a:spcPts val="300"/>
              </a:spcAft>
              <a:buSzPct val="100000"/>
              <a:buChar char="–"/>
            </a:pPr>
            <a:r>
              <a:rPr lang="en-US" sz="2000" dirty="0">
                <a:solidFill>
                  <a:srgbClr val="37474F"/>
                </a:solidFill>
                <a:latin typeface="Calibri" pitchFamily="34" charset="0"/>
                <a:ea typeface="Calibri" pitchFamily="34" charset="-122"/>
                <a:cs typeface="Calibri" pitchFamily="34" charset="-120"/>
              </a:rPr>
              <a:t>Sayım ve karşılaştırmadan önce </a:t>
            </a:r>
            <a:r>
              <a:rPr lang="en-US" sz="2000" dirty="0">
                <a:solidFill>
                  <a:srgbClr val="455A64"/>
                </a:solidFill>
                <a:latin typeface="Courier New" pitchFamily="34" charset="0"/>
                <a:ea typeface="Courier New" pitchFamily="34" charset="-122"/>
                <a:cs typeface="Courier New" pitchFamily="34" charset="-120"/>
              </a:rPr>
              <a:t>upper()</a:t>
            </a:r>
            <a:r>
              <a:rPr lang="en-US" sz="2000" dirty="0">
                <a:solidFill>
                  <a:srgbClr val="37474F"/>
                </a:solidFill>
                <a:latin typeface="Calibri" pitchFamily="34" charset="0"/>
                <a:ea typeface="Calibri" pitchFamily="34" charset="-122"/>
                <a:cs typeface="Calibri" pitchFamily="34" charset="-120"/>
              </a:rPr>
              <a:t> kullanın</a:t>
            </a:r>
            <a:endParaRPr lang="en-US" sz="2200" dirty="0"/>
          </a:p>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N ve diğer belirsiz bazlar:</a:t>
            </a:r>
            <a:r>
              <a:rPr lang="en-US" sz="2200" dirty="0">
                <a:solidFill>
                  <a:srgbClr val="212121"/>
                </a:solidFill>
                <a:latin typeface="Calibri" pitchFamily="34" charset="0"/>
                <a:ea typeface="Calibri" pitchFamily="34" charset="-122"/>
                <a:cs typeface="Calibri" pitchFamily="34" charset="-120"/>
              </a:rPr>
              <a:t> sözlükte anahtar yoksa </a:t>
            </a:r>
            <a:r>
              <a:rPr lang="en-US" sz="2200" dirty="0">
                <a:solidFill>
                  <a:srgbClr val="455A64"/>
                </a:solidFill>
                <a:latin typeface="Courier New" pitchFamily="34" charset="0"/>
                <a:ea typeface="Courier New" pitchFamily="34" charset="-122"/>
                <a:cs typeface="Courier New" pitchFamily="34" charset="-120"/>
              </a:rPr>
              <a:t>KeyError</a:t>
            </a:r>
            <a:endParaRPr lang="en-US" sz="2200" dirty="0"/>
          </a:p>
          <a:p>
            <a:pPr lvl="1" marL="406400" indent="-203200">
              <a:spcAft>
                <a:spcPts val="300"/>
              </a:spcAft>
              <a:buSzPct val="100000"/>
              <a:buChar char="–"/>
            </a:pPr>
            <a:r>
              <a:rPr lang="en-US" sz="2000" dirty="0">
                <a:solidFill>
                  <a:srgbClr val="37474F"/>
                </a:solidFill>
                <a:latin typeface="Calibri" pitchFamily="34" charset="0"/>
                <a:ea typeface="Calibri" pitchFamily="34" charset="-122"/>
                <a:cs typeface="Calibri" pitchFamily="34" charset="-120"/>
              </a:rPr>
              <a:t>Eşlemeye </a:t>
            </a:r>
            <a:r>
              <a:rPr lang="en-US" sz="2000" dirty="0">
                <a:solidFill>
                  <a:srgbClr val="455A64"/>
                </a:solidFill>
                <a:latin typeface="Courier New" pitchFamily="34" charset="0"/>
                <a:ea typeface="Courier New" pitchFamily="34" charset="-122"/>
                <a:cs typeface="Courier New" pitchFamily="34" charset="-120"/>
              </a:rPr>
              <a:t>N: N</a:t>
            </a:r>
            <a:r>
              <a:rPr lang="en-US" sz="2000" dirty="0">
                <a:solidFill>
                  <a:srgbClr val="37474F"/>
                </a:solidFill>
                <a:latin typeface="Calibri" pitchFamily="34" charset="0"/>
                <a:ea typeface="Calibri" pitchFamily="34" charset="-122"/>
                <a:cs typeface="Calibri" pitchFamily="34" charset="-120"/>
              </a:rPr>
              <a:t> ekleyin; GC oranında paydadan çıkarın</a:t>
            </a:r>
            <a:endParaRPr lang="en-US" sz="2200" dirty="0"/>
          </a:p>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Uzunluk 3'ün katı değil:</a:t>
            </a:r>
            <a:r>
              <a:rPr lang="en-US" sz="2200" dirty="0">
                <a:solidFill>
                  <a:srgbClr val="212121"/>
                </a:solidFill>
                <a:latin typeface="Calibri" pitchFamily="34" charset="0"/>
                <a:ea typeface="Calibri" pitchFamily="34" charset="-122"/>
                <a:cs typeface="Calibri" pitchFamily="34" charset="-120"/>
              </a:rPr>
              <a:t> </a:t>
            </a:r>
            <a:r>
              <a:rPr lang="en-US" sz="2200" dirty="0">
                <a:solidFill>
                  <a:srgbClr val="455A64"/>
                </a:solidFill>
                <a:latin typeface="Courier New" pitchFamily="34" charset="0"/>
                <a:ea typeface="Courier New" pitchFamily="34" charset="-122"/>
                <a:cs typeface="Courier New" pitchFamily="34" charset="-120"/>
              </a:rPr>
              <a:t>translate()</a:t>
            </a:r>
            <a:r>
              <a:rPr lang="en-US" sz="2200" dirty="0">
                <a:solidFill>
                  <a:srgbClr val="212121"/>
                </a:solidFill>
                <a:latin typeface="Calibri" pitchFamily="34" charset="0"/>
                <a:ea typeface="Calibri" pitchFamily="34" charset="-122"/>
                <a:cs typeface="Calibri" pitchFamily="34" charset="-120"/>
              </a:rPr>
              <a:t> uyarı verir, son eksik kodon atılır</a:t>
            </a:r>
            <a:endParaRPr lang="en-US" sz="2200" dirty="0"/>
          </a:p>
          <a:p>
            <a:pPr marL="228600" indent="-228600">
              <a:spcAft>
                <a:spcPts val="700"/>
              </a:spcAft>
              <a:buSzPct val="100000"/>
              <a:buChar char="•"/>
            </a:pPr>
            <a:r>
              <a:rPr lang="en-US" sz="2200" b="1" dirty="0">
                <a:solidFill>
                  <a:srgbClr val="212121"/>
                </a:solidFill>
                <a:latin typeface="Calibri" pitchFamily="34" charset="0"/>
                <a:ea typeface="Calibri" pitchFamily="34" charset="-122"/>
                <a:cs typeface="Calibri" pitchFamily="34" charset="-120"/>
              </a:rPr>
              <a:t>Colab oturumu sıfırlandı:</a:t>
            </a:r>
            <a:r>
              <a:rPr lang="en-US" sz="2200" dirty="0">
                <a:solidFill>
                  <a:srgbClr val="212121"/>
                </a:solidFill>
                <a:latin typeface="Calibri" pitchFamily="34" charset="0"/>
                <a:ea typeface="Calibri" pitchFamily="34" charset="-122"/>
                <a:cs typeface="Calibri" pitchFamily="34" charset="-120"/>
              </a:rPr>
              <a:t> yüklenen dosyalar ve değişkenler silinir</a:t>
            </a:r>
            <a:endParaRPr lang="en-US" sz="2200" dirty="0"/>
          </a:p>
          <a:p>
            <a:pPr lvl="1" marL="406400" indent="-203200">
              <a:spcAft>
                <a:spcPts val="300"/>
              </a:spcAft>
              <a:buSzPct val="100000"/>
              <a:buChar char="–"/>
            </a:pPr>
            <a:r>
              <a:rPr lang="en-US" sz="2000" dirty="0">
                <a:solidFill>
                  <a:srgbClr val="37474F"/>
                </a:solidFill>
                <a:latin typeface="Calibri" pitchFamily="34" charset="0"/>
                <a:ea typeface="Calibri" pitchFamily="34" charset="-122"/>
                <a:cs typeface="Calibri" pitchFamily="34" charset="-120"/>
              </a:rPr>
              <a:t>İlk hücreden itibaren yeniden çalıştırın; kalıcı dosyaları Drive'da tutun</a:t>
            </a:r>
            <a:endParaRPr lang="en-US" sz="22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5"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5</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Colab ve Biopython</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Kurulum gerektirmeyen çalışma ortamı</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Colab çalışma akışı</a:t>
            </a:r>
            <a:endParaRPr lang="en-US" sz="3000" dirty="0"/>
          </a:p>
        </p:txBody>
      </p:sp>
      <p:sp>
        <p:nvSpPr>
          <p:cNvPr id="3" name="Shape 1"/>
          <p:cNvSpPr/>
          <p:nvPr/>
        </p:nvSpPr>
        <p:spPr>
          <a:xfrm>
            <a:off x="548640" y="1417320"/>
            <a:ext cx="1889699" cy="1737360"/>
          </a:xfrm>
          <a:prstGeom prst="roundRect">
            <a:avLst>
              <a:gd name="adj" fmla="val 4211"/>
            </a:avLst>
          </a:prstGeom>
          <a:solidFill>
            <a:srgbClr val="F7F9FA"/>
          </a:solidFill>
          <a:ln w="12700">
            <a:solidFill>
              <a:srgbClr val="B0BEC5"/>
            </a:solidFill>
            <a:prstDash val="solid"/>
          </a:ln>
        </p:spPr>
      </p:sp>
      <p:sp>
        <p:nvSpPr>
          <p:cNvPr id="4" name="Text 2"/>
          <p:cNvSpPr txBox="1"/>
          <p:nvPr/>
        </p:nvSpPr>
        <p:spPr>
          <a:xfrm>
            <a:off x="621792" y="1417320"/>
            <a:ext cx="1743395" cy="173736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1. Notebook'u aç</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Ders sayfasındaki bağlantı ya da Dosya → Drive'a kopya kaydet</a:t>
            </a:r>
            <a:endParaRPr lang="en-US" sz="1500" dirty="0"/>
          </a:p>
        </p:txBody>
      </p:sp>
      <p:sp>
        <p:nvSpPr>
          <p:cNvPr id="5" name="Shape 3"/>
          <p:cNvSpPr/>
          <p:nvPr/>
        </p:nvSpPr>
        <p:spPr>
          <a:xfrm>
            <a:off x="2484059" y="2286000"/>
            <a:ext cx="320040" cy="0"/>
          </a:xfrm>
          <a:prstGeom prst="line">
            <a:avLst/>
          </a:prstGeom>
          <a:noFill/>
          <a:ln w="19050">
            <a:solidFill>
              <a:srgbClr val="546E7A"/>
            </a:solidFill>
            <a:prstDash val="solid"/>
            <a:tailEnd type="triangle"/>
          </a:ln>
        </p:spPr>
      </p:sp>
      <p:sp>
        <p:nvSpPr>
          <p:cNvPr id="6" name="Shape 4"/>
          <p:cNvSpPr/>
          <p:nvPr/>
        </p:nvSpPr>
        <p:spPr>
          <a:xfrm>
            <a:off x="2849819" y="1417320"/>
            <a:ext cx="1889699" cy="1737360"/>
          </a:xfrm>
          <a:prstGeom prst="roundRect">
            <a:avLst>
              <a:gd name="adj" fmla="val 4211"/>
            </a:avLst>
          </a:prstGeom>
          <a:solidFill>
            <a:srgbClr val="F7F9FA"/>
          </a:solidFill>
          <a:ln w="12700">
            <a:solidFill>
              <a:srgbClr val="B0BEC5"/>
            </a:solidFill>
            <a:prstDash val="solid"/>
          </a:ln>
        </p:spPr>
      </p:sp>
      <p:sp>
        <p:nvSpPr>
          <p:cNvPr id="7" name="Text 5"/>
          <p:cNvSpPr txBox="1"/>
          <p:nvPr/>
        </p:nvSpPr>
        <p:spPr>
          <a:xfrm>
            <a:off x="2922971" y="1417320"/>
            <a:ext cx="1743395" cy="173736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2. Çalışma zamanı</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CPU yeterli; GPU yalnızca 15. haftada</a:t>
            </a:r>
            <a:endParaRPr lang="en-US" sz="1500" dirty="0"/>
          </a:p>
        </p:txBody>
      </p:sp>
      <p:sp>
        <p:nvSpPr>
          <p:cNvPr id="8" name="Shape 6"/>
          <p:cNvSpPr/>
          <p:nvPr/>
        </p:nvSpPr>
        <p:spPr>
          <a:xfrm>
            <a:off x="4785238" y="2286000"/>
            <a:ext cx="320040" cy="0"/>
          </a:xfrm>
          <a:prstGeom prst="line">
            <a:avLst/>
          </a:prstGeom>
          <a:noFill/>
          <a:ln w="19050">
            <a:solidFill>
              <a:srgbClr val="546E7A"/>
            </a:solidFill>
            <a:prstDash val="solid"/>
            <a:tailEnd type="triangle"/>
          </a:ln>
        </p:spPr>
      </p:sp>
      <p:sp>
        <p:nvSpPr>
          <p:cNvPr id="9" name="Shape 7"/>
          <p:cNvSpPr/>
          <p:nvPr/>
        </p:nvSpPr>
        <p:spPr>
          <a:xfrm>
            <a:off x="5150998" y="1417320"/>
            <a:ext cx="1889699" cy="1737360"/>
          </a:xfrm>
          <a:prstGeom prst="roundRect">
            <a:avLst>
              <a:gd name="adj" fmla="val 4211"/>
            </a:avLst>
          </a:prstGeom>
          <a:solidFill>
            <a:srgbClr val="FDECEA"/>
          </a:solidFill>
          <a:ln w="12700">
            <a:solidFill>
              <a:srgbClr val="B71C1C"/>
            </a:solidFill>
            <a:prstDash val="solid"/>
          </a:ln>
        </p:spPr>
      </p:sp>
      <p:sp>
        <p:nvSpPr>
          <p:cNvPr id="10" name="Text 8"/>
          <p:cNvSpPr txBox="1"/>
          <p:nvPr/>
        </p:nvSpPr>
        <p:spPr>
          <a:xfrm>
            <a:off x="5224150" y="1417320"/>
            <a:ext cx="1743395" cy="173736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3. Kurulum hücresi</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a:t>
            </a:r>
            <a:r>
              <a:rPr lang="en-US" sz="1200" dirty="0">
                <a:solidFill>
                  <a:srgbClr val="455A64"/>
                </a:solidFill>
                <a:latin typeface="Courier New" pitchFamily="34" charset="0"/>
                <a:ea typeface="Courier New" pitchFamily="34" charset="-122"/>
                <a:cs typeface="Courier New" pitchFamily="34" charset="-120"/>
              </a:rPr>
              <a:t>!pip -q install biopython</a:t>
            </a:r>
            <a:endParaRPr lang="en-US" sz="1500" dirty="0"/>
          </a:p>
        </p:txBody>
      </p:sp>
      <p:sp>
        <p:nvSpPr>
          <p:cNvPr id="11" name="Shape 9"/>
          <p:cNvSpPr/>
          <p:nvPr/>
        </p:nvSpPr>
        <p:spPr>
          <a:xfrm>
            <a:off x="7086417" y="2286000"/>
            <a:ext cx="320040" cy="0"/>
          </a:xfrm>
          <a:prstGeom prst="line">
            <a:avLst/>
          </a:prstGeom>
          <a:noFill/>
          <a:ln w="19050">
            <a:solidFill>
              <a:srgbClr val="546E7A"/>
            </a:solidFill>
            <a:prstDash val="solid"/>
            <a:tailEnd type="triangle"/>
          </a:ln>
        </p:spPr>
      </p:sp>
      <p:sp>
        <p:nvSpPr>
          <p:cNvPr id="12" name="Shape 10"/>
          <p:cNvSpPr/>
          <p:nvPr/>
        </p:nvSpPr>
        <p:spPr>
          <a:xfrm>
            <a:off x="7452177" y="1417320"/>
            <a:ext cx="1889699" cy="1737360"/>
          </a:xfrm>
          <a:prstGeom prst="roundRect">
            <a:avLst>
              <a:gd name="adj" fmla="val 4211"/>
            </a:avLst>
          </a:prstGeom>
          <a:solidFill>
            <a:srgbClr val="F7F9FA"/>
          </a:solidFill>
          <a:ln w="12700">
            <a:solidFill>
              <a:srgbClr val="B0BEC5"/>
            </a:solidFill>
            <a:prstDash val="solid"/>
          </a:ln>
        </p:spPr>
      </p:sp>
      <p:sp>
        <p:nvSpPr>
          <p:cNvPr id="13" name="Text 11"/>
          <p:cNvSpPr txBox="1"/>
          <p:nvPr/>
        </p:nvSpPr>
        <p:spPr>
          <a:xfrm>
            <a:off x="7525329" y="1417320"/>
            <a:ext cx="1743395" cy="173736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4. Veriyi getir</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Dosya yükle ya da Drive bağla; yoksa notebook üretir</a:t>
            </a:r>
            <a:endParaRPr lang="en-US" sz="1500" dirty="0"/>
          </a:p>
        </p:txBody>
      </p:sp>
      <p:sp>
        <p:nvSpPr>
          <p:cNvPr id="14" name="Shape 12"/>
          <p:cNvSpPr/>
          <p:nvPr/>
        </p:nvSpPr>
        <p:spPr>
          <a:xfrm>
            <a:off x="9387596" y="2286000"/>
            <a:ext cx="320040" cy="0"/>
          </a:xfrm>
          <a:prstGeom prst="line">
            <a:avLst/>
          </a:prstGeom>
          <a:noFill/>
          <a:ln w="19050">
            <a:solidFill>
              <a:srgbClr val="546E7A"/>
            </a:solidFill>
            <a:prstDash val="solid"/>
            <a:tailEnd type="triangle"/>
          </a:ln>
        </p:spPr>
      </p:sp>
      <p:sp>
        <p:nvSpPr>
          <p:cNvPr id="15" name="Shape 13"/>
          <p:cNvSpPr/>
          <p:nvPr/>
        </p:nvSpPr>
        <p:spPr>
          <a:xfrm>
            <a:off x="9753356" y="1417320"/>
            <a:ext cx="1889699" cy="1737360"/>
          </a:xfrm>
          <a:prstGeom prst="roundRect">
            <a:avLst>
              <a:gd name="adj" fmla="val 4211"/>
            </a:avLst>
          </a:prstGeom>
          <a:solidFill>
            <a:srgbClr val="F7F9FA"/>
          </a:solidFill>
          <a:ln w="12700">
            <a:solidFill>
              <a:srgbClr val="B0BEC5"/>
            </a:solidFill>
            <a:prstDash val="solid"/>
          </a:ln>
        </p:spPr>
      </p:sp>
      <p:sp>
        <p:nvSpPr>
          <p:cNvPr id="16" name="Text 14"/>
          <p:cNvSpPr txBox="1"/>
          <p:nvPr/>
        </p:nvSpPr>
        <p:spPr>
          <a:xfrm>
            <a:off x="9826508" y="1417320"/>
            <a:ext cx="1743395" cy="173736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5. Çalıştır ve kaydet</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Hücreleri sırayla çalıştır; kopyayı Drive'a kaydet</a:t>
            </a:r>
            <a:endParaRPr lang="en-US" sz="1500" dirty="0"/>
          </a:p>
        </p:txBody>
      </p:sp>
      <p:sp>
        <p:nvSpPr>
          <p:cNvPr id="17" name="Text 15"/>
          <p:cNvSpPr txBox="1"/>
          <p:nvPr/>
        </p:nvSpPr>
        <p:spPr>
          <a:xfrm>
            <a:off x="548640" y="3703320"/>
            <a:ext cx="11094415" cy="256032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Hücreleri </a:t>
            </a:r>
            <a:r>
              <a:rPr lang="en-US" sz="1700" b="1" dirty="0">
                <a:solidFill>
                  <a:srgbClr val="212121"/>
                </a:solidFill>
                <a:latin typeface="Calibri" pitchFamily="34" charset="0"/>
                <a:ea typeface="Calibri" pitchFamily="34" charset="-122"/>
                <a:cs typeface="Calibri" pitchFamily="34" charset="-120"/>
              </a:rPr>
              <a:t>yukarıdan aşağıya</a:t>
            </a:r>
            <a:r>
              <a:rPr lang="en-US" sz="1700" dirty="0">
                <a:solidFill>
                  <a:srgbClr val="212121"/>
                </a:solidFill>
                <a:latin typeface="Calibri" pitchFamily="34" charset="0"/>
                <a:ea typeface="Calibri" pitchFamily="34" charset="-122"/>
                <a:cs typeface="Calibri" pitchFamily="34" charset="-120"/>
              </a:rPr>
              <a:t> çalıştırın; atlanan hücre </a:t>
            </a:r>
            <a:r>
              <a:rPr lang="en-US" sz="1700" dirty="0">
                <a:solidFill>
                  <a:srgbClr val="455A64"/>
                </a:solidFill>
                <a:latin typeface="Courier New" pitchFamily="34" charset="0"/>
                <a:ea typeface="Courier New" pitchFamily="34" charset="-122"/>
                <a:cs typeface="Courier New" pitchFamily="34" charset="-120"/>
              </a:rPr>
              <a:t>NameError</a:t>
            </a:r>
            <a:r>
              <a:rPr lang="en-US" sz="1700" dirty="0">
                <a:solidFill>
                  <a:srgbClr val="212121"/>
                </a:solidFill>
                <a:latin typeface="Calibri" pitchFamily="34" charset="0"/>
                <a:ea typeface="Calibri" pitchFamily="34" charset="-122"/>
                <a:cs typeface="Calibri" pitchFamily="34" charset="-120"/>
              </a:rPr>
              <a:t> üretir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Hata alınca: </a:t>
            </a:r>
            <a:r>
              <a:rPr lang="en-US" sz="1700" i="1" dirty="0">
                <a:solidFill>
                  <a:srgbClr val="212121"/>
                </a:solidFill>
                <a:latin typeface="Calibri" pitchFamily="34" charset="0"/>
                <a:ea typeface="Calibri" pitchFamily="34" charset="-122"/>
                <a:cs typeface="Calibri" pitchFamily="34" charset="-120"/>
              </a:rPr>
              <a:t>Çalışma zamanı → Yeniden başlat ve tümünü çalıştır</a:t>
            </a:r>
            <a:r>
              <a:rPr lang="en-US" sz="1700" dirty="0">
                <a:solidFill>
                  <a:srgbClr val="212121"/>
                </a:solidFill>
                <a:latin typeface="Calibri" pitchFamily="34" charset="0"/>
                <a:ea typeface="Calibri" pitchFamily="34" charset="-122"/>
                <a:cs typeface="Calibri" pitchFamily="34" charset="-120"/>
              </a:rPr>
              <a:t> ile temiz bir başlangıç yapın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Oturum ≈ 12 saat sonra ya da uzun süre boşta kalınca sıfırlanır: kurulum hücresini yeniden çalıştırın</a:t>
            </a:r>
            <a:endParaRPr lang="en-US" sz="1700" dirty="0"/>
          </a:p>
        </p:txBody>
      </p:sp>
      <p:sp>
        <p:nvSpPr>
          <p:cNvPr id="18" name="Text 16"/>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9" name="Text 17"/>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Google Colab ile çalışmak</a:t>
            </a:r>
            <a:endParaRPr lang="en-US" sz="3000" dirty="0"/>
          </a:p>
        </p:txBody>
      </p:sp>
      <p:sp>
        <p:nvSpPr>
          <p:cNvPr id="3" name="Shape 1"/>
          <p:cNvSpPr/>
          <p:nvPr/>
        </p:nvSpPr>
        <p:spPr>
          <a:xfrm>
            <a:off x="548640" y="1234440"/>
            <a:ext cx="5364328" cy="5029200"/>
          </a:xfrm>
          <a:prstGeom prst="roundRect">
            <a:avLst>
              <a:gd name="adj" fmla="val 1455"/>
            </a:avLst>
          </a:prstGeom>
          <a:solidFill>
            <a:srgbClr val="F7F9FA"/>
          </a:solidFill>
          <a:ln w="12700">
            <a:solidFill>
              <a:srgbClr val="B0BEC5"/>
            </a:solidFill>
            <a:prstDash val="solid"/>
          </a:ln>
        </p:spPr>
      </p:sp>
      <p:sp>
        <p:nvSpPr>
          <p:cNvPr id="4" name="Text 2"/>
          <p:cNvSpPr txBox="1"/>
          <p:nvPr/>
        </p:nvSpPr>
        <p:spPr>
          <a:xfrm>
            <a:off x="731520" y="1344168"/>
            <a:ext cx="4998568" cy="411480"/>
          </a:xfrm>
          <a:prstGeom prst="rect">
            <a:avLst/>
          </a:prstGeom>
          <a:noFill/>
          <a:ln/>
        </p:spPr>
        <p:txBody>
          <a:bodyPr wrap="square" lIns="0" tIns="0" rIns="0" bIns="0" rtlCol="0" anchor="ctr"/>
          <a:lstStyle/>
          <a:p>
            <a:pPr indent="0" marL="0">
              <a:buNone/>
            </a:pPr>
            <a:r>
              <a:rPr lang="en-US" sz="1800" b="1" dirty="0">
                <a:solidFill>
                  <a:srgbClr val="263238"/>
                </a:solidFill>
              </a:rPr>
              <a:t>Temel işlemler</a:t>
            </a:r>
            <a:endParaRPr lang="en-US" sz="1800" dirty="0"/>
          </a:p>
        </p:txBody>
      </p:sp>
      <p:sp>
        <p:nvSpPr>
          <p:cNvPr id="5" name="Text 3"/>
          <p:cNvSpPr txBox="1"/>
          <p:nvPr/>
        </p:nvSpPr>
        <p:spPr>
          <a:xfrm>
            <a:off x="685800" y="1828800"/>
            <a:ext cx="5090008" cy="429768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Tarayıcıda çalışan Jupyter ortamı; GPU seçeneği var (15. hafta)</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ile başlayan satırlar </a:t>
            </a:r>
            <a:r>
              <a:rPr lang="en-US" sz="1700" b="1" dirty="0">
                <a:solidFill>
                  <a:srgbClr val="212121"/>
                </a:solidFill>
                <a:latin typeface="Calibri" pitchFamily="34" charset="0"/>
                <a:ea typeface="Calibri" pitchFamily="34" charset="-122"/>
                <a:cs typeface="Calibri" pitchFamily="34" charset="-120"/>
              </a:rPr>
              <a:t>kabuk komutu</a:t>
            </a:r>
            <a:r>
              <a:rPr lang="en-US" sz="1700" dirty="0">
                <a:solidFill>
                  <a:srgbClr val="212121"/>
                </a:solidFill>
                <a:latin typeface="Calibri" pitchFamily="34" charset="0"/>
                <a:ea typeface="Calibri" pitchFamily="34" charset="-122"/>
                <a:cs typeface="Calibri" pitchFamily="34" charset="-120"/>
              </a:rPr>
              <a:t>: </a:t>
            </a:r>
            <a:r>
              <a:rPr lang="en-US" sz="1700" dirty="0">
                <a:solidFill>
                  <a:srgbClr val="455A64"/>
                </a:solidFill>
                <a:latin typeface="Courier New" pitchFamily="34" charset="0"/>
                <a:ea typeface="Courier New" pitchFamily="34" charset="-122"/>
                <a:cs typeface="Courier New" pitchFamily="34" charset="-120"/>
              </a:rPr>
              <a:t>!ls</a:t>
            </a:r>
            <a:r>
              <a:rPr lang="en-US" sz="1700" dirty="0">
                <a:solidFill>
                  <a:srgbClr val="212121"/>
                </a:solidFill>
                <a:latin typeface="Calibri" pitchFamily="34" charset="0"/>
                <a:ea typeface="Calibri" pitchFamily="34" charset="-122"/>
                <a:cs typeface="Calibri" pitchFamily="34" charset="-120"/>
              </a:rPr>
              <a:t>, </a:t>
            </a:r>
            <a:r>
              <a:rPr lang="en-US" sz="1700" dirty="0">
                <a:solidFill>
                  <a:srgbClr val="455A64"/>
                </a:solidFill>
                <a:latin typeface="Courier New" pitchFamily="34" charset="0"/>
                <a:ea typeface="Courier New" pitchFamily="34" charset="-122"/>
                <a:cs typeface="Courier New" pitchFamily="34" charset="-120"/>
              </a:rPr>
              <a:t>!pip install ...</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Dosya yükleme: sol panel → klasör simgesi, ya da </a:t>
            </a:r>
            <a:r>
              <a:rPr lang="en-US" sz="1700" dirty="0">
                <a:solidFill>
                  <a:srgbClr val="455A64"/>
                </a:solidFill>
                <a:latin typeface="Courier New" pitchFamily="34" charset="0"/>
                <a:ea typeface="Courier New" pitchFamily="34" charset="-122"/>
                <a:cs typeface="Courier New" pitchFamily="34" charset="-120"/>
              </a:rPr>
              <a:t>files.upload()</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Kalıcı dosyalar için Google Drive bağlayın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Oturum sıfırlanınca </a:t>
            </a:r>
            <a:r>
              <a:rPr lang="en-US" sz="1700" b="1" dirty="0">
                <a:solidFill>
                  <a:srgbClr val="212121"/>
                </a:solidFill>
                <a:latin typeface="Calibri" pitchFamily="34" charset="0"/>
                <a:ea typeface="Calibri" pitchFamily="34" charset="-122"/>
                <a:cs typeface="Calibri" pitchFamily="34" charset="-120"/>
              </a:rPr>
              <a:t>yüklenen dosyalar silinir</a:t>
            </a:r>
            <a:endParaRPr lang="en-US" sz="1700" dirty="0"/>
          </a:p>
        </p:txBody>
      </p:sp>
      <p:sp>
        <p:nvSpPr>
          <p:cNvPr id="6" name="Shape 4"/>
          <p:cNvSpPr/>
          <p:nvPr/>
        </p:nvSpPr>
        <p:spPr>
          <a:xfrm>
            <a:off x="6278728" y="1234440"/>
            <a:ext cx="5364328" cy="5029200"/>
          </a:xfrm>
          <a:prstGeom prst="roundRect">
            <a:avLst>
              <a:gd name="adj" fmla="val 1455"/>
            </a:avLst>
          </a:prstGeom>
          <a:solidFill>
            <a:srgbClr val="F7F9FA"/>
          </a:solidFill>
          <a:ln w="12700">
            <a:solidFill>
              <a:srgbClr val="B0BEC5"/>
            </a:solidFill>
            <a:prstDash val="solid"/>
          </a:ln>
        </p:spPr>
      </p:sp>
      <p:sp>
        <p:nvSpPr>
          <p:cNvPr id="7" name="Text 5"/>
          <p:cNvSpPr txBox="1"/>
          <p:nvPr/>
        </p:nvSpPr>
        <p:spPr>
          <a:xfrm>
            <a:off x="6461608" y="1344168"/>
            <a:ext cx="4998568" cy="411480"/>
          </a:xfrm>
          <a:prstGeom prst="rect">
            <a:avLst/>
          </a:prstGeom>
          <a:noFill/>
          <a:ln/>
        </p:spPr>
        <p:txBody>
          <a:bodyPr wrap="square" lIns="0" tIns="0" rIns="0" bIns="0" rtlCol="0" anchor="ctr"/>
          <a:lstStyle/>
          <a:p>
            <a:pPr indent="0" marL="0">
              <a:buNone/>
            </a:pPr>
            <a:r>
              <a:rPr lang="en-US" sz="1800" b="1" dirty="0">
                <a:solidFill>
                  <a:srgbClr val="263238"/>
                </a:solidFill>
              </a:rPr>
              <a:t>Kod parçaları</a:t>
            </a:r>
            <a:endParaRPr lang="en-US" sz="1800" dirty="0"/>
          </a:p>
        </p:txBody>
      </p:sp>
      <p:sp>
        <p:nvSpPr>
          <p:cNvPr id="8" name="Shape 6"/>
          <p:cNvSpPr/>
          <p:nvPr/>
        </p:nvSpPr>
        <p:spPr>
          <a:xfrm>
            <a:off x="6461608" y="1828800"/>
            <a:ext cx="4998568" cy="4297680"/>
          </a:xfrm>
          <a:prstGeom prst="roundRect">
            <a:avLst>
              <a:gd name="adj" fmla="val 1702"/>
            </a:avLst>
          </a:prstGeom>
          <a:solidFill>
            <a:srgbClr val="F4F6F7"/>
          </a:solidFill>
          <a:ln w="12700">
            <a:solidFill>
              <a:srgbClr val="B0BEC5"/>
            </a:solidFill>
            <a:prstDash val="solid"/>
          </a:ln>
        </p:spPr>
      </p:sp>
      <p:sp>
        <p:nvSpPr>
          <p:cNvPr id="9" name="Text 7"/>
          <p:cNvSpPr txBox="1"/>
          <p:nvPr/>
        </p:nvSpPr>
        <p:spPr>
          <a:xfrm>
            <a:off x="6571336" y="1901952"/>
            <a:ext cx="4779112" cy="4151376"/>
          </a:xfrm>
          <a:prstGeom prst="rect">
            <a:avLst/>
          </a:prstGeom>
          <a:noFill/>
          <a:ln/>
        </p:spPr>
        <p:txBody>
          <a:bodyPr wrap="square" lIns="0" tIns="0" rIns="0" bIns="0" rtlCol="0" anchor="t"/>
          <a:lstStyle/>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ilk hücre: kurulum</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!pip -q install biopython</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import Bio; print(Bio.__version__)   # 1.88</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dosya yükleme</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from google.colab import files</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yuklenen = files.upload()</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Drive bağlama</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from google.colab import drive</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drive.mount('/content/drive')</a:t>
            </a:r>
            <a:endParaRPr lang="en-US" sz="1400" dirty="0"/>
          </a:p>
        </p:txBody>
      </p:sp>
      <p:sp>
        <p:nvSpPr>
          <p:cNvPr id="10" name="Text 8"/>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1" name="Text 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Biopython modül haritası</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4417221"/>
                <a:gridCol w="5649934"/>
                <a:gridCol w="1027261"/>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Modül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Görevi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Hafta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Bio.Seq</a:t>
                      </a:r>
                      <a:r>
                        <a:rPr lang="en-US" sz="1600" dirty="0">
                          <a:solidFill>
                            <a:srgbClr val="212121"/>
                          </a:solidFill>
                          <a:latin typeface="Calibri" pitchFamily="34" charset="0"/>
                          <a:ea typeface="Calibri" pitchFamily="34" charset="-122"/>
                          <a:cs typeface="Calibri" pitchFamily="34" charset="-120"/>
                        </a:rPr>
                        <a:t>, </a:t>
                      </a:r>
                      <a:r>
                        <a:rPr lang="en-US" sz="1600" dirty="0">
                          <a:solidFill>
                            <a:srgbClr val="455A64"/>
                          </a:solidFill>
                          <a:latin typeface="Courier New" pitchFamily="34" charset="0"/>
                          <a:ea typeface="Courier New" pitchFamily="34" charset="-122"/>
                          <a:cs typeface="Courier New" pitchFamily="34" charset="-120"/>
                        </a:rPr>
                        <a:t>Bio.SeqRecord</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Dizi nesneleri ve açıklamalı kayıtlar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Bio.SeqIO</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FASTA / GenBank / FASTQ okuma-yazma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Bio.SeqUtils</a:t>
                      </a:r>
                      <a:r>
                        <a:rPr lang="en-US" sz="1600" dirty="0">
                          <a:solidFill>
                            <a:srgbClr val="212121"/>
                          </a:solidFill>
                          <a:latin typeface="Calibri" pitchFamily="34" charset="0"/>
                          <a:ea typeface="Calibri" pitchFamily="34" charset="-122"/>
                          <a:cs typeface="Calibri" pitchFamily="34" charset="-120"/>
                        </a:rPr>
                        <a:t>, </a:t>
                      </a:r>
                      <a:r>
                        <a:rPr lang="en-US" sz="1600" dirty="0">
                          <a:solidFill>
                            <a:srgbClr val="455A64"/>
                          </a:solidFill>
                          <a:latin typeface="Courier New" pitchFamily="34" charset="0"/>
                          <a:ea typeface="Courier New" pitchFamily="34" charset="-122"/>
                          <a:cs typeface="Courier New" pitchFamily="34" charset="-120"/>
                        </a:rPr>
                        <a:t>Bio.motifs</a:t>
                      </a:r>
                      <a:r>
                        <a:rPr lang="en-US" sz="1600" dirty="0">
                          <a:solidFill>
                            <a:srgbClr val="212121"/>
                          </a:solidFill>
                          <a:latin typeface="Calibri" pitchFamily="34" charset="0"/>
                          <a:ea typeface="Calibri" pitchFamily="34" charset="-122"/>
                          <a:cs typeface="Calibri" pitchFamily="34" charset="-120"/>
                        </a:rPr>
                        <a:t>, </a:t>
                      </a:r>
                      <a:r>
                        <a:rPr lang="en-US" sz="1600" dirty="0">
                          <a:solidFill>
                            <a:srgbClr val="455A64"/>
                          </a:solidFill>
                          <a:latin typeface="Courier New" pitchFamily="34" charset="0"/>
                          <a:ea typeface="Courier New" pitchFamily="34" charset="-122"/>
                          <a:cs typeface="Courier New" pitchFamily="34" charset="-120"/>
                        </a:rPr>
                        <a:t>Bio.Restriction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GC, Tm, motif (PSSM), restriksiyon enzimleri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Bio.Align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İkili ve çoklu hizalama, yer değiştirme matrisleri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6–7, 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Bio.Entrez</a:t>
                      </a:r>
                      <a:r>
                        <a:rPr lang="en-US" sz="1600" dirty="0">
                          <a:solidFill>
                            <a:srgbClr val="212121"/>
                          </a:solidFill>
                          <a:latin typeface="Calibri" pitchFamily="34" charset="0"/>
                          <a:ea typeface="Calibri" pitchFamily="34" charset="-122"/>
                          <a:cs typeface="Calibri" pitchFamily="34" charset="-120"/>
                        </a:rPr>
                        <a:t>, </a:t>
                      </a:r>
                      <a:r>
                        <a:rPr lang="en-US" sz="1600" dirty="0">
                          <a:solidFill>
                            <a:srgbClr val="455A64"/>
                          </a:solidFill>
                          <a:latin typeface="Courier New" pitchFamily="34" charset="0"/>
                          <a:ea typeface="Courier New" pitchFamily="34" charset="-122"/>
                          <a:cs typeface="Courier New" pitchFamily="34" charset="-120"/>
                        </a:rPr>
                        <a:t>Bio.Blast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NCBI veritabanlarına erişim, BLAST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Bio.Phylo</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Filogenetik ağaçlar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Bio.PDB</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Protein 3B yapıları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535424"/>
            <a:ext cx="11094415" cy="822960"/>
          </a:xfrm>
          <a:prstGeom prst="roundRect">
            <a:avLst>
              <a:gd name="adj" fmla="val 8889"/>
            </a:avLst>
          </a:prstGeom>
          <a:solidFill>
            <a:srgbClr val="FDECEA"/>
          </a:solidFill>
          <a:ln/>
        </p:spPr>
      </p:sp>
      <p:sp>
        <p:nvSpPr>
          <p:cNvPr id="5" name="Text 2"/>
          <p:cNvSpPr txBox="1"/>
          <p:nvPr/>
        </p:nvSpPr>
        <p:spPr>
          <a:xfrm>
            <a:off x="731520" y="4535424"/>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Biopython 25 yılı aşkın açık kaynak bir projedir; belgeleri: </a:t>
            </a:r>
            <a:r>
              <a:rPr lang="en-US" sz="1600" i="1" dirty="0">
                <a:solidFill>
                  <a:srgbClr val="212121"/>
                </a:solidFill>
                <a:latin typeface="Calibri" pitchFamily="34" charset="0"/>
                <a:ea typeface="Calibri" pitchFamily="34" charset="-122"/>
                <a:cs typeface="Calibri" pitchFamily="34" charset="-120"/>
              </a:rPr>
              <a:t>Biopython Tutorial and Cookbook</a:t>
            </a:r>
            <a:r>
              <a:rPr lang="en-US" sz="1600" dirty="0">
                <a:solidFill>
                  <a:srgbClr val="212121"/>
                </a:solidFill>
                <a:latin typeface="Calibri" pitchFamily="34" charset="0"/>
                <a:ea typeface="Calibri" pitchFamily="34" charset="-122"/>
                <a:cs typeface="Calibri" pitchFamily="34" charset="-120"/>
              </a:rPr>
              <a:t> (biopython.org).</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İlk Seq nesnesi</a:t>
            </a:r>
            <a:endParaRPr lang="en-US" sz="3000" dirty="0"/>
          </a:p>
        </p:txBody>
      </p:sp>
      <p:sp>
        <p:nvSpPr>
          <p:cNvPr id="3" name="Text 1"/>
          <p:cNvSpPr txBox="1"/>
          <p:nvPr/>
        </p:nvSpPr>
        <p:spPr>
          <a:xfrm>
            <a:off x="548640" y="4507992"/>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4736592"/>
            <a:ext cx="6656649" cy="1527048"/>
          </a:xfrm>
          <a:prstGeom prst="roundRect">
            <a:avLst>
              <a:gd name="adj" fmla="val 4790"/>
            </a:avLst>
          </a:prstGeom>
          <a:solidFill>
            <a:srgbClr val="FFFFFF"/>
          </a:solidFill>
          <a:ln w="12700">
            <a:solidFill>
              <a:srgbClr val="B0BEC5"/>
            </a:solidFill>
            <a:prstDash val="solid"/>
          </a:ln>
        </p:spPr>
      </p:sp>
      <p:sp>
        <p:nvSpPr>
          <p:cNvPr id="5" name="Text 3"/>
          <p:cNvSpPr txBox="1"/>
          <p:nvPr/>
        </p:nvSpPr>
        <p:spPr>
          <a:xfrm>
            <a:off x="658368" y="4809744"/>
            <a:ext cx="6437193" cy="1380744"/>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&lt;class 'Bio.Seq.Seq'&gt;</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TTAGCCTAGGCTAACGTACGCCAT</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AUGGCGUACGUUAGCCUAGGCUAA</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MAYVSLG*</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MAYVSLG</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Tüm kontroller başarılı</a:t>
            </a:r>
            <a:endParaRPr lang="en-US" sz="1300" dirty="0"/>
          </a:p>
        </p:txBody>
      </p:sp>
      <p:sp>
        <p:nvSpPr>
          <p:cNvPr id="6" name="Shape 4"/>
          <p:cNvSpPr/>
          <p:nvPr/>
        </p:nvSpPr>
        <p:spPr>
          <a:xfrm>
            <a:off x="548640" y="1234440"/>
            <a:ext cx="6656649" cy="3227832"/>
          </a:xfrm>
          <a:prstGeom prst="roundRect">
            <a:avLst>
              <a:gd name="adj" fmla="val 2266"/>
            </a:avLst>
          </a:prstGeom>
          <a:solidFill>
            <a:srgbClr val="F4F6F7"/>
          </a:solidFill>
          <a:ln w="12700">
            <a:solidFill>
              <a:srgbClr val="B0BEC5"/>
            </a:solidFill>
            <a:prstDash val="solid"/>
          </a:ln>
        </p:spPr>
      </p:sp>
      <p:sp>
        <p:nvSpPr>
          <p:cNvPr id="7" name="Text 5"/>
          <p:cNvSpPr txBox="1"/>
          <p:nvPr/>
        </p:nvSpPr>
        <p:spPr>
          <a:xfrm>
            <a:off x="658368" y="1307592"/>
            <a:ext cx="6437193" cy="3081528"/>
          </a:xfrm>
          <a:prstGeom prst="rect">
            <a:avLst/>
          </a:prstGeom>
          <a:noFill/>
          <a:ln/>
        </p:spPr>
        <p:txBody>
          <a:bodyPr wrap="square" lIns="0" tIns="0" rIns="0" bIns="0" rtlCol="0" anchor="t"/>
          <a:lstStyle/>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from Bio.Seq import Seq</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s = Seq("ATGGCGTACGTTAGCCTAGGCTAA")</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print(type(s))</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print(s.reverse_complement())</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print(s.transcribe())</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print(s.translate())</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print(s.translate(to_stop=True))</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birim test: kendi fonksiyonlarımız = Biopython</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assert str(s.reverse_complement()) == ters_tamamlayici(str(s))</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assert str(s.transcribe()) == str(s).replace("T", "U")</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print("Tüm kontroller başarılı")</a:t>
            </a:r>
            <a:endParaRPr lang="en-US" sz="1350" dirty="0"/>
          </a:p>
        </p:txBody>
      </p:sp>
      <p:sp>
        <p:nvSpPr>
          <p:cNvPr id="8" name="Text 6"/>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Seq</a:t>
            </a:r>
            <a:r>
              <a:rPr lang="en-US" sz="1700" dirty="0">
                <a:solidFill>
                  <a:srgbClr val="212121"/>
                </a:solidFill>
                <a:latin typeface="Calibri" pitchFamily="34" charset="0"/>
                <a:ea typeface="Calibri" pitchFamily="34" charset="-122"/>
                <a:cs typeface="Calibri" pitchFamily="34" charset="-120"/>
              </a:rPr>
              <a:t> bir Python dizgisi gibi davranır (dilim, </a:t>
            </a:r>
            <a:r>
              <a:rPr lang="en-US" sz="1700" dirty="0">
                <a:solidFill>
                  <a:srgbClr val="455A64"/>
                </a:solidFill>
                <a:latin typeface="Courier New" pitchFamily="34" charset="0"/>
                <a:ea typeface="Courier New" pitchFamily="34" charset="-122"/>
                <a:cs typeface="Courier New" pitchFamily="34" charset="-120"/>
              </a:rPr>
              <a:t>len</a:t>
            </a:r>
            <a:r>
              <a:rPr lang="en-US" sz="1700" dirty="0">
                <a:solidFill>
                  <a:srgbClr val="212121"/>
                </a:solidFill>
                <a:latin typeface="Calibri" pitchFamily="34" charset="0"/>
                <a:ea typeface="Calibri" pitchFamily="34" charset="-122"/>
                <a:cs typeface="Calibri" pitchFamily="34" charset="-120"/>
              </a:rPr>
              <a:t>, </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Üstüne </a:t>
            </a:r>
            <a:r>
              <a:rPr lang="en-US" sz="1700" b="1" dirty="0">
                <a:solidFill>
                  <a:srgbClr val="212121"/>
                </a:solidFill>
                <a:latin typeface="Calibri" pitchFamily="34" charset="0"/>
                <a:ea typeface="Calibri" pitchFamily="34" charset="-122"/>
                <a:cs typeface="Calibri" pitchFamily="34" charset="-120"/>
              </a:rPr>
              <a:t>biyolojik yöntemler</a:t>
            </a:r>
            <a:r>
              <a:rPr lang="en-US" sz="1700" dirty="0">
                <a:solidFill>
                  <a:srgbClr val="212121"/>
                </a:solidFill>
                <a:latin typeface="Calibri" pitchFamily="34" charset="0"/>
                <a:ea typeface="Calibri" pitchFamily="34" charset="-122"/>
                <a:cs typeface="Calibri" pitchFamily="34" charset="-120"/>
              </a:rPr>
              <a:t> ekler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translate()</a:t>
            </a:r>
            <a:r>
              <a:rPr lang="en-US" sz="1700" dirty="0">
                <a:solidFill>
                  <a:srgbClr val="212121"/>
                </a:solidFill>
                <a:latin typeface="Calibri" pitchFamily="34" charset="0"/>
                <a:ea typeface="Calibri" pitchFamily="34" charset="-122"/>
                <a:cs typeface="Calibri" pitchFamily="34" charset="-120"/>
              </a:rPr>
              <a:t>: 24 baz → 8 kodon → </a:t>
            </a:r>
            <a:r>
              <a:rPr lang="en-US" sz="1700" dirty="0">
                <a:solidFill>
                  <a:srgbClr val="455A64"/>
                </a:solidFill>
                <a:latin typeface="Courier New" pitchFamily="34" charset="0"/>
                <a:ea typeface="Courier New" pitchFamily="34" charset="-122"/>
                <a:cs typeface="Courier New" pitchFamily="34" charset="-120"/>
              </a:rPr>
              <a:t>MAYVSLG*</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to_stop=True</a:t>
            </a:r>
            <a:r>
              <a:rPr lang="en-US" sz="1700" dirty="0">
                <a:solidFill>
                  <a:srgbClr val="212121"/>
                </a:solidFill>
                <a:latin typeface="Calibri" pitchFamily="34" charset="0"/>
                <a:ea typeface="Calibri" pitchFamily="34" charset="-122"/>
                <a:cs typeface="Calibri" pitchFamily="34" charset="-120"/>
              </a:rPr>
              <a:t>: ilk dur kodonunda keser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Kendi kodumuzu kütüphaneyle test etme alışkanlığı</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Translasyon: kodon kodon</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ATGGCGTACGTTAGCCTAGGCTAA</a:t>
            </a:r>
            <a:r>
              <a:rPr lang="en-US" sz="1800" dirty="0">
                <a:solidFill>
                  <a:srgbClr val="212121"/>
                </a:solidFill>
                <a:latin typeface="Calibri" pitchFamily="34" charset="0"/>
                <a:ea typeface="Calibri" pitchFamily="34" charset="-122"/>
                <a:cs typeface="Calibri" pitchFamily="34" charset="-120"/>
              </a:rPr>
              <a:t> dizisini kodonlara bölün ve standart genetik kodla çevirin. </a:t>
            </a:r>
            <a:r>
              <a:rPr lang="en-US" sz="1800" dirty="0">
                <a:solidFill>
                  <a:srgbClr val="455A64"/>
                </a:solidFill>
                <a:latin typeface="Courier New" pitchFamily="34" charset="0"/>
                <a:ea typeface="Courier New" pitchFamily="34" charset="-122"/>
                <a:cs typeface="Courier New" pitchFamily="34" charset="-120"/>
              </a:rPr>
              <a:t>translate()</a:t>
            </a:r>
            <a:r>
              <a:rPr lang="en-US" sz="1800" dirty="0">
                <a:solidFill>
                  <a:srgbClr val="212121"/>
                </a:solidFill>
                <a:latin typeface="Calibri" pitchFamily="34" charset="0"/>
                <a:ea typeface="Calibri" pitchFamily="34" charset="-122"/>
                <a:cs typeface="Calibri" pitchFamily="34" charset="-120"/>
              </a:rPr>
              <a:t> çıktısını elle doğrulayın.</a:t>
            </a:r>
            <a:endParaRPr lang="en-US" sz="1800" dirty="0"/>
          </a:p>
        </p:txBody>
      </p:sp>
      <p:sp>
        <p:nvSpPr>
          <p:cNvPr id="6" name="Text 4"/>
          <p:cNvSpPr txBox="1"/>
          <p:nvPr/>
        </p:nvSpPr>
        <p:spPr>
          <a:xfrm>
            <a:off x="548640" y="2779776"/>
            <a:ext cx="4992487"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Uzunluk 24 → 24 / 3 = </a:t>
            </a:r>
            <a:r>
              <a:rPr lang="en-US" sz="1550" b="1" dirty="0">
                <a:solidFill>
                  <a:srgbClr val="212121"/>
                </a:solidFill>
                <a:latin typeface="Calibri" pitchFamily="34" charset="0"/>
                <a:ea typeface="Calibri" pitchFamily="34" charset="-122"/>
                <a:cs typeface="Calibri" pitchFamily="34" charset="-120"/>
              </a:rPr>
              <a:t>8 kodon</a:t>
            </a:r>
            <a:r>
              <a:rPr lang="en-US" sz="1550" dirty="0">
                <a:solidFill>
                  <a:srgbClr val="212121"/>
                </a:solidFill>
                <a:latin typeface="Calibri" pitchFamily="34" charset="0"/>
                <a:ea typeface="Calibri" pitchFamily="34" charset="-122"/>
                <a:cs typeface="Calibri" pitchFamily="34" charset="-120"/>
              </a:rPr>
              <a:t>, artık baz yok</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Okuma 1. bazdan başlar: </a:t>
            </a:r>
            <a:r>
              <a:rPr lang="en-US" sz="1550" dirty="0">
                <a:solidFill>
                  <a:srgbClr val="455A64"/>
                </a:solidFill>
                <a:latin typeface="Courier New" pitchFamily="34" charset="0"/>
                <a:ea typeface="Courier New" pitchFamily="34" charset="-122"/>
                <a:cs typeface="Courier New" pitchFamily="34" charset="-120"/>
              </a:rPr>
              <a:t>ATG|GCG|TAC|GTT|AGC|CTA|GGC|TAA</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a:t>
            </a:r>
            <a:r>
              <a:rPr lang="en-US" sz="1550" dirty="0">
                <a:solidFill>
                  <a:srgbClr val="455A64"/>
                </a:solidFill>
                <a:latin typeface="Courier New" pitchFamily="34" charset="0"/>
                <a:ea typeface="Courier New" pitchFamily="34" charset="-122"/>
                <a:cs typeface="Courier New" pitchFamily="34" charset="-120"/>
              </a:rPr>
              <a:t>ATG</a:t>
            </a:r>
            <a:r>
              <a:rPr lang="en-US" sz="1550" dirty="0">
                <a:solidFill>
                  <a:srgbClr val="212121"/>
                </a:solidFill>
                <a:latin typeface="Calibri" pitchFamily="34" charset="0"/>
                <a:ea typeface="Calibri" pitchFamily="34" charset="-122"/>
                <a:cs typeface="Calibri" pitchFamily="34" charset="-120"/>
              </a:rPr>
              <a:t> = Met (M): </a:t>
            </a:r>
            <a:r>
              <a:rPr lang="en-US" sz="1550" b="1" dirty="0">
                <a:solidFill>
                  <a:srgbClr val="212121"/>
                </a:solidFill>
                <a:latin typeface="Calibri" pitchFamily="34" charset="0"/>
                <a:ea typeface="Calibri" pitchFamily="34" charset="-122"/>
                <a:cs typeface="Calibri" pitchFamily="34" charset="-120"/>
              </a:rPr>
              <a:t>başlangıç kodonu</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Her kodonu genetik kod tablosundan eşle (tabloya bakın)</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a:t>
            </a:r>
            <a:r>
              <a:rPr lang="en-US" sz="1550" dirty="0">
                <a:solidFill>
                  <a:srgbClr val="455A64"/>
                </a:solidFill>
                <a:latin typeface="Courier New" pitchFamily="34" charset="0"/>
                <a:ea typeface="Courier New" pitchFamily="34" charset="-122"/>
                <a:cs typeface="Courier New" pitchFamily="34" charset="-120"/>
              </a:rPr>
              <a:t>TAA</a:t>
            </a:r>
            <a:r>
              <a:rPr lang="en-US" sz="1550" dirty="0">
                <a:solidFill>
                  <a:srgbClr val="212121"/>
                </a:solidFill>
                <a:latin typeface="Calibri" pitchFamily="34" charset="0"/>
                <a:ea typeface="Calibri" pitchFamily="34" charset="-122"/>
                <a:cs typeface="Calibri" pitchFamily="34" charset="-120"/>
              </a:rPr>
              <a:t> bir </a:t>
            </a:r>
            <a:r>
              <a:rPr lang="en-US" sz="1550" b="1" dirty="0">
                <a:solidFill>
                  <a:srgbClr val="212121"/>
                </a:solidFill>
                <a:latin typeface="Calibri" pitchFamily="34" charset="0"/>
                <a:ea typeface="Calibri" pitchFamily="34" charset="-122"/>
                <a:cs typeface="Calibri" pitchFamily="34" charset="-120"/>
              </a:rPr>
              <a:t>dur kodonudur</a:t>
            </a:r>
            <a:r>
              <a:rPr lang="en-US" sz="1550" dirty="0">
                <a:solidFill>
                  <a:srgbClr val="212121"/>
                </a:solidFill>
                <a:latin typeface="Calibri" pitchFamily="34" charset="0"/>
                <a:ea typeface="Calibri" pitchFamily="34" charset="-122"/>
                <a:cs typeface="Calibri" pitchFamily="34" charset="-120"/>
              </a:rPr>
              <a:t> → </a:t>
            </a:r>
            <a:r>
              <a:rPr lang="en-US" sz="1550" dirty="0">
                <a:solidFill>
                  <a:srgbClr val="455A64"/>
                </a:solidFill>
                <a:latin typeface="Courier New" pitchFamily="34" charset="0"/>
                <a:ea typeface="Courier New" pitchFamily="34" charset="-122"/>
                <a:cs typeface="Courier New" pitchFamily="34" charset="-120"/>
              </a:rPr>
              <a:t>*</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Sonuç </a:t>
            </a:r>
            <a:r>
              <a:rPr lang="en-US" sz="1550" dirty="0">
                <a:solidFill>
                  <a:srgbClr val="455A64"/>
                </a:solidFill>
                <a:latin typeface="Courier New" pitchFamily="34" charset="0"/>
                <a:ea typeface="Courier New" pitchFamily="34" charset="-122"/>
                <a:cs typeface="Courier New" pitchFamily="34" charset="-120"/>
              </a:rPr>
              <a:t>MAYVSLG*</a:t>
            </a:r>
            <a:r>
              <a:rPr lang="en-US" sz="1550" dirty="0">
                <a:solidFill>
                  <a:srgbClr val="212121"/>
                </a:solidFill>
                <a:latin typeface="Calibri" pitchFamily="34" charset="0"/>
                <a:ea typeface="Calibri" pitchFamily="34" charset="-122"/>
                <a:cs typeface="Calibri" pitchFamily="34" charset="-120"/>
              </a:rPr>
              <a:t>; </a:t>
            </a:r>
            <a:r>
              <a:rPr lang="en-US" sz="1550" dirty="0">
                <a:solidFill>
                  <a:srgbClr val="455A64"/>
                </a:solidFill>
                <a:latin typeface="Courier New" pitchFamily="34" charset="0"/>
                <a:ea typeface="Courier New" pitchFamily="34" charset="-122"/>
                <a:cs typeface="Courier New" pitchFamily="34" charset="-120"/>
              </a:rPr>
              <a:t>to_stop=True</a:t>
            </a:r>
            <a:r>
              <a:rPr lang="en-US" sz="1550" dirty="0">
                <a:solidFill>
                  <a:srgbClr val="212121"/>
                </a:solidFill>
                <a:latin typeface="Calibri" pitchFamily="34" charset="0"/>
                <a:ea typeface="Calibri" pitchFamily="34" charset="-122"/>
                <a:cs typeface="Calibri" pitchFamily="34" charset="-120"/>
              </a:rPr>
              <a:t> ile </a:t>
            </a:r>
            <a:r>
              <a:rPr lang="en-US" sz="1550" dirty="0">
                <a:solidFill>
                  <a:srgbClr val="455A64"/>
                </a:solidFill>
                <a:latin typeface="Courier New" pitchFamily="34" charset="0"/>
                <a:ea typeface="Courier New" pitchFamily="34" charset="-122"/>
                <a:cs typeface="Courier New" pitchFamily="34" charset="-120"/>
              </a:rPr>
              <a:t>MAYVSLG</a:t>
            </a:r>
            <a:r>
              <a:rPr lang="en-US" sz="1550" dirty="0">
                <a:solidFill>
                  <a:srgbClr val="212121"/>
                </a:solidFill>
                <a:latin typeface="Calibri" pitchFamily="34" charset="0"/>
                <a:ea typeface="Calibri" pitchFamily="34" charset="-122"/>
                <a:cs typeface="Calibri" pitchFamily="34" charset="-120"/>
              </a:rPr>
              <a:t> (7 aa)</a:t>
            </a:r>
            <a:endParaRPr lang="en-US" sz="15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861167" y="2779776"/>
          <a:ext cx="5781888" cy="914400"/>
        </p:xfrm>
        <a:graphic>
          <a:graphicData uri="http://schemas.openxmlformats.org/drawingml/2006/table">
            <a:tbl>
              <a:tblPr/>
              <a:tblGrid>
                <a:gridCol w="861132"/>
                <a:gridCol w="615095"/>
                <a:gridCol w="615095"/>
                <a:gridCol w="615095"/>
                <a:gridCol w="615095"/>
                <a:gridCol w="615095"/>
                <a:gridCol w="615095"/>
                <a:gridCol w="615095"/>
                <a:gridCol w="615095"/>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Kodon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GCG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AGC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CTA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GGC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 harf</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Met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Ala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Tyr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Val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Ser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Leu</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Gly</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Dur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 harf</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Y</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V</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Sonuç  </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ATG…TAA</a:t>
            </a:r>
            <a:r>
              <a:rPr lang="en-US" sz="1800" dirty="0">
                <a:solidFill>
                  <a:srgbClr val="212121"/>
                </a:solidFill>
                <a:latin typeface="Calibri" pitchFamily="34" charset="0"/>
                <a:ea typeface="Calibri" pitchFamily="34" charset="-122"/>
                <a:cs typeface="Calibri" pitchFamily="34" charset="-120"/>
              </a:rPr>
              <a:t> → </a:t>
            </a:r>
            <a:r>
              <a:rPr lang="en-US" sz="1800" dirty="0">
                <a:solidFill>
                  <a:srgbClr val="455A64"/>
                </a:solidFill>
                <a:latin typeface="Courier New" pitchFamily="34" charset="0"/>
                <a:ea typeface="Courier New" pitchFamily="34" charset="-122"/>
                <a:cs typeface="Courier New" pitchFamily="34" charset="-120"/>
              </a:rPr>
              <a:t>MAYVSLG*</a:t>
            </a:r>
            <a:r>
              <a:rPr lang="en-US" sz="1800" dirty="0">
                <a:solidFill>
                  <a:srgbClr val="212121"/>
                </a:solidFill>
                <a:latin typeface="Calibri" pitchFamily="34" charset="0"/>
                <a:ea typeface="Calibri" pitchFamily="34" charset="-122"/>
                <a:cs typeface="Calibri" pitchFamily="34" charset="-120"/>
              </a:rPr>
              <a:t>: 8 kodon, 7 amino asit + 1 dur. Kodon tablosunun tamamı 2. haftada.</a:t>
            </a:r>
            <a:endParaRPr lang="en-US" sz="18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Saf Python mı, Biopython mı? Hız karşılaştırması</a:t>
            </a:r>
            <a:endParaRPr lang="en-US" sz="2800" dirty="0"/>
          </a:p>
        </p:txBody>
      </p:sp>
      <p:sp>
        <p:nvSpPr>
          <p:cNvPr id="3" name="Text 1"/>
          <p:cNvSpPr txBox="1"/>
          <p:nvPr/>
        </p:nvSpPr>
        <p:spPr>
          <a:xfrm>
            <a:off x="548640" y="4910328"/>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138928"/>
            <a:ext cx="7100426" cy="1124712"/>
          </a:xfrm>
          <a:prstGeom prst="roundRect">
            <a:avLst>
              <a:gd name="adj" fmla="val 6504"/>
            </a:avLst>
          </a:prstGeom>
          <a:solidFill>
            <a:srgbClr val="FFFFFF"/>
          </a:solidFill>
          <a:ln w="12700">
            <a:solidFill>
              <a:srgbClr val="B0BEC5"/>
            </a:solidFill>
            <a:prstDash val="solid"/>
          </a:ln>
        </p:spPr>
      </p:sp>
      <p:sp>
        <p:nvSpPr>
          <p:cNvPr id="5" name="Text 3"/>
          <p:cNvSpPr txBox="1"/>
          <p:nvPr/>
        </p:nvSpPr>
        <p:spPr>
          <a:xfrm>
            <a:off x="658368" y="5212080"/>
            <a:ext cx="6880970" cy="978408"/>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sözlük + join      47.9 ms</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str.translate       1.3 ms</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Seq (Biopython)     1.2 ms</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Hepsi aynı mı? True</a:t>
            </a:r>
            <a:endParaRPr lang="en-US" sz="1300" dirty="0"/>
          </a:p>
        </p:txBody>
      </p:sp>
      <p:sp>
        <p:nvSpPr>
          <p:cNvPr id="6" name="Shape 4"/>
          <p:cNvSpPr/>
          <p:nvPr/>
        </p:nvSpPr>
        <p:spPr>
          <a:xfrm>
            <a:off x="548640" y="1234440"/>
            <a:ext cx="7100426" cy="3630168"/>
          </a:xfrm>
          <a:prstGeom prst="roundRect">
            <a:avLst>
              <a:gd name="adj" fmla="val 2015"/>
            </a:avLst>
          </a:prstGeom>
          <a:solidFill>
            <a:srgbClr val="F4F6F7"/>
          </a:solidFill>
          <a:ln w="12700">
            <a:solidFill>
              <a:srgbClr val="B0BEC5"/>
            </a:solidFill>
            <a:prstDash val="solid"/>
          </a:ln>
        </p:spPr>
      </p:sp>
      <p:sp>
        <p:nvSpPr>
          <p:cNvPr id="7" name="Text 5"/>
          <p:cNvSpPr txBox="1"/>
          <p:nvPr/>
        </p:nvSpPr>
        <p:spPr>
          <a:xfrm>
            <a:off x="658368" y="1307592"/>
            <a:ext cx="6880970" cy="3483864"/>
          </a:xfrm>
          <a:prstGeom prst="rect">
            <a:avLst/>
          </a:prstGeom>
          <a:noFill/>
          <a:ln/>
        </p:spPr>
        <p:txBody>
          <a:bodyPr wrap="square" lIns="0" tIns="0" rIns="0" bIns="0" rtlCol="0" anchor="t"/>
          <a:lstStyle/>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import random, time</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from Bio.Seq import Seq</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random.seed(0)</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d = "".join(random.choices("ACGT", k=1_000_000))</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es = {"A": "T", "T": "A", "G": "C", "C": "G"}</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tablo = str.maketrans("ACGT", "TGCA")</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yontemler =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"sözlük + join": lambda: "".join(es[b] for b in d)[::-1],</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"str.translate": lambda: d.translate(tablo)[::-1],</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"Seq (Biopython)": lambda: str(Seq(d).reverse_complement())}</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sonuc =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for ad, f in yontemler.items():</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t0 = time.perf_counter(); sonuc[ad] = f()</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print(f"{ad:16s} {1000*(time.perf_counter()-t0):6.1f} ms")</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print("Hepsi aynı mı?", len(set(sonuc.values())) == 1)</a:t>
            </a:r>
            <a:endParaRPr lang="en-US" sz="1350" dirty="0"/>
          </a:p>
        </p:txBody>
      </p:sp>
      <p:sp>
        <p:nvSpPr>
          <p:cNvPr id="8" name="Text 6"/>
          <p:cNvSpPr txBox="1"/>
          <p:nvPr/>
        </p:nvSpPr>
        <p:spPr>
          <a:xfrm>
            <a:off x="7969106" y="1234440"/>
            <a:ext cx="3673949"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1 Mbp'lik rastgele dizinin ters tamamlayıcısı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Sözlük + </a:t>
            </a:r>
            <a:r>
              <a:rPr lang="en-US" sz="1700" dirty="0">
                <a:solidFill>
                  <a:srgbClr val="455A64"/>
                </a:solidFill>
                <a:latin typeface="Courier New" pitchFamily="34" charset="0"/>
                <a:ea typeface="Courier New" pitchFamily="34" charset="-122"/>
                <a:cs typeface="Courier New" pitchFamily="34" charset="-120"/>
              </a:rPr>
              <a:t>join</a:t>
            </a:r>
            <a:r>
              <a:rPr lang="en-US" sz="1700" dirty="0">
                <a:solidFill>
                  <a:srgbClr val="212121"/>
                </a:solidFill>
                <a:latin typeface="Calibri" pitchFamily="34" charset="0"/>
                <a:ea typeface="Calibri" pitchFamily="34" charset="-122"/>
                <a:cs typeface="Calibri" pitchFamily="34" charset="-120"/>
              </a:rPr>
              <a:t> her bazda Python döngüsü çalıştırır → </a:t>
            </a:r>
            <a:r>
              <a:rPr lang="en-US" sz="1700" b="1" dirty="0">
                <a:solidFill>
                  <a:srgbClr val="212121"/>
                </a:solidFill>
                <a:latin typeface="Calibri" pitchFamily="34" charset="0"/>
                <a:ea typeface="Calibri" pitchFamily="34" charset="-122"/>
                <a:cs typeface="Calibri" pitchFamily="34" charset="-120"/>
              </a:rPr>
              <a:t>≈ 40 kat yavaş</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str.translate</a:t>
            </a:r>
            <a:r>
              <a:rPr lang="en-US" sz="1700" dirty="0">
                <a:solidFill>
                  <a:srgbClr val="212121"/>
                </a:solidFill>
                <a:latin typeface="Calibri" pitchFamily="34" charset="0"/>
                <a:ea typeface="Calibri" pitchFamily="34" charset="-122"/>
                <a:cs typeface="Calibri" pitchFamily="34" charset="-120"/>
              </a:rPr>
              <a:t> ve </a:t>
            </a:r>
            <a:r>
              <a:rPr lang="en-US" sz="1700" dirty="0">
                <a:solidFill>
                  <a:srgbClr val="455A64"/>
                </a:solidFill>
                <a:latin typeface="Courier New" pitchFamily="34" charset="0"/>
                <a:ea typeface="Courier New" pitchFamily="34" charset="-122"/>
                <a:cs typeface="Courier New" pitchFamily="34" charset="-120"/>
              </a:rPr>
              <a:t>Seq</a:t>
            </a:r>
            <a:r>
              <a:rPr lang="en-US" sz="1700" dirty="0">
                <a:solidFill>
                  <a:srgbClr val="212121"/>
                </a:solidFill>
                <a:latin typeface="Calibri" pitchFamily="34" charset="0"/>
                <a:ea typeface="Calibri" pitchFamily="34" charset="-122"/>
                <a:cs typeface="Calibri" pitchFamily="34" charset="-120"/>
              </a:rPr>
              <a:t> işi C'de yapar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Üç yöntem </a:t>
            </a:r>
            <a:r>
              <a:rPr lang="en-US" sz="1700" b="1" dirty="0">
                <a:solidFill>
                  <a:srgbClr val="212121"/>
                </a:solidFill>
                <a:latin typeface="Calibri" pitchFamily="34" charset="0"/>
                <a:ea typeface="Calibri" pitchFamily="34" charset="-122"/>
                <a:cs typeface="Calibri" pitchFamily="34" charset="-120"/>
              </a:rPr>
              <a:t>aynı sonucu</a:t>
            </a:r>
            <a:r>
              <a:rPr lang="en-US" sz="1700" dirty="0">
                <a:solidFill>
                  <a:srgbClr val="212121"/>
                </a:solidFill>
                <a:latin typeface="Calibri" pitchFamily="34" charset="0"/>
                <a:ea typeface="Calibri" pitchFamily="34" charset="-122"/>
                <a:cs typeface="Calibri" pitchFamily="34" charset="-120"/>
              </a:rPr>
              <a:t> verir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Süreler makineye göre değişir; </a:t>
            </a:r>
            <a:r>
              <a:rPr lang="en-US" sz="1700" b="1" dirty="0">
                <a:solidFill>
                  <a:srgbClr val="212121"/>
                </a:solidFill>
                <a:latin typeface="Calibri" pitchFamily="34" charset="0"/>
                <a:ea typeface="Calibri" pitchFamily="34" charset="-122"/>
                <a:cs typeface="Calibri" pitchFamily="34" charset="-120"/>
              </a:rPr>
              <a:t>oran</a:t>
            </a:r>
            <a:r>
              <a:rPr lang="en-US" sz="1700" dirty="0">
                <a:solidFill>
                  <a:srgbClr val="212121"/>
                </a:solidFill>
                <a:latin typeface="Calibri" pitchFamily="34" charset="0"/>
                <a:ea typeface="Calibri" pitchFamily="34" charset="-122"/>
                <a:cs typeface="Calibri" pitchFamily="34" charset="-120"/>
              </a:rPr>
              <a:t> önemlidir</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Baz kompozisyonu: kısa bir görselleştirme</a:t>
            </a:r>
            <a:endParaRPr lang="en-US" sz="3000" dirty="0"/>
          </a:p>
        </p:txBody>
      </p:sp>
      <p:pic>
        <p:nvPicPr>
          <p:cNvPr id="3" name="Image 0" descr="p01_kompozisyon.png">    </p:cNvPr>
          <p:cNvPicPr>
            <a:picLocks noChangeAspect="1"/>
          </p:cNvPicPr>
          <p:nvPr/>
        </p:nvPicPr>
        <p:blipFill>
          <a:blip r:embed="rId1"/>
          <a:stretch>
            <a:fillRect/>
          </a:stretch>
        </p:blipFill>
        <p:spPr>
          <a:xfrm>
            <a:off x="548640" y="1710278"/>
            <a:ext cx="7100426" cy="4077524"/>
          </a:xfrm>
          <a:prstGeom prst="rect">
            <a:avLst/>
          </a:prstGeom>
        </p:spPr>
      </p:pic>
      <p:sp>
        <p:nvSpPr>
          <p:cNvPr id="4" name="Text 1"/>
          <p:cNvSpPr txBox="1"/>
          <p:nvPr/>
        </p:nvSpPr>
        <p:spPr>
          <a:xfrm>
            <a:off x="7969106" y="1234440"/>
            <a:ext cx="3673949"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24 bazlık dizide oranlar 0.25'ten belirgin sapar: G = 0.292, C = 0.208</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100 000 bazlık rastgele dizide dört oran ≈ 0.25 (0.249–0.252)</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Büyük sayılar yasası:</a:t>
            </a:r>
            <a:r>
              <a:rPr lang="en-US" sz="1700" dirty="0">
                <a:solidFill>
                  <a:srgbClr val="212121"/>
                </a:solidFill>
                <a:latin typeface="Calibri" pitchFamily="34" charset="0"/>
                <a:ea typeface="Calibri" pitchFamily="34" charset="-122"/>
                <a:cs typeface="Calibri" pitchFamily="34" charset="-120"/>
              </a:rPr>
              <a:t> örneklem büyüdükçe gözlenen oran → gerçek olasılık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Gerçek genomlarda GC oranı bölgeden bölgeye değişir (2. hafta: kayan pencere)</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Laboratuvar alıştırmaları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Notebook: hafta01_giris_python_biopython.ipynb  —  çözümler notebook'un sonunda</a:t>
            </a:r>
            <a:endParaRPr lang="en-US" sz="1500" dirty="0"/>
          </a:p>
        </p:txBody>
      </p:sp>
      <p:sp>
        <p:nvSpPr>
          <p:cNvPr id="4" name="Text 2"/>
          <p:cNvSpPr txBox="1"/>
          <p:nvPr/>
        </p:nvSpPr>
        <p:spPr>
          <a:xfrm>
            <a:off x="548640" y="1463040"/>
            <a:ext cx="11094415" cy="4754880"/>
          </a:xfrm>
          <a:prstGeom prst="rect">
            <a:avLst/>
          </a:prstGeom>
          <a:noFill/>
          <a:ln/>
        </p:spPr>
        <p:txBody>
          <a:bodyPr wrap="square" lIns="25400" tIns="25400" rIns="50800" bIns="25400" rtlCol="0" anchor="t"/>
          <a:lstStyle/>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gc_orani</a:t>
            </a:r>
            <a:r>
              <a:rPr lang="en-US" sz="1800" dirty="0">
                <a:solidFill>
                  <a:srgbClr val="212121"/>
                </a:solidFill>
                <a:latin typeface="Calibri" pitchFamily="34" charset="0"/>
                <a:ea typeface="Calibri" pitchFamily="34" charset="-122"/>
                <a:cs typeface="Calibri" pitchFamily="34" charset="-120"/>
              </a:rPr>
              <a:t> fonksiyonunu </a:t>
            </a:r>
            <a:r>
              <a:rPr lang="en-US" sz="1800" dirty="0">
                <a:solidFill>
                  <a:srgbClr val="455A64"/>
                </a:solidFill>
                <a:latin typeface="Courier New" pitchFamily="34" charset="0"/>
                <a:ea typeface="Courier New" pitchFamily="34" charset="-122"/>
                <a:cs typeface="Courier New" pitchFamily="34" charset="-120"/>
              </a:rPr>
              <a:t>N</a:t>
            </a:r>
            <a:r>
              <a:rPr lang="en-US" sz="1800" dirty="0">
                <a:solidFill>
                  <a:srgbClr val="212121"/>
                </a:solidFill>
                <a:latin typeface="Calibri" pitchFamily="34" charset="0"/>
                <a:ea typeface="Calibri" pitchFamily="34" charset="-122"/>
                <a:cs typeface="Calibri" pitchFamily="34" charset="-120"/>
              </a:rPr>
              <a:t> bazlarını paydadan çıkaracak şekilde güncelleyin. Test: </a:t>
            </a:r>
            <a:r>
              <a:rPr lang="en-US" sz="1800" dirty="0">
                <a:solidFill>
                  <a:srgbClr val="455A64"/>
                </a:solidFill>
                <a:latin typeface="Courier New" pitchFamily="34" charset="0"/>
                <a:ea typeface="Courier New" pitchFamily="34" charset="-122"/>
                <a:cs typeface="Courier New" pitchFamily="34" charset="-120"/>
              </a:rPr>
              <a:t>GGCCNNAT</a:t>
            </a:r>
            <a:r>
              <a:rPr lang="en-US" sz="1800" dirty="0">
                <a:solidFill>
                  <a:srgbClr val="212121"/>
                </a:solidFill>
                <a:latin typeface="Calibri" pitchFamily="34" charset="0"/>
                <a:ea typeface="Calibri" pitchFamily="34" charset="-122"/>
                <a:cs typeface="Calibri" pitchFamily="34" charset="-120"/>
              </a:rPr>
              <a:t> → 4/6 = </a:t>
            </a:r>
            <a:r>
              <a:rPr lang="en-US" sz="1800" b="1" dirty="0">
                <a:solidFill>
                  <a:srgbClr val="212121"/>
                </a:solidFill>
                <a:latin typeface="Calibri" pitchFamily="34" charset="0"/>
                <a:ea typeface="Calibri" pitchFamily="34" charset="-122"/>
                <a:cs typeface="Calibri" pitchFamily="34" charset="-120"/>
              </a:rPr>
              <a:t>0.667</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palindrom_mu(dizi)</a:t>
            </a:r>
            <a:r>
              <a:rPr lang="en-US" sz="1800" dirty="0">
                <a:solidFill>
                  <a:srgbClr val="212121"/>
                </a:solidFill>
                <a:latin typeface="Calibri" pitchFamily="34" charset="0"/>
                <a:ea typeface="Calibri" pitchFamily="34" charset="-122"/>
                <a:cs typeface="Calibri" pitchFamily="34" charset="-120"/>
              </a:rPr>
              <a:t> fonksiyonunu yazın. </a:t>
            </a:r>
            <a:r>
              <a:rPr lang="en-US" sz="1800" dirty="0">
                <a:solidFill>
                  <a:srgbClr val="455A64"/>
                </a:solidFill>
                <a:latin typeface="Courier New" pitchFamily="34" charset="0"/>
                <a:ea typeface="Courier New" pitchFamily="34" charset="-122"/>
                <a:cs typeface="Courier New" pitchFamily="34" charset="-120"/>
              </a:rPr>
              <a:t>GAATTC</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GGATCC</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ATGCAT</a:t>
            </a:r>
            <a:r>
              <a:rPr lang="en-US" sz="1800" dirty="0">
                <a:solidFill>
                  <a:srgbClr val="212121"/>
                </a:solidFill>
                <a:latin typeface="Calibri" pitchFamily="34" charset="0"/>
                <a:ea typeface="Calibri" pitchFamily="34" charset="-122"/>
                <a:cs typeface="Calibri" pitchFamily="34" charset="-120"/>
              </a:rPr>
              <a:t> → True; </a:t>
            </a:r>
            <a:r>
              <a:rPr lang="en-US" sz="1800" dirty="0">
                <a:solidFill>
                  <a:srgbClr val="455A64"/>
                </a:solidFill>
                <a:latin typeface="Courier New" pitchFamily="34" charset="0"/>
                <a:ea typeface="Courier New" pitchFamily="34" charset="-122"/>
                <a:cs typeface="Courier New" pitchFamily="34" charset="-120"/>
              </a:rPr>
              <a:t>ATGCCA</a:t>
            </a:r>
            <a:r>
              <a:rPr lang="en-US" sz="1800" dirty="0">
                <a:solidFill>
                  <a:srgbClr val="212121"/>
                </a:solidFill>
                <a:latin typeface="Calibri" pitchFamily="34" charset="0"/>
                <a:ea typeface="Calibri" pitchFamily="34" charset="-122"/>
                <a:cs typeface="Calibri" pitchFamily="34" charset="-120"/>
              </a:rPr>
              <a:t> → False</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8 bazlık NotI tanıma dizisi (</a:t>
            </a:r>
            <a:r>
              <a:rPr lang="en-US" sz="1800" dirty="0">
                <a:solidFill>
                  <a:srgbClr val="455A64"/>
                </a:solidFill>
                <a:latin typeface="Courier New" pitchFamily="34" charset="0"/>
                <a:ea typeface="Courier New" pitchFamily="34" charset="-122"/>
                <a:cs typeface="Courier New" pitchFamily="34" charset="-120"/>
              </a:rPr>
              <a:t>GCGGCCGC</a:t>
            </a:r>
            <a:r>
              <a:rPr lang="en-US" sz="1800" dirty="0">
                <a:solidFill>
                  <a:srgbClr val="212121"/>
                </a:solidFill>
                <a:latin typeface="Calibri" pitchFamily="34" charset="0"/>
                <a:ea typeface="Calibri" pitchFamily="34" charset="-122"/>
                <a:cs typeface="Calibri" pitchFamily="34" charset="-120"/>
              </a:rPr>
              <a:t>) 3 Gbp'lik rastgele genomda kaç kez beklenir? Ortalama parça boyu? (Cevap ≈ 45 776; 65 536 bp)</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paketle</a:t>
            </a:r>
            <a:r>
              <a:rPr lang="en-US" sz="1800" dirty="0">
                <a:solidFill>
                  <a:srgbClr val="212121"/>
                </a:solidFill>
                <a:latin typeface="Calibri" pitchFamily="34" charset="0"/>
                <a:ea typeface="Calibri" pitchFamily="34" charset="-122"/>
                <a:cs typeface="Calibri" pitchFamily="34" charset="-120"/>
              </a:rPr>
              <a:t> fonksiyonunun tersi olan </a:t>
            </a:r>
            <a:r>
              <a:rPr lang="en-US" sz="1800" dirty="0">
                <a:solidFill>
                  <a:srgbClr val="455A64"/>
                </a:solidFill>
                <a:latin typeface="Courier New" pitchFamily="34" charset="0"/>
                <a:ea typeface="Courier New" pitchFamily="34" charset="-122"/>
                <a:cs typeface="Courier New" pitchFamily="34" charset="-120"/>
              </a:rPr>
              <a:t>ac(sayi, uzunluk)</a:t>
            </a:r>
            <a:r>
              <a:rPr lang="en-US" sz="1800" dirty="0">
                <a:solidFill>
                  <a:srgbClr val="212121"/>
                </a:solidFill>
                <a:latin typeface="Calibri" pitchFamily="34" charset="0"/>
                <a:ea typeface="Calibri" pitchFamily="34" charset="-122"/>
                <a:cs typeface="Calibri" pitchFamily="34" charset="-120"/>
              </a:rPr>
              <a:t> fonksiyonunu yazın ve </a:t>
            </a:r>
            <a:r>
              <a:rPr lang="en-US" sz="1800" dirty="0">
                <a:solidFill>
                  <a:srgbClr val="455A64"/>
                </a:solidFill>
                <a:latin typeface="Courier New" pitchFamily="34" charset="0"/>
                <a:ea typeface="Courier New" pitchFamily="34" charset="-122"/>
                <a:cs typeface="Courier New" pitchFamily="34" charset="-120"/>
              </a:rPr>
              <a:t>GATTACA</a:t>
            </a:r>
            <a:r>
              <a:rPr lang="en-US" sz="1800" dirty="0">
                <a:solidFill>
                  <a:srgbClr val="212121"/>
                </a:solidFill>
                <a:latin typeface="Calibri" pitchFamily="34" charset="0"/>
                <a:ea typeface="Calibri" pitchFamily="34" charset="-122"/>
                <a:cs typeface="Calibri" pitchFamily="34" charset="-120"/>
              </a:rPr>
              <a:t> ile test edin</a:t>
            </a:r>
            <a:endParaRPr lang="en-US" sz="1800" dirty="0"/>
          </a:p>
          <a:p>
            <a:pPr marL="342900" indent="-342900">
              <a:spcAft>
                <a:spcPts val="800"/>
              </a:spcAft>
              <a:buSzPct val="100000"/>
              <a:buFont typeface="+mj-lt"/>
              <a:buAutoNum type="arabicPeriod" startAt="1"/>
            </a:pPr>
            <a:r>
              <a:rPr lang="en-US" sz="1800" b="1" dirty="0">
                <a:solidFill>
                  <a:srgbClr val="212121"/>
                </a:solidFill>
                <a:latin typeface="Calibri" pitchFamily="34" charset="0"/>
                <a:ea typeface="Calibri" pitchFamily="34" charset="-122"/>
                <a:cs typeface="Calibri" pitchFamily="34" charset="-120"/>
              </a:rPr>
              <a:t>Tartışma:</a:t>
            </a:r>
            <a:r>
              <a:rPr lang="en-US" sz="1800" dirty="0">
                <a:solidFill>
                  <a:srgbClr val="212121"/>
                </a:solidFill>
                <a:latin typeface="Calibri" pitchFamily="34" charset="0"/>
                <a:ea typeface="Calibri" pitchFamily="34" charset="-122"/>
                <a:cs typeface="Calibri" pitchFamily="34" charset="-120"/>
              </a:rPr>
              <a:t> Gerçek genomlarda bazlar bağımsız değildir (ör. CpG azlığı). Bu durum EcoRI beklentisini nasıl etkiler?</a:t>
            </a:r>
            <a:endParaRPr lang="en-US" sz="1800" dirty="0"/>
          </a:p>
        </p:txBody>
      </p:sp>
      <p:sp>
        <p:nvSpPr>
          <p:cNvPr id="5"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6"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Kendini sına: 5 kısa soru</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Önce kâğıt-kalemle çözün, sonra Python ile doğrulayın  —  cevaplar konuşmacı notlarında</a:t>
            </a:r>
            <a:endParaRPr lang="en-US" sz="1500" dirty="0"/>
          </a:p>
        </p:txBody>
      </p:sp>
      <p:sp>
        <p:nvSpPr>
          <p:cNvPr id="4" name="Text 2"/>
          <p:cNvSpPr txBox="1"/>
          <p:nvPr/>
        </p:nvSpPr>
        <p:spPr>
          <a:xfrm>
            <a:off x="548640" y="1463040"/>
            <a:ext cx="11094415" cy="4754880"/>
          </a:xfrm>
          <a:prstGeom prst="rect">
            <a:avLst/>
          </a:prstGeom>
          <a:noFill/>
          <a:ln/>
        </p:spPr>
        <p:txBody>
          <a:bodyPr wrap="square" lIns="25400" tIns="25400" rIns="50800" bIns="25400" rtlCol="0" anchor="t"/>
          <a:lstStyle/>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5'-GGATCC-3'</a:t>
            </a:r>
            <a:r>
              <a:rPr lang="en-US" sz="1800" dirty="0">
                <a:solidFill>
                  <a:srgbClr val="212121"/>
                </a:solidFill>
                <a:latin typeface="Calibri" pitchFamily="34" charset="0"/>
                <a:ea typeface="Calibri" pitchFamily="34" charset="-122"/>
                <a:cs typeface="Calibri" pitchFamily="34" charset="-120"/>
              </a:rPr>
              <a:t> (BamHI yeri) dizisinin ters tamamlayıcısı nedir? Bu dizi palindromik midir?</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TTAA</a:t>
            </a:r>
            <a:r>
              <a:rPr lang="en-US" sz="1800" dirty="0">
                <a:solidFill>
                  <a:srgbClr val="212121"/>
                </a:solidFill>
                <a:latin typeface="Calibri" pitchFamily="34" charset="0"/>
                <a:ea typeface="Calibri" pitchFamily="34" charset="-122"/>
                <a:cs typeface="Calibri" pitchFamily="34" charset="-120"/>
              </a:rPr>
              <a:t> 4-meri 1 000 000 bazlık rastgele bir dizide kaç kez beklenir?</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10 bazlık bir dizi 2-bit kodlama ile kaç bit tutar? En az kaç bayt gerekir?</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Seq("ATGAAATGA").translate()</a:t>
            </a:r>
            <a:r>
              <a:rPr lang="en-US" sz="1800" dirty="0">
                <a:solidFill>
                  <a:srgbClr val="212121"/>
                </a:solidFill>
                <a:latin typeface="Calibri" pitchFamily="34" charset="0"/>
                <a:ea typeface="Calibri" pitchFamily="34" charset="-122"/>
                <a:cs typeface="Calibri" pitchFamily="34" charset="-120"/>
              </a:rPr>
              <a:t> ne döndürür?</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ACGTN</a:t>
            </a:r>
            <a:r>
              <a:rPr lang="en-US" sz="1800" dirty="0">
                <a:solidFill>
                  <a:srgbClr val="212121"/>
                </a:solidFill>
                <a:latin typeface="Calibri" pitchFamily="34" charset="0"/>
                <a:ea typeface="Calibri" pitchFamily="34" charset="-122"/>
                <a:cs typeface="Calibri" pitchFamily="34" charset="-120"/>
              </a:rPr>
              <a:t> dizisinin GC oranı (N paydadan çıkarılarak) kaçtır?</a:t>
            </a:r>
            <a:endParaRPr lang="en-US" sz="1800" dirty="0"/>
          </a:p>
        </p:txBody>
      </p:sp>
      <p:sp>
        <p:nvSpPr>
          <p:cNvPr id="5"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 Giriş ve çalışma ortamı</a:t>
            </a:r>
            <a:endParaRPr lang="en-US" sz="900" dirty="0"/>
          </a:p>
        </p:txBody>
      </p:sp>
      <p:sp>
        <p:nvSpPr>
          <p:cNvPr id="6"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000" b="1" dirty="0">
                <a:solidFill>
                  <a:srgbClr val="FFFFFF"/>
                </a:solidFill>
              </a:rPr>
              <a:t>Özet ve sonraki hafta</a:t>
            </a:r>
            <a:endParaRPr lang="en-US" sz="3000" dirty="0"/>
          </a:p>
        </p:txBody>
      </p:sp>
      <p:sp>
        <p:nvSpPr>
          <p:cNvPr id="3" name="Text 1"/>
          <p:cNvSpPr txBox="1"/>
          <p:nvPr/>
        </p:nvSpPr>
        <p:spPr>
          <a:xfrm>
            <a:off x="548640" y="1325880"/>
            <a:ext cx="11094415" cy="402336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Biyoenformatik = biyolojik veri + algoritmalar + istatistik</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DNA/RNA/protein: sonlu alfabeler üzerindeki </a:t>
            </a:r>
            <a:r>
              <a:rPr lang="en-US" sz="2000" b="1" dirty="0">
                <a:solidFill>
                  <a:srgbClr val="ECEFF1"/>
                </a:solidFill>
                <a:latin typeface="Calibri" pitchFamily="34" charset="0"/>
                <a:ea typeface="Calibri" pitchFamily="34" charset="-122"/>
                <a:cs typeface="Calibri" pitchFamily="34" charset="-120"/>
              </a:rPr>
              <a:t>dizgiler</a:t>
            </a:r>
            <a:r>
              <a:rPr lang="en-US" sz="2000" dirty="0">
                <a:solidFill>
                  <a:srgbClr val="ECEFF1"/>
                </a:solidFill>
                <a:latin typeface="Calibri" pitchFamily="34" charset="0"/>
                <a:ea typeface="Calibri" pitchFamily="34" charset="-122"/>
                <a:cs typeface="Calibri" pitchFamily="34" charset="-120"/>
              </a:rPr>
              <a:t>; yön ve tamamlayıcılık kuralları önemli</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i.i.d. model ile beklenen motif sayısı: </a:t>
            </a:r>
            <a:r>
              <a:rPr lang="en-US" sz="2000" b="1" dirty="0">
                <a:solidFill>
                  <a:srgbClr val="ECEFF1"/>
                </a:solidFill>
                <a:latin typeface="Calibri" pitchFamily="34" charset="0"/>
                <a:ea typeface="Calibri" pitchFamily="34" charset="-122"/>
                <a:cs typeface="Calibri" pitchFamily="34" charset="-120"/>
              </a:rPr>
              <a:t>E = (N − k + 1)/4ᵏ</a:t>
            </a:r>
            <a:r>
              <a:rPr lang="en-US" sz="2000" dirty="0">
                <a:solidFill>
                  <a:srgbClr val="ECEFF1"/>
                </a:solidFill>
                <a:latin typeface="Calibri" pitchFamily="34" charset="0"/>
                <a:ea typeface="Calibri" pitchFamily="34" charset="-122"/>
                <a:cs typeface="Calibri" pitchFamily="34" charset="-120"/>
              </a:rPr>
              <a:t>; k ≈ 16 insan genomunda benzersiz</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2-bit kodlama: 4 kat yer kazancı; bit kaydırma ile paketleme ve açma</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Colab + Biopython hazır; kendi kodumuzu kütüphaneyle </a:t>
            </a:r>
            <a:r>
              <a:rPr lang="en-US" sz="2000" b="1" dirty="0">
                <a:solidFill>
                  <a:srgbClr val="ECEFF1"/>
                </a:solidFill>
                <a:latin typeface="Calibri" pitchFamily="34" charset="0"/>
                <a:ea typeface="Calibri" pitchFamily="34" charset="-122"/>
                <a:cs typeface="Calibri" pitchFamily="34" charset="-120"/>
              </a:rPr>
              <a:t>test ederek</a:t>
            </a:r>
            <a:r>
              <a:rPr lang="en-US" sz="2000" dirty="0">
                <a:solidFill>
                  <a:srgbClr val="ECEFF1"/>
                </a:solidFill>
                <a:latin typeface="Calibri" pitchFamily="34" charset="0"/>
                <a:ea typeface="Calibri" pitchFamily="34" charset="-122"/>
                <a:cs typeface="Calibri" pitchFamily="34" charset="-120"/>
              </a:rPr>
              <a:t> ilerliyoruz</a:t>
            </a:r>
            <a:endParaRPr lang="en-US" sz="2000" dirty="0"/>
          </a:p>
        </p:txBody>
      </p:sp>
      <p:sp>
        <p:nvSpPr>
          <p:cNvPr id="4" name="Shape 2"/>
          <p:cNvSpPr/>
          <p:nvPr/>
        </p:nvSpPr>
        <p:spPr>
          <a:xfrm>
            <a:off x="548640" y="5532120"/>
            <a:ext cx="11094415" cy="777240"/>
          </a:xfrm>
          <a:prstGeom prst="roundRect">
            <a:avLst>
              <a:gd name="adj" fmla="val 9412"/>
            </a:avLst>
          </a:prstGeom>
          <a:solidFill>
            <a:srgbClr val="37474F"/>
          </a:solidFill>
          <a:ln/>
        </p:spPr>
      </p:sp>
      <p:sp>
        <p:nvSpPr>
          <p:cNvPr id="5" name="Text 3"/>
          <p:cNvSpPr txBox="1"/>
          <p:nvPr/>
        </p:nvSpPr>
        <p:spPr>
          <a:xfrm>
            <a:off x="731520" y="5532120"/>
            <a:ext cx="10728655" cy="777240"/>
          </a:xfrm>
          <a:prstGeom prst="rect">
            <a:avLst/>
          </a:prstGeom>
          <a:noFill/>
          <a:ln/>
        </p:spPr>
        <p:txBody>
          <a:bodyPr wrap="square" lIns="0" tIns="0" rIns="0" bIns="0" rtlCol="0" anchor="ctr"/>
          <a:lstStyle/>
          <a:p>
            <a:pPr indent="0" marL="0">
              <a:buNone/>
            </a:pPr>
            <a:r>
              <a:rPr lang="en-US" sz="1600" b="1" dirty="0">
                <a:solidFill>
                  <a:srgbClr val="FFCDD2"/>
                </a:solidFill>
              </a:rPr>
              <a:t>Sonraki hafta  </a:t>
            </a:r>
            <a:r>
              <a:rPr lang="en-US" sz="1600" dirty="0">
                <a:solidFill>
                  <a:srgbClr val="FFFFFF"/>
                </a:solidFill>
              </a:rPr>
              <a:t>Seq nesnesi derinlemesine, genetik kod, altı okuma çerçevesi, mutasyonlar, GC/Tm/molekül ağırlığı</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Hafta 1: Biyoenformatiğe Giriş, Moleküler Biyoloji Temelleri ve Çalışma Ortamı</dc:title>
  <dc:subject>PptxGenJS Presentation</dc:subject>
  <dc:creator>Biyoenformatiğe Giriş</dc:creator>
  <cp:lastModifiedBy>Biyoenformatiğe Giriş</cp:lastModifiedBy>
  <cp:revision>1</cp:revision>
  <dcterms:created xsi:type="dcterms:W3CDTF">2026-09-23T18:59:05Z</dcterms:created>
  <dcterms:modified xsi:type="dcterms:W3CDTF">2026-09-23T18:59:05Z</dcterms:modified>
</cp:coreProperties>
</file>