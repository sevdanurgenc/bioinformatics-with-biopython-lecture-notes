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ilk kez ham deney verisiyle çalışıyoruz: dizileme cihazının ürettiği okumalar ve her bazın güven skoru.
Haftanın matematiği basit ama önemli: logaritmik Phred ölçeği, olasılıkların toplanması (beklenen hata) ve Poisson dağılımı (kapsama).
Veri: okumalar.fastq — 2000 adet 100 bazlık sentetik okuma; bir kısmı düşük kaliteli, 150'sinde adaptör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bu haftanın bir veri temizleme (data cleaning) haftası olduğunu söyleyin: makine öğrenmesi haftalarında da aynı ilke geçerli olacak — çöp girerse çöp çıkar. Kalite kontrol her NGS analizinin ilk adımıdır.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saat. Dizileme cihazının nasıl kalite skoru ürettiğini kısaca anlatıp Phred ölçeğiyle elle hesaplar yapacağız.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Kimya ayrıntısına girmeyin; iki sonucu vurgulayın: kalite 3' uca doğru düşer (faz kayması, phasing) ve kısa parçalarda adaptör okunur. Bu iki gözlem kırpma algoritmalarımızın gerekçesi. Öğrencilere sorun: 150 bp okuma yapan bir cihazda 120 bp'lik bir parça dizilenirse son 30 baz ne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Tablodaki sayıları kesin değerler değil, büyüklük mertebesi olarak verin; üreticiler her yıl iyileştirme yapıyor. Asıl mesaj: hata türü analiz yöntemini belirler. Yer değiştirme hataları için kayan pencere kırpma iyi çalışır; indel hataları hizalamada (hafta 6–7) boşluk cezalarıyla modellenir.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Kalite dizgisinde @ karakterinin görünebildiğini gösterin (bu okumada 26. konumda). Bu yüzden FASTQ ayrıştırıcıları satırları dörderli okur; '@ ile başlayan satır yeni kayıttır' varsayımı yanlış sonuç verir. Biopython bu işi doğru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Phred ölçeği desibel ölçeğiyle aynı mantıktadır; mühendislik öğrencilerine bu benzetme tanıdık gelir. Beklenen hata formülünün bağımsızlık gerektirmediğini (doğrusallık), ancak en az bir hata olasılığının bağımsızlık varsayımı gerektirdiğini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birlikte doldurun: öğrenciler Q = 25 satırını kendileri hesaplasın (10^−2.5 ≈ 0.0032, chr(58) = ':'). Sağdaki grafik logaritmik y ekseninde doğrusal ilişkiyi gösteriyor. Q ölçeğinin üst sınırı teknolojiye bağlı: Illumina 1.8+ genellikle 41'de keser.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 2'nin olasılığını hesaplatın: 10^−0.2 ≈ 0.63; yani bu baz büyük olasılıkla yanlış. Eski Illumina sürümleri okuma sonlarını # (Q2) ile işaretlerdi. ord ve chr fonksiyonlarını kısaca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Logaritmik ölçeğin sonucu: düşük kaliteli birkaç baz toplam hatanın neredeyse tamamını oluşturur. Bu yüzden okumayı tamamen atmak yerine kötü ucunu kesmek daha verimlidir. Notebook'ta aynı hesap tek satırlık bir liste kavrayışıyla yapılıyor.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Jensen eşitsizliğinin somut bir örneği: dışbükey bir fonksiyonun (10^(−x/10)) ortalaması, ortalamanın fonksiyonundan büyüktür. Notebook'taki filtre ortalama Q kullanıyor; bu örnek, alternatif ölçütü (beklenen hata eşiği, ör. USEARCH/VSEARCH'teki maxee) tartışmak için. Öğrencilere sorun: hangi durumda iki ölçüt aynı sonucu verir? Tüm Q'lar eşitse.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Q20 ile Q30 arasındaki farkı somutlaştırın: yüzde 99 ile yüzde 99.9 doğruluk kulağa benzer gelir ama 150 bazlık okumada hatasız okuma oranı yüzde 22'den yüzde 86'ya çıkar. Poisson yaklaşımının küçük P'lerde neden iyi çalıştığını bir cümleyle açıklayın.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saat. Gerçek bir FASTQ dosyasını okuyup FastQC tarzı grafikleri kendimiz çizeceğiz.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Hafta 3'te boş kalan letter_annotations alanı burada doluyor. Dilimlemenin kaliteyi de kesmesi kırpma kodunu çok basitleştiriyor; elle iki ayrı listeyi senkron tutmak zorunda kalmıyoruz. Son iki satır notebook'a ek; çıktısı Python'da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Ölçekleme hesabı: 9 ms / 2000 okuma × 10^8 okuma = 450 s ≈ 7.5 dakika; 2 ms ile yaklaşık 100 s. Gerçek araçlar (fastp, cutadapt) C/Rust ile yazıldığı için çok daha hızlıdır. Bu slayt, soyutlamanın bedeli üzerine kısa bir tartışma için uygun: nesne oluşturmak ücretsiz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Kalite matrisi numpy ile (2000, 100) boyutunda; her sütun bir konum. Ortalama Q 1. konumda 36.0'dan 100. konumda 23.8'e düşüyor (Python ile hesaplandı). Kutuların alt bıyıkları ise daha erken sarı bölgeye iniyor: düşük kaliteli okumaların etkisi. Bu grafik FastQC'nin 'Per base sequence quality' modülünün aynısı. Not: notebook'taki orijinal grafikte x ekseni etiketleri kutu sırası (1, 3, 5…) olarak çıkıyordu; slayttaki sürüm gerçek baz konumlarıyla yeniden çizildi.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 panel: 199 okumanın (yüzde 10) ortalama Q'su 25'in altında; bunlar boru hattında elenecek. Orta panel: GC dağılımının tek tepeli olması başka bir organizmadan kirlilik olmadığını düşündürür; iki tepe görülseydi bakteri veya adaptör dimeri kirliliğinden şüphelenirdik. Sağ panel: N içeren okumaların çoğunda yalnız 1–2 N var, N &gt; 2 filtresi en fazla 27 okumayı etkileyebilir. Bu üç histogram FastQC'nin 'Per sequence quality', 'Per sequence GC content' ve 'Per base N content' modüllerine karşılık gelir. Kalite dağılımındaki ikinci tepe sentetik veride kasıtlı olarak oluşturulan düşük kaliteli okumalar. Gerçek veride bu tür bir tepe genellikle akış hücresinin (flow cell) belirli bir bölgesindeki sorunları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kendi yazdığımız kodun endüstri araçlarındaki karşılıklarını gösteriyor. Laboratuvarlarda öğrenciler bu araçların adlarıyla karşılaşacak. Duplikasyon modülünü bu derste yapmıyoruz; RNA-seq'te yüksek duplikasyonun normal olabileceğini (yüksek ifade edilen genler) belirtin.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saatin başı. Grafiklerde gördüğümüz sorunları çözen algoritmaları önce elle, sonra kodla yazacağız.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Boru hattının sırasını tartışın: kalite kırpması önce yapılırsa, adaptörün yalnız bir kısmı kalabilir ve adaptör araması başarısız olur. Kısa okumaların neden atıldığını sorun: 20 bazlık bir okuma 3 Gbp genomda rastgele birçok yere eşleşebilir (4^20 ≈ 10^12, ama tekrar bölgeleri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Öğrencilere w = 1 ile sonucu sorun: ilk Q &lt; 25 olan baz 4. konum (22) → 4 baz tutulur. w büyüdükçe algoritma tekil düşüşlere daha az duyarlı olur. Trimmomatic'in SLIDINGWINDOW:4:15 gibi parametreleri bu algoritmanın aynısıdır. Hesap Python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Kayan toplam (running sum) tekniği hafta 2'deki kayan pencere GC hesabında da kullanılabilir; aynı fikir. İki sürümün aynı sonucu verdiğini bir assert ile test etmelerini isteyin. 1258 sayısı veriden hesaplandı: ham okumalara yalnız bu adım uygulandığında 100'den kısa kalan okuma sayısı.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Algoritma O(n·m); n okuma, m adaptör uzunluğu. min_ortusme'yi küçültmek duyarlılığı artırır ama yanlış pozitifleri de artırır; bu klasik bir duyarlılık–özgüllük dengesi (hafta 14). Gerçek araçlar (cutadapt) hizalama tabanlı ve hata oranı parametreli arama yapar. Simülasyon ve tüm konumlar Python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zip hilesini açıklayın: notebook'taki sürüm adaptor[:len(parca)] ile açıkça kesiyor; zip aynı işi örtük yapıyor. İki sürümün 2000 okumanın tamamında aynı sonucu verdiği Python'da doğrulandı. Bulunamama durumunda uzunluğun döndürülmesi, çağıran kodda özel durum kontrolü gerektirmeyen şık bir tasarım.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(okuma, neden) döndürmek iyi bir tasarım: hangi filtrenin kaç okuma attığını raporlayabiliyoruz. Bu, boru hattı hatalarını ayıklamanın en kolay yoludur.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beş satır notebook çıktısı; son iki satır ve 199 sayısı aynı boru hattı Python'da yeniden çalıştırılarak hesaplandı. Ana mesaj: bazların yalnızca yüzde 17'sini atarak beklenen hataların yüzde 83'ünü temizledik. Öğrencilere sorun: filtre sayaçlarında 'düşük kalite' neden sıfır? Cevap alt kutuda.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grafik notebook'ta yok; beklenen hata ölçütünü görselleştirmek için eklendi. Üç küme sentetik verinin nasıl üretildiğini de ele veriyor: iyi okumalar, uçları kötü okumalar ve baştan sona kötü okumalar. Gerçek veride dağılım daha süreklidir.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Sağ paneldeki temiz eğrinin son konumlarda hâlâ 26 civarına inmesini tartışın: bu konumlarda kalan okumalar uçları görece iyi okumalar, ama ortalama yine düşüyor. %38 değeri histogramdaki 100 bp tepesinden (yaklaşık 680 okuma / 1793) okunuyor. Alıştırma 3'teki 5' uç kırpması sonuçları neredeyse hiç değiştirmiyor (toplam baz 165 539).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bölüm: kaç okuma yeterli sorusu. Poisson dağılımını hatırlatın; olasılık dersiyle bağlantı kurun.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Lander–Waterman (1988) modeli genom projelerinin planlanmasında kullanılan ilk nicel modeldir. Poisson varsayımının kaynağını açıklayın: çok sayıda okuma (N büyük), her birinin belirli bir bazı kapsama olasılığı küçük (L/G). Notebook bölüm 5'in çıktısıyla aynı sayılar.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30×? Heterozigot bir varyantı güvenle görmek için her alelden birkaç okuma gerekir; ayrıca kapsama gerçekte Poisson'dan daha değişkendir (aşırı dağılım). Sonraki slaytın üst panelinde C = 5'te bir bazın 0 kez okunma olasılığı 0.0067; 2 veya daha az okunma olasılığı ise yaklaşık 0.125. Öğrencilere 3 Gbp × 0.001 = 3 Mbp'nin 6.9×'te hâlâ okunmadığını fark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Üst paneldeki eğrilerin C büyüdükçe genişlediğini gösterin: Poisson'da standart sapma √C'dir, yani 30×'te yaklaşık ±5.5. Alt panelde doğrusal düşüşün eğimini sorun: e^(−C) = 10^(−C/ln10) olduğundan her 2.3× artış bir basamak kazandırır. Gerçek verideki kapsama dağılımının Poisson'dan daha geniş olduğunu (aşırı yayılım) ve bu yüzden hedef kapsamanın daha yüksek seçildiğini vurgulayın.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Phred+64 kartındaki sayılar: ord('h') = 104; 104 − 64 = 40, 104 − 33 = 71. Phred+64'te ';' karakteri −5'e karşılık gelir, yani geçersizdir; bu yüzden &lt; 64 karakter görmek kodlamayı ele verir. Biopython'da Phred+64 için format adı 'fastq-illumina'.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 soru öğrencilerin kendi keşfi için; sonuç beklenen hata histogramından tahmin edilebilir. Alıştırma 4 için beklenen düz çizgiler notebook çözümündeki grafikle karşılaştırılabilir: tüm bazlar 0.2–0.3 aralığında dalgalanıyor. Çözümler notebook'un sonunda.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Temeller bloğunun son haftasına geçiyoruz. Gelecek hafta bugünkü temiz okumalara değil, plazmit dizisine döneceğiz: promotör kutularını PSSM ile arayacak, restriksiyon enzimleriyle sanal jel çizecek ve hafta 2'deki Tm hesaplarını primer tasarımında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Yeni Nesil Dizileme Verisi: FASTQ Formatı ve Kalite Kontrol</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Phred skorları, beklenen hata, QC grafikleri, kırpma algoritmaları ve Lander–Waterman kapsaması</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hafta04_fastq_kalite_kontrol.ipynb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Yeni nesil dizileme (NGS) iş akışını ve </a:t>
            </a:r>
            <a:r>
              <a:rPr lang="en-US" sz="1800" b="1" dirty="0">
                <a:solidFill>
                  <a:srgbClr val="212121"/>
                </a:solidFill>
                <a:latin typeface="Calibri" pitchFamily="34" charset="0"/>
                <a:ea typeface="Calibri" pitchFamily="34" charset="-122"/>
                <a:cs typeface="Calibri" pitchFamily="34" charset="-120"/>
              </a:rPr>
              <a:t>FASTQ</a:t>
            </a:r>
            <a:r>
              <a:rPr lang="en-US" sz="1800" dirty="0">
                <a:solidFill>
                  <a:srgbClr val="212121"/>
                </a:solidFill>
                <a:latin typeface="Calibri" pitchFamily="34" charset="0"/>
                <a:ea typeface="Calibri" pitchFamily="34" charset="-122"/>
                <a:cs typeface="Calibri" pitchFamily="34" charset="-120"/>
              </a:rPr>
              <a:t> formatını tanımak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Phred skoru ↔ hata olasılığı ↔ ASCII karakter dönüşümlerini yapmak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Okuma başına </a:t>
            </a:r>
            <a:r>
              <a:rPr lang="en-US" sz="1800" b="1" dirty="0">
                <a:solidFill>
                  <a:srgbClr val="212121"/>
                </a:solidFill>
                <a:latin typeface="Calibri" pitchFamily="34" charset="0"/>
                <a:ea typeface="Calibri" pitchFamily="34" charset="-122"/>
                <a:cs typeface="Calibri" pitchFamily="34" charset="-120"/>
              </a:rPr>
              <a:t>beklenen hata sayısını</a:t>
            </a:r>
            <a:r>
              <a:rPr lang="en-US" sz="1800" dirty="0">
                <a:solidFill>
                  <a:srgbClr val="212121"/>
                </a:solidFill>
                <a:latin typeface="Calibri" pitchFamily="34" charset="0"/>
                <a:ea typeface="Calibri" pitchFamily="34" charset="-122"/>
                <a:cs typeface="Calibri" pitchFamily="34" charset="-120"/>
              </a:rPr>
              <a:t> hesaplamak; ortalama Q'nun neden yanıltıcı olduğunu görmek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Konum bazlı kalite, okuma başı kalite, GC ve N dağılımı </a:t>
            </a:r>
            <a:r>
              <a:rPr lang="en-US" sz="1800" b="1" dirty="0">
                <a:solidFill>
                  <a:srgbClr val="212121"/>
                </a:solidFill>
                <a:latin typeface="Calibri" pitchFamily="34" charset="0"/>
                <a:ea typeface="Calibri" pitchFamily="34" charset="-122"/>
                <a:cs typeface="Calibri" pitchFamily="34" charset="-120"/>
              </a:rPr>
              <a:t>QC grafiklerini</a:t>
            </a:r>
            <a:r>
              <a:rPr lang="en-US" sz="1800" dirty="0">
                <a:solidFill>
                  <a:srgbClr val="212121"/>
                </a:solidFill>
                <a:latin typeface="Calibri" pitchFamily="34" charset="0"/>
                <a:ea typeface="Calibri" pitchFamily="34" charset="-122"/>
                <a:cs typeface="Calibri" pitchFamily="34" charset="-120"/>
              </a:rPr>
              <a:t> üretmek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Adaptör kırpma, </a:t>
            </a:r>
            <a:r>
              <a:rPr lang="en-US" sz="1800" b="1" dirty="0">
                <a:solidFill>
                  <a:srgbClr val="212121"/>
                </a:solidFill>
                <a:latin typeface="Calibri" pitchFamily="34" charset="0"/>
                <a:ea typeface="Calibri" pitchFamily="34" charset="-122"/>
                <a:cs typeface="Calibri" pitchFamily="34" charset="-120"/>
              </a:rPr>
              <a:t>kayan pencere</a:t>
            </a:r>
            <a:r>
              <a:rPr lang="en-US" sz="1800" dirty="0">
                <a:solidFill>
                  <a:srgbClr val="212121"/>
                </a:solidFill>
                <a:latin typeface="Calibri" pitchFamily="34" charset="0"/>
                <a:ea typeface="Calibri" pitchFamily="34" charset="-122"/>
                <a:cs typeface="Calibri" pitchFamily="34" charset="-120"/>
              </a:rPr>
              <a:t> kırpma ve filtreleme algoritmalarını yazmak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Lander–Waterman</a:t>
            </a:r>
            <a:r>
              <a:rPr lang="en-US" sz="1800" dirty="0">
                <a:solidFill>
                  <a:srgbClr val="212121"/>
                </a:solidFill>
                <a:latin typeface="Calibri" pitchFamily="34" charset="0"/>
                <a:ea typeface="Calibri" pitchFamily="34" charset="-122"/>
                <a:cs typeface="Calibri" pitchFamily="34" charset="-120"/>
              </a:rPr>
              <a:t> modeliyle kapsama ve okunmamış baz oranını hesaplamak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NGS'ye kısa giriş; FASTQ; Phred+33; beklenen hata; elle örnekler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FASTQ okuma, performans, QC grafikleri (notebook bölüm 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Kırpma / filtreleme boru hattı, önce–sonra karşılaştırması, kapsama (bölüm 4–6)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NGS, FASTQ ve Phred skoru</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Her baz için bir güven değeri: logaritmik ölçekte hata olasılığı</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Kısa okuma dizilemesi (Illumina) iş akışı</a:t>
            </a:r>
            <a:endParaRPr lang="en-US" sz="3000" dirty="0"/>
          </a:p>
        </p:txBody>
      </p:sp>
      <p:sp>
        <p:nvSpPr>
          <p:cNvPr id="3" name="Shape 1"/>
          <p:cNvSpPr/>
          <p:nvPr/>
        </p:nvSpPr>
        <p:spPr>
          <a:xfrm>
            <a:off x="548640" y="1417320"/>
            <a:ext cx="2464994" cy="1234440"/>
          </a:xfrm>
          <a:prstGeom prst="roundRect">
            <a:avLst>
              <a:gd name="adj" fmla="val 5926"/>
            </a:avLst>
          </a:prstGeom>
          <a:solidFill>
            <a:srgbClr val="F7F9FA"/>
          </a:solidFill>
          <a:ln w="12700">
            <a:solidFill>
              <a:srgbClr val="B0BEC5"/>
            </a:solidFill>
            <a:prstDash val="solid"/>
          </a:ln>
        </p:spPr>
      </p:sp>
      <p:sp>
        <p:nvSpPr>
          <p:cNvPr id="4" name="Text 2"/>
          <p:cNvSpPr txBox="1"/>
          <p:nvPr/>
        </p:nvSpPr>
        <p:spPr>
          <a:xfrm>
            <a:off x="621792"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DNA örneği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Genomik DNA veya cDNA</a:t>
            </a:r>
            <a:endParaRPr lang="en-US" sz="1500" dirty="0"/>
          </a:p>
        </p:txBody>
      </p:sp>
      <p:sp>
        <p:nvSpPr>
          <p:cNvPr id="5" name="Shape 3"/>
          <p:cNvSpPr/>
          <p:nvPr/>
        </p:nvSpPr>
        <p:spPr>
          <a:xfrm>
            <a:off x="3059354" y="2034540"/>
            <a:ext cx="320040" cy="0"/>
          </a:xfrm>
          <a:prstGeom prst="line">
            <a:avLst/>
          </a:prstGeom>
          <a:noFill/>
          <a:ln w="19050">
            <a:solidFill>
              <a:srgbClr val="546E7A"/>
            </a:solidFill>
            <a:prstDash val="solid"/>
            <a:tailEnd type="triangle"/>
          </a:ln>
        </p:spPr>
      </p:sp>
      <p:sp>
        <p:nvSpPr>
          <p:cNvPr id="6" name="Shape 4"/>
          <p:cNvSpPr/>
          <p:nvPr/>
        </p:nvSpPr>
        <p:spPr>
          <a:xfrm>
            <a:off x="3425114" y="1417320"/>
            <a:ext cx="2464994" cy="1234440"/>
          </a:xfrm>
          <a:prstGeom prst="roundRect">
            <a:avLst>
              <a:gd name="adj" fmla="val 5926"/>
            </a:avLst>
          </a:prstGeom>
          <a:solidFill>
            <a:srgbClr val="F7F9FA"/>
          </a:solidFill>
          <a:ln w="12700">
            <a:solidFill>
              <a:srgbClr val="B0BEC5"/>
            </a:solidFill>
            <a:prstDash val="solid"/>
          </a:ln>
        </p:spPr>
      </p:sp>
      <p:sp>
        <p:nvSpPr>
          <p:cNvPr id="7" name="Text 5"/>
          <p:cNvSpPr txBox="1"/>
          <p:nvPr/>
        </p:nvSpPr>
        <p:spPr>
          <a:xfrm>
            <a:off x="3498266"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Parçalama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200–500 bp parçalar</a:t>
            </a:r>
            <a:endParaRPr lang="en-US" sz="1500" dirty="0"/>
          </a:p>
        </p:txBody>
      </p:sp>
      <p:sp>
        <p:nvSpPr>
          <p:cNvPr id="8" name="Shape 6"/>
          <p:cNvSpPr/>
          <p:nvPr/>
        </p:nvSpPr>
        <p:spPr>
          <a:xfrm>
            <a:off x="5935828" y="2034540"/>
            <a:ext cx="320040" cy="0"/>
          </a:xfrm>
          <a:prstGeom prst="line">
            <a:avLst/>
          </a:prstGeom>
          <a:noFill/>
          <a:ln w="19050">
            <a:solidFill>
              <a:srgbClr val="546E7A"/>
            </a:solidFill>
            <a:prstDash val="solid"/>
            <a:tailEnd type="triangle"/>
          </a:ln>
        </p:spPr>
      </p:sp>
      <p:sp>
        <p:nvSpPr>
          <p:cNvPr id="9" name="Shape 7"/>
          <p:cNvSpPr/>
          <p:nvPr/>
        </p:nvSpPr>
        <p:spPr>
          <a:xfrm>
            <a:off x="6301588" y="1417320"/>
            <a:ext cx="2464994" cy="1234440"/>
          </a:xfrm>
          <a:prstGeom prst="roundRect">
            <a:avLst>
              <a:gd name="adj" fmla="val 5926"/>
            </a:avLst>
          </a:prstGeom>
          <a:solidFill>
            <a:srgbClr val="F7F9FA"/>
          </a:solidFill>
          <a:ln w="12700">
            <a:solidFill>
              <a:srgbClr val="B0BEC5"/>
            </a:solidFill>
            <a:prstDash val="solid"/>
          </a:ln>
        </p:spPr>
      </p:sp>
      <p:sp>
        <p:nvSpPr>
          <p:cNvPr id="10" name="Text 8"/>
          <p:cNvSpPr txBox="1"/>
          <p:nvPr/>
        </p:nvSpPr>
        <p:spPr>
          <a:xfrm>
            <a:off x="6374740"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Kütüphane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Uçlara </a:t>
            </a:r>
            <a:r>
              <a:rPr lang="en-US" sz="1200" b="1" dirty="0">
                <a:solidFill>
                  <a:srgbClr val="37474F"/>
                </a:solidFill>
                <a:latin typeface="Calibri" pitchFamily="34" charset="0"/>
                <a:ea typeface="Calibri" pitchFamily="34" charset="-122"/>
                <a:cs typeface="Calibri" pitchFamily="34" charset="-120"/>
              </a:rPr>
              <a:t>adaptör</a:t>
            </a:r>
            <a:r>
              <a:rPr lang="en-US" sz="1200" dirty="0">
                <a:solidFill>
                  <a:srgbClr val="37474F"/>
                </a:solidFill>
                <a:latin typeface="Calibri" pitchFamily="34" charset="0"/>
                <a:ea typeface="Calibri" pitchFamily="34" charset="-122"/>
                <a:cs typeface="Calibri" pitchFamily="34" charset="-120"/>
              </a:rPr>
              <a:t> eklenir</a:t>
            </a:r>
            <a:endParaRPr lang="en-US" sz="1500" dirty="0"/>
          </a:p>
        </p:txBody>
      </p:sp>
      <p:sp>
        <p:nvSpPr>
          <p:cNvPr id="11" name="Shape 9"/>
          <p:cNvSpPr/>
          <p:nvPr/>
        </p:nvSpPr>
        <p:spPr>
          <a:xfrm>
            <a:off x="8812301" y="2034540"/>
            <a:ext cx="320040" cy="0"/>
          </a:xfrm>
          <a:prstGeom prst="line">
            <a:avLst/>
          </a:prstGeom>
          <a:noFill/>
          <a:ln w="19050">
            <a:solidFill>
              <a:srgbClr val="546E7A"/>
            </a:solidFill>
            <a:prstDash val="solid"/>
            <a:tailEnd type="triangle"/>
          </a:ln>
        </p:spPr>
      </p:sp>
      <p:sp>
        <p:nvSpPr>
          <p:cNvPr id="12" name="Shape 10"/>
          <p:cNvSpPr/>
          <p:nvPr/>
        </p:nvSpPr>
        <p:spPr>
          <a:xfrm>
            <a:off x="9178061" y="1417320"/>
            <a:ext cx="2464994" cy="1234440"/>
          </a:xfrm>
          <a:prstGeom prst="roundRect">
            <a:avLst>
              <a:gd name="adj" fmla="val 5926"/>
            </a:avLst>
          </a:prstGeom>
          <a:solidFill>
            <a:srgbClr val="F7F9FA"/>
          </a:solidFill>
          <a:ln w="12700">
            <a:solidFill>
              <a:srgbClr val="B0BEC5"/>
            </a:solidFill>
            <a:prstDash val="solid"/>
          </a:ln>
        </p:spPr>
      </p:sp>
      <p:sp>
        <p:nvSpPr>
          <p:cNvPr id="13" name="Text 11"/>
          <p:cNvSpPr txBox="1"/>
          <p:nvPr/>
        </p:nvSpPr>
        <p:spPr>
          <a:xfrm>
            <a:off x="9251213" y="141732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Küme oluşturma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Köprü amplifikasyonu: her parçadan binlerce kopya</a:t>
            </a:r>
            <a:endParaRPr lang="en-US" sz="1500" dirty="0"/>
          </a:p>
        </p:txBody>
      </p:sp>
      <p:sp>
        <p:nvSpPr>
          <p:cNvPr id="14" name="Shape 12"/>
          <p:cNvSpPr/>
          <p:nvPr/>
        </p:nvSpPr>
        <p:spPr>
          <a:xfrm>
            <a:off x="548640" y="3200400"/>
            <a:ext cx="2464994" cy="1234440"/>
          </a:xfrm>
          <a:prstGeom prst="roundRect">
            <a:avLst>
              <a:gd name="adj" fmla="val 5926"/>
            </a:avLst>
          </a:prstGeom>
          <a:solidFill>
            <a:srgbClr val="F7F9FA"/>
          </a:solidFill>
          <a:ln w="12700">
            <a:solidFill>
              <a:srgbClr val="B0BEC5"/>
            </a:solidFill>
            <a:prstDash val="solid"/>
          </a:ln>
        </p:spPr>
      </p:sp>
      <p:sp>
        <p:nvSpPr>
          <p:cNvPr id="15" name="Text 13"/>
          <p:cNvSpPr txBox="1"/>
          <p:nvPr/>
        </p:nvSpPr>
        <p:spPr>
          <a:xfrm>
            <a:off x="621792"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Sentezle dizileme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Her döngüde 1 baz, floresan görüntü</a:t>
            </a:r>
            <a:endParaRPr lang="en-US" sz="1500" dirty="0"/>
          </a:p>
        </p:txBody>
      </p:sp>
      <p:sp>
        <p:nvSpPr>
          <p:cNvPr id="16" name="Shape 14"/>
          <p:cNvSpPr/>
          <p:nvPr/>
        </p:nvSpPr>
        <p:spPr>
          <a:xfrm>
            <a:off x="3059354" y="3817620"/>
            <a:ext cx="320040" cy="0"/>
          </a:xfrm>
          <a:prstGeom prst="line">
            <a:avLst/>
          </a:prstGeom>
          <a:noFill/>
          <a:ln w="19050">
            <a:solidFill>
              <a:srgbClr val="546E7A"/>
            </a:solidFill>
            <a:prstDash val="solid"/>
            <a:tailEnd type="triangle"/>
          </a:ln>
        </p:spPr>
      </p:sp>
      <p:sp>
        <p:nvSpPr>
          <p:cNvPr id="17" name="Shape 15"/>
          <p:cNvSpPr/>
          <p:nvPr/>
        </p:nvSpPr>
        <p:spPr>
          <a:xfrm>
            <a:off x="3425114" y="3200400"/>
            <a:ext cx="2464994" cy="1234440"/>
          </a:xfrm>
          <a:prstGeom prst="roundRect">
            <a:avLst>
              <a:gd name="adj" fmla="val 5926"/>
            </a:avLst>
          </a:prstGeom>
          <a:solidFill>
            <a:srgbClr val="FDECEA"/>
          </a:solidFill>
          <a:ln w="12700">
            <a:solidFill>
              <a:srgbClr val="B71C1C"/>
            </a:solidFill>
            <a:prstDash val="solid"/>
          </a:ln>
        </p:spPr>
      </p:sp>
      <p:sp>
        <p:nvSpPr>
          <p:cNvPr id="18" name="Text 16"/>
          <p:cNvSpPr txBox="1"/>
          <p:nvPr/>
        </p:nvSpPr>
        <p:spPr>
          <a:xfrm>
            <a:off x="3498266"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Baz çağırma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Görüntü → baz + </a:t>
            </a:r>
            <a:r>
              <a:rPr lang="en-US" sz="1200" b="1" dirty="0">
                <a:solidFill>
                  <a:srgbClr val="37474F"/>
                </a:solidFill>
                <a:latin typeface="Calibri" pitchFamily="34" charset="0"/>
                <a:ea typeface="Calibri" pitchFamily="34" charset="-122"/>
                <a:cs typeface="Calibri" pitchFamily="34" charset="-120"/>
              </a:rPr>
              <a:t>kalite (Q)</a:t>
            </a:r>
            <a:endParaRPr lang="en-US" sz="1500" dirty="0"/>
          </a:p>
        </p:txBody>
      </p:sp>
      <p:sp>
        <p:nvSpPr>
          <p:cNvPr id="19" name="Shape 17"/>
          <p:cNvSpPr/>
          <p:nvPr/>
        </p:nvSpPr>
        <p:spPr>
          <a:xfrm>
            <a:off x="5935828" y="3817620"/>
            <a:ext cx="320040" cy="0"/>
          </a:xfrm>
          <a:prstGeom prst="line">
            <a:avLst/>
          </a:prstGeom>
          <a:noFill/>
          <a:ln w="19050">
            <a:solidFill>
              <a:srgbClr val="546E7A"/>
            </a:solidFill>
            <a:prstDash val="solid"/>
            <a:tailEnd type="triangle"/>
          </a:ln>
        </p:spPr>
      </p:sp>
      <p:sp>
        <p:nvSpPr>
          <p:cNvPr id="20" name="Shape 18"/>
          <p:cNvSpPr/>
          <p:nvPr/>
        </p:nvSpPr>
        <p:spPr>
          <a:xfrm>
            <a:off x="6301588" y="3200400"/>
            <a:ext cx="2464994" cy="1234440"/>
          </a:xfrm>
          <a:prstGeom prst="roundRect">
            <a:avLst>
              <a:gd name="adj" fmla="val 5926"/>
            </a:avLst>
          </a:prstGeom>
          <a:solidFill>
            <a:srgbClr val="F7F9FA"/>
          </a:solidFill>
          <a:ln w="12700">
            <a:solidFill>
              <a:srgbClr val="B0BEC5"/>
            </a:solidFill>
            <a:prstDash val="solid"/>
          </a:ln>
        </p:spPr>
      </p:sp>
      <p:sp>
        <p:nvSpPr>
          <p:cNvPr id="21" name="Text 19"/>
          <p:cNvSpPr txBox="1"/>
          <p:nvPr/>
        </p:nvSpPr>
        <p:spPr>
          <a:xfrm>
            <a:off x="6374740"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FASTQ</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Okuma başına 4 satır</a:t>
            </a:r>
            <a:endParaRPr lang="en-US" sz="1500" dirty="0"/>
          </a:p>
        </p:txBody>
      </p:sp>
      <p:sp>
        <p:nvSpPr>
          <p:cNvPr id="22" name="Shape 20"/>
          <p:cNvSpPr/>
          <p:nvPr/>
        </p:nvSpPr>
        <p:spPr>
          <a:xfrm>
            <a:off x="8812301" y="3817620"/>
            <a:ext cx="320040" cy="0"/>
          </a:xfrm>
          <a:prstGeom prst="line">
            <a:avLst/>
          </a:prstGeom>
          <a:noFill/>
          <a:ln w="19050">
            <a:solidFill>
              <a:srgbClr val="546E7A"/>
            </a:solidFill>
            <a:prstDash val="solid"/>
            <a:tailEnd type="triangle"/>
          </a:ln>
        </p:spPr>
      </p:sp>
      <p:sp>
        <p:nvSpPr>
          <p:cNvPr id="23" name="Shape 21"/>
          <p:cNvSpPr/>
          <p:nvPr/>
        </p:nvSpPr>
        <p:spPr>
          <a:xfrm>
            <a:off x="9178061" y="3200400"/>
            <a:ext cx="2464994" cy="1234440"/>
          </a:xfrm>
          <a:prstGeom prst="roundRect">
            <a:avLst>
              <a:gd name="adj" fmla="val 5926"/>
            </a:avLst>
          </a:prstGeom>
          <a:solidFill>
            <a:srgbClr val="FDECEA"/>
          </a:solidFill>
          <a:ln w="12700">
            <a:solidFill>
              <a:srgbClr val="B71C1C"/>
            </a:solidFill>
            <a:prstDash val="solid"/>
          </a:ln>
        </p:spPr>
      </p:sp>
      <p:sp>
        <p:nvSpPr>
          <p:cNvPr id="24" name="Text 22"/>
          <p:cNvSpPr txBox="1"/>
          <p:nvPr/>
        </p:nvSpPr>
        <p:spPr>
          <a:xfrm>
            <a:off x="9251213" y="3200400"/>
            <a:ext cx="2318690"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QC + kırpma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Bu haftanın konusu</a:t>
            </a:r>
            <a:endParaRPr lang="en-US" sz="1500" dirty="0"/>
          </a:p>
        </p:txBody>
      </p:sp>
      <p:sp>
        <p:nvSpPr>
          <p:cNvPr id="25" name="Text 23"/>
          <p:cNvSpPr txBox="1"/>
          <p:nvPr/>
        </p:nvSpPr>
        <p:spPr>
          <a:xfrm>
            <a:off x="548640" y="4983480"/>
            <a:ext cx="11094415" cy="128016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Döngü ilerledikçe kümelerdeki kopyalar </a:t>
            </a:r>
            <a:r>
              <a:rPr lang="en-US" sz="1700" b="1" dirty="0">
                <a:solidFill>
                  <a:srgbClr val="212121"/>
                </a:solidFill>
                <a:latin typeface="Calibri" pitchFamily="34" charset="0"/>
                <a:ea typeface="Calibri" pitchFamily="34" charset="-122"/>
                <a:cs typeface="Calibri" pitchFamily="34" charset="-120"/>
              </a:rPr>
              <a:t>faz dışı</a:t>
            </a:r>
            <a:r>
              <a:rPr lang="en-US" sz="1700" dirty="0">
                <a:solidFill>
                  <a:srgbClr val="212121"/>
                </a:solidFill>
                <a:latin typeface="Calibri" pitchFamily="34" charset="0"/>
                <a:ea typeface="Calibri" pitchFamily="34" charset="-122"/>
                <a:cs typeface="Calibri" pitchFamily="34" charset="-120"/>
              </a:rPr>
              <a:t> kalır → okumanın sonuna doğru kalite düşer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Parça okuma uzunluğundan kısaysa okuma </a:t>
            </a:r>
            <a:r>
              <a:rPr lang="en-US" sz="1700" b="1" dirty="0">
                <a:solidFill>
                  <a:srgbClr val="212121"/>
                </a:solidFill>
                <a:latin typeface="Calibri" pitchFamily="34" charset="0"/>
                <a:ea typeface="Calibri" pitchFamily="34" charset="-122"/>
                <a:cs typeface="Calibri" pitchFamily="34" charset="-120"/>
              </a:rPr>
              <a:t>adaptöre</a:t>
            </a:r>
            <a:r>
              <a:rPr lang="en-US" sz="1700" dirty="0">
                <a:solidFill>
                  <a:srgbClr val="212121"/>
                </a:solidFill>
                <a:latin typeface="Calibri" pitchFamily="34" charset="0"/>
                <a:ea typeface="Calibri" pitchFamily="34" charset="-122"/>
                <a:cs typeface="Calibri" pitchFamily="34" charset="-120"/>
              </a:rPr>
              <a:t> taşar → adaptör kırpma gerekir</a:t>
            </a:r>
            <a:endParaRPr lang="en-US" sz="1700" dirty="0"/>
          </a:p>
        </p:txBody>
      </p:sp>
      <p:sp>
        <p:nvSpPr>
          <p:cNvPr id="26" name="Text 2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27" name="Text 2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Dizileme teknolojileri: tipik değerler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36084"/>
                <a:gridCol w="1806068"/>
                <a:gridCol w="1548058"/>
                <a:gridCol w="2580097"/>
                <a:gridCol w="292410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Teknoloji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Okuma uzunluğu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Tipik hata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Baskın hata türü</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Kullanım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Illumina (kısa okuma)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50–300 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Yer değiştirme (substitution)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Yeniden dizileme, RNA-seq, varyant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PacBio HiFi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10–25 kb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&lt; %1 (≈ Q30)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Az; homopolimer indel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De novo birleştirme, yapısal varyant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Oxford Nanopore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kb – &gt; 1 Mb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İndel (homopolimerlerde)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Uzun yapılar, sahada dizileme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Sanger (kapiler)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~1000 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uçlarında düşük kalite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Klon doğrulama, tek gen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4206240"/>
            <a:ext cx="11094415" cy="822960"/>
          </a:xfrm>
          <a:prstGeom prst="roundRect">
            <a:avLst>
              <a:gd name="adj" fmla="val 8889"/>
            </a:avLst>
          </a:prstGeom>
          <a:solidFill>
            <a:srgbClr val="FDECEA"/>
          </a:solidFill>
          <a:ln/>
        </p:spPr>
      </p:sp>
      <p:sp>
        <p:nvSpPr>
          <p:cNvPr id="5" name="Text 2"/>
          <p:cNvSpPr txBox="1"/>
          <p:nvPr/>
        </p:nvSpPr>
        <p:spPr>
          <a:xfrm>
            <a:off x="731520" y="420624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Hepsi FASTQ üretir ve kaliteyi Phred ölçeğiyle verir; ancak hata </a:t>
            </a:r>
            <a:r>
              <a:rPr lang="en-US" sz="1600" b="1" dirty="0">
                <a:solidFill>
                  <a:srgbClr val="212121"/>
                </a:solidFill>
                <a:latin typeface="Calibri" pitchFamily="34" charset="0"/>
                <a:ea typeface="Calibri" pitchFamily="34" charset="-122"/>
                <a:cs typeface="Calibri" pitchFamily="34" charset="-120"/>
              </a:rPr>
              <a:t>profilleri</a:t>
            </a:r>
            <a:r>
              <a:rPr lang="en-US" sz="1600" dirty="0">
                <a:solidFill>
                  <a:srgbClr val="212121"/>
                </a:solidFill>
                <a:latin typeface="Calibri" pitchFamily="34" charset="0"/>
                <a:ea typeface="Calibri" pitchFamily="34" charset="-122"/>
                <a:cs typeface="Calibri" pitchFamily="34" charset="-120"/>
              </a:rPr>
              <a:t> farklıdır. Bu hafta kısa okuma (Illumina tipi) verisine odaklanıyoruz. Değerler yaklaşık ve teknolojiyle hızla değişmektedir.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FASTQ formatı: kayıt başına 4 satır</a:t>
            </a:r>
            <a:endParaRPr lang="en-US" sz="3000" dirty="0"/>
          </a:p>
        </p:txBody>
      </p:sp>
      <p:sp>
        <p:nvSpPr>
          <p:cNvPr id="3" name="Shape 1"/>
          <p:cNvSpPr/>
          <p:nvPr/>
        </p:nvSpPr>
        <p:spPr>
          <a:xfrm>
            <a:off x="548640" y="1234440"/>
            <a:ext cx="5364328" cy="5029200"/>
          </a:xfrm>
          <a:prstGeom prst="roundRect">
            <a:avLst>
              <a:gd name="adj" fmla="val 1455"/>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Satırlar</a:t>
            </a:r>
            <a:endParaRPr lang="en-US" sz="1800" dirty="0"/>
          </a:p>
        </p:txBody>
      </p:sp>
      <p:sp>
        <p:nvSpPr>
          <p:cNvPr id="5" name="Text 3"/>
          <p:cNvSpPr txBox="1"/>
          <p:nvPr/>
        </p:nvSpPr>
        <p:spPr>
          <a:xfrm>
            <a:off x="685800" y="1828800"/>
            <a:ext cx="5090008" cy="429768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1.</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 kimlik (+ isteğe bağlı açıklama)</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 Dizi (A, C, G, T, N)</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(isteğe bağlı olarak kimlik tekrarı)</a:t>
            </a:r>
            <a:endParaRPr lang="en-US" sz="1700" dirty="0"/>
          </a:p>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4.</a:t>
            </a:r>
            <a:r>
              <a:rPr lang="en-US" sz="1700" dirty="0">
                <a:solidFill>
                  <a:srgbClr val="212121"/>
                </a:solidFill>
                <a:latin typeface="Calibri" pitchFamily="34" charset="0"/>
                <a:ea typeface="Calibri" pitchFamily="34" charset="-122"/>
                <a:cs typeface="Calibri" pitchFamily="34" charset="-120"/>
              </a:rPr>
              <a:t> Kalite dizgisi: </a:t>
            </a:r>
            <a:r>
              <a:rPr lang="en-US" sz="1700" b="1" dirty="0">
                <a:solidFill>
                  <a:srgbClr val="212121"/>
                </a:solidFill>
                <a:latin typeface="Calibri" pitchFamily="34" charset="0"/>
                <a:ea typeface="Calibri" pitchFamily="34" charset="-122"/>
                <a:cs typeface="Calibri" pitchFamily="34" charset="-120"/>
              </a:rPr>
              <a:t>her baz için 1 karakter</a:t>
            </a:r>
            <a:r>
              <a:rPr lang="en-US" sz="1700" dirty="0">
                <a:solidFill>
                  <a:srgbClr val="212121"/>
                </a:solidFill>
                <a:latin typeface="Calibri" pitchFamily="34" charset="0"/>
                <a:ea typeface="Calibri" pitchFamily="34" charset="-122"/>
                <a:cs typeface="Calibri" pitchFamily="34" charset="-120"/>
              </a:rPr>
              <a:t> → uzunluk = dizi uzunluğu</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Karakter = </a:t>
            </a:r>
            <a:r>
              <a:rPr lang="en-US" sz="1700" dirty="0">
                <a:solidFill>
                  <a:srgbClr val="455A64"/>
                </a:solidFill>
                <a:latin typeface="Courier New" pitchFamily="34" charset="0"/>
                <a:ea typeface="Courier New" pitchFamily="34" charset="-122"/>
                <a:cs typeface="Courier New" pitchFamily="34" charset="-120"/>
              </a:rPr>
              <a:t>chr(Q + 33)</a:t>
            </a:r>
            <a:r>
              <a:rPr lang="en-US" sz="1700" dirty="0">
                <a:solidFill>
                  <a:srgbClr val="212121"/>
                </a:solidFill>
                <a:latin typeface="Calibri" pitchFamily="34" charset="0"/>
                <a:ea typeface="Calibri" pitchFamily="34" charset="-122"/>
                <a:cs typeface="Calibri" pitchFamily="34" charset="-120"/>
              </a:rPr>
              <a:t> (Phred+33, Sanger / Illumina 1.8+)</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Dikkat: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aynı zamanda bir kalite karakteridir (Q = 31) → satır başına bakarak ayrıştırmak </a:t>
            </a:r>
            <a:r>
              <a:rPr lang="en-US" sz="1700" b="1" dirty="0">
                <a:solidFill>
                  <a:srgbClr val="212121"/>
                </a:solidFill>
                <a:latin typeface="Calibri" pitchFamily="34" charset="0"/>
                <a:ea typeface="Calibri" pitchFamily="34" charset="-122"/>
                <a:cs typeface="Calibri" pitchFamily="34" charset="-120"/>
              </a:rPr>
              <a:t>tehlikelidir</a:t>
            </a:r>
            <a:endParaRPr lang="en-US" sz="1700" dirty="0"/>
          </a:p>
        </p:txBody>
      </p:sp>
      <p:sp>
        <p:nvSpPr>
          <p:cNvPr id="6" name="Shape 4"/>
          <p:cNvSpPr/>
          <p:nvPr/>
        </p:nvSpPr>
        <p:spPr>
          <a:xfrm>
            <a:off x="6278728" y="1234440"/>
            <a:ext cx="5364328" cy="5029200"/>
          </a:xfrm>
          <a:prstGeom prst="roundRect">
            <a:avLst>
              <a:gd name="adj" fmla="val 1455"/>
            </a:avLst>
          </a:prstGeom>
          <a:solidFill>
            <a:srgbClr val="F7F9F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veri/okumalar.fastq (ilk kayıt, ilk 40 baz)</a:t>
            </a:r>
            <a:endParaRPr lang="en-US" sz="1800" dirty="0"/>
          </a:p>
        </p:txBody>
      </p:sp>
      <p:sp>
        <p:nvSpPr>
          <p:cNvPr id="8" name="Shape 6"/>
          <p:cNvSpPr/>
          <p:nvPr/>
        </p:nvSpPr>
        <p:spPr>
          <a:xfrm>
            <a:off x="6461608" y="1828800"/>
            <a:ext cx="4998568" cy="4297680"/>
          </a:xfrm>
          <a:prstGeom prst="roundRect">
            <a:avLst>
              <a:gd name="adj" fmla="val 1702"/>
            </a:avLst>
          </a:prstGeom>
          <a:solidFill>
            <a:srgbClr val="F4F6F7"/>
          </a:solidFill>
          <a:ln w="12700">
            <a:solidFill>
              <a:srgbClr val="B0BEC5"/>
            </a:solidFill>
            <a:prstDash val="solid"/>
          </a:ln>
        </p:spPr>
      </p:sp>
      <p:sp>
        <p:nvSpPr>
          <p:cNvPr id="9" name="Text 7"/>
          <p:cNvSpPr txBox="1"/>
          <p:nvPr/>
        </p:nvSpPr>
        <p:spPr>
          <a:xfrm>
            <a:off x="6571336" y="1901952"/>
            <a:ext cx="4779112" cy="4151376"/>
          </a:xfrm>
          <a:prstGeom prst="rect">
            <a:avLst/>
          </a:prstGeom>
          <a:noFill/>
          <a:ln/>
        </p:spPr>
        <p:txBody>
          <a:bodyPr wrap="square" lIns="0" tIns="0" rIns="0" bIns="0" rtlCol="0" anchor="t"/>
          <a:lstStyle/>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@okuma_0001 ornek=S1</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CGATGCTAATATTCTGATTTGGGGTTGATTTGCGCTTCAG...</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IFDDICJEHHBEJEDFDDDDDJDFC@IG@IHJCEJ&gt;BIDD...</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I = 73 - 33 = 40</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F = 70 - 33 = 37</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D = 68 - 33 = 35</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J = 74 - 33 = 41   (Illumina üst sınırı)</a:t>
            </a:r>
            <a:endParaRPr lang="en-US" sz="1400" dirty="0"/>
          </a:p>
          <a:p>
            <a:pPr indent="0" marL="0">
              <a:lnSpc>
                <a:spcPct val="100000"/>
              </a:lnSpc>
              <a:buNone/>
            </a:pPr>
            <a:r>
              <a:rPr lang="en-US" sz="1400" dirty="0">
                <a:solidFill>
                  <a:srgbClr val="263238"/>
                </a:solidFill>
                <a:latin typeface="Courier New" pitchFamily="34" charset="0"/>
                <a:ea typeface="Courier New" pitchFamily="34" charset="-122"/>
                <a:cs typeface="Courier New" pitchFamily="34" charset="-120"/>
              </a:rPr>
              <a:t>@ = 64 - 33 = 31</a:t>
            </a:r>
            <a:endParaRPr lang="en-US" sz="1400" dirty="0"/>
          </a:p>
        </p:txBody>
      </p:sp>
      <p:sp>
        <p:nvSpPr>
          <p:cNvPr id="10" name="Text 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1" name="Text 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Phred ölçeği ve beklenen hata</a:t>
            </a:r>
            <a:endParaRPr lang="en-US" sz="3000" dirty="0"/>
          </a:p>
        </p:txBody>
      </p:sp>
      <p:sp>
        <p:nvSpPr>
          <p:cNvPr id="3" name="Shape 1"/>
          <p:cNvSpPr/>
          <p:nvPr/>
        </p:nvSpPr>
        <p:spPr>
          <a:xfrm>
            <a:off x="548640" y="1234440"/>
            <a:ext cx="11094415" cy="1120140"/>
          </a:xfrm>
          <a:prstGeom prst="roundRect">
            <a:avLst>
              <a:gd name="adj" fmla="val 6531"/>
            </a:avLst>
          </a:prstGeom>
          <a:solidFill>
            <a:srgbClr val="F7F9FA"/>
          </a:solidFill>
          <a:ln w="12700">
            <a:solidFill>
              <a:srgbClr val="B0BEC5"/>
            </a:solidFill>
            <a:prstDash val="solid"/>
          </a:ln>
        </p:spPr>
      </p:sp>
      <p:sp>
        <p:nvSpPr>
          <p:cNvPr id="4" name="Text 2"/>
          <p:cNvSpPr txBox="1"/>
          <p:nvPr/>
        </p:nvSpPr>
        <p:spPr>
          <a:xfrm>
            <a:off x="731520" y="1234440"/>
            <a:ext cx="2651760" cy="1120140"/>
          </a:xfrm>
          <a:prstGeom prst="rect">
            <a:avLst/>
          </a:prstGeom>
          <a:noFill/>
          <a:ln/>
        </p:spPr>
        <p:txBody>
          <a:bodyPr wrap="square" lIns="0" tIns="0" rIns="0" bIns="0" rtlCol="0" anchor="ctr"/>
          <a:lstStyle/>
          <a:p>
            <a:pPr indent="0" marL="0">
              <a:buNone/>
            </a:pPr>
            <a:r>
              <a:rPr lang="en-US" sz="1600" b="1" dirty="0">
                <a:solidFill>
                  <a:srgbClr val="263238"/>
                </a:solidFill>
              </a:rPr>
              <a:t>Phred skoru</a:t>
            </a:r>
            <a:endParaRPr lang="en-US" sz="1600" dirty="0"/>
          </a:p>
        </p:txBody>
      </p:sp>
      <p:sp>
        <p:nvSpPr>
          <p:cNvPr id="5" name="Text 3"/>
          <p:cNvSpPr txBox="1"/>
          <p:nvPr/>
        </p:nvSpPr>
        <p:spPr>
          <a:xfrm>
            <a:off x="3474720" y="1234440"/>
            <a:ext cx="4754880" cy="11201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Q = −10 · log₁₀(P)</a:t>
            </a:r>
            <a:endParaRPr lang="en-US" sz="1800" dirty="0"/>
          </a:p>
        </p:txBody>
      </p:sp>
      <p:sp>
        <p:nvSpPr>
          <p:cNvPr id="6" name="Text 4"/>
          <p:cNvSpPr txBox="1"/>
          <p:nvPr/>
        </p:nvSpPr>
        <p:spPr>
          <a:xfrm>
            <a:off x="8412480" y="1234440"/>
            <a:ext cx="3047695" cy="11201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P: bazın </a:t>
            </a:r>
            <a:r>
              <a:rPr lang="en-US" sz="1300" b="1" dirty="0">
                <a:solidFill>
                  <a:srgbClr val="546E7A"/>
                </a:solidFill>
                <a:latin typeface="Calibri" pitchFamily="34" charset="0"/>
                <a:ea typeface="Calibri" pitchFamily="34" charset="-122"/>
                <a:cs typeface="Calibri" pitchFamily="34" charset="-120"/>
              </a:rPr>
              <a:t>yanlış</a:t>
            </a:r>
            <a:r>
              <a:rPr lang="en-US" sz="1300" dirty="0">
                <a:solidFill>
                  <a:srgbClr val="546E7A"/>
                </a:solidFill>
                <a:latin typeface="Calibri" pitchFamily="34" charset="0"/>
                <a:ea typeface="Calibri" pitchFamily="34" charset="-122"/>
                <a:cs typeface="Calibri" pitchFamily="34" charset="-120"/>
              </a:rPr>
              <a:t> çağrılma olasılığı; logaritmik ölçek: +10 Q = 10 kat daha az hata</a:t>
            </a:r>
            <a:endParaRPr lang="en-US" sz="1300" dirty="0"/>
          </a:p>
        </p:txBody>
      </p:sp>
      <p:sp>
        <p:nvSpPr>
          <p:cNvPr id="7" name="Shape 5"/>
          <p:cNvSpPr/>
          <p:nvPr/>
        </p:nvSpPr>
        <p:spPr>
          <a:xfrm>
            <a:off x="548640" y="2537460"/>
            <a:ext cx="11094415" cy="1120140"/>
          </a:xfrm>
          <a:prstGeom prst="roundRect">
            <a:avLst>
              <a:gd name="adj" fmla="val 6531"/>
            </a:avLst>
          </a:prstGeom>
          <a:solidFill>
            <a:srgbClr val="F7F9FA"/>
          </a:solidFill>
          <a:ln w="12700">
            <a:solidFill>
              <a:srgbClr val="B0BEC5"/>
            </a:solidFill>
            <a:prstDash val="solid"/>
          </a:ln>
        </p:spPr>
      </p:sp>
      <p:sp>
        <p:nvSpPr>
          <p:cNvPr id="8" name="Text 6"/>
          <p:cNvSpPr txBox="1"/>
          <p:nvPr/>
        </p:nvSpPr>
        <p:spPr>
          <a:xfrm>
            <a:off x="731520" y="2537460"/>
            <a:ext cx="2651760" cy="1120140"/>
          </a:xfrm>
          <a:prstGeom prst="rect">
            <a:avLst/>
          </a:prstGeom>
          <a:noFill/>
          <a:ln/>
        </p:spPr>
        <p:txBody>
          <a:bodyPr wrap="square" lIns="0" tIns="0" rIns="0" bIns="0" rtlCol="0" anchor="ctr"/>
          <a:lstStyle/>
          <a:p>
            <a:pPr indent="0" marL="0">
              <a:buNone/>
            </a:pPr>
            <a:r>
              <a:rPr lang="en-US" sz="1600" b="1" dirty="0">
                <a:solidFill>
                  <a:srgbClr val="263238"/>
                </a:solidFill>
              </a:rPr>
              <a:t>Ters dönüşüm</a:t>
            </a:r>
            <a:endParaRPr lang="en-US" sz="1600" dirty="0"/>
          </a:p>
        </p:txBody>
      </p:sp>
      <p:sp>
        <p:nvSpPr>
          <p:cNvPr id="9" name="Text 7"/>
          <p:cNvSpPr txBox="1"/>
          <p:nvPr/>
        </p:nvSpPr>
        <p:spPr>
          <a:xfrm>
            <a:off x="3474720" y="2537460"/>
            <a:ext cx="4754880" cy="11201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P = 10^(−Q/10)</a:t>
            </a:r>
            <a:endParaRPr lang="en-US" sz="1800" dirty="0"/>
          </a:p>
        </p:txBody>
      </p:sp>
      <p:sp>
        <p:nvSpPr>
          <p:cNvPr id="10" name="Text 8"/>
          <p:cNvSpPr txBox="1"/>
          <p:nvPr/>
        </p:nvSpPr>
        <p:spPr>
          <a:xfrm>
            <a:off x="8412480" y="2537460"/>
            <a:ext cx="3047695" cy="11201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Q = 30 → P = 0.001</a:t>
            </a:r>
            <a:endParaRPr lang="en-US" sz="1300" dirty="0"/>
          </a:p>
        </p:txBody>
      </p:sp>
      <p:sp>
        <p:nvSpPr>
          <p:cNvPr id="11" name="Shape 9"/>
          <p:cNvSpPr/>
          <p:nvPr/>
        </p:nvSpPr>
        <p:spPr>
          <a:xfrm>
            <a:off x="548640" y="3840480"/>
            <a:ext cx="11094415" cy="1120140"/>
          </a:xfrm>
          <a:prstGeom prst="roundRect">
            <a:avLst>
              <a:gd name="adj" fmla="val 6531"/>
            </a:avLst>
          </a:prstGeom>
          <a:solidFill>
            <a:srgbClr val="F7F9FA"/>
          </a:solidFill>
          <a:ln w="12700">
            <a:solidFill>
              <a:srgbClr val="B0BEC5"/>
            </a:solidFill>
            <a:prstDash val="solid"/>
          </a:ln>
        </p:spPr>
      </p:sp>
      <p:sp>
        <p:nvSpPr>
          <p:cNvPr id="12" name="Text 10"/>
          <p:cNvSpPr txBox="1"/>
          <p:nvPr/>
        </p:nvSpPr>
        <p:spPr>
          <a:xfrm>
            <a:off x="731520" y="3840480"/>
            <a:ext cx="2651760" cy="1120140"/>
          </a:xfrm>
          <a:prstGeom prst="rect">
            <a:avLst/>
          </a:prstGeom>
          <a:noFill/>
          <a:ln/>
        </p:spPr>
        <p:txBody>
          <a:bodyPr wrap="square" lIns="0" tIns="0" rIns="0" bIns="0" rtlCol="0" anchor="ctr"/>
          <a:lstStyle/>
          <a:p>
            <a:pPr indent="0" marL="0">
              <a:buNone/>
            </a:pPr>
            <a:r>
              <a:rPr lang="en-US" sz="1600" b="1" dirty="0">
                <a:solidFill>
                  <a:srgbClr val="263238"/>
                </a:solidFill>
              </a:rPr>
              <a:t>Kodlama</a:t>
            </a:r>
            <a:endParaRPr lang="en-US" sz="1600" dirty="0"/>
          </a:p>
        </p:txBody>
      </p:sp>
      <p:sp>
        <p:nvSpPr>
          <p:cNvPr id="13" name="Text 11"/>
          <p:cNvSpPr txBox="1"/>
          <p:nvPr/>
        </p:nvSpPr>
        <p:spPr>
          <a:xfrm>
            <a:off x="3474720" y="3840480"/>
            <a:ext cx="4754880" cy="11201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karakter = chr(Q + 33),  Q = ord(c) − 33</a:t>
            </a:r>
            <a:endParaRPr lang="en-US" sz="1800" dirty="0"/>
          </a:p>
        </p:txBody>
      </p:sp>
      <p:sp>
        <p:nvSpPr>
          <p:cNvPr id="14" name="Text 12"/>
          <p:cNvSpPr txBox="1"/>
          <p:nvPr/>
        </p:nvSpPr>
        <p:spPr>
          <a:xfrm>
            <a:off x="8412480" y="3840480"/>
            <a:ext cx="3047695" cy="11201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Phred+33: </a:t>
            </a:r>
            <a:r>
              <a:rPr lang="en-US" sz="1300" dirty="0">
                <a:solidFill>
                  <a:srgbClr val="455A64"/>
                </a:solidFill>
                <a:latin typeface="Courier New" pitchFamily="34" charset="0"/>
                <a:ea typeface="Courier New" pitchFamily="34" charset="-122"/>
                <a:cs typeface="Courier New" pitchFamily="34" charset="-120"/>
              </a:rPr>
              <a:t>!</a:t>
            </a:r>
            <a:r>
              <a:rPr lang="en-US" sz="1300" dirty="0">
                <a:solidFill>
                  <a:srgbClr val="546E7A"/>
                </a:solidFill>
                <a:latin typeface="Calibri" pitchFamily="34" charset="0"/>
                <a:ea typeface="Calibri" pitchFamily="34" charset="-122"/>
                <a:cs typeface="Calibri" pitchFamily="34" charset="-120"/>
              </a:rPr>
              <a:t> = 0, </a:t>
            </a:r>
            <a:r>
              <a:rPr lang="en-US" sz="1300" dirty="0">
                <a:solidFill>
                  <a:srgbClr val="455A64"/>
                </a:solidFill>
                <a:latin typeface="Courier New" pitchFamily="34" charset="0"/>
                <a:ea typeface="Courier New" pitchFamily="34" charset="-122"/>
                <a:cs typeface="Courier New" pitchFamily="34" charset="-120"/>
              </a:rPr>
              <a:t>+</a:t>
            </a:r>
            <a:r>
              <a:rPr lang="en-US" sz="1300" dirty="0">
                <a:solidFill>
                  <a:srgbClr val="546E7A"/>
                </a:solidFill>
                <a:latin typeface="Calibri" pitchFamily="34" charset="0"/>
                <a:ea typeface="Calibri" pitchFamily="34" charset="-122"/>
                <a:cs typeface="Calibri" pitchFamily="34" charset="-120"/>
              </a:rPr>
              <a:t> = 10, </a:t>
            </a:r>
            <a:r>
              <a:rPr lang="en-US" sz="1300" dirty="0">
                <a:solidFill>
                  <a:srgbClr val="455A64"/>
                </a:solidFill>
                <a:latin typeface="Courier New" pitchFamily="34" charset="0"/>
                <a:ea typeface="Courier New" pitchFamily="34" charset="-122"/>
                <a:cs typeface="Courier New" pitchFamily="34" charset="-120"/>
              </a:rPr>
              <a:t>5</a:t>
            </a:r>
            <a:r>
              <a:rPr lang="en-US" sz="1300" dirty="0">
                <a:solidFill>
                  <a:srgbClr val="546E7A"/>
                </a:solidFill>
                <a:latin typeface="Calibri" pitchFamily="34" charset="0"/>
                <a:ea typeface="Calibri" pitchFamily="34" charset="-122"/>
                <a:cs typeface="Calibri" pitchFamily="34" charset="-120"/>
              </a:rPr>
              <a:t> = 20, </a:t>
            </a:r>
            <a:r>
              <a:rPr lang="en-US" sz="1300" dirty="0">
                <a:solidFill>
                  <a:srgbClr val="455A64"/>
                </a:solidFill>
                <a:latin typeface="Courier New" pitchFamily="34" charset="0"/>
                <a:ea typeface="Courier New" pitchFamily="34" charset="-122"/>
                <a:cs typeface="Courier New" pitchFamily="34" charset="-120"/>
              </a:rPr>
              <a:t>?</a:t>
            </a:r>
            <a:r>
              <a:rPr lang="en-US" sz="1300" dirty="0">
                <a:solidFill>
                  <a:srgbClr val="546E7A"/>
                </a:solidFill>
                <a:latin typeface="Calibri" pitchFamily="34" charset="0"/>
                <a:ea typeface="Calibri" pitchFamily="34" charset="-122"/>
                <a:cs typeface="Calibri" pitchFamily="34" charset="-120"/>
              </a:rPr>
              <a:t> = 30, </a:t>
            </a:r>
            <a:r>
              <a:rPr lang="en-US" sz="1300" dirty="0">
                <a:solidFill>
                  <a:srgbClr val="455A64"/>
                </a:solidFill>
                <a:latin typeface="Courier New" pitchFamily="34" charset="0"/>
                <a:ea typeface="Courier New" pitchFamily="34" charset="-122"/>
                <a:cs typeface="Courier New" pitchFamily="34" charset="-120"/>
              </a:rPr>
              <a:t>I</a:t>
            </a:r>
            <a:r>
              <a:rPr lang="en-US" sz="1300" dirty="0">
                <a:solidFill>
                  <a:srgbClr val="546E7A"/>
                </a:solidFill>
                <a:latin typeface="Calibri" pitchFamily="34" charset="0"/>
                <a:ea typeface="Calibri" pitchFamily="34" charset="-122"/>
                <a:cs typeface="Calibri" pitchFamily="34" charset="-120"/>
              </a:rPr>
              <a:t> = 40</a:t>
            </a:r>
            <a:endParaRPr lang="en-US" sz="1300" dirty="0"/>
          </a:p>
        </p:txBody>
      </p:sp>
      <p:sp>
        <p:nvSpPr>
          <p:cNvPr id="15" name="Shape 13"/>
          <p:cNvSpPr/>
          <p:nvPr/>
        </p:nvSpPr>
        <p:spPr>
          <a:xfrm>
            <a:off x="548640" y="5143500"/>
            <a:ext cx="11094415" cy="1120140"/>
          </a:xfrm>
          <a:prstGeom prst="roundRect">
            <a:avLst>
              <a:gd name="adj" fmla="val 6531"/>
            </a:avLst>
          </a:prstGeom>
          <a:solidFill>
            <a:srgbClr val="F7F9FA"/>
          </a:solidFill>
          <a:ln w="12700">
            <a:solidFill>
              <a:srgbClr val="B0BEC5"/>
            </a:solidFill>
            <a:prstDash val="solid"/>
          </a:ln>
        </p:spPr>
      </p:sp>
      <p:sp>
        <p:nvSpPr>
          <p:cNvPr id="16" name="Text 14"/>
          <p:cNvSpPr txBox="1"/>
          <p:nvPr/>
        </p:nvSpPr>
        <p:spPr>
          <a:xfrm>
            <a:off x="731520" y="5143500"/>
            <a:ext cx="2651760" cy="1120140"/>
          </a:xfrm>
          <a:prstGeom prst="rect">
            <a:avLst/>
          </a:prstGeom>
          <a:noFill/>
          <a:ln/>
        </p:spPr>
        <p:txBody>
          <a:bodyPr wrap="square" lIns="0" tIns="0" rIns="0" bIns="0" rtlCol="0" anchor="ctr"/>
          <a:lstStyle/>
          <a:p>
            <a:pPr indent="0" marL="0">
              <a:buNone/>
            </a:pPr>
            <a:r>
              <a:rPr lang="en-US" sz="1600" b="1" dirty="0">
                <a:solidFill>
                  <a:srgbClr val="263238"/>
                </a:solidFill>
              </a:rPr>
              <a:t>Beklenen hata</a:t>
            </a:r>
            <a:endParaRPr lang="en-US" sz="1600" dirty="0"/>
          </a:p>
        </p:txBody>
      </p:sp>
      <p:sp>
        <p:nvSpPr>
          <p:cNvPr id="17" name="Text 15"/>
          <p:cNvSpPr txBox="1"/>
          <p:nvPr/>
        </p:nvSpPr>
        <p:spPr>
          <a:xfrm>
            <a:off x="3474720" y="5143500"/>
            <a:ext cx="4754880" cy="11201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E = Σᵢ 10^(−Qᵢ/10);  P(≥ 1) = 1 − Πᵢ (1 − Pᵢ)</a:t>
            </a:r>
            <a:endParaRPr lang="en-US" sz="1500" dirty="0"/>
          </a:p>
        </p:txBody>
      </p:sp>
      <p:sp>
        <p:nvSpPr>
          <p:cNvPr id="18" name="Text 16"/>
          <p:cNvSpPr txBox="1"/>
          <p:nvPr/>
        </p:nvSpPr>
        <p:spPr>
          <a:xfrm>
            <a:off x="8412480" y="5143500"/>
            <a:ext cx="3047695" cy="11201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Beklentinin doğrusallığı; hatalar bağımsız varsayılır</a:t>
            </a:r>
            <a:endParaRPr lang="en-US" sz="1300" dirty="0"/>
          </a:p>
        </p:txBody>
      </p:sp>
      <p:sp>
        <p:nvSpPr>
          <p:cNvPr id="19" name="Text 1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20" name="Text 1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Phred tablosu</a:t>
            </a:r>
            <a:endParaRPr lang="en-US" sz="3000" dirty="0"/>
          </a:p>
        </p:txBody>
      </p:sp>
      <p:sp>
        <p:nvSpPr>
          <p:cNvPr id="3" name="Text 1"/>
          <p:cNvSpPr txBox="1"/>
          <p:nvPr/>
        </p:nvSpPr>
        <p:spPr>
          <a:xfrm>
            <a:off x="548640" y="1234440"/>
            <a:ext cx="11094415" cy="731520"/>
          </a:xfrm>
          <a:prstGeom prst="rect">
            <a:avLst/>
          </a:prstGeom>
          <a:noFill/>
          <a:ln/>
        </p:spPr>
        <p:txBody>
          <a:bodyPr wrap="square" lIns="25400" tIns="25400" rIns="50800" bIns="25400" rtlCol="0" anchor="t"/>
          <a:lstStyle/>
          <a:p>
            <a:pPr algn="l" indent="0" marL="0">
              <a:spcAft>
                <a:spcPts val="600"/>
              </a:spcAft>
              <a:buNone/>
            </a:pPr>
            <a:r>
              <a:rPr lang="en-US" sz="1600" b="1" dirty="0">
                <a:solidFill>
                  <a:srgbClr val="212121"/>
                </a:solidFill>
                <a:latin typeface="Calibri" pitchFamily="34" charset="0"/>
                <a:ea typeface="Calibri" pitchFamily="34" charset="-122"/>
                <a:cs typeface="Calibri" pitchFamily="34" charset="-120"/>
              </a:rPr>
              <a:t>Q30</a:t>
            </a:r>
            <a:r>
              <a:rPr lang="en-US" sz="1600" dirty="0">
                <a:solidFill>
                  <a:srgbClr val="212121"/>
                </a:solidFill>
                <a:latin typeface="Calibri" pitchFamily="34" charset="0"/>
                <a:ea typeface="Calibri" pitchFamily="34" charset="-122"/>
                <a:cs typeface="Calibri" pitchFamily="34" charset="-120"/>
              </a:rPr>
              <a:t> endüstri ölçütüdür: "bazların %X'i Q ≥ 30" bir dizileme çalışmasının kalite göstergesi olarak raporlanır. Ders verisinde ham okumalarda bu oran </a:t>
            </a:r>
            <a:r>
              <a:rPr lang="en-US" sz="1600" b="1" dirty="0">
                <a:solidFill>
                  <a:srgbClr val="212121"/>
                </a:solidFill>
                <a:latin typeface="Calibri" pitchFamily="34" charset="0"/>
                <a:ea typeface="Calibri" pitchFamily="34" charset="-122"/>
                <a:cs typeface="Calibri" pitchFamily="34" charset="-120"/>
              </a:rPr>
              <a:t>%71.6</a:t>
            </a:r>
            <a:r>
              <a:rPr lang="en-US" sz="1600" dirty="0">
                <a:solidFill>
                  <a:srgbClr val="212121"/>
                </a:solidFill>
                <a:latin typeface="Calibri" pitchFamily="34" charset="0"/>
                <a:ea typeface="Calibri" pitchFamily="34" charset="-122"/>
                <a:cs typeface="Calibri" pitchFamily="34" charset="-120"/>
              </a:rPr>
              <a:t>.</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434761" cy="914400"/>
        </p:xfrm>
        <a:graphic>
          <a:graphicData uri="http://schemas.openxmlformats.org/drawingml/2006/table">
            <a:tbl>
              <a:tblPr/>
              <a:tblGrid>
                <a:gridCol w="684549"/>
                <a:gridCol w="2053647"/>
                <a:gridCol w="1369098"/>
                <a:gridCol w="1095278"/>
                <a:gridCol w="1232188"/>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Hata olasılığı 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Doğruluk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Karakter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ASCII kodu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1/10 = 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1/100 = 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0.0032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%99.68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1/1000 = 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1/10 000 = 0.0001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%99.99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0.000079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%99.992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J</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pic>
        <p:nvPicPr>
          <p:cNvPr id="5" name="Image 0" descr="f04_phred.png">    </p:cNvPr>
          <p:cNvPicPr>
            <a:picLocks noChangeAspect="1"/>
          </p:cNvPicPr>
          <p:nvPr/>
        </p:nvPicPr>
        <p:blipFill>
          <a:blip r:embed="rId1"/>
          <a:stretch>
            <a:fillRect/>
          </a:stretch>
        </p:blipFill>
        <p:spPr>
          <a:xfrm>
            <a:off x="7303441" y="2992923"/>
            <a:ext cx="4339614" cy="2289474"/>
          </a:xfrm>
          <a:prstGeom prst="rect">
            <a:avLst/>
          </a:prstGeom>
        </p:spPr>
      </p:pic>
      <p:sp>
        <p:nvSpPr>
          <p:cNvPr id="6"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7"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Kalite dizgisini çözmek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a:t>
            </a:r>
            <a:r>
              <a:rPr lang="en-US" sz="1800" dirty="0">
                <a:solidFill>
                  <a:srgbClr val="455A64"/>
                </a:solidFill>
                <a:latin typeface="Courier New" pitchFamily="34" charset="0"/>
                <a:ea typeface="Courier New" pitchFamily="34" charset="-122"/>
                <a:cs typeface="Courier New" pitchFamily="34" charset="-120"/>
              </a:rPr>
              <a:t>II?5+#</a:t>
            </a:r>
            <a:r>
              <a:rPr lang="en-US" sz="1800" dirty="0">
                <a:solidFill>
                  <a:srgbClr val="212121"/>
                </a:solidFill>
                <a:latin typeface="Calibri" pitchFamily="34" charset="0"/>
                <a:ea typeface="Calibri" pitchFamily="34" charset="-122"/>
                <a:cs typeface="Calibri" pitchFamily="34" charset="-120"/>
              </a:rPr>
              <a:t> kalite dizgisini Q değerlerine çevirin. (b) Q = 25 için P ve karakter nedir? (c) </a:t>
            </a:r>
            <a:r>
              <a:rPr lang="en-US" sz="1800" dirty="0">
                <a:solidFill>
                  <a:srgbClr val="455A64"/>
                </a:solidFill>
                <a:latin typeface="Courier New" pitchFamily="34" charset="0"/>
                <a:ea typeface="Courier New" pitchFamily="34" charset="-122"/>
                <a:cs typeface="Courier New" pitchFamily="34" charset="-120"/>
              </a:rPr>
              <a:t>okuma_0001</a:t>
            </a:r>
            <a:r>
              <a:rPr lang="en-US" sz="1800" dirty="0">
                <a:solidFill>
                  <a:srgbClr val="212121"/>
                </a:solidFill>
                <a:latin typeface="Calibri" pitchFamily="34" charset="0"/>
                <a:ea typeface="Calibri" pitchFamily="34" charset="-122"/>
                <a:cs typeface="Calibri" pitchFamily="34" charset="-120"/>
              </a:rPr>
              <a:t>'in ilk 10 bazı (</a:t>
            </a:r>
            <a:r>
              <a:rPr lang="en-US" sz="1800" dirty="0">
                <a:solidFill>
                  <a:srgbClr val="455A64"/>
                </a:solidFill>
                <a:latin typeface="Courier New" pitchFamily="34" charset="0"/>
                <a:ea typeface="Courier New" pitchFamily="34" charset="-122"/>
                <a:cs typeface="Courier New" pitchFamily="34" charset="-120"/>
              </a:rPr>
              <a:t>IFDDICJEHH</a:t>
            </a:r>
            <a:r>
              <a:rPr lang="en-US" sz="1800" dirty="0">
                <a:solidFill>
                  <a:srgbClr val="212121"/>
                </a:solidFill>
                <a:latin typeface="Calibri" pitchFamily="34" charset="0"/>
                <a:ea typeface="Calibri" pitchFamily="34" charset="-122"/>
                <a:cs typeface="Calibri" pitchFamily="34" charset="-120"/>
              </a:rPr>
              <a:t>) için beklenen hata nedir?</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a:t>
            </a:r>
            <a:r>
              <a:rPr lang="en-US" sz="1800" dirty="0">
                <a:solidFill>
                  <a:srgbClr val="455A64"/>
                </a:solidFill>
                <a:latin typeface="Courier New" pitchFamily="34" charset="0"/>
                <a:ea typeface="Courier New" pitchFamily="34" charset="-122"/>
                <a:cs typeface="Courier New" pitchFamily="34" charset="-120"/>
              </a:rPr>
              <a:t>ord</a:t>
            </a:r>
            <a:r>
              <a:rPr lang="en-US" sz="1800" dirty="0">
                <a:solidFill>
                  <a:srgbClr val="212121"/>
                </a:solidFill>
                <a:latin typeface="Calibri" pitchFamily="34" charset="0"/>
                <a:ea typeface="Calibri" pitchFamily="34" charset="-122"/>
                <a:cs typeface="Calibri" pitchFamily="34" charset="-120"/>
              </a:rPr>
              <a:t>: I = 73, ? = 63, 5 = 53, + = 43, # = 35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33 çıkar → </a:t>
            </a:r>
            <a:r>
              <a:rPr lang="en-US" sz="1800" b="1" dirty="0">
                <a:solidFill>
                  <a:srgbClr val="212121"/>
                </a:solidFill>
                <a:latin typeface="Calibri" pitchFamily="34" charset="0"/>
                <a:ea typeface="Calibri" pitchFamily="34" charset="-122"/>
                <a:cs typeface="Calibri" pitchFamily="34" charset="-120"/>
              </a:rPr>
              <a:t>[40, 40, 30, 20, 10, 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P = 10^(−2.5) = </a:t>
            </a:r>
            <a:r>
              <a:rPr lang="en-US" sz="1800" b="1" dirty="0">
                <a:solidFill>
                  <a:srgbClr val="212121"/>
                </a:solidFill>
                <a:latin typeface="Calibri" pitchFamily="34" charset="0"/>
                <a:ea typeface="Calibri" pitchFamily="34" charset="-122"/>
                <a:cs typeface="Calibri" pitchFamily="34" charset="-120"/>
              </a:rPr>
              <a:t>0.0032</a:t>
            </a:r>
            <a:r>
              <a:rPr lang="en-US" sz="1800" dirty="0">
                <a:solidFill>
                  <a:srgbClr val="212121"/>
                </a:solidFill>
                <a:latin typeface="Calibri" pitchFamily="34" charset="0"/>
                <a:ea typeface="Calibri" pitchFamily="34" charset="-122"/>
                <a:cs typeface="Calibri" pitchFamily="34" charset="-120"/>
              </a:rPr>
              <a:t>; karakter = chr(58) = </a:t>
            </a:r>
            <a:r>
              <a:rPr lang="en-US" sz="1800" dirty="0">
                <a:solidFill>
                  <a:srgbClr val="455A64"/>
                </a:solidFill>
                <a:latin typeface="Courier New" pitchFamily="34" charset="0"/>
                <a:ea typeface="Courier New" pitchFamily="34" charset="-122"/>
                <a:cs typeface="Courier New" pitchFamily="34" charset="-120"/>
              </a:rPr>
              <a: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(c) Q = [40, 37, 35, 35, 40, 34, 41, 36, 39, 39], ortalama 37.6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 = Σ 10^(−Q/10) ≈ </a:t>
            </a:r>
            <a:r>
              <a:rPr lang="en-US" sz="1800" b="1" dirty="0">
                <a:solidFill>
                  <a:srgbClr val="212121"/>
                </a:solidFill>
                <a:latin typeface="Calibri" pitchFamily="34" charset="0"/>
                <a:ea typeface="Calibri" pitchFamily="34" charset="-122"/>
                <a:cs typeface="Calibri" pitchFamily="34" charset="-120"/>
              </a:rPr>
              <a:t>0.0020</a:t>
            </a:r>
            <a:r>
              <a:rPr lang="en-US" sz="1800" dirty="0">
                <a:solidFill>
                  <a:srgbClr val="212121"/>
                </a:solidFill>
                <a:latin typeface="Calibri" pitchFamily="34" charset="0"/>
                <a:ea typeface="Calibri" pitchFamily="34" charset="-122"/>
                <a:cs typeface="Calibri" pitchFamily="34" charset="-120"/>
              </a:rPr>
              <a:t> hata (10 bazda)</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1698007"/>
                <a:gridCol w="1061255"/>
                <a:gridCol w="639679"/>
                <a:gridCol w="127350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Karakter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ASCII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Python: </a:t>
            </a:r>
            <a:r>
              <a:rPr lang="en-US" sz="1700" dirty="0">
                <a:solidFill>
                  <a:srgbClr val="455A64"/>
                </a:solidFill>
                <a:latin typeface="Courier New" pitchFamily="34" charset="0"/>
                <a:ea typeface="Courier New" pitchFamily="34" charset="-122"/>
                <a:cs typeface="Courier New" pitchFamily="34" charset="-120"/>
              </a:rPr>
              <a:t>[ord(c) - 33 for c in "II?5+#"]</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[40, 40, 30, 20, 10, 2]</a:t>
            </a:r>
            <a:r>
              <a:rPr lang="en-US" sz="1700" dirty="0">
                <a:solidFill>
                  <a:srgbClr val="212121"/>
                </a:solidFill>
                <a:latin typeface="Calibri" pitchFamily="34" charset="0"/>
                <a:ea typeface="Calibri" pitchFamily="34" charset="-122"/>
                <a:cs typeface="Calibri" pitchFamily="34" charset="-120"/>
              </a:rPr>
              <a:t> (notebook çıktısıyla aynı). Q = 2 (</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Illumina'da "güvenilmez baz" işaretidir.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Bir okumadaki beklenen hata sayısı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Kalite dizgisi </a:t>
            </a:r>
            <a:r>
              <a:rPr lang="en-US" sz="1800" dirty="0">
                <a:solidFill>
                  <a:srgbClr val="455A64"/>
                </a:solidFill>
                <a:latin typeface="Courier New" pitchFamily="34" charset="0"/>
                <a:ea typeface="Courier New" pitchFamily="34" charset="-122"/>
                <a:cs typeface="Courier New" pitchFamily="34" charset="-120"/>
              </a:rPr>
              <a:t>II??55++</a:t>
            </a:r>
            <a:r>
              <a:rPr lang="en-US" sz="1800" dirty="0">
                <a:solidFill>
                  <a:srgbClr val="212121"/>
                </a:solidFill>
                <a:latin typeface="Calibri" pitchFamily="34" charset="0"/>
                <a:ea typeface="Calibri" pitchFamily="34" charset="-122"/>
                <a:cs typeface="Calibri" pitchFamily="34" charset="-120"/>
              </a:rPr>
              <a:t> olan 8 bazlık okumada beklenen hata sayısı nedir? Hatanın ne kadarı son iki bazdan gelir?</a:t>
            </a:r>
            <a:endParaRPr lang="en-US" sz="1800" dirty="0"/>
          </a:p>
        </p:txBody>
      </p:sp>
      <p:sp>
        <p:nvSpPr>
          <p:cNvPr id="6" name="Text 4"/>
          <p:cNvSpPr txBox="1"/>
          <p:nvPr/>
        </p:nvSpPr>
        <p:spPr>
          <a:xfrm>
            <a:off x="548640" y="2779776"/>
            <a:ext cx="532531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Çöz: Q = 40, 40, 30, 30, 20, 20, 10, 10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P'ler: 0.0001, 0.0001, 0.001, 0.001, 0.01, 0.01, 0.1, 0.1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 = 2(0.0001) + 2(0.001) + 2(0.01) + 2(0.1)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 = 0.0002 + 0.002 + 0.02 + 0.2 = </a:t>
            </a:r>
            <a:r>
              <a:rPr lang="en-US" sz="1800" b="1" dirty="0">
                <a:solidFill>
                  <a:srgbClr val="212121"/>
                </a:solidFill>
                <a:latin typeface="Calibri" pitchFamily="34" charset="0"/>
                <a:ea typeface="Calibri" pitchFamily="34" charset="-122"/>
                <a:cs typeface="Calibri" pitchFamily="34" charset="-120"/>
              </a:rPr>
              <a:t>0.2222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Son iki baz: 0.2 / 0.2222 = </a:t>
            </a:r>
            <a:r>
              <a:rPr lang="en-US" sz="1800" b="1" dirty="0">
                <a:solidFill>
                  <a:srgbClr val="212121"/>
                </a:solidFill>
                <a:latin typeface="Calibri" pitchFamily="34" charset="0"/>
                <a:ea typeface="Calibri" pitchFamily="34" charset="-122"/>
                <a:cs typeface="Calibri" pitchFamily="34" charset="-120"/>
              </a:rPr>
              <a:t>%90</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93999" y="2779776"/>
          <a:ext cx="5449056" cy="914400"/>
        </p:xfrm>
        <a:graphic>
          <a:graphicData uri="http://schemas.openxmlformats.org/drawingml/2006/table">
            <a:tbl>
              <a:tblPr/>
              <a:tblGrid>
                <a:gridCol w="990737"/>
                <a:gridCol w="1651229"/>
                <a:gridCol w="990737"/>
                <a:gridCol w="990737"/>
                <a:gridCol w="82561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Baz sayısı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Katkı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%90.0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0.2222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Son iki baz kesilirse beklenen hata 0.2222 → </a:t>
            </a:r>
            <a:r>
              <a:rPr lang="en-US" sz="1700" b="1" dirty="0">
                <a:solidFill>
                  <a:srgbClr val="212121"/>
                </a:solidFill>
                <a:latin typeface="Calibri" pitchFamily="34" charset="0"/>
                <a:ea typeface="Calibri" pitchFamily="34" charset="-122"/>
                <a:cs typeface="Calibri" pitchFamily="34" charset="-120"/>
              </a:rPr>
              <a:t>0.0222</a:t>
            </a:r>
            <a:r>
              <a:rPr lang="en-US" sz="1700" dirty="0">
                <a:solidFill>
                  <a:srgbClr val="212121"/>
                </a:solidFill>
                <a:latin typeface="Calibri" pitchFamily="34" charset="0"/>
                <a:ea typeface="Calibri" pitchFamily="34" charset="-122"/>
                <a:cs typeface="Calibri" pitchFamily="34" charset="-120"/>
              </a:rPr>
              <a:t> (10 kat azalır), okuma yalnızca %25 kısalır. Kırpmanın mantığı budur.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Ortalama Q yanıltıcıdır</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 logaritmik ölçekte ortalama alınmaz</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Q = [40, 40, 40, 10] olan 4 bazlık okumanın ortalama Q'su 32.5'tir. Beklenen hatayı (a) ortalama Q ile, (b) doğru yolla hesaplayın. Okumanın "etkin" Q'su nedir?</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Yanlış: 4 × 10^(−32.5/10) = 4 × 0.00056 = </a:t>
            </a:r>
            <a:r>
              <a:rPr lang="en-US" sz="1800" b="1" dirty="0">
                <a:solidFill>
                  <a:srgbClr val="212121"/>
                </a:solidFill>
                <a:latin typeface="Calibri" pitchFamily="34" charset="0"/>
                <a:ea typeface="Calibri" pitchFamily="34" charset="-122"/>
                <a:cs typeface="Calibri" pitchFamily="34" charset="-120"/>
              </a:rPr>
              <a:t>0.0022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Doğru: 3 × 0.0001 + 0.1 = </a:t>
            </a:r>
            <a:r>
              <a:rPr lang="en-US" sz="1800" b="1" dirty="0">
                <a:solidFill>
                  <a:srgbClr val="212121"/>
                </a:solidFill>
                <a:latin typeface="Calibri" pitchFamily="34" charset="0"/>
                <a:ea typeface="Calibri" pitchFamily="34" charset="-122"/>
                <a:cs typeface="Calibri" pitchFamily="34" charset="-120"/>
              </a:rPr>
              <a:t>0.1003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Fark: 0.1003 / 0.0022 ≈ </a:t>
            </a:r>
            <a:r>
              <a:rPr lang="en-US" sz="1800" b="1" dirty="0">
                <a:solidFill>
                  <a:srgbClr val="212121"/>
                </a:solidFill>
                <a:latin typeface="Calibri" pitchFamily="34" charset="0"/>
                <a:ea typeface="Calibri" pitchFamily="34" charset="-122"/>
                <a:cs typeface="Calibri" pitchFamily="34" charset="-120"/>
              </a:rPr>
              <a:t>45 kat</a:t>
            </a:r>
            <a:r>
              <a:rPr lang="en-US" sz="1800" dirty="0">
                <a:solidFill>
                  <a:srgbClr val="212121"/>
                </a:solidFill>
                <a:latin typeface="Calibri" pitchFamily="34" charset="0"/>
                <a:ea typeface="Calibri" pitchFamily="34" charset="-122"/>
                <a:cs typeface="Calibri" pitchFamily="34" charset="-120"/>
              </a:rPr>
              <a:t> eksik tahmin</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Etkin Q = −10 · log₁₀(0.1003 / 4) = </a:t>
            </a:r>
            <a:r>
              <a:rPr lang="en-US" sz="1800" b="1" dirty="0">
                <a:solidFill>
                  <a:srgbClr val="212121"/>
                </a:solidFill>
                <a:latin typeface="Calibri" pitchFamily="34" charset="0"/>
                <a:ea typeface="Calibri" pitchFamily="34" charset="-122"/>
                <a:cs typeface="Calibri" pitchFamily="34" charset="-120"/>
              </a:rPr>
              <a:t>16.0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II??55++</a:t>
            </a:r>
            <a:r>
              <a:rPr lang="en-US" sz="1800" dirty="0">
                <a:solidFill>
                  <a:srgbClr val="212121"/>
                </a:solidFill>
                <a:latin typeface="Calibri" pitchFamily="34" charset="0"/>
                <a:ea typeface="Calibri" pitchFamily="34" charset="-122"/>
                <a:cs typeface="Calibri" pitchFamily="34" charset="-120"/>
              </a:rPr>
              <a:t> için de: ortalama Q = 25, etkin Q = −10 log₁₀(0.2222/8) = </a:t>
            </a:r>
            <a:r>
              <a:rPr lang="en-US" sz="1800" b="1" dirty="0">
                <a:solidFill>
                  <a:srgbClr val="212121"/>
                </a:solidFill>
                <a:latin typeface="Calibri" pitchFamily="34" charset="0"/>
                <a:ea typeface="Calibri" pitchFamily="34" charset="-122"/>
                <a:cs typeface="Calibri" pitchFamily="34" charset="-120"/>
              </a:rPr>
              <a:t>15.6</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Önce olasılıklara çevir, sonra ortala: </a:t>
            </a:r>
            <a:r>
              <a:rPr lang="en-US" sz="1700" b="1" dirty="0">
                <a:solidFill>
                  <a:srgbClr val="212121"/>
                </a:solidFill>
                <a:latin typeface="Calibri" pitchFamily="34" charset="0"/>
                <a:ea typeface="Calibri" pitchFamily="34" charset="-122"/>
                <a:cs typeface="Calibri" pitchFamily="34" charset="-120"/>
              </a:rPr>
              <a:t>P̄ = (1/n) Σ 10^(−Qᵢ/10)</a:t>
            </a:r>
            <a:r>
              <a:rPr lang="en-US" sz="1700" dirty="0">
                <a:solidFill>
                  <a:srgbClr val="212121"/>
                </a:solidFill>
                <a:latin typeface="Calibri" pitchFamily="34" charset="0"/>
                <a:ea typeface="Calibri" pitchFamily="34" charset="-122"/>
                <a:cs typeface="Calibri" pitchFamily="34" charset="-120"/>
              </a:rPr>
              <a:t>. Tek bir Q = 10 bazı, üç Q = 40 bazını "ortalamada" gizler. Filtrelerde ortalama Q yerine </a:t>
            </a:r>
            <a:r>
              <a:rPr lang="en-US" sz="1700" b="1" dirty="0">
                <a:solidFill>
                  <a:srgbClr val="212121"/>
                </a:solidFill>
                <a:latin typeface="Calibri" pitchFamily="34" charset="0"/>
                <a:ea typeface="Calibri" pitchFamily="34" charset="-122"/>
                <a:cs typeface="Calibri" pitchFamily="34" charset="-120"/>
              </a:rPr>
              <a:t>beklenen hata</a:t>
            </a:r>
            <a:r>
              <a:rPr lang="en-US" sz="1700" dirty="0">
                <a:solidFill>
                  <a:srgbClr val="212121"/>
                </a:solidFill>
                <a:latin typeface="Calibri" pitchFamily="34" charset="0"/>
                <a:ea typeface="Calibri" pitchFamily="34" charset="-122"/>
                <a:cs typeface="Calibri" pitchFamily="34" charset="-120"/>
              </a:rPr>
              <a:t> (ör. E ≤ 1) daha güvenilir ölçüttür.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Uzun okumada en az bir hata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150 bazlık okumanın tüm bazları (a) Q = 30, (b) Q = 20 ise beklenen hata sayısı ve en az bir hata olasılığı nedir?</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P = 0.001 → E = 150 × 0.001 = </a:t>
            </a:r>
            <a:r>
              <a:rPr lang="en-US" sz="1800" b="1" dirty="0">
                <a:solidFill>
                  <a:srgbClr val="212121"/>
                </a:solidFill>
                <a:latin typeface="Calibri" pitchFamily="34" charset="0"/>
                <a:ea typeface="Calibri" pitchFamily="34" charset="-122"/>
                <a:cs typeface="Calibri" pitchFamily="34" charset="-120"/>
              </a:rPr>
              <a:t>0.15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P(hiç hata yok) = (1 − 0.001)^150 = 0.8606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 1 hata) = 1 − 0.8606 = </a:t>
            </a:r>
            <a:r>
              <a:rPr lang="en-US" sz="1800" b="1" dirty="0">
                <a:solidFill>
                  <a:srgbClr val="212121"/>
                </a:solidFill>
                <a:latin typeface="Calibri" pitchFamily="34" charset="0"/>
                <a:ea typeface="Calibri" pitchFamily="34" charset="-122"/>
                <a:cs typeface="Calibri" pitchFamily="34" charset="-120"/>
              </a:rPr>
              <a:t>0.139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P = 0.01 → E = 150 × 0.01 = </a:t>
            </a:r>
            <a:r>
              <a:rPr lang="en-US" sz="1800" b="1" dirty="0">
                <a:solidFill>
                  <a:srgbClr val="212121"/>
                </a:solidFill>
                <a:latin typeface="Calibri" pitchFamily="34" charset="0"/>
                <a:ea typeface="Calibri" pitchFamily="34" charset="-122"/>
                <a:cs typeface="Calibri" pitchFamily="34" charset="-120"/>
              </a:rPr>
              <a:t>1.5</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 1 hata) = 1 − 0.99^150 = </a:t>
            </a:r>
            <a:r>
              <a:rPr lang="en-US" sz="1800" b="1" dirty="0">
                <a:solidFill>
                  <a:srgbClr val="212121"/>
                </a:solidFill>
                <a:latin typeface="Calibri" pitchFamily="34" charset="0"/>
                <a:ea typeface="Calibri" pitchFamily="34" charset="-122"/>
                <a:cs typeface="Calibri" pitchFamily="34" charset="-120"/>
              </a:rPr>
              <a:t>0.779</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Poisson yaklaşımı: 1 − e^(−E) → 0.139 ve 0.777</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Q30'da her 7 okumadan ~1'i en az bir hata içerir; Q20'de okumaların </a:t>
            </a:r>
            <a:r>
              <a:rPr lang="en-US" sz="1700" b="1" dirty="0">
                <a:solidFill>
                  <a:srgbClr val="212121"/>
                </a:solidFill>
                <a:latin typeface="Calibri" pitchFamily="34" charset="0"/>
                <a:ea typeface="Calibri" pitchFamily="34" charset="-122"/>
                <a:cs typeface="Calibri" pitchFamily="34" charset="-120"/>
              </a:rPr>
              <a:t>%78'i</a:t>
            </a:r>
            <a:r>
              <a:rPr lang="en-US" sz="1700" dirty="0">
                <a:solidFill>
                  <a:srgbClr val="212121"/>
                </a:solidFill>
                <a:latin typeface="Calibri" pitchFamily="34" charset="0"/>
                <a:ea typeface="Calibri" pitchFamily="34" charset="-122"/>
                <a:cs typeface="Calibri" pitchFamily="34" charset="-120"/>
              </a:rPr>
              <a:t>. Varyant çağırmada tek okumaya değil, aynı konumu kapsayan </a:t>
            </a:r>
            <a:r>
              <a:rPr lang="en-US" sz="1700" b="1" dirty="0">
                <a:solidFill>
                  <a:srgbClr val="212121"/>
                </a:solidFill>
                <a:latin typeface="Calibri" pitchFamily="34" charset="0"/>
                <a:ea typeface="Calibri" pitchFamily="34" charset="-122"/>
                <a:cs typeface="Calibri" pitchFamily="34" charset="-120"/>
              </a:rPr>
              <a:t>çok sayıda</a:t>
            </a:r>
            <a:r>
              <a:rPr lang="en-US" sz="1700" dirty="0">
                <a:solidFill>
                  <a:srgbClr val="212121"/>
                </a:solidFill>
                <a:latin typeface="Calibri" pitchFamily="34" charset="0"/>
                <a:ea typeface="Calibri" pitchFamily="34" charset="-122"/>
                <a:cs typeface="Calibri" pitchFamily="34" charset="-120"/>
              </a:rPr>
              <a:t> okumaya güvenilir (bölüm 4).</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FASTQ okuma ve QC grafikleri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SeqIO ile kalite skorlarına erişmek; FastQC tarzı temel grafikler</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FASTQ'yu SeqIO ile okumak</a:t>
            </a:r>
            <a:endParaRPr lang="en-US" sz="3000" dirty="0"/>
          </a:p>
        </p:txBody>
      </p:sp>
      <p:sp>
        <p:nvSpPr>
          <p:cNvPr id="3" name="Text 1"/>
          <p:cNvSpPr txBox="1"/>
          <p:nvPr/>
        </p:nvSpPr>
        <p:spPr>
          <a:xfrm>
            <a:off x="548640" y="4709160"/>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4937760"/>
            <a:ext cx="6656649" cy="1325880"/>
          </a:xfrm>
          <a:prstGeom prst="roundRect">
            <a:avLst>
              <a:gd name="adj" fmla="val 5517"/>
            </a:avLst>
          </a:prstGeom>
          <a:solidFill>
            <a:srgbClr val="FFFFFF"/>
          </a:solidFill>
          <a:ln w="12700">
            <a:solidFill>
              <a:srgbClr val="B0BEC5"/>
            </a:solidFill>
            <a:prstDash val="solid"/>
          </a:ln>
        </p:spPr>
      </p:sp>
      <p:sp>
        <p:nvSpPr>
          <p:cNvPr id="5" name="Text 3"/>
          <p:cNvSpPr txBox="1"/>
          <p:nvPr/>
        </p:nvSpPr>
        <p:spPr>
          <a:xfrm>
            <a:off x="658368" y="5010912"/>
            <a:ext cx="6437193" cy="1179576"/>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Okuma sayısı: 2000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okuma_0001 100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Dizi   : CGATGCTAATATTCTGATTTGGGGTTGATTTGCGCTTCAG ...</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Kalite : [40, 37, 35, 35, 40, 34, 41, 36, 39, 39]</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CGATG [40, 37, 35, 35, 40]</a:t>
            </a:r>
            <a:endParaRPr lang="en-US" sz="1300" dirty="0"/>
          </a:p>
        </p:txBody>
      </p:sp>
      <p:sp>
        <p:nvSpPr>
          <p:cNvPr id="6" name="Shape 4"/>
          <p:cNvSpPr/>
          <p:nvPr/>
        </p:nvSpPr>
        <p:spPr>
          <a:xfrm>
            <a:off x="548640" y="1234440"/>
            <a:ext cx="6656649" cy="3429000"/>
          </a:xfrm>
          <a:prstGeom prst="roundRect">
            <a:avLst>
              <a:gd name="adj" fmla="val 2133"/>
            </a:avLst>
          </a:prstGeom>
          <a:solidFill>
            <a:srgbClr val="F4F6F7"/>
          </a:solidFill>
          <a:ln w="12700">
            <a:solidFill>
              <a:srgbClr val="B0BEC5"/>
            </a:solidFill>
            <a:prstDash val="solid"/>
          </a:ln>
        </p:spPr>
      </p:sp>
      <p:sp>
        <p:nvSpPr>
          <p:cNvPr id="7" name="Text 5"/>
          <p:cNvSpPr txBox="1"/>
          <p:nvPr/>
        </p:nvSpPr>
        <p:spPr>
          <a:xfrm>
            <a:off x="658368" y="1307592"/>
            <a:ext cx="6437193" cy="3282696"/>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 import SeqIO</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okumalar = list(SeqIO.parse("veri/okumalar.fastq", "fastq"))</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print("Okuma sayısı:", len(okumalar))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r = okumalar[0]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print(r.id, len(r))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print("Dizi   :", r.seq[:40],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print("Kalite :", r.letter_annotations["phred_quality"][:10])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Dilimleme kaliteyi de keser: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kisa = r[:5]</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print(kisa.seq, kisa.letter_annotations["phred_quality"])</a:t>
            </a:r>
            <a:endParaRPr lang="en-US" sz="13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Format adı </a:t>
            </a:r>
            <a:r>
              <a:rPr lang="en-US" sz="1700" dirty="0">
                <a:solidFill>
                  <a:srgbClr val="455A64"/>
                </a:solidFill>
                <a:latin typeface="Courier New" pitchFamily="34" charset="0"/>
                <a:ea typeface="Courier New" pitchFamily="34" charset="-122"/>
                <a:cs typeface="Courier New" pitchFamily="34" charset="-120"/>
              </a:rPr>
              <a:t>"fastq"</a:t>
            </a:r>
            <a:r>
              <a:rPr lang="en-US" sz="1700" dirty="0">
                <a:solidFill>
                  <a:srgbClr val="212121"/>
                </a:solidFill>
                <a:latin typeface="Calibri" pitchFamily="34" charset="0"/>
                <a:ea typeface="Calibri" pitchFamily="34" charset="-122"/>
                <a:cs typeface="Calibri" pitchFamily="34" charset="-120"/>
              </a:rPr>
              <a:t> = Phred+33</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Kalite: </a:t>
            </a:r>
            <a:r>
              <a:rPr lang="en-US" sz="1700" dirty="0">
                <a:solidFill>
                  <a:srgbClr val="455A64"/>
                </a:solidFill>
                <a:latin typeface="Courier New" pitchFamily="34" charset="0"/>
                <a:ea typeface="Courier New" pitchFamily="34" charset="-122"/>
                <a:cs typeface="Courier New" pitchFamily="34" charset="-120"/>
              </a:rPr>
              <a:t>letter_annotations</a:t>
            </a:r>
            <a:r>
              <a:rPr lang="en-US" sz="1700" dirty="0">
                <a:solidFill>
                  <a:srgbClr val="212121"/>
                </a:solidFill>
                <a:latin typeface="Calibri" pitchFamily="34" charset="0"/>
                <a:ea typeface="Calibri" pitchFamily="34" charset="-122"/>
                <a:cs typeface="Calibri" pitchFamily="34" charset="-120"/>
              </a:rPr>
              <a:t> sözlüğünde </a:t>
            </a:r>
            <a:r>
              <a:rPr lang="en-US" sz="1700" dirty="0">
                <a:solidFill>
                  <a:srgbClr val="455A64"/>
                </a:solidFill>
                <a:latin typeface="Courier New" pitchFamily="34" charset="0"/>
                <a:ea typeface="Courier New" pitchFamily="34" charset="-122"/>
                <a:cs typeface="Courier New" pitchFamily="34" charset="-120"/>
              </a:rPr>
              <a:t>"phred_quality"</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int</a:t>
            </a:r>
            <a:r>
              <a:rPr lang="en-US" sz="1700" dirty="0">
                <a:solidFill>
                  <a:srgbClr val="212121"/>
                </a:solidFill>
                <a:latin typeface="Calibri" pitchFamily="34" charset="0"/>
                <a:ea typeface="Calibri" pitchFamily="34" charset="-122"/>
                <a:cs typeface="Calibri" pitchFamily="34" charset="-120"/>
              </a:rPr>
              <a:t> listesi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SeqRecord</a:t>
            </a:r>
            <a:r>
              <a:rPr lang="en-US" sz="1700" dirty="0">
                <a:solidFill>
                  <a:srgbClr val="212121"/>
                </a:solidFill>
                <a:latin typeface="Calibri" pitchFamily="34" charset="0"/>
                <a:ea typeface="Calibri" pitchFamily="34" charset="-122"/>
                <a:cs typeface="Calibri" pitchFamily="34" charset="-120"/>
              </a:rPr>
              <a:t> dilimi </a:t>
            </a:r>
            <a:r>
              <a:rPr lang="en-US" sz="1700" b="1" dirty="0">
                <a:solidFill>
                  <a:srgbClr val="212121"/>
                </a:solidFill>
                <a:latin typeface="Calibri" pitchFamily="34" charset="0"/>
                <a:ea typeface="Calibri" pitchFamily="34" charset="-122"/>
                <a:cs typeface="Calibri" pitchFamily="34" charset="-120"/>
              </a:rPr>
              <a:t>diziyi ve kaliteyi birlikte</a:t>
            </a:r>
            <a:r>
              <a:rPr lang="en-US" sz="1700" dirty="0">
                <a:solidFill>
                  <a:srgbClr val="212121"/>
                </a:solidFill>
                <a:latin typeface="Calibri" pitchFamily="34" charset="0"/>
                <a:ea typeface="Calibri" pitchFamily="34" charset="-122"/>
                <a:cs typeface="Calibri" pitchFamily="34" charset="-120"/>
              </a:rPr>
              <a:t> keser → kırpma kolaylaşır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2000 × 100 = 200 000 baz belleğe alındı</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Performans: FastqGeneralIterator</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656649"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437193"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SeqIO.parse: 9 ms | FastqGeneralIterator: 2 ms | hızlanma ≈ 4x</a:t>
            </a:r>
            <a:endParaRPr lang="en-US" sz="1300" dirty="0"/>
          </a:p>
        </p:txBody>
      </p:sp>
      <p:sp>
        <p:nvSpPr>
          <p:cNvPr id="6" name="Shape 4"/>
          <p:cNvSpPr/>
          <p:nvPr/>
        </p:nvSpPr>
        <p:spPr>
          <a:xfrm>
            <a:off x="548640" y="1234440"/>
            <a:ext cx="6656649"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437193" cy="4087368"/>
          </a:xfrm>
          <a:prstGeom prst="rect">
            <a:avLst/>
          </a:prstGeom>
          <a:noFill/>
          <a:ln/>
        </p:spPr>
        <p:txBody>
          <a:bodyPr wrap="square" lIns="0" tIns="0" rIns="0" bIns="0" rtlCol="0" anchor="t"/>
          <a:lstStyle/>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import time</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from Bio.SeqIO.QualityIO import FastqGeneralIterator</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t = time.time()</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n1 = sum(1 for _ in SeqIO.parse("veri/okumalar.fastq", "fastq"))</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t1 = time.time() - 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t = time.time()</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with open("veri/okumalar.fastq") as h:</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n2 = sum(1 for _ in FastqGeneralIterator(h))</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t2 = time.time() - t</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print(f"SeqIO.parse: {t1*1000:.0f} ms |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f"FastqGeneralIterator: {t2*1000:.0f} ms | "</a:t>
            </a:r>
            <a:endParaRPr lang="en-US" sz="1300" dirty="0"/>
          </a:p>
          <a:p>
            <a:pPr indent="0" marL="0">
              <a:lnSpc>
                <a:spcPct val="100000"/>
              </a:lnSpc>
              <a:buNone/>
            </a:pPr>
            <a:r>
              <a:rPr lang="en-US" sz="1300" dirty="0">
                <a:solidFill>
                  <a:srgbClr val="263238"/>
                </a:solidFill>
                <a:latin typeface="Courier New" pitchFamily="34" charset="0"/>
                <a:ea typeface="Courier New" pitchFamily="34" charset="-122"/>
                <a:cs typeface="Courier New" pitchFamily="34" charset="-120"/>
              </a:rPr>
              <a:t>      f"hızlanma ≈ {t1/max(t2,1e-9):.0f}x")</a:t>
            </a:r>
            <a:endParaRPr lang="en-US" sz="130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FastqGeneralIterator</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(başlık, dizi, kalite_dizgisi)</a:t>
            </a:r>
            <a:r>
              <a:rPr lang="en-US" sz="1700" dirty="0">
                <a:solidFill>
                  <a:srgbClr val="212121"/>
                </a:solidFill>
                <a:latin typeface="Calibri" pitchFamily="34" charset="0"/>
                <a:ea typeface="Calibri" pitchFamily="34" charset="-122"/>
                <a:cs typeface="Calibri" pitchFamily="34" charset="-120"/>
              </a:rPr>
              <a:t> üçlüsü</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SeqRecord</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Seq</a:t>
            </a:r>
            <a:r>
              <a:rPr lang="en-US" sz="1700" dirty="0">
                <a:solidFill>
                  <a:srgbClr val="212121"/>
                </a:solidFill>
                <a:latin typeface="Calibri" pitchFamily="34" charset="0"/>
                <a:ea typeface="Calibri" pitchFamily="34" charset="-122"/>
                <a:cs typeface="Calibri" pitchFamily="34" charset="-120"/>
              </a:rPr>
              <a:t> nesnesi </a:t>
            </a:r>
            <a:r>
              <a:rPr lang="en-US" sz="1700" b="1" dirty="0">
                <a:solidFill>
                  <a:srgbClr val="212121"/>
                </a:solidFill>
                <a:latin typeface="Calibri" pitchFamily="34" charset="0"/>
                <a:ea typeface="Calibri" pitchFamily="34" charset="-122"/>
                <a:cs typeface="Calibri" pitchFamily="34" charset="-120"/>
              </a:rPr>
              <a:t>oluşturulmaz</a:t>
            </a:r>
            <a:r>
              <a:rPr lang="en-US" sz="1700" dirty="0">
                <a:solidFill>
                  <a:srgbClr val="212121"/>
                </a:solidFill>
                <a:latin typeface="Calibri" pitchFamily="34" charset="0"/>
                <a:ea typeface="Calibri" pitchFamily="34" charset="-122"/>
                <a:cs typeface="Calibri" pitchFamily="34" charset="-120"/>
              </a:rPr>
              <a:t>, kalite çözülmez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Ölçek: 2000 okuma 9 ms → 100 M okuma ≈ </a:t>
            </a:r>
            <a:r>
              <a:rPr lang="en-US" sz="1700" b="1" dirty="0">
                <a:solidFill>
                  <a:srgbClr val="212121"/>
                </a:solidFill>
                <a:latin typeface="Calibri" pitchFamily="34" charset="0"/>
                <a:ea typeface="Calibri" pitchFamily="34" charset="-122"/>
                <a:cs typeface="Calibri" pitchFamily="34" charset="-120"/>
              </a:rPr>
              <a:t>7.5 dk</a:t>
            </a:r>
            <a:r>
              <a:rPr lang="en-US" sz="1700" dirty="0">
                <a:solidFill>
                  <a:srgbClr val="212121"/>
                </a:solidFill>
                <a:latin typeface="Calibri" pitchFamily="34" charset="0"/>
                <a:ea typeface="Calibri" pitchFamily="34" charset="-122"/>
                <a:cs typeface="Calibri" pitchFamily="34" charset="-120"/>
              </a:rPr>
              <a:t> vs ≈ 1.7 dk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Süreler makineye göre değişir; oran benzerdir</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Konum bazlı kalite (notebook bölüm 3)</a:t>
            </a:r>
            <a:endParaRPr lang="en-US" sz="3000" dirty="0"/>
          </a:p>
        </p:txBody>
      </p:sp>
      <p:pic>
        <p:nvPicPr>
          <p:cNvPr id="3" name="Image 0" descr="p04_konum_kalite.png">    </p:cNvPr>
          <p:cNvPicPr>
            <a:picLocks noChangeAspect="1"/>
          </p:cNvPicPr>
          <p:nvPr/>
        </p:nvPicPr>
        <p:blipFill>
          <a:blip r:embed="rId1"/>
          <a:stretch>
            <a:fillRect/>
          </a:stretch>
        </p:blipFill>
        <p:spPr>
          <a:xfrm>
            <a:off x="548640" y="1419590"/>
            <a:ext cx="11094415" cy="4247421"/>
          </a:xfrm>
          <a:prstGeom prst="rect">
            <a:avLst/>
          </a:prstGeom>
        </p:spPr>
      </p:pic>
      <p:sp>
        <p:nvSpPr>
          <p:cNvPr id="4" name="Text 1"/>
          <p:cNvSpPr txBox="1"/>
          <p:nvPr/>
        </p:nvSpPr>
        <p:spPr>
          <a:xfrm>
            <a:off x="548640" y="5740162"/>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2000 okuma × 100 konum kalite matrisi (her 2. konum çizildi); kutular çeyrekler, kırmızı çizgi ortalama; yeşil / sarı / kırmızı bantlar: Q ≥ 28 / 20–28 / &lt; 20</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Okuma başı kalite, GC ve N dağılımı</a:t>
            </a:r>
            <a:endParaRPr lang="en-US" sz="3000" dirty="0"/>
          </a:p>
        </p:txBody>
      </p:sp>
      <p:pic>
        <p:nvPicPr>
          <p:cNvPr id="3" name="Image 0" descr="p04_qc_dagilim.png">    </p:cNvPr>
          <p:cNvPicPr>
            <a:picLocks noChangeAspect="1"/>
          </p:cNvPicPr>
          <p:nvPr/>
        </p:nvPicPr>
        <p:blipFill>
          <a:blip r:embed="rId1"/>
          <a:stretch>
            <a:fillRect/>
          </a:stretch>
        </p:blipFill>
        <p:spPr>
          <a:xfrm>
            <a:off x="548640" y="1324417"/>
            <a:ext cx="11094415" cy="4437766"/>
          </a:xfrm>
          <a:prstGeom prst="rect">
            <a:avLst/>
          </a:prstGeom>
        </p:spPr>
      </p:pic>
      <p:sp>
        <p:nvSpPr>
          <p:cNvPr id="4" name="Text 1"/>
          <p:cNvSpPr txBox="1"/>
          <p:nvPr/>
        </p:nvSpPr>
        <p:spPr>
          <a:xfrm>
            <a:off x="548640" y="5835335"/>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Ortalama Q iki tepeli (~33–35 ve ~15–17); Q &lt; 25: %10.0 (199 okuma) · GC ~0.5 çevresinde tek tepe → kirlilik yok · N: 1522 okumada 0, yalnız 27 okumada 3–5</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Gerçek dünyada: FastQC modülleri ve anlamları</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169833"/>
                <a:gridCol w="2983372"/>
                <a:gridCol w="2610451"/>
                <a:gridCol w="233075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FastQC modülü</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Neye bakar?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Kırmızı bayrak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Bu derste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Per base sequence quality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Konum başına Q dağılımı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uçta Q &lt; 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g04 grafiği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Per sequence quality</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başına ortalama 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Düşük Q tepesi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p04 sol panel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Per sequence GC content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GC dağılımı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İki tepe, kayma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p04 orta panel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Per base N content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Konum başına N oranı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N &gt; %5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p04 sağ panel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Sequence length distribution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uzunlukları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Beklenmeyen uzunluklar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Kırpma sonrası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Adapter content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Adaptör k-merleri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uçta artan eğri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adaptor_konumu</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Sequence duplication levels</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Aynı okumaların oranı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PCR fazlalığı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91584"/>
            <a:ext cx="11094415" cy="822960"/>
          </a:xfrm>
          <a:prstGeom prst="roundRect">
            <a:avLst>
              <a:gd name="adj" fmla="val 8889"/>
            </a:avLst>
          </a:prstGeom>
          <a:solidFill>
            <a:srgbClr val="FDECEA"/>
          </a:solidFill>
          <a:ln/>
        </p:spPr>
      </p:sp>
      <p:sp>
        <p:nvSpPr>
          <p:cNvPr id="5" name="Text 2"/>
          <p:cNvSpPr txBox="1"/>
          <p:nvPr/>
        </p:nvSpPr>
        <p:spPr>
          <a:xfrm>
            <a:off x="731520" y="429158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Tipik boru hattı: </a:t>
            </a:r>
            <a:r>
              <a:rPr lang="en-US" sz="1600" b="1" dirty="0">
                <a:solidFill>
                  <a:srgbClr val="212121"/>
                </a:solidFill>
                <a:latin typeface="Calibri" pitchFamily="34" charset="0"/>
                <a:ea typeface="Calibri" pitchFamily="34" charset="-122"/>
                <a:cs typeface="Calibri" pitchFamily="34" charset="-120"/>
              </a:rPr>
              <a:t>FastQC</a:t>
            </a:r>
            <a:r>
              <a:rPr lang="en-US" sz="1600" dirty="0">
                <a:solidFill>
                  <a:srgbClr val="212121"/>
                </a:solidFill>
                <a:latin typeface="Calibri" pitchFamily="34" charset="0"/>
                <a:ea typeface="Calibri" pitchFamily="34" charset="-122"/>
                <a:cs typeface="Calibri" pitchFamily="34" charset="-120"/>
              </a:rPr>
              <a:t> (rapor) → </a:t>
            </a:r>
            <a:r>
              <a:rPr lang="en-US" sz="1600" b="1" dirty="0">
                <a:solidFill>
                  <a:srgbClr val="212121"/>
                </a:solidFill>
                <a:latin typeface="Calibri" pitchFamily="34" charset="0"/>
                <a:ea typeface="Calibri" pitchFamily="34" charset="-122"/>
                <a:cs typeface="Calibri" pitchFamily="34" charset="-120"/>
              </a:rPr>
              <a:t>fastp / Trimmomatic / cutadapt</a:t>
            </a:r>
            <a:r>
              <a:rPr lang="en-US" sz="1600" dirty="0">
                <a:solidFill>
                  <a:srgbClr val="212121"/>
                </a:solidFill>
                <a:latin typeface="Calibri" pitchFamily="34" charset="0"/>
                <a:ea typeface="Calibri" pitchFamily="34" charset="-122"/>
                <a:cs typeface="Calibri" pitchFamily="34" charset="-120"/>
              </a:rPr>
              <a:t> (kırpma) → FastQC (tekrar) → </a:t>
            </a:r>
            <a:r>
              <a:rPr lang="en-US" sz="1600" b="1" dirty="0">
                <a:solidFill>
                  <a:srgbClr val="212121"/>
                </a:solidFill>
                <a:latin typeface="Calibri" pitchFamily="34" charset="0"/>
                <a:ea typeface="Calibri" pitchFamily="34" charset="-122"/>
                <a:cs typeface="Calibri" pitchFamily="34" charset="-120"/>
              </a:rPr>
              <a:t>MultiQC</a:t>
            </a:r>
            <a:r>
              <a:rPr lang="en-US" sz="1600" dirty="0">
                <a:solidFill>
                  <a:srgbClr val="212121"/>
                </a:solidFill>
                <a:latin typeface="Calibri" pitchFamily="34" charset="0"/>
                <a:ea typeface="Calibri" pitchFamily="34" charset="-122"/>
                <a:cs typeface="Calibri" pitchFamily="34" charset="-120"/>
              </a:rPr>
              <a:t> (çok örneği tek raporda toplama).</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Kırpma ve filtreleme algoritmaları</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Adaptör kırpma → kayan pencere kırpma → uzunluk filtresi → kalite filtresi</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Okuma temizleme boru hattı</a:t>
            </a:r>
            <a:endParaRPr lang="en-US" sz="3000" dirty="0"/>
          </a:p>
        </p:txBody>
      </p:sp>
      <p:sp>
        <p:nvSpPr>
          <p:cNvPr id="3" name="Shape 1"/>
          <p:cNvSpPr/>
          <p:nvPr/>
        </p:nvSpPr>
        <p:spPr>
          <a:xfrm>
            <a:off x="548640" y="1417320"/>
            <a:ext cx="3423818" cy="1234440"/>
          </a:xfrm>
          <a:prstGeom prst="roundRect">
            <a:avLst>
              <a:gd name="adj" fmla="val 5926"/>
            </a:avLst>
          </a:prstGeom>
          <a:solidFill>
            <a:srgbClr val="F7F9FA"/>
          </a:solidFill>
          <a:ln w="12700">
            <a:solidFill>
              <a:srgbClr val="B0BEC5"/>
            </a:solidFill>
            <a:prstDash val="solid"/>
          </a:ln>
        </p:spPr>
      </p:sp>
      <p:sp>
        <p:nvSpPr>
          <p:cNvPr id="4" name="Text 2"/>
          <p:cNvSpPr txBox="1"/>
          <p:nvPr/>
        </p:nvSpPr>
        <p:spPr>
          <a:xfrm>
            <a:off x="621792"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Ham FASTQ</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2000 okuma × 100 bp</a:t>
            </a:r>
            <a:endParaRPr lang="en-US" sz="1500" dirty="0"/>
          </a:p>
        </p:txBody>
      </p:sp>
      <p:sp>
        <p:nvSpPr>
          <p:cNvPr id="5" name="Shape 3"/>
          <p:cNvSpPr/>
          <p:nvPr/>
        </p:nvSpPr>
        <p:spPr>
          <a:xfrm>
            <a:off x="4018178" y="2034540"/>
            <a:ext cx="320040" cy="0"/>
          </a:xfrm>
          <a:prstGeom prst="line">
            <a:avLst/>
          </a:prstGeom>
          <a:noFill/>
          <a:ln w="19050">
            <a:solidFill>
              <a:srgbClr val="546E7A"/>
            </a:solidFill>
            <a:prstDash val="solid"/>
            <a:tailEnd type="triangle"/>
          </a:ln>
        </p:spPr>
      </p:sp>
      <p:sp>
        <p:nvSpPr>
          <p:cNvPr id="6" name="Shape 4"/>
          <p:cNvSpPr/>
          <p:nvPr/>
        </p:nvSpPr>
        <p:spPr>
          <a:xfrm>
            <a:off x="4383938" y="1417320"/>
            <a:ext cx="3423818" cy="1234440"/>
          </a:xfrm>
          <a:prstGeom prst="roundRect">
            <a:avLst>
              <a:gd name="adj" fmla="val 5926"/>
            </a:avLst>
          </a:prstGeom>
          <a:solidFill>
            <a:srgbClr val="F7F9FA"/>
          </a:solidFill>
          <a:ln w="12700">
            <a:solidFill>
              <a:srgbClr val="B0BEC5"/>
            </a:solidFill>
            <a:prstDash val="solid"/>
          </a:ln>
        </p:spPr>
      </p:sp>
      <p:sp>
        <p:nvSpPr>
          <p:cNvPr id="7" name="Text 5"/>
          <p:cNvSpPr txBox="1"/>
          <p:nvPr/>
        </p:nvSpPr>
        <p:spPr>
          <a:xfrm>
            <a:off x="4457090"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Adaptör kırpma</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a:t>
            </a:r>
            <a:r>
              <a:rPr lang="en-US" sz="1200" dirty="0">
                <a:solidFill>
                  <a:srgbClr val="455A64"/>
                </a:solidFill>
                <a:latin typeface="Courier New" pitchFamily="34" charset="0"/>
                <a:ea typeface="Courier New" pitchFamily="34" charset="-122"/>
                <a:cs typeface="Courier New" pitchFamily="34" charset="-120"/>
              </a:rPr>
              <a:t>AGATCGGAAGAGC</a:t>
            </a:r>
            <a:r>
              <a:rPr lang="en-US" sz="1200" dirty="0">
                <a:solidFill>
                  <a:srgbClr val="37474F"/>
                </a:solidFill>
                <a:latin typeface="Calibri" pitchFamily="34" charset="0"/>
                <a:ea typeface="Calibri" pitchFamily="34" charset="-122"/>
                <a:cs typeface="Calibri" pitchFamily="34" charset="-120"/>
              </a:rPr>
              <a:t>; 150 okumada bulundu</a:t>
            </a:r>
            <a:endParaRPr lang="en-US" sz="1500" dirty="0"/>
          </a:p>
        </p:txBody>
      </p:sp>
      <p:sp>
        <p:nvSpPr>
          <p:cNvPr id="8" name="Shape 6"/>
          <p:cNvSpPr/>
          <p:nvPr/>
        </p:nvSpPr>
        <p:spPr>
          <a:xfrm>
            <a:off x="7853477" y="2034540"/>
            <a:ext cx="320040" cy="0"/>
          </a:xfrm>
          <a:prstGeom prst="line">
            <a:avLst/>
          </a:prstGeom>
          <a:noFill/>
          <a:ln w="19050">
            <a:solidFill>
              <a:srgbClr val="546E7A"/>
            </a:solidFill>
            <a:prstDash val="solid"/>
            <a:tailEnd type="triangle"/>
          </a:ln>
        </p:spPr>
      </p:sp>
      <p:sp>
        <p:nvSpPr>
          <p:cNvPr id="9" name="Shape 7"/>
          <p:cNvSpPr/>
          <p:nvPr/>
        </p:nvSpPr>
        <p:spPr>
          <a:xfrm>
            <a:off x="8219237" y="1417320"/>
            <a:ext cx="3423818" cy="1234440"/>
          </a:xfrm>
          <a:prstGeom prst="roundRect">
            <a:avLst>
              <a:gd name="adj" fmla="val 5926"/>
            </a:avLst>
          </a:prstGeom>
          <a:solidFill>
            <a:srgbClr val="F7F9FA"/>
          </a:solidFill>
          <a:ln w="12700">
            <a:solidFill>
              <a:srgbClr val="B0BEC5"/>
            </a:solidFill>
            <a:prstDash val="solid"/>
          </a:ln>
        </p:spPr>
      </p:sp>
      <p:sp>
        <p:nvSpPr>
          <p:cNvPr id="10" name="Text 8"/>
          <p:cNvSpPr txBox="1"/>
          <p:nvPr/>
        </p:nvSpPr>
        <p:spPr>
          <a:xfrm>
            <a:off x="8292389" y="141732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Kayan pencere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w = 4, ortalama Q &lt; 25 → kes</a:t>
            </a:r>
            <a:endParaRPr lang="en-US" sz="1500" dirty="0"/>
          </a:p>
        </p:txBody>
      </p:sp>
      <p:sp>
        <p:nvSpPr>
          <p:cNvPr id="11" name="Shape 9"/>
          <p:cNvSpPr/>
          <p:nvPr/>
        </p:nvSpPr>
        <p:spPr>
          <a:xfrm>
            <a:off x="548640" y="3200400"/>
            <a:ext cx="3423818" cy="1234440"/>
          </a:xfrm>
          <a:prstGeom prst="roundRect">
            <a:avLst>
              <a:gd name="adj" fmla="val 5926"/>
            </a:avLst>
          </a:prstGeom>
          <a:solidFill>
            <a:srgbClr val="F7F9FA"/>
          </a:solidFill>
          <a:ln w="12700">
            <a:solidFill>
              <a:srgbClr val="B0BEC5"/>
            </a:solidFill>
            <a:prstDash val="solid"/>
          </a:ln>
        </p:spPr>
      </p:sp>
      <p:sp>
        <p:nvSpPr>
          <p:cNvPr id="12" name="Text 10"/>
          <p:cNvSpPr txBox="1"/>
          <p:nvPr/>
        </p:nvSpPr>
        <p:spPr>
          <a:xfrm>
            <a:off x="621792"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Uzunluk filtresi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 50 bp; 207 okuma elendi</a:t>
            </a:r>
            <a:endParaRPr lang="en-US" sz="1500" dirty="0"/>
          </a:p>
        </p:txBody>
      </p:sp>
      <p:sp>
        <p:nvSpPr>
          <p:cNvPr id="13" name="Shape 11"/>
          <p:cNvSpPr/>
          <p:nvPr/>
        </p:nvSpPr>
        <p:spPr>
          <a:xfrm>
            <a:off x="4018178" y="3817620"/>
            <a:ext cx="320040" cy="0"/>
          </a:xfrm>
          <a:prstGeom prst="line">
            <a:avLst/>
          </a:prstGeom>
          <a:noFill/>
          <a:ln w="19050">
            <a:solidFill>
              <a:srgbClr val="546E7A"/>
            </a:solidFill>
            <a:prstDash val="solid"/>
            <a:tailEnd type="triangle"/>
          </a:ln>
        </p:spPr>
      </p:sp>
      <p:sp>
        <p:nvSpPr>
          <p:cNvPr id="14" name="Shape 12"/>
          <p:cNvSpPr/>
          <p:nvPr/>
        </p:nvSpPr>
        <p:spPr>
          <a:xfrm>
            <a:off x="4383938" y="3200400"/>
            <a:ext cx="3423818" cy="1234440"/>
          </a:xfrm>
          <a:prstGeom prst="roundRect">
            <a:avLst>
              <a:gd name="adj" fmla="val 5926"/>
            </a:avLst>
          </a:prstGeom>
          <a:solidFill>
            <a:srgbClr val="F7F9FA"/>
          </a:solidFill>
          <a:ln w="12700">
            <a:solidFill>
              <a:srgbClr val="B0BEC5"/>
            </a:solidFill>
            <a:prstDash val="solid"/>
          </a:ln>
        </p:spPr>
      </p:sp>
      <p:sp>
        <p:nvSpPr>
          <p:cNvPr id="15" name="Text 13"/>
          <p:cNvSpPr txBox="1"/>
          <p:nvPr/>
        </p:nvSpPr>
        <p:spPr>
          <a:xfrm>
            <a:off x="4457090"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Kalite + N filtresi</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ortalama Q ≥ 25, N ≤ 2</a:t>
            </a:r>
            <a:endParaRPr lang="en-US" sz="1500" dirty="0"/>
          </a:p>
        </p:txBody>
      </p:sp>
      <p:sp>
        <p:nvSpPr>
          <p:cNvPr id="16" name="Shape 14"/>
          <p:cNvSpPr/>
          <p:nvPr/>
        </p:nvSpPr>
        <p:spPr>
          <a:xfrm>
            <a:off x="7853477" y="3817620"/>
            <a:ext cx="320040" cy="0"/>
          </a:xfrm>
          <a:prstGeom prst="line">
            <a:avLst/>
          </a:prstGeom>
          <a:noFill/>
          <a:ln w="19050">
            <a:solidFill>
              <a:srgbClr val="546E7A"/>
            </a:solidFill>
            <a:prstDash val="solid"/>
            <a:tailEnd type="triangle"/>
          </a:ln>
        </p:spPr>
      </p:sp>
      <p:sp>
        <p:nvSpPr>
          <p:cNvPr id="17" name="Shape 15"/>
          <p:cNvSpPr/>
          <p:nvPr/>
        </p:nvSpPr>
        <p:spPr>
          <a:xfrm>
            <a:off x="8219237" y="3200400"/>
            <a:ext cx="3423818" cy="1234440"/>
          </a:xfrm>
          <a:prstGeom prst="roundRect">
            <a:avLst>
              <a:gd name="adj" fmla="val 5926"/>
            </a:avLst>
          </a:prstGeom>
          <a:solidFill>
            <a:srgbClr val="FDECEA"/>
          </a:solidFill>
          <a:ln w="12700">
            <a:solidFill>
              <a:srgbClr val="B71C1C"/>
            </a:solidFill>
            <a:prstDash val="solid"/>
          </a:ln>
        </p:spPr>
      </p:sp>
      <p:sp>
        <p:nvSpPr>
          <p:cNvPr id="18" name="Text 16"/>
          <p:cNvSpPr txBox="1"/>
          <p:nvPr/>
        </p:nvSpPr>
        <p:spPr>
          <a:xfrm>
            <a:off x="8292389" y="3200400"/>
            <a:ext cx="3277514" cy="123444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Temiz okumalar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1793 okuma, 165 543 baz</a:t>
            </a:r>
            <a:endParaRPr lang="en-US" sz="1500" dirty="0"/>
          </a:p>
        </p:txBody>
      </p:sp>
      <p:sp>
        <p:nvSpPr>
          <p:cNvPr id="19" name="Text 17"/>
          <p:cNvSpPr txBox="1"/>
          <p:nvPr/>
        </p:nvSpPr>
        <p:spPr>
          <a:xfrm>
            <a:off x="548640" y="4983480"/>
            <a:ext cx="11094415" cy="128016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Sıra önemli:</a:t>
            </a:r>
            <a:r>
              <a:rPr lang="en-US" sz="1700" dirty="0">
                <a:solidFill>
                  <a:srgbClr val="212121"/>
                </a:solidFill>
                <a:latin typeface="Calibri" pitchFamily="34" charset="0"/>
                <a:ea typeface="Calibri" pitchFamily="34" charset="-122"/>
                <a:cs typeface="Calibri" pitchFamily="34" charset="-120"/>
              </a:rPr>
              <a:t> önce adaptör (yapay dizi), sonra kalite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Kırpma okumayı </a:t>
            </a:r>
            <a:r>
              <a:rPr lang="en-US" sz="1700" b="1" dirty="0">
                <a:solidFill>
                  <a:srgbClr val="212121"/>
                </a:solidFill>
                <a:latin typeface="Calibri" pitchFamily="34" charset="0"/>
                <a:ea typeface="Calibri" pitchFamily="34" charset="-122"/>
                <a:cs typeface="Calibri" pitchFamily="34" charset="-120"/>
              </a:rPr>
              <a:t>kısaltır</a:t>
            </a:r>
            <a:r>
              <a:rPr lang="en-US" sz="1700" dirty="0">
                <a:solidFill>
                  <a:srgbClr val="212121"/>
                </a:solidFill>
                <a:latin typeface="Calibri" pitchFamily="34" charset="0"/>
                <a:ea typeface="Calibri" pitchFamily="34" charset="-122"/>
                <a:cs typeface="Calibri" pitchFamily="34" charset="-120"/>
              </a:rPr>
              <a:t>; filtre okumayı </a:t>
            </a:r>
            <a:r>
              <a:rPr lang="en-US" sz="1700" b="1" dirty="0">
                <a:solidFill>
                  <a:srgbClr val="212121"/>
                </a:solidFill>
                <a:latin typeface="Calibri" pitchFamily="34" charset="0"/>
                <a:ea typeface="Calibri" pitchFamily="34" charset="-122"/>
                <a:cs typeface="Calibri" pitchFamily="34" charset="-120"/>
              </a:rPr>
              <a:t>atar</a:t>
            </a:r>
            <a:r>
              <a:rPr lang="en-US" sz="1700" dirty="0">
                <a:solidFill>
                  <a:srgbClr val="212121"/>
                </a:solidFill>
                <a:latin typeface="Calibri" pitchFamily="34" charset="0"/>
                <a:ea typeface="Calibri" pitchFamily="34" charset="-122"/>
                <a:cs typeface="Calibri" pitchFamily="34" charset="-120"/>
              </a:rPr>
              <a:t> — her adımda kaç okumanın elendiğini kaydedin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Kısa okumalar (&lt; 50 bp) genomda birden çok yere hizalanabilir</a:t>
            </a:r>
            <a:endParaRPr lang="en-US" sz="1700" dirty="0"/>
          </a:p>
        </p:txBody>
      </p:sp>
      <p:sp>
        <p:nvSpPr>
          <p:cNvPr id="20" name="Text 18"/>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21" name="Text 19"/>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Kayan pencere kırpma: elle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Q = [38, 37, 36, 30, 22, 18, 15, 12], pencere w = 3, eşik = 25. Okuma 5'→3' taranıyor; ortalaması eşiğin altına ilk düşen pencerenin başından kesilecek. Kaç baz tutulur?</a:t>
            </a:r>
            <a:endParaRPr lang="en-US" sz="1800" dirty="0"/>
          </a:p>
        </p:txBody>
      </p:sp>
      <p:sp>
        <p:nvSpPr>
          <p:cNvPr id="6" name="Text 4"/>
          <p:cNvSpPr txBox="1"/>
          <p:nvPr/>
        </p:nvSpPr>
        <p:spPr>
          <a:xfrm>
            <a:off x="548640" y="2779776"/>
            <a:ext cx="4659654"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Pencere 0: (38 + 37 + 36)/3 = </a:t>
            </a:r>
            <a:r>
              <a:rPr lang="en-US" sz="1600" b="1" dirty="0">
                <a:solidFill>
                  <a:srgbClr val="212121"/>
                </a:solidFill>
                <a:latin typeface="Calibri" pitchFamily="34" charset="0"/>
                <a:ea typeface="Calibri" pitchFamily="34" charset="-122"/>
                <a:cs typeface="Calibri" pitchFamily="34" charset="-120"/>
              </a:rPr>
              <a:t>37.0</a:t>
            </a:r>
            <a:r>
              <a:rPr lang="en-US" sz="1600" dirty="0">
                <a:solidFill>
                  <a:srgbClr val="212121"/>
                </a:solidFill>
                <a:latin typeface="Calibri" pitchFamily="34" charset="0"/>
                <a:ea typeface="Calibri" pitchFamily="34" charset="-122"/>
                <a:cs typeface="Calibri" pitchFamily="34" charset="-120"/>
              </a:rPr>
              <a:t> → devam</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Pencere 1: (37 + 36 + 30)/3 = </a:t>
            </a:r>
            <a:r>
              <a:rPr lang="en-US" sz="1600" b="1" dirty="0">
                <a:solidFill>
                  <a:srgbClr val="212121"/>
                </a:solidFill>
                <a:latin typeface="Calibri" pitchFamily="34" charset="0"/>
                <a:ea typeface="Calibri" pitchFamily="34" charset="-122"/>
                <a:cs typeface="Calibri" pitchFamily="34" charset="-120"/>
              </a:rPr>
              <a:t>34.3</a:t>
            </a:r>
            <a:r>
              <a:rPr lang="en-US" sz="1600" dirty="0">
                <a:solidFill>
                  <a:srgbClr val="212121"/>
                </a:solidFill>
                <a:latin typeface="Calibri" pitchFamily="34" charset="0"/>
                <a:ea typeface="Calibri" pitchFamily="34" charset="-122"/>
                <a:cs typeface="Calibri" pitchFamily="34" charset="-120"/>
              </a:rPr>
              <a:t> → devam</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Pencere 2: (36 + 30 + 22)/3 = </a:t>
            </a:r>
            <a:r>
              <a:rPr lang="en-US" sz="1600" b="1" dirty="0">
                <a:solidFill>
                  <a:srgbClr val="212121"/>
                </a:solidFill>
                <a:latin typeface="Calibri" pitchFamily="34" charset="0"/>
                <a:ea typeface="Calibri" pitchFamily="34" charset="-122"/>
                <a:cs typeface="Calibri" pitchFamily="34" charset="-120"/>
              </a:rPr>
              <a:t>29.3</a:t>
            </a:r>
            <a:r>
              <a:rPr lang="en-US" sz="1600" dirty="0">
                <a:solidFill>
                  <a:srgbClr val="212121"/>
                </a:solidFill>
                <a:latin typeface="Calibri" pitchFamily="34" charset="0"/>
                <a:ea typeface="Calibri" pitchFamily="34" charset="-122"/>
                <a:cs typeface="Calibri" pitchFamily="34" charset="-120"/>
              </a:rPr>
              <a:t> → devam</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Pencere 3: (30 + 22 + 18)/3 = </a:t>
            </a:r>
            <a:r>
              <a:rPr lang="en-US" sz="1600" b="1" dirty="0">
                <a:solidFill>
                  <a:srgbClr val="212121"/>
                </a:solidFill>
                <a:latin typeface="Calibri" pitchFamily="34" charset="0"/>
                <a:ea typeface="Calibri" pitchFamily="34" charset="-122"/>
                <a:cs typeface="Calibri" pitchFamily="34" charset="-120"/>
              </a:rPr>
              <a:t>23.3</a:t>
            </a:r>
            <a:r>
              <a:rPr lang="en-US" sz="1600" dirty="0">
                <a:solidFill>
                  <a:srgbClr val="212121"/>
                </a:solidFill>
                <a:latin typeface="Calibri" pitchFamily="34" charset="0"/>
                <a:ea typeface="Calibri" pitchFamily="34" charset="-122"/>
                <a:cs typeface="Calibri" pitchFamily="34" charset="-120"/>
              </a:rPr>
              <a:t> &lt; 25 → </a:t>
            </a:r>
            <a:r>
              <a:rPr lang="en-US" sz="1600" b="1" dirty="0">
                <a:solidFill>
                  <a:srgbClr val="212121"/>
                </a:solidFill>
                <a:latin typeface="Calibri" pitchFamily="34" charset="0"/>
                <a:ea typeface="Calibri" pitchFamily="34" charset="-122"/>
                <a:cs typeface="Calibri" pitchFamily="34" charset="-120"/>
              </a:rPr>
              <a:t>kes</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Tutulan uzunluk = 3 (konum 0, 1, 2)</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Not: Q = 30 olan 3. baz da atıldı (pencere etkisi)</a:t>
            </a:r>
            <a:endParaRPr lang="en-US" sz="1600" dirty="0"/>
          </a:p>
        </p:txBody>
      </p:sp>
      <p:pic>
        <p:nvPicPr>
          <p:cNvPr id="7" name="Image 0" descr="p04_kirpma.png">    </p:cNvPr>
          <p:cNvPicPr>
            <a:picLocks noChangeAspect="1"/>
          </p:cNvPicPr>
          <p:nvPr/>
        </p:nvPicPr>
        <p:blipFill>
          <a:blip r:embed="rId1"/>
          <a:stretch>
            <a:fillRect/>
          </a:stretch>
        </p:blipFill>
        <p:spPr>
          <a:xfrm>
            <a:off x="6133960" y="2779776"/>
            <a:ext cx="4903470"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kayan_pencere_kirp([38, 37, 36, 30, 22, 18, 15, 12], w=3, esik=25)</a:t>
            </a:r>
            <a:r>
              <a:rPr lang="en-US" sz="1700" dirty="0">
                <a:solidFill>
                  <a:srgbClr val="212121"/>
                </a:solidFill>
                <a:latin typeface="Calibri" pitchFamily="34" charset="0"/>
                <a:ea typeface="Calibri" pitchFamily="34" charset="-122"/>
                <a:cs typeface="Calibri" pitchFamily="34" charset="-120"/>
              </a:rPr>
              <a:t> → </a:t>
            </a: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Pencere tek bir kötü bazın gürültüsünü yumuşatır ama kesme noktasını biraz erkene çeker.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Kayan pencere kırpma: kod</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656649"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437193"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Elle örnek: 3</a:t>
            </a:r>
            <a:endParaRPr lang="en-US" sz="1300" dirty="0"/>
          </a:p>
        </p:txBody>
      </p:sp>
      <p:sp>
        <p:nvSpPr>
          <p:cNvPr id="6" name="Shape 4"/>
          <p:cNvSpPr/>
          <p:nvPr/>
        </p:nvSpPr>
        <p:spPr>
          <a:xfrm>
            <a:off x="548640" y="1234440"/>
            <a:ext cx="6656649"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437193" cy="4087368"/>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kayan_pencere_kirp(kalite, w=4, esik=25):</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'''Tutulacak uzunluğu döndürür.'''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i in range(len(kalite) - w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sum(kalite[i:i + w]) / w &lt; esik:</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i</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len(kalite)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print("Elle örnek:",</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kayan_pencere_kirp([38, 37, 36, 30, 22, 18, 15, 12],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w=3, esik=25))</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O(n) sürüm: pencere toplamını kaydırarak güncelle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kayan_pencere_hizli(q, w=4, esik=25):</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 = sum(q[:w])</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i in range(len(q) - w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i &gt; 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s += q[i + w - 1] - q[i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s &lt; esik * w:</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i</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len(q)</a:t>
            </a:r>
            <a:endParaRPr lang="en-US" sz="13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Naif sürüm: her pencerede </a:t>
            </a:r>
            <a:r>
              <a:rPr lang="en-US" sz="1700" dirty="0">
                <a:solidFill>
                  <a:srgbClr val="455A64"/>
                </a:solidFill>
                <a:latin typeface="Courier New" pitchFamily="34" charset="0"/>
                <a:ea typeface="Courier New" pitchFamily="34" charset="-122"/>
                <a:cs typeface="Courier New" pitchFamily="34" charset="-120"/>
              </a:rPr>
              <a:t>sum</a:t>
            </a:r>
            <a:r>
              <a:rPr lang="en-US" sz="1700" dirty="0">
                <a:solidFill>
                  <a:srgbClr val="212121"/>
                </a:solidFill>
                <a:latin typeface="Calibri" pitchFamily="34" charset="0"/>
                <a:ea typeface="Calibri" pitchFamily="34" charset="-122"/>
                <a:cs typeface="Calibri" pitchFamily="34" charset="-120"/>
              </a:rPr>
              <a:t> → </a:t>
            </a:r>
            <a:r>
              <a:rPr lang="en-US" sz="1700" b="1" dirty="0">
                <a:solidFill>
                  <a:srgbClr val="212121"/>
                </a:solidFill>
                <a:latin typeface="Calibri" pitchFamily="34" charset="0"/>
                <a:ea typeface="Calibri" pitchFamily="34" charset="-122"/>
                <a:cs typeface="Calibri" pitchFamily="34" charset="-120"/>
              </a:rPr>
              <a:t>O(n·w)</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Hızlı sürüm: çıkan bazı çıkar, gireni ekle → </a:t>
            </a:r>
            <a:r>
              <a:rPr lang="en-US" sz="1700" b="1" dirty="0">
                <a:solidFill>
                  <a:srgbClr val="212121"/>
                </a:solidFill>
                <a:latin typeface="Calibri" pitchFamily="34" charset="0"/>
                <a:ea typeface="Calibri" pitchFamily="34" charset="-122"/>
                <a:cs typeface="Calibri" pitchFamily="34" charset="-120"/>
              </a:rPr>
              <a:t>O(n)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 &lt; esik * w</a:t>
            </a:r>
            <a:r>
              <a:rPr lang="en-US" sz="1700" dirty="0">
                <a:solidFill>
                  <a:srgbClr val="212121"/>
                </a:solidFill>
                <a:latin typeface="Calibri" pitchFamily="34" charset="0"/>
                <a:ea typeface="Calibri" pitchFamily="34" charset="-122"/>
                <a:cs typeface="Calibri" pitchFamily="34" charset="-120"/>
              </a:rPr>
              <a:t>: bölme yerine çarpma (tamsayı karşılaştırma)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Ders verisinde varsayılan w = 4, eşik = 25</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2000 okumanın </a:t>
            </a:r>
            <a:r>
              <a:rPr lang="en-US" sz="1700" b="1" dirty="0">
                <a:solidFill>
                  <a:srgbClr val="212121"/>
                </a:solidFill>
                <a:latin typeface="Calibri" pitchFamily="34" charset="0"/>
                <a:ea typeface="Calibri" pitchFamily="34" charset="-122"/>
                <a:cs typeface="Calibri" pitchFamily="34" charset="-120"/>
              </a:rPr>
              <a:t>1258</a:t>
            </a:r>
            <a:r>
              <a:rPr lang="en-US" sz="1700" dirty="0">
                <a:solidFill>
                  <a:srgbClr val="212121"/>
                </a:solidFill>
                <a:latin typeface="Calibri" pitchFamily="34" charset="0"/>
                <a:ea typeface="Calibri" pitchFamily="34" charset="-122"/>
                <a:cs typeface="Calibri" pitchFamily="34" charset="-120"/>
              </a:rPr>
              <a:t>'i bu adımda kısaldı</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Adaptör arama: elle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 kısmi eşleşme ve uyumsuzluk toleransı</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Adaptör </a:t>
            </a:r>
            <a:r>
              <a:rPr lang="en-US" sz="1800" dirty="0">
                <a:solidFill>
                  <a:srgbClr val="455A64"/>
                </a:solidFill>
                <a:latin typeface="Courier New" pitchFamily="34" charset="0"/>
                <a:ea typeface="Courier New" pitchFamily="34" charset="-122"/>
                <a:cs typeface="Courier New" pitchFamily="34" charset="-120"/>
              </a:rPr>
              <a:t>AGATCGGAAGAGC</a:t>
            </a:r>
            <a:r>
              <a:rPr lang="en-US" sz="1800" dirty="0">
                <a:solidFill>
                  <a:srgbClr val="212121"/>
                </a:solidFill>
                <a:latin typeface="Calibri" pitchFamily="34" charset="0"/>
                <a:ea typeface="Calibri" pitchFamily="34" charset="-122"/>
                <a:cs typeface="Calibri" pitchFamily="34" charset="-120"/>
              </a:rPr>
              <a:t> (13 nt). </a:t>
            </a:r>
            <a:r>
              <a:rPr lang="en-US" sz="1800" dirty="0">
                <a:solidFill>
                  <a:srgbClr val="455A64"/>
                </a:solidFill>
                <a:latin typeface="Courier New" pitchFamily="34" charset="0"/>
                <a:ea typeface="Courier New" pitchFamily="34" charset="-122"/>
                <a:cs typeface="Courier New" pitchFamily="34" charset="-120"/>
              </a:rPr>
              <a:t>ACGTACGTTTGACAGATCGGAAGAGCACAC</a:t>
            </a:r>
            <a:r>
              <a:rPr lang="en-US" sz="1800" dirty="0">
                <a:solidFill>
                  <a:srgbClr val="212121"/>
                </a:solidFill>
                <a:latin typeface="Calibri" pitchFamily="34" charset="0"/>
                <a:ea typeface="Calibri" pitchFamily="34" charset="-122"/>
                <a:cs typeface="Calibri" pitchFamily="34" charset="-120"/>
              </a:rPr>
              <a:t> okumasında adaptör nerede başlar? Kurallar: en az 5 baz örtüşme; parça ≥ 8 baz ise 1 uyumsuzluk, daha kısaysa 0 uyumsuzluk.</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Her i için </a:t>
            </a:r>
            <a:r>
              <a:rPr lang="en-US" sz="1800" dirty="0">
                <a:solidFill>
                  <a:srgbClr val="455A64"/>
                </a:solidFill>
                <a:latin typeface="Courier New" pitchFamily="34" charset="0"/>
                <a:ea typeface="Courier New" pitchFamily="34" charset="-122"/>
                <a:cs typeface="Courier New" pitchFamily="34" charset="-120"/>
              </a:rPr>
              <a:t>okuma[i:i+13]</a:t>
            </a:r>
            <a:r>
              <a:rPr lang="en-US" sz="1800" dirty="0">
                <a:solidFill>
                  <a:srgbClr val="212121"/>
                </a:solidFill>
                <a:latin typeface="Calibri" pitchFamily="34" charset="0"/>
                <a:ea typeface="Calibri" pitchFamily="34" charset="-122"/>
                <a:cs typeface="Calibri" pitchFamily="34" charset="-120"/>
              </a:rPr>
              <a:t> ile adaptörün aynı uzunluktaki başını karşılaştır</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 = 0: </a:t>
            </a:r>
            <a:r>
              <a:rPr lang="en-US" sz="1800" dirty="0">
                <a:solidFill>
                  <a:srgbClr val="455A64"/>
                </a:solidFill>
                <a:latin typeface="Courier New" pitchFamily="34" charset="0"/>
                <a:ea typeface="Courier New" pitchFamily="34" charset="-122"/>
                <a:cs typeface="Courier New" pitchFamily="34" charset="-120"/>
              </a:rPr>
              <a:t>ACGTACGTTTGAC</a:t>
            </a:r>
            <a:r>
              <a:rPr lang="en-US" sz="1800" dirty="0">
                <a:solidFill>
                  <a:srgbClr val="212121"/>
                </a:solidFill>
                <a:latin typeface="Calibri" pitchFamily="34" charset="0"/>
                <a:ea typeface="Calibri" pitchFamily="34" charset="-122"/>
                <a:cs typeface="Calibri" pitchFamily="34" charset="-120"/>
              </a:rPr>
              <a:t> → 9 uyumsuzluk; i = 11: 9; i = 12: 11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i = 13: </a:t>
            </a:r>
            <a:r>
              <a:rPr lang="en-US" sz="1800" dirty="0">
                <a:solidFill>
                  <a:srgbClr val="455A64"/>
                </a:solidFill>
                <a:latin typeface="Courier New" pitchFamily="34" charset="0"/>
                <a:ea typeface="Courier New" pitchFamily="34" charset="-122"/>
                <a:cs typeface="Courier New" pitchFamily="34" charset="-120"/>
              </a:rPr>
              <a:t>AGATCGGAAGAGC</a:t>
            </a:r>
            <a:r>
              <a:rPr lang="en-US" sz="1800" dirty="0">
                <a:solidFill>
                  <a:srgbClr val="212121"/>
                </a:solidFill>
                <a:latin typeface="Calibri" pitchFamily="34" charset="0"/>
                <a:ea typeface="Calibri" pitchFamily="34" charset="-122"/>
                <a:cs typeface="Calibri" pitchFamily="34" charset="-120"/>
              </a:rPr>
              <a:t> → </a:t>
            </a:r>
            <a:r>
              <a:rPr lang="en-US" sz="1800" b="1" dirty="0">
                <a:solidFill>
                  <a:srgbClr val="212121"/>
                </a:solidFill>
                <a:latin typeface="Calibri" pitchFamily="34" charset="0"/>
                <a:ea typeface="Calibri" pitchFamily="34" charset="-122"/>
                <a:cs typeface="Calibri" pitchFamily="34" charset="-120"/>
              </a:rPr>
              <a:t>0 uyumsuzluk</a:t>
            </a:r>
            <a:r>
              <a:rPr lang="en-US" sz="1800" dirty="0">
                <a:solidFill>
                  <a:srgbClr val="212121"/>
                </a:solidFill>
                <a:latin typeface="Calibri" pitchFamily="34" charset="0"/>
                <a:ea typeface="Calibri" pitchFamily="34" charset="-122"/>
                <a:cs typeface="Calibri" pitchFamily="34" charset="-120"/>
              </a:rPr>
              <a:t> → adaptör başı = </a:t>
            </a:r>
            <a:r>
              <a:rPr lang="en-US" sz="1800" b="1" dirty="0">
                <a:solidFill>
                  <a:srgbClr val="212121"/>
                </a:solidFill>
                <a:latin typeface="Calibri" pitchFamily="34" charset="0"/>
                <a:ea typeface="Calibri" pitchFamily="34" charset="-122"/>
                <a:cs typeface="Calibri" pitchFamily="34" charset="-120"/>
              </a:rPr>
              <a:t>13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Tutulan kısım: </a:t>
            </a:r>
            <a:r>
              <a:rPr lang="en-US" sz="1800" dirty="0">
                <a:solidFill>
                  <a:srgbClr val="455A64"/>
                </a:solidFill>
                <a:latin typeface="Courier New" pitchFamily="34" charset="0"/>
                <a:ea typeface="Courier New" pitchFamily="34" charset="-122"/>
                <a:cs typeface="Courier New" pitchFamily="34" charset="-120"/>
              </a:rPr>
              <a:t>okuma[:13]</a:t>
            </a:r>
            <a:r>
              <a:rPr lang="en-US" sz="1800" dirty="0">
                <a:solidFill>
                  <a:srgbClr val="212121"/>
                </a:solidFill>
                <a:latin typeface="Calibri" pitchFamily="34" charset="0"/>
                <a:ea typeface="Calibri" pitchFamily="34" charset="-122"/>
                <a:cs typeface="Calibri" pitchFamily="34" charset="-120"/>
              </a:rPr>
              <a:t> = </a:t>
            </a:r>
            <a:r>
              <a:rPr lang="en-US" sz="1800" dirty="0">
                <a:solidFill>
                  <a:srgbClr val="455A64"/>
                </a:solidFill>
                <a:latin typeface="Courier New" pitchFamily="34" charset="0"/>
                <a:ea typeface="Courier New" pitchFamily="34" charset="-122"/>
                <a:cs typeface="Courier New" pitchFamily="34" charset="-120"/>
              </a:rPr>
              <a:t>ACGTACGTTTGAC</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Okumanın </a:t>
            </a:r>
            <a:r>
              <a:rPr lang="en-US" sz="1800" b="1" dirty="0">
                <a:solidFill>
                  <a:srgbClr val="212121"/>
                </a:solidFill>
                <a:latin typeface="Calibri" pitchFamily="34" charset="0"/>
                <a:ea typeface="Calibri" pitchFamily="34" charset="-122"/>
                <a:cs typeface="Calibri" pitchFamily="34" charset="-120"/>
              </a:rPr>
              <a:t>sonunda</a:t>
            </a:r>
            <a:r>
              <a:rPr lang="en-US" sz="1800" dirty="0">
                <a:solidFill>
                  <a:srgbClr val="212121"/>
                </a:solidFill>
                <a:latin typeface="Calibri" pitchFamily="34" charset="0"/>
                <a:ea typeface="Calibri" pitchFamily="34" charset="-122"/>
                <a:cs typeface="Calibri" pitchFamily="34" charset="-120"/>
              </a:rPr>
              <a:t> kısmi adaptör: </a:t>
            </a:r>
            <a:r>
              <a:rPr lang="en-US" sz="1800" dirty="0">
                <a:solidFill>
                  <a:srgbClr val="455A64"/>
                </a:solidFill>
                <a:latin typeface="Courier New" pitchFamily="34" charset="0"/>
                <a:ea typeface="Courier New" pitchFamily="34" charset="-122"/>
                <a:cs typeface="Courier New" pitchFamily="34" charset="-120"/>
              </a:rPr>
              <a:t>TTTTTTTTTTAGATC</a:t>
            </a:r>
            <a:r>
              <a:rPr lang="en-US" sz="1800" dirty="0">
                <a:solidFill>
                  <a:srgbClr val="212121"/>
                </a:solidFill>
                <a:latin typeface="Calibri" pitchFamily="34" charset="0"/>
                <a:ea typeface="Calibri" pitchFamily="34" charset="-122"/>
                <a:cs typeface="Calibri" pitchFamily="34" charset="-120"/>
              </a:rPr>
              <a:t> → i = 10 (5 baz, tam eşleşme)</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Tek uyumsuzluklu kısa parça (</a:t>
            </a:r>
            <a:r>
              <a:rPr lang="en-US" sz="1800" dirty="0">
                <a:solidFill>
                  <a:srgbClr val="455A64"/>
                </a:solidFill>
                <a:latin typeface="Courier New" pitchFamily="34" charset="0"/>
                <a:ea typeface="Courier New" pitchFamily="34" charset="-122"/>
                <a:cs typeface="Courier New" pitchFamily="34" charset="-120"/>
              </a:rPr>
              <a:t>AGTTC</a:t>
            </a:r>
            <a:r>
              <a:rPr lang="en-US" sz="1800" dirty="0">
                <a:solidFill>
                  <a:srgbClr val="212121"/>
                </a:solidFill>
                <a:latin typeface="Calibri" pitchFamily="34" charset="0"/>
                <a:ea typeface="Calibri" pitchFamily="34" charset="-122"/>
                <a:cs typeface="Calibri" pitchFamily="34" charset="-120"/>
              </a:rPr>
              <a:t>) kabul edilmez → 15 (kesme yok)</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Rastgele 100 bp okumalarda (20 000 simülasyon) yanlış pozitif oranı </a:t>
            </a:r>
            <a:r>
              <a:rPr lang="en-US" sz="1700" b="1" dirty="0">
                <a:solidFill>
                  <a:srgbClr val="212121"/>
                </a:solidFill>
                <a:latin typeface="Calibri" pitchFamily="34" charset="0"/>
                <a:ea typeface="Calibri" pitchFamily="34" charset="-122"/>
                <a:cs typeface="Calibri" pitchFamily="34" charset="-120"/>
              </a:rPr>
              <a:t>%0.18</a:t>
            </a:r>
            <a:r>
              <a:rPr lang="en-US" sz="1700" dirty="0">
                <a:solidFill>
                  <a:srgbClr val="212121"/>
                </a:solidFill>
                <a:latin typeface="Calibri" pitchFamily="34" charset="0"/>
                <a:ea typeface="Calibri" pitchFamily="34" charset="-122"/>
                <a:cs typeface="Calibri" pitchFamily="34" charset="-120"/>
              </a:rPr>
              <a:t>: kısa (5–7 nt) tam eşleşmeler şans eseri olur (4⁻⁵ ≈ 0.001). Ders verisinde </a:t>
            </a:r>
            <a:r>
              <a:rPr lang="en-US" sz="1700" b="1" dirty="0">
                <a:solidFill>
                  <a:srgbClr val="212121"/>
                </a:solidFill>
                <a:latin typeface="Calibri" pitchFamily="34" charset="0"/>
                <a:ea typeface="Calibri" pitchFamily="34" charset="-122"/>
                <a:cs typeface="Calibri" pitchFamily="34" charset="-120"/>
              </a:rPr>
              <a:t>150</a:t>
            </a:r>
            <a:r>
              <a:rPr lang="en-US" sz="1700" dirty="0">
                <a:solidFill>
                  <a:srgbClr val="212121"/>
                </a:solidFill>
                <a:latin typeface="Calibri" pitchFamily="34" charset="0"/>
                <a:ea typeface="Calibri" pitchFamily="34" charset="-122"/>
                <a:cs typeface="Calibri" pitchFamily="34" charset="-120"/>
              </a:rPr>
              <a:t> okumada adaptör bulundu (konum 55–95).</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Adaptör kırpma: kod</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878537"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659081"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Adaptör başlangıcı: 13 -&gt; ACGTACGTTTGAC</a:t>
            </a:r>
            <a:endParaRPr lang="en-US" sz="1300" dirty="0"/>
          </a:p>
        </p:txBody>
      </p:sp>
      <p:sp>
        <p:nvSpPr>
          <p:cNvPr id="6" name="Shape 4"/>
          <p:cNvSpPr/>
          <p:nvPr/>
        </p:nvSpPr>
        <p:spPr>
          <a:xfrm>
            <a:off x="548640" y="1234440"/>
            <a:ext cx="6878537"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659081" cy="4087368"/>
          </a:xfrm>
          <a:prstGeom prst="rect">
            <a:avLst/>
          </a:prstGeom>
          <a:noFill/>
          <a:ln/>
        </p:spPr>
        <p:txBody>
          <a:bodyPr wrap="square" lIns="0" tIns="0" rIns="0" bIns="0" rtlCol="0" anchor="t"/>
          <a:lstStyle/>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ADAPTOR = "AGATCGGAAGAGC"   # Illumina TruSeq başlangıcı</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def adaptor_konumu(dizi, adaptor=ADAPTOR,</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min_ortusme=5, max_hata=1):</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dizi = str(dizi)</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for i in range(len(dizi) - min_ortusme + 1):</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parca = dizi[i:i + len(adaptor)]</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hata = sum(a != b for a, b in zip(parca, adaptor))</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if hata &lt;= (max_hata if len(parca) &gt;= 8 else 0):</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return i</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return len(dizi)</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 </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ornek = "ACGTACGTTTGACAGATCGGAAGAGCACAC"</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k = adaptor_konumu(ornek)</a:t>
            </a:r>
            <a:endParaRPr lang="en-US" sz="1450" dirty="0"/>
          </a:p>
          <a:p>
            <a:pPr indent="0" marL="0">
              <a:lnSpc>
                <a:spcPct val="100000"/>
              </a:lnSpc>
              <a:buNone/>
            </a:pPr>
            <a:r>
              <a:rPr lang="en-US" sz="1450" dirty="0">
                <a:solidFill>
                  <a:srgbClr val="263238"/>
                </a:solidFill>
                <a:latin typeface="Courier New" pitchFamily="34" charset="0"/>
                <a:ea typeface="Courier New" pitchFamily="34" charset="-122"/>
                <a:cs typeface="Courier New" pitchFamily="34" charset="-120"/>
              </a:rPr>
              <a:t>print("Adaptör başlangıcı:", k, "-&gt;", ornek[:k])</a:t>
            </a:r>
            <a:endParaRPr lang="en-US" sz="1450" dirty="0"/>
          </a:p>
        </p:txBody>
      </p:sp>
      <p:sp>
        <p:nvSpPr>
          <p:cNvPr id="8" name="Text 6"/>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zip</a:t>
            </a:r>
            <a:r>
              <a:rPr lang="en-US" sz="1700" dirty="0">
                <a:solidFill>
                  <a:srgbClr val="212121"/>
                </a:solidFill>
                <a:latin typeface="Calibri" pitchFamily="34" charset="0"/>
                <a:ea typeface="Calibri" pitchFamily="34" charset="-122"/>
                <a:cs typeface="Calibri" pitchFamily="34" charset="-120"/>
              </a:rPr>
              <a:t> kısa olanın boyunda durur → okumanın sonunda adaptörün yalnız </a:t>
            </a:r>
            <a:r>
              <a:rPr lang="en-US" sz="1700" b="1" dirty="0">
                <a:solidFill>
                  <a:srgbClr val="212121"/>
                </a:solidFill>
                <a:latin typeface="Calibri" pitchFamily="34" charset="0"/>
                <a:ea typeface="Calibri" pitchFamily="34" charset="-122"/>
                <a:cs typeface="Calibri" pitchFamily="34" charset="-120"/>
              </a:rPr>
              <a:t>başı</a:t>
            </a:r>
            <a:r>
              <a:rPr lang="en-US" sz="1700" dirty="0">
                <a:solidFill>
                  <a:srgbClr val="212121"/>
                </a:solidFill>
                <a:latin typeface="Calibri" pitchFamily="34" charset="0"/>
                <a:ea typeface="Calibri" pitchFamily="34" charset="-122"/>
                <a:cs typeface="Calibri" pitchFamily="34" charset="-120"/>
              </a:rPr>
              <a:t> karşılaştırılır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Kısa parçada (&lt; 8) uyumsuzluk yok → yanlış pozitif azalır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Bulunamazsa </a:t>
            </a:r>
            <a:r>
              <a:rPr lang="en-US" sz="1700" dirty="0">
                <a:solidFill>
                  <a:srgbClr val="455A64"/>
                </a:solidFill>
                <a:latin typeface="Courier New" pitchFamily="34" charset="0"/>
                <a:ea typeface="Courier New" pitchFamily="34" charset="-122"/>
                <a:cs typeface="Courier New" pitchFamily="34" charset="-120"/>
              </a:rPr>
              <a:t>len(dizi)</a:t>
            </a:r>
            <a:r>
              <a:rPr lang="en-US" sz="1700" dirty="0">
                <a:solidFill>
                  <a:srgbClr val="212121"/>
                </a:solidFill>
                <a:latin typeface="Calibri" pitchFamily="34" charset="0"/>
                <a:ea typeface="Calibri" pitchFamily="34" charset="-122"/>
                <a:cs typeface="Calibri" pitchFamily="34" charset="-120"/>
              </a:rPr>
              <a:t> → </a:t>
            </a:r>
            <a:r>
              <a:rPr lang="en-US" sz="1700" dirty="0">
                <a:solidFill>
                  <a:srgbClr val="455A64"/>
                </a:solidFill>
                <a:latin typeface="Courier New" pitchFamily="34" charset="0"/>
                <a:ea typeface="Courier New" pitchFamily="34" charset="-122"/>
                <a:cs typeface="Courier New" pitchFamily="34" charset="-120"/>
              </a:rPr>
              <a:t>okuma[:len]</a:t>
            </a:r>
            <a:r>
              <a:rPr lang="en-US" sz="1700" dirty="0">
                <a:solidFill>
                  <a:srgbClr val="212121"/>
                </a:solidFill>
                <a:latin typeface="Calibri" pitchFamily="34" charset="0"/>
                <a:ea typeface="Calibri" pitchFamily="34" charset="-122"/>
                <a:cs typeface="Calibri" pitchFamily="34" charset="-120"/>
              </a:rPr>
              <a:t> hiçbir şey kesmez</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Karmaşıklık </a:t>
            </a:r>
            <a:r>
              <a:rPr lang="en-US" sz="1700" b="1" dirty="0">
                <a:solidFill>
                  <a:srgbClr val="212121"/>
                </a:solidFill>
                <a:latin typeface="Calibri" pitchFamily="34" charset="0"/>
                <a:ea typeface="Calibri" pitchFamily="34" charset="-122"/>
                <a:cs typeface="Calibri" pitchFamily="34" charset="-120"/>
              </a:rPr>
              <a:t>O(n·m)</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Temizleme fonksiyonu ve neden sayacı</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6656649"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437193"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{'geçti': 1793, 'kısa': 207}</a:t>
            </a:r>
            <a:endParaRPr lang="en-US" sz="1300" dirty="0"/>
          </a:p>
        </p:txBody>
      </p:sp>
      <p:sp>
        <p:nvSpPr>
          <p:cNvPr id="6" name="Shape 4"/>
          <p:cNvSpPr/>
          <p:nvPr/>
        </p:nvSpPr>
        <p:spPr>
          <a:xfrm>
            <a:off x="548640" y="1234440"/>
            <a:ext cx="6656649"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437193" cy="4087368"/>
          </a:xfrm>
          <a:prstGeom prst="rect">
            <a:avLst/>
          </a:prstGeom>
          <a:noFill/>
          <a:ln/>
        </p:spPr>
        <p:txBody>
          <a:bodyPr wrap="square" lIns="0" tIns="0" rIns="0" bIns="0" rtlCol="0" anchor="t"/>
          <a:lstStyle/>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def temizle(okuma, min_uzunluk=50, min_ort_q=25):</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okuma = okuma[:adaptor_konumu(okuma.seq)]</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q = okuma.letter_annotations["phred_quality"]</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okuma = okuma[:kayan_pencere_kirp(q)]</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if len(okuma) &lt; min_uzunluk:</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return None, "kısa"</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q = okuma.letter_annotations["phred_quality"]</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if sum(q) / len(q) &lt; min_ort_q:</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return None, "düşük kalite"</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if okuma.seq.count("N") &gt; 2:</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return None, "N fazla"</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return okuma, "geçti"</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 </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neden = Counter(d for _, d in map(temizle, okumalar))</a:t>
            </a:r>
            <a:endParaRPr lang="en-US" sz="1550" dirty="0"/>
          </a:p>
          <a:p>
            <a:pPr indent="0" marL="0">
              <a:lnSpc>
                <a:spcPct val="100000"/>
              </a:lnSpc>
              <a:buNone/>
            </a:pPr>
            <a:r>
              <a:rPr lang="en-US" sz="1550" dirty="0">
                <a:solidFill>
                  <a:srgbClr val="263238"/>
                </a:solidFill>
                <a:latin typeface="Courier New" pitchFamily="34" charset="0"/>
                <a:ea typeface="Courier New" pitchFamily="34" charset="-122"/>
                <a:cs typeface="Courier New" pitchFamily="34" charset="-120"/>
              </a:rPr>
              <a:t>print(dict(neden))</a:t>
            </a:r>
            <a:endParaRPr lang="en-US" sz="1550" dirty="0"/>
          </a:p>
        </p:txBody>
      </p:sp>
      <p:sp>
        <p:nvSpPr>
          <p:cNvPr id="8" name="Text 6"/>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SeqRecord</a:t>
            </a:r>
            <a:r>
              <a:rPr lang="en-US" sz="1700" dirty="0">
                <a:solidFill>
                  <a:srgbClr val="212121"/>
                </a:solidFill>
                <a:latin typeface="Calibri" pitchFamily="34" charset="0"/>
                <a:ea typeface="Calibri" pitchFamily="34" charset="-122"/>
                <a:cs typeface="Calibri" pitchFamily="34" charset="-120"/>
              </a:rPr>
              <a:t> dilimi dizi + kaliteyi birlikte keser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Fonksiyon </a:t>
            </a:r>
            <a:r>
              <a:rPr lang="en-US" sz="1700" b="1" dirty="0">
                <a:solidFill>
                  <a:srgbClr val="212121"/>
                </a:solidFill>
                <a:latin typeface="Calibri" pitchFamily="34" charset="0"/>
                <a:ea typeface="Calibri" pitchFamily="34" charset="-122"/>
                <a:cs typeface="Calibri" pitchFamily="34" charset="-120"/>
              </a:rPr>
              <a:t>(okuma, neden)</a:t>
            </a:r>
            <a:r>
              <a:rPr lang="en-US" sz="1700" dirty="0">
                <a:solidFill>
                  <a:srgbClr val="212121"/>
                </a:solidFill>
                <a:latin typeface="Calibri" pitchFamily="34" charset="0"/>
                <a:ea typeface="Calibri" pitchFamily="34" charset="-122"/>
                <a:cs typeface="Calibri" pitchFamily="34" charset="-120"/>
              </a:rPr>
              <a:t> döndürür → neden sayacı tutulabilir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Filtre sırası: uzunluk → kalite → N</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Temiz okumalar: </a:t>
            </a:r>
            <a:r>
              <a:rPr lang="en-US" sz="1700" dirty="0">
                <a:solidFill>
                  <a:srgbClr val="455A64"/>
                </a:solidFill>
                <a:latin typeface="Courier New" pitchFamily="34" charset="0"/>
                <a:ea typeface="Courier New" pitchFamily="34" charset="-122"/>
                <a:cs typeface="Courier New" pitchFamily="34" charset="-120"/>
              </a:rPr>
              <a:t>SeqIO.write(sonuc, "temiz_okumalar.fastq", "fastq")</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Boru hattının etkisi: ham ve temiz okumalar</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3767915"/>
                <a:gridCol w="2093286"/>
                <a:gridCol w="2093286"/>
                <a:gridCol w="313992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Ölçüt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Ham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Temiz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Değişim</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Okuma sayısı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1793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−207 (−%10.4)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 baz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165 543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−%17.2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Ortalama uzunluk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92.3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165 543 / 1793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Ortalama 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31.84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34.17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Q ≥ 30 baz oranı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%71.6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+12.4 puan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Toplam beklenen hata (Σ 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1375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−%83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E &gt; 1 olan okuma oranı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 68 kat azalma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291584"/>
            <a:ext cx="11094415" cy="822960"/>
          </a:xfrm>
          <a:prstGeom prst="roundRect">
            <a:avLst>
              <a:gd name="adj" fmla="val 8889"/>
            </a:avLst>
          </a:prstGeom>
          <a:solidFill>
            <a:srgbClr val="FDECEA"/>
          </a:solidFill>
          <a:ln/>
        </p:spPr>
      </p:sp>
      <p:sp>
        <p:nvSpPr>
          <p:cNvPr id="5" name="Text 2"/>
          <p:cNvSpPr txBox="1"/>
          <p:nvPr/>
        </p:nvSpPr>
        <p:spPr>
          <a:xfrm>
            <a:off x="731520" y="4291584"/>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207 okumanın </a:t>
            </a:r>
            <a:r>
              <a:rPr lang="en-US" sz="1600" b="1" dirty="0">
                <a:solidFill>
                  <a:srgbClr val="212121"/>
                </a:solidFill>
                <a:latin typeface="Calibri" pitchFamily="34" charset="0"/>
                <a:ea typeface="Calibri" pitchFamily="34" charset="-122"/>
                <a:cs typeface="Calibri" pitchFamily="34" charset="-120"/>
              </a:rPr>
              <a:t>199</a:t>
            </a:r>
            <a:r>
              <a:rPr lang="en-US" sz="1600" dirty="0">
                <a:solidFill>
                  <a:srgbClr val="212121"/>
                </a:solidFill>
                <a:latin typeface="Calibri" pitchFamily="34" charset="0"/>
                <a:ea typeface="Calibri" pitchFamily="34" charset="-122"/>
                <a:cs typeface="Calibri" pitchFamily="34" charset="-120"/>
              </a:rPr>
              <a:t>'u başlangıçta ortalama Q &lt; 25 olan okumalardı: kayan pencere onları 50 bazın altına kırptığı için "kısa" gerekçesiyle elendiler → "düşük kalite" filtresine hiç ulaşan olmadı.</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Okuma başına beklenen hata: önce / sonra</a:t>
            </a:r>
            <a:endParaRPr lang="en-US" sz="3000" dirty="0"/>
          </a:p>
        </p:txBody>
      </p:sp>
      <p:pic>
        <p:nvPicPr>
          <p:cNvPr id="3" name="Image 0" descr="p04_beklenen_hata.png">    </p:cNvPr>
          <p:cNvPicPr>
            <a:picLocks noChangeAspect="1"/>
          </p:cNvPicPr>
          <p:nvPr/>
        </p:nvPicPr>
        <p:blipFill>
          <a:blip r:embed="rId1"/>
          <a:stretch>
            <a:fillRect/>
          </a:stretch>
        </p:blipFill>
        <p:spPr>
          <a:xfrm>
            <a:off x="548640" y="2062689"/>
            <a:ext cx="7100426" cy="3372702"/>
          </a:xfrm>
          <a:prstGeom prst="rect">
            <a:avLst/>
          </a:prstGeom>
        </p:spPr>
      </p:pic>
      <p:sp>
        <p:nvSpPr>
          <p:cNvPr id="4" name="Text 1"/>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x ekseni </a:t>
            </a:r>
            <a:r>
              <a:rPr lang="en-US" sz="1700" b="1" dirty="0">
                <a:solidFill>
                  <a:srgbClr val="212121"/>
                </a:solidFill>
                <a:latin typeface="Calibri" pitchFamily="34" charset="0"/>
                <a:ea typeface="Calibri" pitchFamily="34" charset="-122"/>
                <a:cs typeface="Calibri" pitchFamily="34" charset="-120"/>
              </a:rPr>
              <a:t>logaritmik</a:t>
            </a:r>
            <a:r>
              <a:rPr lang="en-US" sz="1700" dirty="0">
                <a:solidFill>
                  <a:srgbClr val="212121"/>
                </a:solidFill>
                <a:latin typeface="Calibri" pitchFamily="34" charset="0"/>
                <a:ea typeface="Calibri" pitchFamily="34" charset="-122"/>
                <a:cs typeface="Calibri" pitchFamily="34" charset="-120"/>
              </a:rPr>
              <a:t>: E = Σ 10^(−Q/10)</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Ham verideki E ≈ 3–10 kümesi: düşük kaliteli okumalar → tümü elendi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E ≈ 0.7 kümesi: kırpılan ama tutulan okumalar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Temizde E &gt; 1 olan okuma: </a:t>
            </a:r>
            <a:r>
              <a:rPr lang="en-US" sz="1700" b="1" dirty="0">
                <a:solidFill>
                  <a:srgbClr val="212121"/>
                </a:solidFill>
                <a:latin typeface="Calibri" pitchFamily="34" charset="0"/>
                <a:ea typeface="Calibri" pitchFamily="34" charset="-122"/>
                <a:cs typeface="Calibri" pitchFamily="34" charset="-120"/>
              </a:rPr>
              <a:t>3</a:t>
            </a:r>
            <a:r>
              <a:rPr lang="en-US" sz="1700" dirty="0">
                <a:solidFill>
                  <a:srgbClr val="212121"/>
                </a:solidFill>
                <a:latin typeface="Calibri" pitchFamily="34" charset="0"/>
                <a:ea typeface="Calibri" pitchFamily="34" charset="-122"/>
                <a:cs typeface="Calibri" pitchFamily="34" charset="-120"/>
              </a:rPr>
              <a:t> (1793 içinde, %0.17)</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Toplam E: </a:t>
            </a:r>
            <a:r>
              <a:rPr lang="en-US" sz="1700" b="1" dirty="0">
                <a:solidFill>
                  <a:srgbClr val="212121"/>
                </a:solidFill>
                <a:latin typeface="Calibri" pitchFamily="34" charset="0"/>
                <a:ea typeface="Calibri" pitchFamily="34" charset="-122"/>
                <a:cs typeface="Calibri" pitchFamily="34" charset="-120"/>
              </a:rPr>
              <a:t>1375 → 234</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Kalite ve uzunluk: önce / sonra</a:t>
            </a:r>
            <a:endParaRPr lang="en-US" sz="3000" dirty="0"/>
          </a:p>
        </p:txBody>
      </p:sp>
      <p:pic>
        <p:nvPicPr>
          <p:cNvPr id="3" name="Image 0" descr="p04_once_sonra.png">    </p:cNvPr>
          <p:cNvPicPr>
            <a:picLocks noChangeAspect="1"/>
          </p:cNvPicPr>
          <p:nvPr/>
        </p:nvPicPr>
        <p:blipFill>
          <a:blip r:embed="rId1"/>
          <a:stretch>
            <a:fillRect/>
          </a:stretch>
        </p:blipFill>
        <p:spPr>
          <a:xfrm>
            <a:off x="548640" y="2006208"/>
            <a:ext cx="7987979" cy="3485664"/>
          </a:xfrm>
          <a:prstGeom prst="rect">
            <a:avLst/>
          </a:prstGeom>
        </p:spPr>
      </p:pic>
      <p:sp>
        <p:nvSpPr>
          <p:cNvPr id="4" name="Text 1"/>
          <p:cNvSpPr txBox="1"/>
          <p:nvPr/>
        </p:nvSpPr>
        <p:spPr>
          <a:xfrm>
            <a:off x="8856659" y="1234440"/>
            <a:ext cx="278639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Temiz okuma uzunlukları 50–100; </a:t>
            </a:r>
            <a:r>
              <a:rPr lang="en-US" sz="1700" b="1" dirty="0">
                <a:solidFill>
                  <a:srgbClr val="212121"/>
                </a:solidFill>
                <a:latin typeface="Calibri" pitchFamily="34" charset="0"/>
                <a:ea typeface="Calibri" pitchFamily="34" charset="-122"/>
                <a:cs typeface="Calibri" pitchFamily="34" charset="-120"/>
              </a:rPr>
              <a:t>%38</a:t>
            </a:r>
            <a:r>
              <a:rPr lang="en-US" sz="1700" dirty="0">
                <a:solidFill>
                  <a:srgbClr val="212121"/>
                </a:solidFill>
                <a:latin typeface="Calibri" pitchFamily="34" charset="0"/>
                <a:ea typeface="Calibri" pitchFamily="34" charset="-122"/>
                <a:cs typeface="Calibri" pitchFamily="34" charset="-120"/>
              </a:rPr>
              <a:t>'i hiç kırpılmadı (100 bp tepe)</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Ortalama Q her konumda ~2 birim arttı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3' uçta düşüş sürüyor: kırpma eşiği (25) konum ortalamasını değil, </a:t>
            </a:r>
            <a:r>
              <a:rPr lang="en-US" sz="1700" b="1" dirty="0">
                <a:solidFill>
                  <a:srgbClr val="212121"/>
                </a:solidFill>
                <a:latin typeface="Calibri" pitchFamily="34" charset="0"/>
                <a:ea typeface="Calibri" pitchFamily="34" charset="-122"/>
                <a:cs typeface="Calibri" pitchFamily="34" charset="-120"/>
              </a:rPr>
              <a:t>pencereyi</a:t>
            </a:r>
            <a:r>
              <a:rPr lang="en-US" sz="1700" dirty="0">
                <a:solidFill>
                  <a:srgbClr val="212121"/>
                </a:solidFill>
                <a:latin typeface="Calibri" pitchFamily="34" charset="0"/>
                <a:ea typeface="Calibri" pitchFamily="34" charset="-122"/>
                <a:cs typeface="Calibri" pitchFamily="34" charset="-120"/>
              </a:rPr>
              <a:t> denetler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Kırpma sonrası tekrar QC: boru hattı doğrulaması</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Kapsama: Lander–Waterman modeli</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Kaç okuma yeterli? Rastgele parçalardan genomun ne kadarını görürüz?</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Ortalama kapsama ve okunmamış bazlar</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C = N·L/G ve Poisson varsayımıyla bir bazın hiç okunmama olasılığı e^(−C). Üç senaryo için C'yi, okunmamış baz oranını ve beklenen okunmamış baz sayısını bulun.</a:t>
            </a:r>
            <a:endParaRPr lang="en-US" sz="1800" dirty="0"/>
          </a:p>
        </p:txBody>
      </p:sp>
      <p:sp>
        <p:nvSpPr>
          <p:cNvPr id="6" name="Text 4"/>
          <p:cNvSpPr txBox="1"/>
          <p:nvPr/>
        </p:nvSpPr>
        <p:spPr>
          <a:xfrm>
            <a:off x="548640" y="2779776"/>
            <a:ext cx="532531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Bakteri: C = 2 000 000 × 150 / 5 000 000 = </a:t>
            </a:r>
            <a:r>
              <a:rPr lang="en-US" sz="1700" b="1" dirty="0">
                <a:solidFill>
                  <a:srgbClr val="212121"/>
                </a:solidFill>
                <a:latin typeface="Calibri" pitchFamily="34" charset="0"/>
                <a:ea typeface="Calibri" pitchFamily="34" charset="-122"/>
                <a:cs typeface="Calibri" pitchFamily="34" charset="-120"/>
              </a:rPr>
              <a:t>60×</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e^(−60) = </a:t>
            </a:r>
            <a:r>
              <a:rPr lang="en-US" sz="1700" b="1" dirty="0">
                <a:solidFill>
                  <a:srgbClr val="212121"/>
                </a:solidFill>
                <a:latin typeface="Calibri" pitchFamily="34" charset="0"/>
                <a:ea typeface="Calibri" pitchFamily="34" charset="-122"/>
                <a:cs typeface="Calibri" pitchFamily="34" charset="-120"/>
              </a:rPr>
              <a:t>8.8 × 10⁻²⁷</a:t>
            </a:r>
            <a:r>
              <a:rPr lang="en-US" sz="1700" dirty="0">
                <a:solidFill>
                  <a:srgbClr val="212121"/>
                </a:solidFill>
                <a:latin typeface="Calibri" pitchFamily="34" charset="0"/>
                <a:ea typeface="Calibri" pitchFamily="34" charset="-122"/>
                <a:cs typeface="Calibri" pitchFamily="34" charset="-120"/>
              </a:rPr>
              <a:t> → okunmamış baz beklentisi ≈ 0</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Ders verisi: C = 2000 × 100 / 5000 = </a:t>
            </a:r>
            <a:r>
              <a:rPr lang="en-US" sz="1700" b="1" dirty="0">
                <a:solidFill>
                  <a:srgbClr val="212121"/>
                </a:solidFill>
                <a:latin typeface="Calibri" pitchFamily="34" charset="0"/>
                <a:ea typeface="Calibri" pitchFamily="34" charset="-122"/>
                <a:cs typeface="Calibri" pitchFamily="34" charset="-120"/>
              </a:rPr>
              <a:t>40×</a:t>
            </a:r>
            <a:r>
              <a:rPr lang="en-US" sz="1700" dirty="0">
                <a:solidFill>
                  <a:srgbClr val="212121"/>
                </a:solidFill>
                <a:latin typeface="Calibri" pitchFamily="34" charset="0"/>
                <a:ea typeface="Calibri" pitchFamily="34" charset="-122"/>
                <a:cs typeface="Calibri" pitchFamily="34" charset="-120"/>
              </a:rPr>
              <a:t>; e^(−40) = 4.2 × 10⁻¹⁸</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Yetersiz: C = 10 000 × 100 / 5 000 000 = </a:t>
            </a:r>
            <a:r>
              <a:rPr lang="en-US" sz="1700" b="1" dirty="0">
                <a:solidFill>
                  <a:srgbClr val="212121"/>
                </a:solidFill>
                <a:latin typeface="Calibri" pitchFamily="34" charset="0"/>
                <a:ea typeface="Calibri" pitchFamily="34" charset="-122"/>
                <a:cs typeface="Calibri" pitchFamily="34" charset="-120"/>
              </a:rPr>
              <a:t>0.2×</a:t>
            </a:r>
            <a:endParaRPr lang="en-US" sz="1700" dirty="0"/>
          </a:p>
          <a:p>
            <a:pPr marL="342900" indent="-342900">
              <a:spcAft>
                <a:spcPts val="600"/>
              </a:spcAft>
              <a:buSzPct val="100000"/>
              <a:buFont typeface="+mj-lt"/>
              <a:buAutoNum type="arabicPeriod" startAt="1"/>
            </a:pPr>
            <a:r>
              <a:rPr lang="en-US" sz="1700" dirty="0">
                <a:solidFill>
                  <a:srgbClr val="212121"/>
                </a:solidFill>
                <a:latin typeface="Calibri" pitchFamily="34" charset="0"/>
                <a:ea typeface="Calibri" pitchFamily="34" charset="-122"/>
                <a:cs typeface="Calibri" pitchFamily="34" charset="-120"/>
              </a:rPr>
              <a:t>e^(−0.2) = </a:t>
            </a:r>
            <a:r>
              <a:rPr lang="en-US" sz="1700" b="1" dirty="0">
                <a:solidFill>
                  <a:srgbClr val="212121"/>
                </a:solidFill>
                <a:latin typeface="Calibri" pitchFamily="34" charset="0"/>
                <a:ea typeface="Calibri" pitchFamily="34" charset="-122"/>
                <a:cs typeface="Calibri" pitchFamily="34" charset="-120"/>
              </a:rPr>
              <a:t>0.819</a:t>
            </a:r>
            <a:r>
              <a:rPr lang="en-US" sz="1700" dirty="0">
                <a:solidFill>
                  <a:srgbClr val="212121"/>
                </a:solidFill>
                <a:latin typeface="Calibri" pitchFamily="34" charset="0"/>
                <a:ea typeface="Calibri" pitchFamily="34" charset="-122"/>
                <a:cs typeface="Calibri" pitchFamily="34" charset="-120"/>
              </a:rPr>
              <a:t> → 5 Mbp'nin </a:t>
            </a:r>
            <a:r>
              <a:rPr lang="en-US" sz="1700" b="1" dirty="0">
                <a:solidFill>
                  <a:srgbClr val="212121"/>
                </a:solidFill>
                <a:latin typeface="Calibri" pitchFamily="34" charset="0"/>
                <a:ea typeface="Calibri" pitchFamily="34" charset="-122"/>
                <a:cs typeface="Calibri" pitchFamily="34" charset="-120"/>
              </a:rPr>
              <a:t>≈ 4.09 M</a:t>
            </a:r>
            <a:r>
              <a:rPr lang="en-US" sz="1700" dirty="0">
                <a:solidFill>
                  <a:srgbClr val="212121"/>
                </a:solidFill>
                <a:latin typeface="Calibri" pitchFamily="34" charset="0"/>
                <a:ea typeface="Calibri" pitchFamily="34" charset="-122"/>
                <a:cs typeface="Calibri" pitchFamily="34" charset="-120"/>
              </a:rPr>
              <a:t> bazı hiç okunmaz</a:t>
            </a:r>
            <a:endParaRPr lang="en-US" sz="1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193999" y="2779776"/>
          <a:ext cx="5449056" cy="914400"/>
        </p:xfrm>
        <a:graphic>
          <a:graphicData uri="http://schemas.openxmlformats.org/drawingml/2006/table">
            <a:tbl>
              <a:tblPr/>
              <a:tblGrid>
                <a:gridCol w="1315289"/>
                <a:gridCol w="1190024"/>
                <a:gridCol w="563695"/>
                <a:gridCol w="876860"/>
                <a:gridCol w="563695"/>
                <a:gridCol w="939492"/>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Senaryo</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G</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Bakteri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2 000 000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 Mbp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60×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8.8e−27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Ders verisi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 kbp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4.2e−18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Yetersiz</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10 000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 Mbp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0.819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Model: okuma başlangıçları genom boyunca </a:t>
            </a:r>
            <a:r>
              <a:rPr lang="en-US" sz="1700" b="1" dirty="0">
                <a:solidFill>
                  <a:srgbClr val="212121"/>
                </a:solidFill>
                <a:latin typeface="Calibri" pitchFamily="34" charset="0"/>
                <a:ea typeface="Calibri" pitchFamily="34" charset="-122"/>
                <a:cs typeface="Calibri" pitchFamily="34" charset="-120"/>
              </a:rPr>
              <a:t>düzgün ve bağımsız</a:t>
            </a:r>
            <a:r>
              <a:rPr lang="en-US" sz="1700" dirty="0">
                <a:solidFill>
                  <a:srgbClr val="212121"/>
                </a:solidFill>
                <a:latin typeface="Calibri" pitchFamily="34" charset="0"/>
                <a:ea typeface="Calibri" pitchFamily="34" charset="-122"/>
                <a:cs typeface="Calibri" pitchFamily="34" charset="-120"/>
              </a:rPr>
              <a:t> → bir bazı kapsayan okuma sayısı ~ Poisson(C). Gerçekte GC'ce zengin/fakir ve tekrarlı bölgeler daha az kapsanır.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İnsan genomu için ne kadar dizileme?</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 — alıştırma 5 ve uzantısı</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3 Gbp'lik genomun %99.9'undan fazlasının en az bir kez okunması için minimum kapsama nedir? 150 bp okumalarla kaç okuma gerekir? 30× kapsamada kaç baz okunmadan kalır?</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Koşul: e^(−C) &lt; 0.001 → C &gt; ln(1000) = </a:t>
            </a:r>
            <a:r>
              <a:rPr lang="en-US" sz="1800" b="1" dirty="0">
                <a:solidFill>
                  <a:srgbClr val="212121"/>
                </a:solidFill>
                <a:latin typeface="Calibri" pitchFamily="34" charset="0"/>
                <a:ea typeface="Calibri" pitchFamily="34" charset="-122"/>
                <a:cs typeface="Calibri" pitchFamily="34" charset="-120"/>
              </a:rPr>
              <a:t>6.91×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C·G / L = 6.91 × 3×10⁹ / 150 ≈ </a:t>
            </a:r>
            <a:r>
              <a:rPr lang="en-US" sz="1800" b="1" dirty="0">
                <a:solidFill>
                  <a:srgbClr val="212121"/>
                </a:solidFill>
                <a:latin typeface="Calibri" pitchFamily="34" charset="0"/>
                <a:ea typeface="Calibri" pitchFamily="34" charset="-122"/>
                <a:cs typeface="Calibri" pitchFamily="34" charset="-120"/>
              </a:rPr>
              <a:t>1.38 × 10⁸</a:t>
            </a:r>
            <a:r>
              <a:rPr lang="en-US" sz="1800" dirty="0">
                <a:solidFill>
                  <a:srgbClr val="212121"/>
                </a:solidFill>
                <a:latin typeface="Calibri" pitchFamily="34" charset="0"/>
                <a:ea typeface="Calibri" pitchFamily="34" charset="-122"/>
                <a:cs typeface="Calibri" pitchFamily="34" charset="-120"/>
              </a:rPr>
              <a:t> okuma</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Çift uçlu (2 × 150): ≈ 6.9 × 10⁷ okuma çifti</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30×: beklenen okunmamış baz = 3×10⁹ × e^(−30) ≈ </a:t>
            </a:r>
            <a:r>
              <a:rPr lang="en-US" sz="1800" b="1" dirty="0">
                <a:solidFill>
                  <a:srgbClr val="212121"/>
                </a:solidFill>
                <a:latin typeface="Calibri" pitchFamily="34" charset="0"/>
                <a:ea typeface="Calibri" pitchFamily="34" charset="-122"/>
                <a:cs typeface="Calibri" pitchFamily="34" charset="-120"/>
              </a:rPr>
              <a:t>2.8 × 10⁻⁴</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Yani model 30×'te okunmamış baz öngörmez; pratikte yine de boşluklar kalır</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Tespit için ~7× yeterli; ama </a:t>
            </a:r>
            <a:r>
              <a:rPr lang="en-US" sz="1700" b="1" dirty="0">
                <a:solidFill>
                  <a:srgbClr val="212121"/>
                </a:solidFill>
                <a:latin typeface="Calibri" pitchFamily="34" charset="0"/>
                <a:ea typeface="Calibri" pitchFamily="34" charset="-122"/>
                <a:cs typeface="Calibri" pitchFamily="34" charset="-120"/>
              </a:rPr>
              <a:t>varyant çağırma</a:t>
            </a:r>
            <a:r>
              <a:rPr lang="en-US" sz="1700" dirty="0">
                <a:solidFill>
                  <a:srgbClr val="212121"/>
                </a:solidFill>
                <a:latin typeface="Calibri" pitchFamily="34" charset="0"/>
                <a:ea typeface="Calibri" pitchFamily="34" charset="-122"/>
                <a:cs typeface="Calibri" pitchFamily="34" charset="-120"/>
              </a:rPr>
              <a:t> için her konumda birden çok okuma gerekir (sonraki slayt: 30×'te kapsama 20–40 arasında yoğunlaşır). Klinik insan genomu standardı ≈ </a:t>
            </a:r>
            <a:r>
              <a:rPr lang="en-US" sz="1700" b="1" dirty="0">
                <a:solidFill>
                  <a:srgbClr val="212121"/>
                </a:solidFill>
                <a:latin typeface="Calibri" pitchFamily="34" charset="0"/>
                <a:ea typeface="Calibri" pitchFamily="34" charset="-122"/>
                <a:cs typeface="Calibri" pitchFamily="34" charset="-120"/>
              </a:rPr>
              <a:t>30×</a:t>
            </a:r>
            <a:r>
              <a:rPr lang="en-US" sz="1700" dirty="0">
                <a:solidFill>
                  <a:srgbClr val="212121"/>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Poisson kapsama: dağılım ve okunmamış oran</a:t>
            </a:r>
            <a:endParaRPr lang="en-US" sz="3000" dirty="0"/>
          </a:p>
        </p:txBody>
      </p:sp>
      <p:pic>
        <p:nvPicPr>
          <p:cNvPr id="3" name="Image 0" descr="p04_kapsama.png">    </p:cNvPr>
          <p:cNvPicPr>
            <a:picLocks noChangeAspect="1"/>
          </p:cNvPicPr>
          <p:nvPr/>
        </p:nvPicPr>
        <p:blipFill>
          <a:blip r:embed="rId1"/>
          <a:stretch>
            <a:fillRect/>
          </a:stretch>
        </p:blipFill>
        <p:spPr>
          <a:xfrm>
            <a:off x="718103" y="1234440"/>
            <a:ext cx="4764505" cy="5029200"/>
          </a:xfrm>
          <a:prstGeom prst="rect">
            <a:avLst/>
          </a:prstGeom>
        </p:spPr>
      </p:pic>
      <p:sp>
        <p:nvSpPr>
          <p:cNvPr id="4" name="Text 1"/>
          <p:cNvSpPr txBox="1"/>
          <p:nvPr/>
        </p:nvSpPr>
        <p:spPr>
          <a:xfrm>
            <a:off x="5972111" y="1234440"/>
            <a:ext cx="5670944"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Üst: bir bazı kapsayan okuma sayısı ~ </a:t>
            </a:r>
            <a:r>
              <a:rPr lang="en-US" sz="1700" b="1" dirty="0">
                <a:solidFill>
                  <a:srgbClr val="212121"/>
                </a:solidFill>
                <a:latin typeface="Calibri" pitchFamily="34" charset="0"/>
                <a:ea typeface="Calibri" pitchFamily="34" charset="-122"/>
                <a:cs typeface="Calibri" pitchFamily="34" charset="-120"/>
              </a:rPr>
              <a:t>Poisson(C)</a:t>
            </a:r>
            <a:r>
              <a:rPr lang="en-US" sz="1700" dirty="0">
                <a:solidFill>
                  <a:srgbClr val="212121"/>
                </a:solidFill>
                <a:latin typeface="Calibri" pitchFamily="34" charset="0"/>
                <a:ea typeface="Calibri" pitchFamily="34" charset="-122"/>
                <a:cs typeface="Calibri" pitchFamily="34" charset="-120"/>
              </a:rPr>
              <a:t>; ortalama C, varyans C</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C = 5×: P(0) = </a:t>
            </a:r>
            <a:r>
              <a:rPr lang="en-US" sz="1700" b="1" dirty="0">
                <a:solidFill>
                  <a:srgbClr val="212121"/>
                </a:solidFill>
                <a:latin typeface="Calibri" pitchFamily="34" charset="0"/>
                <a:ea typeface="Calibri" pitchFamily="34" charset="-122"/>
                <a:cs typeface="Calibri" pitchFamily="34" charset="-120"/>
              </a:rPr>
              <a:t>0.0067</a:t>
            </a:r>
            <a:r>
              <a:rPr lang="en-US" sz="1700" dirty="0">
                <a:solidFill>
                  <a:srgbClr val="212121"/>
                </a:solidFill>
                <a:latin typeface="Calibri" pitchFamily="34" charset="0"/>
                <a:ea typeface="Calibri" pitchFamily="34" charset="-122"/>
                <a:cs typeface="Calibri" pitchFamily="34" charset="-120"/>
              </a:rPr>
              <a:t>, P(≤ 2) ≈ </a:t>
            </a:r>
            <a:r>
              <a:rPr lang="en-US" sz="1700" b="1" dirty="0">
                <a:solidFill>
                  <a:srgbClr val="212121"/>
                </a:solidFill>
                <a:latin typeface="Calibri" pitchFamily="34" charset="0"/>
                <a:ea typeface="Calibri" pitchFamily="34" charset="-122"/>
                <a:cs typeface="Calibri" pitchFamily="34" charset="-120"/>
              </a:rPr>
              <a:t>0.125</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C = 30×: kapsama çoğunlukla </a:t>
            </a:r>
            <a:r>
              <a:rPr lang="en-US" sz="1700" b="1" dirty="0">
                <a:solidFill>
                  <a:srgbClr val="212121"/>
                </a:solidFill>
                <a:latin typeface="Calibri" pitchFamily="34" charset="0"/>
                <a:ea typeface="Calibri" pitchFamily="34" charset="-122"/>
                <a:cs typeface="Calibri" pitchFamily="34" charset="-120"/>
              </a:rPr>
              <a:t>20–40</a:t>
            </a:r>
            <a:r>
              <a:rPr lang="en-US" sz="1700" dirty="0">
                <a:solidFill>
                  <a:srgbClr val="212121"/>
                </a:solidFill>
                <a:latin typeface="Calibri" pitchFamily="34" charset="0"/>
                <a:ea typeface="Calibri" pitchFamily="34" charset="-122"/>
                <a:cs typeface="Calibri" pitchFamily="34" charset="-120"/>
              </a:rPr>
              <a:t> arasında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Alt: e^(−C) logaritmik eksende doğru; </a:t>
            </a:r>
            <a:r>
              <a:rPr lang="en-US" sz="1700" b="1" dirty="0">
                <a:solidFill>
                  <a:srgbClr val="212121"/>
                </a:solidFill>
                <a:latin typeface="Calibri" pitchFamily="34" charset="0"/>
                <a:ea typeface="Calibri" pitchFamily="34" charset="-122"/>
                <a:cs typeface="Calibri" pitchFamily="34" charset="-120"/>
              </a:rPr>
              <a:t>6.91×</a:t>
            </a:r>
            <a:r>
              <a:rPr lang="en-US" sz="1700" dirty="0">
                <a:solidFill>
                  <a:srgbClr val="212121"/>
                </a:solidFill>
                <a:latin typeface="Calibri" pitchFamily="34" charset="0"/>
                <a:ea typeface="Calibri" pitchFamily="34" charset="-122"/>
                <a:cs typeface="Calibri" pitchFamily="34" charset="-120"/>
              </a:rPr>
              <a:t>'te 0.001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+2.3× kapsama okunmamış oranı </a:t>
            </a:r>
            <a:r>
              <a:rPr lang="en-US" sz="1700" b="1" dirty="0">
                <a:solidFill>
                  <a:srgbClr val="212121"/>
                </a:solidFill>
                <a:latin typeface="Calibri" pitchFamily="34" charset="0"/>
                <a:ea typeface="Calibri" pitchFamily="34" charset="-122"/>
                <a:cs typeface="Calibri" pitchFamily="34" charset="-120"/>
              </a:rPr>
              <a:t>10 kat</a:t>
            </a:r>
            <a:r>
              <a:rPr lang="en-US" sz="1700" dirty="0">
                <a:solidFill>
                  <a:srgbClr val="212121"/>
                </a:solidFill>
                <a:latin typeface="Calibri" pitchFamily="34" charset="0"/>
                <a:ea typeface="Calibri" pitchFamily="34" charset="-122"/>
                <a:cs typeface="Calibri" pitchFamily="34" charset="-120"/>
              </a:rPr>
              <a:t> azaltır (ln 10 ≈ 2.3)</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Shape 1"/>
          <p:cNvSpPr/>
          <p:nvPr/>
        </p:nvSpPr>
        <p:spPr>
          <a:xfrm>
            <a:off x="548640" y="1234440"/>
            <a:ext cx="3515258" cy="2377440"/>
          </a:xfrm>
          <a:prstGeom prst="roundRect">
            <a:avLst>
              <a:gd name="adj" fmla="val 3077"/>
            </a:avLst>
          </a:prstGeom>
          <a:solidFill>
            <a:srgbClr val="F7F9FA"/>
          </a:solidFill>
          <a:ln w="12700">
            <a:solidFill>
              <a:srgbClr val="B0BEC5"/>
            </a:solidFill>
            <a:prstDash val="solid"/>
          </a:ln>
        </p:spPr>
      </p:sp>
      <p:sp>
        <p:nvSpPr>
          <p:cNvPr id="4" name="Text 2"/>
          <p:cNvSpPr txBox="1"/>
          <p:nvPr/>
        </p:nvSpPr>
        <p:spPr>
          <a:xfrm>
            <a:off x="731520"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Phred+64 ile karıştırmak</a:t>
            </a:r>
            <a:endParaRPr lang="en-US" sz="1700" dirty="0"/>
          </a:p>
        </p:txBody>
      </p:sp>
      <p:sp>
        <p:nvSpPr>
          <p:cNvPr id="5" name="Text 3"/>
          <p:cNvSpPr txBox="1"/>
          <p:nvPr/>
        </p:nvSpPr>
        <p:spPr>
          <a:xfrm>
            <a:off x="731520"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Eski Illumina (1.3–1.7) Phred+64 kullanır: </a:t>
            </a:r>
            <a:r>
              <a:rPr lang="en-US" sz="1500" dirty="0">
                <a:solidFill>
                  <a:srgbClr val="455A64"/>
                </a:solidFill>
                <a:latin typeface="Courier New" pitchFamily="34" charset="0"/>
                <a:ea typeface="Courier New" pitchFamily="34" charset="-122"/>
                <a:cs typeface="Courier New" pitchFamily="34" charset="-120"/>
              </a:rPr>
              <a:t>h</a:t>
            </a:r>
            <a:r>
              <a:rPr lang="en-US" sz="1500" dirty="0">
                <a:solidFill>
                  <a:srgbClr val="212121"/>
                </a:solidFill>
                <a:latin typeface="Calibri" pitchFamily="34" charset="0"/>
                <a:ea typeface="Calibri" pitchFamily="34" charset="-122"/>
                <a:cs typeface="Calibri" pitchFamily="34" charset="-120"/>
              </a:rPr>
              <a:t> = 40. Phred+33 ile okunursa Q = 71 (!). Dosyada </a:t>
            </a:r>
            <a:r>
              <a:rPr lang="en-US" sz="1500" dirty="0">
                <a:solidFill>
                  <a:srgbClr val="455A64"/>
                </a:solidFill>
                <a:latin typeface="Courier New" pitchFamily="34" charset="0"/>
                <a:ea typeface="Courier New" pitchFamily="34" charset="-122"/>
                <a:cs typeface="Courier New" pitchFamily="34" charset="-120"/>
              </a:rPr>
              <a:t>;</a:t>
            </a:r>
            <a:r>
              <a:rPr lang="en-US" sz="1500" dirty="0">
                <a:solidFill>
                  <a:srgbClr val="212121"/>
                </a:solidFill>
                <a:latin typeface="Calibri" pitchFamily="34" charset="0"/>
                <a:ea typeface="Calibri" pitchFamily="34" charset="-122"/>
                <a:cs typeface="Calibri" pitchFamily="34" charset="-120"/>
              </a:rPr>
              <a:t> (59) gibi &lt; 64 karakterler varsa kodlama +33'tür.</a:t>
            </a:r>
            <a:endParaRPr lang="en-US" sz="1500" dirty="0"/>
          </a:p>
        </p:txBody>
      </p:sp>
      <p:sp>
        <p:nvSpPr>
          <p:cNvPr id="6" name="Shape 4"/>
          <p:cNvSpPr/>
          <p:nvPr/>
        </p:nvSpPr>
        <p:spPr>
          <a:xfrm>
            <a:off x="4338218" y="1234440"/>
            <a:ext cx="3515258" cy="2377440"/>
          </a:xfrm>
          <a:prstGeom prst="roundRect">
            <a:avLst>
              <a:gd name="adj" fmla="val 3077"/>
            </a:avLst>
          </a:prstGeom>
          <a:solidFill>
            <a:srgbClr val="F7F9FA"/>
          </a:solidFill>
          <a:ln w="12700">
            <a:solidFill>
              <a:srgbClr val="B0BEC5"/>
            </a:solidFill>
            <a:prstDash val="solid"/>
          </a:ln>
        </p:spPr>
      </p:sp>
      <p:sp>
        <p:nvSpPr>
          <p:cNvPr id="7" name="Text 5"/>
          <p:cNvSpPr txBox="1"/>
          <p:nvPr/>
        </p:nvSpPr>
        <p:spPr>
          <a:xfrm>
            <a:off x="4521098"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Ortalama Q'ya güvenmek</a:t>
            </a:r>
            <a:endParaRPr lang="en-US" sz="1700" dirty="0"/>
          </a:p>
        </p:txBody>
      </p:sp>
      <p:sp>
        <p:nvSpPr>
          <p:cNvPr id="8" name="Text 6"/>
          <p:cNvSpPr txBox="1"/>
          <p:nvPr/>
        </p:nvSpPr>
        <p:spPr>
          <a:xfrm>
            <a:off x="4521098"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Logaritmik ölçekte ortalama yanıltır: [40, 40, 40, 10] → ortalama 32.5, etkin Q 16. Beklenen hatayı kullanın.</a:t>
            </a:r>
            <a:endParaRPr lang="en-US" sz="1500" dirty="0"/>
          </a:p>
        </p:txBody>
      </p:sp>
      <p:sp>
        <p:nvSpPr>
          <p:cNvPr id="9" name="Shape 7"/>
          <p:cNvSpPr/>
          <p:nvPr/>
        </p:nvSpPr>
        <p:spPr>
          <a:xfrm>
            <a:off x="8127797" y="1234440"/>
            <a:ext cx="3515258" cy="2377440"/>
          </a:xfrm>
          <a:prstGeom prst="roundRect">
            <a:avLst>
              <a:gd name="adj" fmla="val 3077"/>
            </a:avLst>
          </a:prstGeom>
          <a:solidFill>
            <a:srgbClr val="F7F9FA"/>
          </a:solidFill>
          <a:ln w="12700">
            <a:solidFill>
              <a:srgbClr val="B0BEC5"/>
            </a:solidFill>
            <a:prstDash val="solid"/>
          </a:ln>
        </p:spPr>
      </p:sp>
      <p:sp>
        <p:nvSpPr>
          <p:cNvPr id="10" name="Text 8"/>
          <p:cNvSpPr txBox="1"/>
          <p:nvPr/>
        </p:nvSpPr>
        <p:spPr>
          <a:xfrm>
            <a:off x="8310677" y="134416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Kaliteyi ayrı kesmek</a:t>
            </a:r>
            <a:endParaRPr lang="en-US" sz="1700" dirty="0"/>
          </a:p>
        </p:txBody>
      </p:sp>
      <p:sp>
        <p:nvSpPr>
          <p:cNvPr id="11" name="Text 9"/>
          <p:cNvSpPr txBox="1"/>
          <p:nvPr/>
        </p:nvSpPr>
        <p:spPr>
          <a:xfrm>
            <a:off x="8310677" y="180136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Diziyi kesip kaliteyi kesmemek uzunluk uyumsuzluğu yaratır. </a:t>
            </a:r>
            <a:r>
              <a:rPr lang="en-US" sz="1500" dirty="0">
                <a:solidFill>
                  <a:srgbClr val="455A64"/>
                </a:solidFill>
                <a:latin typeface="Courier New" pitchFamily="34" charset="0"/>
                <a:ea typeface="Courier New" pitchFamily="34" charset="-122"/>
                <a:cs typeface="Courier New" pitchFamily="34" charset="-120"/>
              </a:rPr>
              <a:t>SeqRecord</a:t>
            </a:r>
            <a:r>
              <a:rPr lang="en-US" sz="1500" dirty="0">
                <a:solidFill>
                  <a:srgbClr val="212121"/>
                </a:solidFill>
                <a:latin typeface="Calibri" pitchFamily="34" charset="0"/>
                <a:ea typeface="Calibri" pitchFamily="34" charset="-122"/>
                <a:cs typeface="Calibri" pitchFamily="34" charset="-120"/>
              </a:rPr>
              <a:t> dilimi ikisini birlikte keser.</a:t>
            </a:r>
            <a:endParaRPr lang="en-US" sz="1500" dirty="0"/>
          </a:p>
        </p:txBody>
      </p:sp>
      <p:sp>
        <p:nvSpPr>
          <p:cNvPr id="12" name="Shape 10"/>
          <p:cNvSpPr/>
          <p:nvPr/>
        </p:nvSpPr>
        <p:spPr>
          <a:xfrm>
            <a:off x="548640" y="3886200"/>
            <a:ext cx="3515258" cy="2377440"/>
          </a:xfrm>
          <a:prstGeom prst="roundRect">
            <a:avLst>
              <a:gd name="adj" fmla="val 3077"/>
            </a:avLst>
          </a:prstGeom>
          <a:solidFill>
            <a:srgbClr val="F7F9FA"/>
          </a:solidFill>
          <a:ln w="12700">
            <a:solidFill>
              <a:srgbClr val="B0BEC5"/>
            </a:solidFill>
            <a:prstDash val="solid"/>
          </a:ln>
        </p:spPr>
      </p:sp>
      <p:sp>
        <p:nvSpPr>
          <p:cNvPr id="13" name="Text 11"/>
          <p:cNvSpPr txBox="1"/>
          <p:nvPr/>
        </p:nvSpPr>
        <p:spPr>
          <a:xfrm>
            <a:off x="731520"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Önce kalite, sonra adaptör</a:t>
            </a:r>
            <a:endParaRPr lang="en-US" sz="1700" dirty="0"/>
          </a:p>
        </p:txBody>
      </p:sp>
      <p:sp>
        <p:nvSpPr>
          <p:cNvPr id="14" name="Text 12"/>
          <p:cNvSpPr txBox="1"/>
          <p:nvPr/>
        </p:nvSpPr>
        <p:spPr>
          <a:xfrm>
            <a:off x="731520"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Kalite kırpması adaptörün bir kısmını silerse kalan parça bulunamaz. Önce adaptör kırpılır.</a:t>
            </a:r>
            <a:endParaRPr lang="en-US" sz="1500" dirty="0"/>
          </a:p>
        </p:txBody>
      </p:sp>
      <p:sp>
        <p:nvSpPr>
          <p:cNvPr id="15" name="Shape 13"/>
          <p:cNvSpPr/>
          <p:nvPr/>
        </p:nvSpPr>
        <p:spPr>
          <a:xfrm>
            <a:off x="4338218" y="3886200"/>
            <a:ext cx="3515258" cy="2377440"/>
          </a:xfrm>
          <a:prstGeom prst="roundRect">
            <a:avLst>
              <a:gd name="adj" fmla="val 3077"/>
            </a:avLst>
          </a:prstGeom>
          <a:solidFill>
            <a:srgbClr val="F7F9FA"/>
          </a:solidFill>
          <a:ln w="12700">
            <a:solidFill>
              <a:srgbClr val="B0BEC5"/>
            </a:solidFill>
            <a:prstDash val="solid"/>
          </a:ln>
        </p:spPr>
      </p:sp>
      <p:sp>
        <p:nvSpPr>
          <p:cNvPr id="16" name="Text 14"/>
          <p:cNvSpPr txBox="1"/>
          <p:nvPr/>
        </p:nvSpPr>
        <p:spPr>
          <a:xfrm>
            <a:off x="4521098"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 ile kayıt ayırmak</a:t>
            </a:r>
            <a:endParaRPr lang="en-US" sz="1700" dirty="0"/>
          </a:p>
        </p:txBody>
      </p:sp>
      <p:sp>
        <p:nvSpPr>
          <p:cNvPr id="17" name="Text 15"/>
          <p:cNvSpPr txBox="1"/>
          <p:nvPr/>
        </p:nvSpPr>
        <p:spPr>
          <a:xfrm>
            <a:off x="4521098"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a:t>
            </a:r>
            <a:r>
              <a:rPr lang="en-US" sz="1500" dirty="0">
                <a:solidFill>
                  <a:srgbClr val="455A64"/>
                </a:solidFill>
                <a:latin typeface="Courier New" pitchFamily="34" charset="0"/>
                <a:ea typeface="Courier New" pitchFamily="34" charset="-122"/>
                <a:cs typeface="Courier New" pitchFamily="34" charset="-120"/>
              </a:rPr>
              <a:t>@</a:t>
            </a:r>
            <a:r>
              <a:rPr lang="en-US" sz="1500" dirty="0">
                <a:solidFill>
                  <a:srgbClr val="212121"/>
                </a:solidFill>
                <a:latin typeface="Calibri" pitchFamily="34" charset="0"/>
                <a:ea typeface="Calibri" pitchFamily="34" charset="-122"/>
                <a:cs typeface="Calibri" pitchFamily="34" charset="-120"/>
              </a:rPr>
              <a:t> bir kalite karakteridir (Q = 31). FASTQ dörderli satırlarla okunmalı.</a:t>
            </a:r>
            <a:endParaRPr lang="en-US" sz="1500" dirty="0"/>
          </a:p>
        </p:txBody>
      </p:sp>
      <p:sp>
        <p:nvSpPr>
          <p:cNvPr id="18" name="Shape 16"/>
          <p:cNvSpPr/>
          <p:nvPr/>
        </p:nvSpPr>
        <p:spPr>
          <a:xfrm>
            <a:off x="8127797" y="3886200"/>
            <a:ext cx="3515258" cy="2377440"/>
          </a:xfrm>
          <a:prstGeom prst="roundRect">
            <a:avLst>
              <a:gd name="adj" fmla="val 3077"/>
            </a:avLst>
          </a:prstGeom>
          <a:solidFill>
            <a:srgbClr val="F7F9FA"/>
          </a:solidFill>
          <a:ln w="12700">
            <a:solidFill>
              <a:srgbClr val="B0BEC5"/>
            </a:solidFill>
            <a:prstDash val="solid"/>
          </a:ln>
        </p:spPr>
      </p:sp>
      <p:sp>
        <p:nvSpPr>
          <p:cNvPr id="19" name="Text 17"/>
          <p:cNvSpPr txBox="1"/>
          <p:nvPr/>
        </p:nvSpPr>
        <p:spPr>
          <a:xfrm>
            <a:off x="8310677" y="3995928"/>
            <a:ext cx="3149498" cy="457200"/>
          </a:xfrm>
          <a:prstGeom prst="rect">
            <a:avLst/>
          </a:prstGeom>
          <a:noFill/>
          <a:ln/>
        </p:spPr>
        <p:txBody>
          <a:bodyPr wrap="square" lIns="0" tIns="0" rIns="0" bIns="0" rtlCol="0" anchor="t"/>
          <a:lstStyle/>
          <a:p>
            <a:pPr indent="0" marL="0">
              <a:buNone/>
            </a:pPr>
            <a:r>
              <a:rPr lang="en-US" sz="1700" b="1" dirty="0">
                <a:solidFill>
                  <a:srgbClr val="263238"/>
                </a:solidFill>
              </a:rPr>
              <a:t>Kapsamayı düzgün sanmak</a:t>
            </a:r>
            <a:endParaRPr lang="en-US" sz="1700" dirty="0"/>
          </a:p>
        </p:txBody>
      </p:sp>
      <p:sp>
        <p:nvSpPr>
          <p:cNvPr id="20" name="Text 18"/>
          <p:cNvSpPr txBox="1"/>
          <p:nvPr/>
        </p:nvSpPr>
        <p:spPr>
          <a:xfrm>
            <a:off x="8310677" y="4453128"/>
            <a:ext cx="3149498" cy="1719072"/>
          </a:xfrm>
          <a:prstGeom prst="rect">
            <a:avLst/>
          </a:prstGeom>
          <a:noFill/>
          <a:ln/>
        </p:spPr>
        <p:txBody>
          <a:bodyPr wrap="square" lIns="25400" tIns="25400" rIns="50800" bIns="25400" rtlCol="0" anchor="t"/>
          <a:lstStyle/>
          <a:p>
            <a:pPr algn="l" indent="0" marL="0">
              <a:spcAft>
                <a:spcPts val="600"/>
              </a:spcAft>
              <a:buNone/>
            </a:pPr>
            <a:r>
              <a:rPr lang="en-US" sz="1500" dirty="0">
                <a:solidFill>
                  <a:srgbClr val="212121"/>
                </a:solidFill>
                <a:latin typeface="Calibri" pitchFamily="34" charset="0"/>
                <a:ea typeface="Calibri" pitchFamily="34" charset="-122"/>
                <a:cs typeface="Calibri" pitchFamily="34" charset="-120"/>
              </a:rPr>
              <a:t>C = 30× her bazın 30 kez okunduğu anlamına gelmez: Poisson + GC ve tekrar yanlılığı.</a:t>
            </a:r>
            <a:endParaRPr lang="en-US" sz="15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hafta04_fastq_kalite_kontrol.ipynb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Q = 25 olan bir bazın hata olasılığı ve kalite karakteri nedir? (P ≈ </a:t>
            </a:r>
            <a:r>
              <a:rPr lang="en-US" sz="1800" b="1" dirty="0">
                <a:solidFill>
                  <a:srgbClr val="212121"/>
                </a:solidFill>
                <a:latin typeface="Calibri" pitchFamily="34" charset="0"/>
                <a:ea typeface="Calibri" pitchFamily="34" charset="-122"/>
                <a:cs typeface="Calibri" pitchFamily="34" charset="-120"/>
              </a:rPr>
              <a:t>0.0032</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150 bazlık, tüm bazları Q = 30 olan okumada beklenen hata ve en az bir hata olasılığı nedir? (</a:t>
            </a:r>
            <a:r>
              <a:rPr lang="en-US" sz="1800" b="1" dirty="0">
                <a:solidFill>
                  <a:srgbClr val="212121"/>
                </a:solidFill>
                <a:latin typeface="Calibri" pitchFamily="34" charset="0"/>
                <a:ea typeface="Calibri" pitchFamily="34" charset="-122"/>
                <a:cs typeface="Calibri" pitchFamily="34" charset="-120"/>
              </a:rPr>
              <a:t>0.150</a:t>
            </a:r>
            <a:r>
              <a:rPr lang="en-US" sz="1800" dirty="0">
                <a:solidFill>
                  <a:srgbClr val="212121"/>
                </a:solidFill>
                <a:latin typeface="Calibri" pitchFamily="34" charset="0"/>
                <a:ea typeface="Calibri" pitchFamily="34" charset="-122"/>
                <a:cs typeface="Calibri" pitchFamily="34" charset="-120"/>
              </a:rPr>
              <a:t>, </a:t>
            </a:r>
            <a:r>
              <a:rPr lang="en-US" sz="1800" b="1" dirty="0">
                <a:solidFill>
                  <a:srgbClr val="212121"/>
                </a:solidFill>
                <a:latin typeface="Calibri" pitchFamily="34" charset="0"/>
                <a:ea typeface="Calibri" pitchFamily="34" charset="-122"/>
                <a:cs typeface="Calibri" pitchFamily="34" charset="-120"/>
              </a:rPr>
              <a:t>0.139</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temizle</a:t>
            </a:r>
            <a:r>
              <a:rPr lang="en-US" sz="1800" dirty="0">
                <a:solidFill>
                  <a:srgbClr val="212121"/>
                </a:solidFill>
                <a:latin typeface="Calibri" pitchFamily="34" charset="0"/>
                <a:ea typeface="Calibri" pitchFamily="34" charset="-122"/>
                <a:cs typeface="Calibri" pitchFamily="34" charset="-120"/>
              </a:rPr>
              <a:t> fonksiyonuna okumanın </a:t>
            </a:r>
            <a:r>
              <a:rPr lang="en-US" sz="1800" b="1" dirty="0">
                <a:solidFill>
                  <a:srgbClr val="212121"/>
                </a:solidFill>
                <a:latin typeface="Calibri" pitchFamily="34" charset="0"/>
                <a:ea typeface="Calibri" pitchFamily="34" charset="-122"/>
                <a:cs typeface="Calibri" pitchFamily="34" charset="-120"/>
              </a:rPr>
              <a:t>başındaki</a:t>
            </a:r>
            <a:r>
              <a:rPr lang="en-US" sz="1800" dirty="0">
                <a:solidFill>
                  <a:srgbClr val="212121"/>
                </a:solidFill>
                <a:latin typeface="Calibri" pitchFamily="34" charset="0"/>
                <a:ea typeface="Calibri" pitchFamily="34" charset="-122"/>
                <a:cs typeface="Calibri" pitchFamily="34" charset="-120"/>
              </a:rPr>
              <a:t> Q &lt; 20 bazları kesen bir adım ekleyip özet tabloyu yeniden üretin (1793 okuma, 165 539 baz)</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Temiz okumalarda konum bazlı baz kompozisyonu (A, C, G, T) grafiğini çizin; rastgele genomda ne beklersiniz? (≈ 0.25)</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3 Gbp'lik genomun %99.9'undan fazlasını kapsamak için gereken minimum ortalama kapsama nedir? (</a:t>
            </a:r>
            <a:r>
              <a:rPr lang="en-US" sz="1800" b="1" dirty="0">
                <a:solidFill>
                  <a:srgbClr val="212121"/>
                </a:solidFill>
                <a:latin typeface="Calibri" pitchFamily="34" charset="0"/>
                <a:ea typeface="Calibri" pitchFamily="34" charset="-122"/>
                <a:cs typeface="Calibri" pitchFamily="34" charset="-120"/>
              </a:rPr>
              <a:t>6.91×</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b="1" dirty="0">
                <a:solidFill>
                  <a:srgbClr val="212121"/>
                </a:solidFill>
                <a:latin typeface="Calibri" pitchFamily="34" charset="0"/>
                <a:ea typeface="Calibri" pitchFamily="34" charset="-122"/>
                <a:cs typeface="Calibri" pitchFamily="34" charset="-120"/>
              </a:rPr>
              <a:t>Ek:</a:t>
            </a:r>
            <a:r>
              <a:rPr lang="en-US" sz="1800" dirty="0">
                <a:solidFill>
                  <a:srgbClr val="212121"/>
                </a:solidFill>
                <a:latin typeface="Calibri" pitchFamily="34" charset="0"/>
                <a:ea typeface="Calibri" pitchFamily="34" charset="-122"/>
                <a:cs typeface="Calibri" pitchFamily="34" charset="-120"/>
              </a:rPr>
              <a:t> Filtreyi ortalama Q ≥ 25 yerine beklenen hata E ≤ 1 ile değiştirin; kaç okuma geçer?</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4: FASTQ ve kalite kontrol</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FASTQ: @kimlik / dizi / + / kalite; kalite karakteri = chr(Q + 33)</a:t>
            </a:r>
            <a:endParaRPr lang="en-US" sz="2000" dirty="0"/>
          </a:p>
          <a:p>
            <a:pPr marL="228600" indent="-228600">
              <a:spcAft>
                <a:spcPts val="800"/>
              </a:spcAft>
              <a:buSzPct val="100000"/>
              <a:buChar char="•"/>
            </a:pPr>
            <a:r>
              <a:rPr lang="en-US" sz="2000" b="1" dirty="0">
                <a:solidFill>
                  <a:srgbClr val="ECEFF1"/>
                </a:solidFill>
                <a:latin typeface="Calibri" pitchFamily="34" charset="0"/>
                <a:ea typeface="Calibri" pitchFamily="34" charset="-122"/>
                <a:cs typeface="Calibri" pitchFamily="34" charset="-120"/>
              </a:rPr>
              <a:t>Q = −10·log₁₀ P</a:t>
            </a:r>
            <a:r>
              <a:rPr lang="en-US" sz="2000" dirty="0">
                <a:solidFill>
                  <a:srgbClr val="ECEFF1"/>
                </a:solidFill>
                <a:latin typeface="Calibri" pitchFamily="34" charset="0"/>
                <a:ea typeface="Calibri" pitchFamily="34" charset="-122"/>
                <a:cs typeface="Calibri" pitchFamily="34" charset="-120"/>
              </a:rPr>
              <a:t>: Q20 = %99, Q30 = %99.9; +10 Q = 10 kat daha az hata</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Beklenen hata </a:t>
            </a:r>
            <a:r>
              <a:rPr lang="en-US" sz="2000" b="1" dirty="0">
                <a:solidFill>
                  <a:srgbClr val="ECEFF1"/>
                </a:solidFill>
                <a:latin typeface="Calibri" pitchFamily="34" charset="0"/>
                <a:ea typeface="Calibri" pitchFamily="34" charset="-122"/>
                <a:cs typeface="Calibri" pitchFamily="34" charset="-120"/>
              </a:rPr>
              <a:t>E = Σ 10^(−Q/10)</a:t>
            </a:r>
            <a:r>
              <a:rPr lang="en-US" sz="2000" dirty="0">
                <a:solidFill>
                  <a:srgbClr val="ECEFF1"/>
                </a:solidFill>
                <a:latin typeface="Calibri" pitchFamily="34" charset="0"/>
                <a:ea typeface="Calibri" pitchFamily="34" charset="-122"/>
                <a:cs typeface="Calibri" pitchFamily="34" charset="-120"/>
              </a:rPr>
              <a:t>; logaritmik ölçekte ortalama Q yanıltır</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QC grafikleri: konum bazlı kalite, okuma başı kalite, GC, N, uzunluk</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Boru hattı: adaptör → kayan pencere → uzunluk → kalite; ders verisinde Σ E </a:t>
            </a:r>
            <a:r>
              <a:rPr lang="en-US" sz="2000" b="1" dirty="0">
                <a:solidFill>
                  <a:srgbClr val="ECEFF1"/>
                </a:solidFill>
                <a:latin typeface="Calibri" pitchFamily="34" charset="0"/>
                <a:ea typeface="Calibri" pitchFamily="34" charset="-122"/>
                <a:cs typeface="Calibri" pitchFamily="34" charset="-120"/>
              </a:rPr>
              <a:t>−%83</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Lander–Waterman: </a:t>
            </a:r>
            <a:r>
              <a:rPr lang="en-US" sz="2000" b="1" dirty="0">
                <a:solidFill>
                  <a:srgbClr val="ECEFF1"/>
                </a:solidFill>
                <a:latin typeface="Calibri" pitchFamily="34" charset="0"/>
                <a:ea typeface="Calibri" pitchFamily="34" charset="-122"/>
                <a:cs typeface="Calibri" pitchFamily="34" charset="-120"/>
              </a:rPr>
              <a:t>C = N·L/G</a:t>
            </a:r>
            <a:r>
              <a:rPr lang="en-US" sz="2000" dirty="0">
                <a:solidFill>
                  <a:srgbClr val="ECEFF1"/>
                </a:solidFill>
                <a:latin typeface="Calibri" pitchFamily="34" charset="0"/>
                <a:ea typeface="Calibri" pitchFamily="34" charset="-122"/>
                <a:cs typeface="Calibri" pitchFamily="34" charset="-120"/>
              </a:rPr>
              <a:t>, okunmamış oran </a:t>
            </a:r>
            <a:r>
              <a:rPr lang="en-US" sz="2000" b="1" dirty="0">
                <a:solidFill>
                  <a:srgbClr val="ECEFF1"/>
                </a:solidFill>
                <a:latin typeface="Calibri" pitchFamily="34" charset="0"/>
                <a:ea typeface="Calibri" pitchFamily="34" charset="-122"/>
                <a:cs typeface="Calibri" pitchFamily="34" charset="-120"/>
              </a:rPr>
              <a:t>e^(−C)</a:t>
            </a:r>
            <a:r>
              <a:rPr lang="en-US" sz="2000" dirty="0">
                <a:solidFill>
                  <a:srgbClr val="ECEFF1"/>
                </a:solidFill>
                <a:latin typeface="Calibri" pitchFamily="34" charset="0"/>
                <a:ea typeface="Calibri" pitchFamily="34" charset="-122"/>
                <a:cs typeface="Calibri" pitchFamily="34" charset="-120"/>
              </a:rPr>
              <a:t>; %99.9 için ≥ 6.9×</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Dizi analiz araçları: motif arama, PSSM, restriksiyon analizi, primer tasarımı (Bio.SeqUtils, Bio.motifs, Bio.Restriction)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4: Yeni Nesil Dizileme Verisi: FASTQ Formatı ve Kalite Kontrol</dc:title>
  <dc:subject>PptxGenJS Presentation</dc:subject>
  <dc:creator>Biyoenformatiğe Giriş</dc:creator>
  <cp:lastModifiedBy>Biyoenformatiğe Giriş</cp:lastModifiedBy>
  <cp:revision>1</cp:revision>
  <dcterms:created xsi:type="dcterms:W3CDTF">2026-09-23T18:51:28Z</dcterms:created>
  <dcterms:modified xsi:type="dcterms:W3CDTF">2026-09-23T18:51:28Z</dcterms:modified>
</cp:coreProperties>
</file>