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Geçen hafta yalnızca dizilerle çalıştık. Gerçek hayatta diziler dosyalarda, açıklamalarıyla (annotation) birlikte gelir.
Bu haftanın iki anahtar kavramı: SeqRecord (dizi + üstveri) ve koordinat sistemleri (0 tabanlı yarı açık / 1 tabanlı kapalı).
Veri: ornek_genler.fasta (5 sentetik gen) ve ornek_plazmit.gb (3000 bp sentetik plazmit). İkisi de ders için üretildi, bu yüzden tüm sayılar tekrarlanabilir.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özellikle koordinat dönüşümüne ağırlık verin: dönem boyunca (BLAST çıktıları, hizalama konumları, BED dosyaları) tekrar tekrar karşılarına çıkacak. Bir ‘bir eksik’ (off-by-one) hatası sessizce yanlış gen dizisi üretir.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saatin başı. Aynı dizinin üç farklı formatta ne kadar farklı miktarda bilgi taşıdığını göstereceğiz.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FASTQ'yu gelecek hafta ayrıntılı işleyeceğiz; burada yalnızca yerini gösterin. Öğrencilere sorun: bir genomun protein dizilerini BLAST'a vermek için hangi formatı kullanırız? (FASTA). Bir genin nerede başladığını hangi dosyadan öğreniriz? (GenBank). Ayrıca .faa uzantısının protein FASTA'sı olduğunu (a = amino asit) belirtin.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FASTA'nın gücü basitliğidir; zayıflığı da budur: resmî bir standart yok. Başlık satırında NCBI gibi kurumların kendi kuralları var (ör. &gt;NM_000546.6 Homo sapiens tumor protein p53). Kimlikte boşluk olmaması kuralı to_dict kullanırken çok önemli: yinelenen anahtar hata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örnek 1. haftadaki 2-bit kodlama hesabına bağlanıyor. Açıklama uzunluklarını notebook'taki description çıktısından sayabilirler. Satır sonu yükü 60 karakterlik satırlarda 1/60 ≈ yüzde 1.7. Windows satır sonu (\r\n) kullanılsaydı her satır sonu 2 bayt olurdu; bunu öğrencilere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adını (fasta) her zaman açıkça vermek gerekir; Biopython uzantıdan tahmin etmez. Bu tasarım kararı bilinçlidir: uzantılar güvenilmezdir. Yineleyici kavramını hatırlatın: yalnızca bir kez tüketilebilir (sık hatalar slaytında tekrar döneceğiz).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Dosyadan okunan her kaydın Python'daki karşılığı SeqRecord. Bu bölümde nesne modelini kuruyoruz; GenBank dosyasının bölümlerini nesne alanlarına eşleyeceğiz.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Soldan sağa okuyun: dosyanın üç bölümü (başlık, FEATURES, ORIGIN) SeqRecord'un alanlarına eşlenir. Başlık → annotations sözlüğü; FEATURES → features listesi; ORIGIN → seq. Her özellik bir SeqFeature nesnesidir. Konum [234:1134] ile GenBank'teki 235..1134 arasındaki farka dikkat çekin; 4. bölümün konusu 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qualifiers değerlerinin her zaman liste olduğunu vurgulayın: f.qualifiers['gene'] bir liste döndürür, adı almak için [0] gerekir. Öğrencilerin en sık hatası bu. letter_annotations'ın uzunluğu her zaman dizi uzunluğuna eşit olmak zorundadır; Biopython bunu denetler.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molecule_type zorunluluğunu canlı gösterin: satırı silip format('genbank') çağırın → 'missing molecule_type in annotations' hatası. Eğer description id ile başlamıyorsa FASTA başlığı '&gt;id description' olarak yazılır; id ile başlıyorsa tekrar edilmez.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Dört okuma fonksiyonunu bellek ve erişim biçimine göre karşılaştıracağız; bilgisayar mühendisliği bakış açısı burada çok işe yarar.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index'in nasıl çalıştığını tahtada gösterin: dosyayı bir kez tarar, her '&gt;' karakterinin bayt konumunu bir sözlüğe yazar. Bu, veritabanı indekslerinin en basit hâli. Karmaşıklık tablosunu bilgisayar mühendisliği diliyle okuyun.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karar akışını öğrencilerin not almasını isteyin. parse'ın akış işleme olduğunu, Unix boru hatları (pipe) mantığıyla aynı olduğunu söyleyin. read'in tek kayıt kısıtlamasının bir özellik olduğunu vurgulayın: beklenmeyen çok kayıtlı dosyayı sessizce işlemek yerine hata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 nesnesini with bloğu ile de kullanabilirler. Bir sonraki slaytta tablonun sayısal içeriğini yorumlayacağız; özellikle protein uzunluklarının neden L/3 − 1 olduğunu.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basit kontrol gerçek veride çok işe yarar: CDS uzunluğu 3'ün katı değilse ya da protein beklenenden kısaysa açıklamada hata vardır. GC'si aykırı genler gerçek genomlarda yatay gen transferine işaret edebilir (hafta 2'deki kayan pencere).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Filtre, dönüştür, yaz kalıbı dönem boyunca kullanacağımız temel boru hattı. Öğrencilere sorun: 400 bazdan uzun genler hangileri? ornA 900, ornB 600, yuksekGC 450, dusukGC 450; kisaGen elenir. convert ile GenBank'ten FASTA'ya geçerken bilgi kaybını vurgulayın: tersine dönüşüm açıklamaları geri getiremez.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satırdaki hata en sinsi olanı: hiçbir hata mesajı yok, yalnızca boş sonuç. Notebook'ta bir hücrede parse sonucunu iki kez döngüye sokan öğrenciler ikinci döngüde hiçbir şey görmez. Bunu canlı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Haftanın en önemli bölümü. Öğrencileri uyarın: bu bölümdeki bir eksik hatası dönem boyunca karşılarına çıkacak.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Dosyayı bir metin düzenleyicide açıp gezdirin. Sabit sütun genişliklerine dikkat çekin: FEATURES tablosu 5. ve 21. sütunlarda hizalıdır; bu yüzden elle düzenlemek tehlikelidir. /translation niteleyicisinin, dosyadaki çevirinin doğruluğunu test etmek için kullanılabileceğini söyleyin (notebook bölüm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bir hata ayıklama becerisi: programın çıktısını ham dosyayla elle karşılaştırmak. Öğrencilere BamHI (2001..2006) için aynı hesabı yaptırın: satır ⌈2001/60⌉ = 34, başlangıç 1981, blok 3 (2001–2010). Tüm restriksiyon yerlerinin dizileri Python'da doğrulandı.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Kural: Python başlangıcı = GenBank başlangıcı − 1; bitiş aynı kalır. Uzunluk Python'da end − start, GenBank'te end − start + 1. Tablo notebook'taki alıştırma 2'nin çıktısıyla birebir aynı. Öğrencilere ornB için hangi iplik bilgisinin nerede saklandığını sorun: location.strand = −1.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Tahtada bir cetvel çizin: sayılar çizgilerin üzerinde (Python) mi, aralıkların ortasında (GenBank) mı? Dijkstra'nın 'neden numaralandırma sıfırdan başlamalı' notunu anabilirsiniz. Biyoenformatikte format değiştirirken koordinat sistemini her zaman kontrol etme alışkanlığı kazandırın.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 biyoloji ile koordinat hesabını birleştiriyoruz. −35 ve −10 kutuları, transkripsiyon başlangıç noktasına göre konumlarından adını alır. Shine–Dalgarno dizisi 16S rRNA'nın 3' ucuyla eşleşir; ATG'ye uzaklığı genellikle 5–9 nt'dir. Tüm diziler Python'da doğrulandı; hafta 5'te PSSM ile bu kutuları arayacağız.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Birkaç slayt sonraki dairesel haritada ornB'nin saat yönünün tersine okunduğunu gösterin. Tahtada CAT'in ters tamamlayıcısının ATG olduğunu yazın. Öğrencilere sorun: ters tamamlayıcıyı almadan seq[1320:1920].translate() yapsaydık ne olurdu? Anlamsız ve muhtemelen dur kodonlarıyla dolu bir protein.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bölüm 5'in çıktısı. İki genin de kayıtlı çeviriyle aynı olması, hem koordinatların hem de iplik yönünün doğru işlendiğini kanıtlıyor. İleri öğrenciler için: /codon_start niteleyicisi 1'den farklıysa (kısmi genler) extract sonrasında çerçeve kaydırılmalıdır.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dönüşüm varyant yorumlamada her gün yapılır: 'proteinin 10. amino asidindeki mutasyon genomda nerede?' sorusunun cevabı. İki ipliği tahtada alt alta çizip ornB'nin sağdan sola okunduğunu gösterin.
Tüm değerler Python'da doğrulandı: f.extract(seq)[27:30] ile plazmit dilimleri aynı sonucu veriyor. Öğrencilere 1. amino asit için formülü denetlettirin: ornB'de i = 1 → [1917:1920] = CAT → ATG, önceki örnekle tutarlı.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Bileşik konumlar ökaryotik genlerde (ekzonlar) ve dairesel genomlarda orijini aşan genlerde karşımıza çıkar. Location.fromstring ile GenBank konum dizgisi doğrudan ayrıştırılabilir; tüm sayılar bu yolla doğrulandı. Sık hata: parçaları ayrı ayrı ters tamamlayıp sırayı korumak; bu yanlış diziyi üretir.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 saat. Özellikleri görselleştirip gerçek bir NCBI kaydını indirmenin yolunu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Dairesel genomlarda (plazmitler, bakteri kromozomları, mitokondri) koordinat 3000'den sonra 1'e döner; orijini aşan özellikler join(2950..3000,1..20) gibi yazılır (bir önceki sınav sorusu).
EcoRI parça boylarını birlikte hesaplayın: kesim yerleri 1195 ve 2981 civarında; 2981 − 1195 = 1786 bp, kalan 3000 − 1786 = 1214 bp. Doğrusal bir molekülde 2 kesim 3 parça verirdi; dairesel molekülde 2 parça. Kesim konumunun tanıma dizisi içindeki tam yeri (G^AATTC) parça boyunu değiştirmez, çünkü iki kesimde de aynı kaydırma vardır.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bölüm 6 yalnızca doğrusal haritayı çiziyor (FancyArrow ile); burada iki haftayı birleştiren bir sürüm gösteriyoruz. Profilin başındaki düşük GC bölgesi (yaklaşık 0.39) promotör bölgesiyle çakışıyor: AT'ce zengin −10 kutusu (TATAAT) bunun bir nedeni. Öğrencilere alıştırma olarak bu grafiği kendi GenBank dosyalarında çizdirin.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kod bir 'ziyaretçi' (visitor) kalıbı: özellik türüne göre farklı çizim fonksiyonu. Ters satır devam karakterine (\) dikkat. Büyük genomlar için dna_features_viewer paketini önerin; ama kendi kodlarını yazmak koordinatları anlamaları için daha öğretici.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ders sırasında çevrimdışı çalıştırıldığı için except dalı çalıştı; Colab'da internet olduğundan öğrenciler gerçek kaydı görecek. try/except kalıbını, ağ erişimi olan her kodda iyi uygulama olarak vurgulayın. Sürüm numarasının (.1) önemini anın: aynı erişim numarasının farklı sürümleri farklı dizi içerebilir.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 sorunun cevabı: 111 bp → 37 kodon → 37 amino asitlik bir dizi (SLMLALDIIRRPPVCKNIIQSPERNVMKCHIRIEGRP; dur kodonu yok, çünkü bu konum gerçek bir gen değil). Alıştırma 2'de sık hata: start'a 1 eklemeyi unutmak.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sorusu: GenBank kaydında her bazın ne kadar güvenilir olduğu bilgisi var mı? Yok. Dizileme cihazları her baz için bir güven skoru üretir; gelecek hafta bu skorlarla (Phred) çalışacağız ve SeqRecord'un letter_annotations alanını ilk kez kullanacağız.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B71C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2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Dosya Formatları, SeqRecord ve SeqIO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ve GenBank dosyalarını okumak, yazmak ve açıklamalardan doğru koordinatlarla gen çıkarmak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Python ve Biopython ile uygulamalı ders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Colab: hafta03_dosya_formatlari_seqio.ipynb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hedefleri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FASTA, GenBank ve FASTQ formatlarının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yapısını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kullanım alanlarını tanımak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SeqRecord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SeqFeature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nesnelerinin alanlarını kullanmak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SeqIO.parse / read / to_dict / index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arasında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seçimi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yapmak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SeqIO.write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dosya yazmak ve format dönüştürmek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tabanlı kapalı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(GenBank)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tabanlı yarı açık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(Python) koordinatları dönüştürmek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feature.extract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ters iplikteki genleri doğru çıkarmak; plazmit haritası çizmek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3444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Ders akışı (3 saat)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42255" cy="914400"/>
        </p:xfrm>
        <a:graphic>
          <a:graphicData uri="http://schemas.openxmlformats.org/drawingml/2006/table">
            <a:tbl>
              <a:tblPr/>
              <a:tblGrid>
                <a:gridCol w="1048451"/>
                <a:gridCol w="41938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 / GenBank / FASTQ; SeqRecord; 0 ve 1 tabanlı koordinatlar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to_dict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write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convert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(notebook bölüm 1–4)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plazmit haritası, Entrez önizleme (bölüm 5–8), alıştırmalar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dosya formatları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dizi, farklı miktarda üstveri: FASTA (yalın) → GenBank (açıklamalı) → FASTQ (kaliteli)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temel format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108856"/>
                <a:gridCol w="2750681"/>
                <a:gridCol w="3484197"/>
                <a:gridCol w="275068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GenBank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karakter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Başlık + dizi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 + zengin açıklama + özellik tablosu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 + her baz için kalite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Kayıt başına satır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⌈L / 60⌉ (değişken)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Onlarca (başlık, FEATURES, ORIGIN)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satır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Koordinat bilgisi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(1 tabanlı, kapalı)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kullanım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Veritabanı, hizalama girdisi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Gen/genom arşivi (NCBI)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Dizileme okumaları (NGS)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uzantı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.fa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.fasta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.faa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.gb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.gbk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.fq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.fastq(.gz)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Biopython adı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"fasta"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"genbank"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"gb"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"fastq"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023104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5023104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yaygın formatlar: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EMBL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(GenBank'in Avrupa karşılığı),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GFF/GTF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(yalnız açıklama, dizi ayrı),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SAM/BAM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(hizalanmış okumalar),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PDB/mmCIF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(3B yapı, hafta 10). Hepsinde ortak soru: koordinatlar kaç tabanlı?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formatının kuralları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64328" cy="5029200"/>
          </a:xfrm>
          <a:prstGeom prst="roundRect">
            <a:avLst>
              <a:gd name="adj" fmla="val 145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</a:rPr>
              <a:t>Kurallar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5090008" cy="4297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kayıt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başlayan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satırlık başlıkla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başlar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Başlıkta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boşluğa kadar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olan kısım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record.id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Başlığın tamamı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hariç)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record.description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genellikle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veya 80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karakterlik satırlara bölünür; okuyucu satırları birleştirir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satırlar ve satır sonu farkları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\r\n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sorun çıkarabilir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Biçim belirtimi (standard) yok → araçlar arasında küçük farklar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Kimlikte boşluk olmamalı: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&gt;insan geni 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'insan'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farklı kayıtlar aynı kimliği alabilir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8728" y="1234440"/>
            <a:ext cx="5364328" cy="5029200"/>
          </a:xfrm>
          <a:prstGeom prst="roundRect">
            <a:avLst>
              <a:gd name="adj" fmla="val 145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1608" y="1344168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</a:rPr>
              <a:t>veri/ornek_genler.fasta (ilk satırlar)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61608" y="1828800"/>
            <a:ext cx="4998568" cy="4297680"/>
          </a:xfrm>
          <a:prstGeom prst="roundRect">
            <a:avLst>
              <a:gd name="adj" fmla="val 1702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71336" y="1901952"/>
            <a:ext cx="4779112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&gt;ornA plazmitteki ileri yonlu gen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ATGATATCTAACGCTAGCATTAGACTGGGGACTG...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GCGGCGGTTGTCACTTATTCGAGGCATACGGCCA...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... (900 baz, 15 satır)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&gt;ornB plazmitteki ters yonlu gen (5'-&gt;3')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ATGCCTAGCGGTTTGCTGACAACCTCTACC...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record.id          -&gt; 'ornA'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record.description -&gt; 'ornA plazmitteki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ileri yonlu gen'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dosyası kaç bayt?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 — formatı bayt düzeyinde anlamak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ornek_genler.fasta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kayıt içeriyor; her dizi 60 karakterlik satırlara bölünmüş. Başlık uzunluklarını bilerek dosya boyutunu hesaplayın.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769096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satırı: </a:t>
            </a:r>
            <a:r>
              <a:rPr lang="en-US" sz="16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açıklama + </a:t>
            </a:r>
            <a:r>
              <a:rPr lang="en-US" sz="16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açıklama + 2 bayt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satırı sayısı: ⌈L / 60⌉ → her satır sonunda 1 bayt </a:t>
            </a:r>
            <a:r>
              <a:rPr lang="en-US" sz="16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boyutu = (açıklama + 2) + L + ⌈L / 60⌉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ornA: (32 + 2) + 900 + 15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949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bayt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949 + 652 + 497 + 495 + 271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2864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bayt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6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os.path.getsize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2864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hesapla aynı (ek yük 224 bayt ≈ %7.8)</a:t>
            </a:r>
            <a:endParaRPr lang="en-US" sz="16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7776" y="2779776"/>
          <a:ext cx="5005279" cy="914400"/>
        </p:xfrm>
        <a:graphic>
          <a:graphicData uri="http://schemas.openxmlformats.org/drawingml/2006/table">
            <a:tbl>
              <a:tblPr/>
              <a:tblGrid>
                <a:gridCol w="1430080"/>
                <a:gridCol w="1072560"/>
                <a:gridCol w="715040"/>
                <a:gridCol w="1072560"/>
                <a:gridCol w="715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⌈L/60⌉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yuksekGC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dusukGC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kisaGen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2640 baz için 2864 bayt: FASTA ≈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bayt/baz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3.1 Gbp insan genomu ≈ 3.1 GB (+ %1.7 satır sonu); gzip ile ≈ 3–4 kat küçülür.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SeqIO.parse ile FASTA okuma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07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36592"/>
            <a:ext cx="7322314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4809744"/>
            <a:ext cx="710285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ornA       uzunluk= 900  açıklama='ornA plazmitteki ileri yonlu gen'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ornB       uzunluk= 600  açıklama='ornB plazmitteki ters yonlu gen (5'-&gt;3')'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yuksekGC   uzunluk= 450  açıklama='yuksekGC GC orani yuksek sentetik gen'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dusukGC    uzunluk= 450  açıklama='dusukGC GC orani dusuk sentetik gen'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kisaGen    uzunluk= 240  açıklama='kisaGen kisa sentetik gen'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kayıt, toplam 2640 baz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322314" cy="3227832"/>
          </a:xfrm>
          <a:prstGeom prst="roundRect">
            <a:avLst>
              <a:gd name="adj" fmla="val 2266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710285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 import SeqIO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kayit in SeqIO.parse("veri/ornek_genler.fasta", "fasta"):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print(f"{kayit.id:10s} uzunluk={len(kayit):4d}  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f"açıklama='{kayit.description}'")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ek: tek geçişte özet (yineleyici yeniden oluşturulur)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toplam = 0, 0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kayit in SeqIO.parse("veri/ornek_genler.fasta", "fasta"):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+= 1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toplam += len(kayit)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print(n, "kayıt, toplam", toplam, "baz")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190994" y="1234440"/>
            <a:ext cx="3452061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yineleyici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döndürür: kayıtlar tek tek okunur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kayıt bir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SeqRecord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len(kayit)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dizi uzunluğu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başlığın tamamı (id dahil)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kullanımı dosya boyutundan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(bir kayıt kadar)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SeqRecord ve SeqFeature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+ kimlik + açıklamalar + özellikler: GenBank kaydının nesne modeli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kaydından Python nesnelerine</a:t>
            </a:r>
            <a:endParaRPr lang="en-US" sz="3000" dirty="0"/>
          </a:p>
        </p:txBody>
      </p:sp>
      <p:pic>
        <p:nvPicPr>
          <p:cNvPr id="3" name="Image 0" descr="p03_seqrec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6349"/>
            <a:ext cx="11094415" cy="39539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93403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GenBank dosyasının SeqRecord ve SeqFeature nesnelerine eşlenmesi (pORNEK1'deki ornA CDS'i)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SeqRecord ve SeqFeature alanları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3572778"/>
                <a:gridCol w="3196696"/>
                <a:gridCol w="432494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Nesne.alan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pORNEK1 örneği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rec.seq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 baz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rec.id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rec.name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rec.description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'pORNEK1'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…,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'Sentetik ornek plazmit…'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rec.annotations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topology: circular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molecule_type: DNA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rec.features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list[SeqFeature]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özellik (source dahil)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rec.letter_annotations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dict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(harf başına)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FASTQ'da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phred_quality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(hafta 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'CDS'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'promoter'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'RBS'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f.location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SimpleLocation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CompoundLocation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[1320:1920](-)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f.qualifiers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dict[str, list]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{'gene': ['ornB'], 'translation': [...]}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7667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5376672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nesnesi: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f.location.start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.end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 tabanlı, yarı açık),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.strand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(+1 / −1),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len(f)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uzunluk;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 f.location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üyelik testi (ör.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in ornA.location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SeqRecord oluşturma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904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133088"/>
            <a:ext cx="6656649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4206240"/>
            <a:ext cx="6437193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deneme1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&lt;unknown name&gt;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elle oluşturulan kayıt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features: 0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/molecule_type=DNA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Seq('ATGGCGTAA')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&gt;deneme1 elle oluşturulan kayıt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ATGGCGTAA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2624328"/>
          </a:xfrm>
          <a:prstGeom prst="roundRect">
            <a:avLst>
              <a:gd name="adj" fmla="val 2787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Bio.Seq import Seq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Bio.SeqRecord import SeqRecord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yeni = SeqRecord(Seq("ATGGCGTAA"), id="deneme1",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description="elle oluşturulan kayıt")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yeni.annotations["molecule_type"] = "DNA"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print(yeni)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print(yeni.format("fasta"))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ayrı alanlar; FASTA'ya yazılırken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birleştirilir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molecule_type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GenBank'e yazmak için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yoksa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format("fasta")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dosyaya yazmadan metni döndürür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kayıt üretmek: çevirileri, filtrelenmiş dizileri kaydetmek için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SeqIO ile okuma, yazma, dönüştürme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ve erişim biçimine göre doğru fonksiyonu seçmek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yöntemleri: hangisi ne zaman?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876330"/>
                <a:gridCol w="1890160"/>
                <a:gridCol w="1972340"/>
                <a:gridCol w="1890160"/>
                <a:gridCol w="246542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Döndürdüğü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Erişim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SeqIO.parse(d, fmt)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Yineleyici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 kayıt)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Sıralı, tek geçiş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dosyaları sırayla işlemek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SeqIO.read(d, fmt)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SeqRecord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 kayıt)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Dosyada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1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kayıt varsa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SeqIO.to_dict(...)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O(tüm dosya)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Rastgele, 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dosyada id ile erişim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SeqIO.index(d, fmt)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tabanlı sözlük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O(kayıt sayısı) (yalnız ofsetler)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Rastgele, disk okuması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dosyada id ile erişim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SeqIO.index_db(...)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indeksli sözlük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Rastgele, kalıcı indeks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büyük / çok dosyalı veri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0364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803648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kaydın dosyadaki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bayt ofsetini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saklar; istenen kayıt geldiğinde dosyada o konuma atlayıp yalnız o kaydı ayrıştırır. 10 milyon okumalık bir FASTQ için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to_dict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bellek taşırabilir,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taşımaz.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akışı: hangi okuma fonksiyonu?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889699" cy="1920240"/>
          </a:xfrm>
          <a:prstGeom prst="roundRect">
            <a:avLst>
              <a:gd name="adj" fmla="val 3871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17320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Dosyada tek kayıt mı?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→ </a:t>
            </a:r>
            <a:r>
              <a:rPr lang="en-US" sz="12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SeqIO.read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84059" y="237744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49819" y="1417320"/>
            <a:ext cx="1889699" cy="1920240"/>
          </a:xfrm>
          <a:prstGeom prst="roundRect">
            <a:avLst>
              <a:gd name="adj" fmla="val 3871"/>
            </a:avLst>
          </a:prstGeom>
          <a:solidFill>
            <a:srgbClr val="FDECE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2971" y="1417320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kayıtları bir kez sırayla mı işleyeceğim?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→ </a:t>
            </a:r>
            <a:r>
              <a:rPr lang="en-US" sz="12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SeqIO.parse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85238" y="237744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0998" y="1417320"/>
            <a:ext cx="1889699" cy="1920240"/>
          </a:xfrm>
          <a:prstGeom prst="roundRect">
            <a:avLst>
              <a:gd name="adj" fmla="val 3871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24150" y="1417320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Kimlikle rastgele erişim + dosya belleğe sığıyor mu?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→ </a:t>
            </a:r>
            <a:r>
              <a:rPr lang="en-US" sz="12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SeqIO.to_dict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86417" y="237744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177" y="1417320"/>
            <a:ext cx="1889699" cy="1920240"/>
          </a:xfrm>
          <a:prstGeom prst="roundRect">
            <a:avLst>
              <a:gd name="adj" fmla="val 3871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25329" y="1417320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büyük mü?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→ </a:t>
            </a:r>
            <a:r>
              <a:rPr lang="en-US" sz="12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SeqIO.index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87596" y="237744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53356" y="1417320"/>
            <a:ext cx="1889699" cy="1920240"/>
          </a:xfrm>
          <a:prstGeom prst="roundRect">
            <a:avLst>
              <a:gd name="adj" fmla="val 3871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26508" y="1417320"/>
            <a:ext cx="17433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dosya / kalıcı indeks?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 → </a:t>
            </a:r>
            <a:r>
              <a:rPr lang="en-US" sz="12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SeqIO.index_db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86200"/>
            <a:ext cx="11094415" cy="23774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seçim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akış (streaming) işleme, en az bellek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birden çok kayıtta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More than one record found in handle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verir → dosyada gerçekten tek kayıt olduğunu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to_dict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yinelenen kimlikte hata verir → kimliklerin benzersizliğini de denetler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to_dict, index ve özet tablo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7322314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71028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Anahtarlar: ['ornA', 'ornB', 'yuksekGC', 'dusukGC', 'kisaGen']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yuksekGC ilk 60: ATGGTCCGCGTCACCGGCGAGTTGAGCGTCGGGCCGTTTCGTCGAGTCCGTTTGGGGCCA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ile: kisaGen 240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322314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7102858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sozluk = SeqIO.to_dict(SeqIO.parse("veri/ornek_genler.fasta", "fasta"))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print("Anahtarlar:", list(sozluk))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print("yuksekGC ilk 60:", sozluk["yuksekGC"].seq[:60])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indeks = SeqIO.index("veri/ornek_genler.fasta", "fasta")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print("index ile:", indeks["kisaGen"].id, len(indeks["kisaGen"]))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indeks.close()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Bio.SeqUtils import gc_fraction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tablo = pd.DataFrame([{"id": r.id, "uzunluk": len(r),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"GC": round(gc_fraction(r.seq), 3),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"protein": len(r.seq.translate(to_stop=True))}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 in SeqIO.parse("veri/ornek_genler.fasta", "fasta")])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90994" y="1234440"/>
            <a:ext cx="3452061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to_dict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anahtarları kayıt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'leri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nesnesi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kapatılmalı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(açık dosya tutar)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kavrayışı +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özet tablo (sonraki slayt)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tabloyu yorumlama: protein uzunlukları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 genin uzunluk, GC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translate(to_stop=True)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protein uzunlukları aşağıda. Protein uzunluklarını elle doğrulayın; hangi gen GC açısından aykırıdır?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ornA: 900 / 3 = 300 kodon; son kodon dur (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TAA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aa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ornB: 600 / 3 = 200 →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yuksekGC, dusukGC: 450 / 3 = 150 →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kisaGen: 240 / 3 = 80 →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aa (tüm genlerde iç dur kodonu yok)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GC = (0.502 + 0.547 + 0.669 + 0.322 + 0.479)/5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0.504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 değerler: yuksekGC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0.669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dusukGC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0.322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(ortalamadan +0.165 / −0.182)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1348946"/>
                <a:gridCol w="1011710"/>
                <a:gridCol w="843092"/>
                <a:gridCol w="843092"/>
                <a:gridCol w="11803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(bp)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yuksekGC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dusukGC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kisaGen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= L/3 − 1 ise gen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CDS'tir (tek dur kodonu, sonda). Daha kısa çıksaydı iç dur kodonu → çerçeve veya açıklama hatası.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Yazma ve format dönüştürme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12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541264"/>
            <a:ext cx="7766091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614416"/>
            <a:ext cx="75466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kayıt yazıldı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kayıt dönüştürüldü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766091" cy="4032504"/>
          </a:xfrm>
          <a:prstGeom prst="roundRect">
            <a:avLst>
              <a:gd name="adj" fmla="val 1814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754663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400 bazdan uzun genleri ayrı dosyaya yaz (üreteç ifadesi)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uzunlar = (r for r in SeqIO.parse("veri/ornek_genler.fasta", "fasta")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if len(r) &gt; 400)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SeqIO.write(uzunlar, "uzun_genler.fasta", "fasta")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print(n, "kayıt yazıldı")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Proteinlere çevirip yeni bir FASTA oluştur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proteinler = [SeqRecord(r.seq.translate(to_stop=True),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id=r.id + "_prot", description="çeviri")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for r in SeqIO.parse("veri/ornek_genler.fasta", "fasta")]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SeqIO.write(proteinler, "proteinler.fasta", "fasta")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GenBank -&gt; FASTA dönüşümü tek satırda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print(SeqIO.convert("veri/ornek_plazmit.gb", "genbank",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"plazmit.fasta", "fasta"), "kayıt dönüştürüldü")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34771" y="1234440"/>
            <a:ext cx="3008285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yazılan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sayısını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döndürür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kayıt: kisaGen (240 bp) elendi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Üreteç ifadesi → dosya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belleğe alınmaz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FASTA'ya dönüşürken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açıklamalar kaybolur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yön (FASTA → GenBank)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molecule_type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SeqIO ile sık yapılan hatalar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820614"/>
                <a:gridCol w="4512982"/>
                <a:gridCol w="376081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Çözüm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Tüketilmiş yineleyici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len(list(it))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önce 5, ikinci kez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hata mesajı yok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'ı yeniden çağırın ya da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list(...)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saklayın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read()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çok kayıtlı dosya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ValueError: More than one record found in handle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kullanın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Eksik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molecule_type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GenBank'e yazarken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missing molecule_type in annotations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annotations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sözlüğüne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molecule_type = "DNA"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ekleyin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qualifiers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listesini unutmak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f.qualifiers["gene"]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['ornB']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(liste)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[0]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alın; anahtar yoksa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.get()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kullanın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Yanlış format adı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"fa"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"gbk"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ValueError: Unknown format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"fasta"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"genbank"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"gb"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kapatmamak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dosyada açık dosya sınırına takılma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close()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ya da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bloğu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ve koordinat sistemleri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tabanlı kapalı aralık (GenBank) ↔ 0 tabanlı yarı açık aralık (Python) — en sık yapılan hata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dosyasının anatomisi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7100426" cy="5029200"/>
          </a:xfrm>
          <a:prstGeom prst="roundRect">
            <a:avLst>
              <a:gd name="adj" fmla="val 1455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07592"/>
            <a:ext cx="6880970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LOCUS       pORNEK1   3000 bp   DNA   circular SYN 01-SEP-2026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 Sentetik ornek plazmit, Biyoenformatige Giris dersi.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ACCESSION   pORNEK1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            Location/Qualifiers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source          1..3000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promoter        181..209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/note="sigma70 benzeri promotor (-35/-10)"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RBS             222..227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CDS             235..1134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/gene="ornA"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/translation="MISNASIRLGTAFILVQYPRAAVV..."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/transl_table=11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misc_feature    1195..1200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/note="EcoRI kesim yeri"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CDS             complement(1321..1920)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/gene="ornB"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 gacaggtaca agaaggagta tgcatcaatg tggtcgtgtg ...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969106" y="1234440"/>
            <a:ext cx="3673949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ad, uzunluk, molekül,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topoloji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(circular)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tür + konum + niteleyiciler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/anahtar=değer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Konumlar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tabanlı, kapalı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235..1134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900 bp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complement(...)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− iplik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satır başında 1 tabanlı konum, 10'luk bloklar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kaydın sonu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bölümünde bir bazı bulmak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 — EcoRI yeri 1195..1200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bölümünde her satır 60 baz (6 × 10'luk blok) içerir. 1195..1200 konumundaki EcoRI yeri hangi satırda, hangi blokta? Python dilimi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769096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başı konumları: 1, 61, 121, … → 60·k + 1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⌈1195 / 60⌉ = 20. satır; başlangıcı 60·19 + 1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1141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 içi konum: 1195 − 1141 = 54 → 0 tabanlı 54 → blok ⌊54/10⌋ + 1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blok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blok 1191..1200 =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caacgaattc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son altı baz 1195..1200 =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gaattc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dilimi: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seq[1194:1200]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GAATTC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(uzunluk 6)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7776" y="2779776"/>
          <a:ext cx="5005279" cy="914400"/>
        </p:xfrm>
        <a:graphic>
          <a:graphicData uri="http://schemas.openxmlformats.org/drawingml/2006/table">
            <a:tbl>
              <a:tblPr/>
              <a:tblGrid>
                <a:gridCol w="870483"/>
                <a:gridCol w="1958588"/>
                <a:gridCol w="217620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1141–1150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ctaactgtaa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1151–1160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aacaatgttc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1161–1170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ccccgcgtgg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1171–1180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aagtgattgt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1181–1190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agcctcttcc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1191–1200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caacgaattc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satır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1141 ctaactgtaa …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6. bloğun son altı bazı. Aynı hesap tüm restriksiyon yerleri için: BamHI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seq[2000:2006]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GGATCC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HindIII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seq[2156:2162]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AAGCTT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pORNEK1 özellik tablosu: iki koordinat sistemi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957838"/>
                <a:gridCol w="2983372"/>
                <a:gridCol w="1957838"/>
                <a:gridCol w="1211995"/>
                <a:gridCol w="932304"/>
                <a:gridCol w="20510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GenBank (1 tabanlı)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Uzunluk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İplik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Etiket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181..209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[180:209]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σ70 promotörü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222..227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[221:227]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Shine–Dalgarno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235..1134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[234:1134]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misc_feature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1195..1200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[1194:1200]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complement(1321..1920)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[1320:1920]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misc_feature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2001..2006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[2000:2006]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BamHI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misc_feature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2157..2162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[2156:2162]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HindIII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misc_feature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2981..2986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[2980:2986]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EcoRI (2)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6451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645152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kuralı: Python başlangıcı = GenBank başlangıcı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bitiş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Uzunluk: GenBank'te b − a + 1, Python'da end − start. − iplikte (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koordinatlar yine küçükten büyüğe yazılır; yön bilgisi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strand = −1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'dedir.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tabanlı yarı açık ↔ 1 tabanlı kapalı</a:t>
            </a:r>
            <a:endParaRPr lang="en-US" sz="3000" dirty="0"/>
          </a:p>
        </p:txBody>
      </p:sp>
      <p:pic>
        <p:nvPicPr>
          <p:cNvPr id="3" name="Image 0" descr="p03_koordin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62088"/>
            <a:ext cx="7987979" cy="25739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56659" y="1234440"/>
            <a:ext cx="278639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bazları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numaralar: 1, 2, 3, …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sınırları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numaralar: 0, 1, 2, … (bazların arası)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 − 1 : b]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a..b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 açık aralığın avantajı: uzunluk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− 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ardışık aralıklar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örtüşmez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[0:3]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[3:6]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dosyaları da 0 tabanlı yarı açık; GFF/VCF 1 tabanlı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Promotör ve RBS: koordinatlardan biyolojiye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Promotör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181..209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RBS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222..227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ornA ise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235..1134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Python dilimlerini, −35/−10 kutularını ve RBS–ATG aralığını bulun.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Promotör: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[180:209]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uzunluk 209 − 180 =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(= 209 − 181 + 1)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 kutusu: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seq[180:186]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TTGACA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(181..186)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 kutusu: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seq[203:209]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TATAAT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(204..209)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bölge: 187..203 → 203 − 187 + 1 =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bp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(ideal σ70 aralığı)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seq[221:227]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AGGAGG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ATG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seq[234:237]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RBS–ATG arası: 228..234 → 234 − 228 + 1 =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nt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TCTCCTT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635588"/>
                <a:gridCol w="1597071"/>
                <a:gridCol w="1796705"/>
                <a:gridCol w="119780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GenBank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181..186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[180:186]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TTGACA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187..203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[186:203]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bp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204..209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[203:209]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TATAAT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222..227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[221:227]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AGGAGG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228..234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[227:234]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235..237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[234:237]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plazmit ders kitabındaki bakteriyel gen yapısını birebir taşıyor: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TTGACA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–17 bp–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TATAAT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AGGAGG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–7 nt–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iplikteki geni elle çıkarmak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ornB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complement(1321..1920)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konumunda. Geni elle (dilim + ters tamamlayıcı) çıkarın; başlangıç ve dur kodonları plazmit dizisinin neresinde?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212873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dilimi: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seq[1320:1920]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600 baz (+ iplikten okunur)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− iplikte →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tamamlayıcı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seq[1320:1920].reverse_complement()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kodonu dilimin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sonunda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seq[1917:1920]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rc =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 kodonu dilimin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başında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seq[1320:1323]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TCA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rc =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TGA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/ 3 = 200 kodon →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aa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/translation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birebir aynı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f.extract(seq)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aynı sonucu tek adımda verir (alıştırma 3: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b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1553" y="2779776"/>
          <a:ext cx="4561503" cy="914400"/>
        </p:xfrm>
        <a:graphic>
          <a:graphicData uri="http://schemas.openxmlformats.org/drawingml/2006/table">
            <a:tbl>
              <a:tblPr/>
              <a:tblGrid>
                <a:gridCol w="1267084"/>
                <a:gridCol w="1520501"/>
                <a:gridCol w="929195"/>
                <a:gridCol w="84472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iplik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 kodonu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[1320:1323]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Başlangıç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[1917:1920]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gen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[1320:1920]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bp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 aa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iplikteki bir genin 5' ucu (ATG) GenBank'te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koordinattadır: 1920 → 1918. Yalnızca dilim alıp çevirmek anlamsız bir protein üretir.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+ translate(table=11, cds=True)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910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138928"/>
            <a:ext cx="7322314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212080"/>
            <a:ext cx="710285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ornA: iplik=+1, 900 bp, 299 aa, aynı mı? True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ilk 40 aa: MISNASIRLGTAFILVQYPRAAVVTYSRHTANLHAGFRRF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ornB: iplik=-1, 600 bp, 199 aa, aynı mı? True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ilk 40 aa: MPSGLLTTSTTRTVVPSRDNADDPGTRPWGFYRWFVNQAH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322314" cy="3630168"/>
          </a:xfrm>
          <a:prstGeom prst="roundRect">
            <a:avLst>
              <a:gd name="adj" fmla="val 2015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710285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plazmit = SeqIO.read("veri/ornek_plazmit.gb", "genbank")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plazmit.features: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f.type != "CDS":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 = f.extract(plazmit.seq)        # − iplikte otomatik rc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protein = gen.translate(table=11, cds=True)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kayitli = f.qualifiers["translation"][0]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 = f.qualifiers["gene"][0]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print(f"{ad}: iplik={f.location.strand:+d}, {len(gen)} bp, 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f"{len(protein)} aa, aynı mı? {str(protein) == kayitli}")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   ilk 40 aa:", protein[:40])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190994" y="1234440"/>
            <a:ext cx="3452061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table=11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bakteriyel kod (dosyadaki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/transl_table=11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cds=True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başlangıç, tek dur, uzunluk denetimi (hafta 2)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Dosyadaki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/translation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karşılaştırma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test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kalıp gerçek genomlarda açıklama hatalarını yakalar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Proteindeki konumdan plazmit koordinatına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 — iplik yönüne göre koordinat dönüşümü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235..1134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+) ve ornB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complement(1321..1920)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−) proteinlerinin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amino asidini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kodlayan kodon plazmitte hangi GenBank koordinatlarındadır?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212873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içinde i. kodon (0 tabanlı):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[3(i−1) : 3i]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 = 10: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[27:30]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iplik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(ornA, Python başlangıcı 234):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[234 + 27 : 234 + 30]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[261:264]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GenBank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262..264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seq[261:264]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GGG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 (G)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protein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MISNASIRLG…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'nin 10. harfiyle aynı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iplik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(ornB): genin 5' ucu plazmitin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bitişinde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(1920) →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[1920 − 3i : 1920 − 3(i−1)]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[1890:1893]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1891..1893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+ iplikte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GGT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ters tamamlayıcı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 (T)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MPSGLLTTST…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aynı</a:t>
            </a:r>
            <a:endParaRPr lang="en-US" sz="14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1553" y="2779776"/>
          <a:ext cx="4561503" cy="914400"/>
        </p:xfrm>
        <a:graphic>
          <a:graphicData uri="http://schemas.openxmlformats.org/drawingml/2006/table">
            <a:tbl>
              <a:tblPr/>
              <a:tblGrid>
                <a:gridCol w="1803385"/>
                <a:gridCol w="1272977"/>
                <a:gridCol w="148514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ornA (+)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ornB (−)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içi dilim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[27:30]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[27:30]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Plazmit dilimi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[261:264]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[1890:1893]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GenBank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262..264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1891..1893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iplikte dizi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Kodon (5'→3')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Amino asit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(Gly)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(Thr)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iplik: plazmit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+ 3(i−1)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ileriye; − iplik: plazmit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bitiş − 3i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geriye ve ardından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tamamlayıcı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tipi soru: bileşik konumlar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 — join, complement ve dairesel genomlar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complement(join(101..151,201..260))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özelliğinin uzunluğu, Python parçaları ve okuma sırası nedir? (b) Dairesel pORNEK1'de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join(2950..3000,1..20)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kaç bp?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11094415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Parçalar: 101..151 → 151 − 101 + 1 = 51; 201..260 → 60 → toplam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bp = 37 kodon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[100:151](−)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[200:260](−)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complement(join(...))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sırada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saklar: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join{[200:260](−), [100:151](−)}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(seq[100:151] + seq[200:260]).reverse_complement()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ilk bazlar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AGTCTA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2950..3000 → 51 bp, 1..20 → 20 bp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bp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orijinin (1. baz) üzerinden geçer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Bileşik konumda uzunluk = parça uzunluklarının toplamı. − iplikte genin 5' ucu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parçanın sonundadır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bu yüzden parçalar ters sırada okunur.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Plazmit haritası ve NCBI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Özellikleri görselleştirmek ve gerçek kayıtları indirmek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plazmit haritası</a:t>
            </a:r>
            <a:endParaRPr lang="en-US" sz="3000" dirty="0"/>
          </a:p>
        </p:txBody>
      </p:sp>
      <p:pic>
        <p:nvPicPr>
          <p:cNvPr id="3" name="Image 0" descr="p03_plazmit_daires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44" y="1234440"/>
            <a:ext cx="5029200" cy="5029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15888" y="1234440"/>
            <a:ext cx="5227168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 satırındaki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harita daire; konum 3000'den sonra yeniden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 iplik, 235..1134): saat yönünde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ornB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(− iplik, 1321..1920): saat yönünün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tersine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okunur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Kırmızı çizgiler: EcoRI (1195, 2981), BamHI (2001), HindIII (2157)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 ile kesim → dairesel molekülde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kesim = 2 parça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1786 bp ve 1214 bp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harita + GC profili</a:t>
            </a:r>
            <a:endParaRPr lang="en-US" sz="3000" dirty="0"/>
          </a:p>
        </p:txBody>
      </p:sp>
      <p:pic>
        <p:nvPicPr>
          <p:cNvPr id="3" name="Image 0" descr="p03_plazmit_g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91685"/>
            <a:ext cx="7987979" cy="351471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56659" y="1234440"/>
            <a:ext cx="278639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Üstte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iplik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altta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iplik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genleri (oklar okuma yönünde)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Kırmızı çizgiler: restriksiyon yerleri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misc_feature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panel: hafta 2'nin kayan penceresi (w = 150, s = 25)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plazmit GC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0.513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profil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0.39–0.60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arasında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Genlerin GC'si: ornA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ornB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0.547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Haritayı çizmek: özellikten şekle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56649" cy="5029200"/>
          </a:xfrm>
          <a:prstGeom prst="roundRect">
            <a:avLst>
              <a:gd name="adj" fmla="val 1455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07592"/>
            <a:ext cx="6437193" cy="488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plt.subplots(figsize=(11, 2.6))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ax.plot([0, len(plazmit)], [0, 0], color="black", lw=1)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plazmit.features: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f.type == "source":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b, s = int(f.location.start), int(f.location.end)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0.35 if f.location.strand == 1 else -0.35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f.type == "CDS":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bas, uz = (b, s - b) if f.location.strand == 1 \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else (s, -(s - b))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ax.add_patch(FancyArrow(bas, y, uz, 0, width=0.25,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head_width=0.35, head_length=60,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length_includes_head=True, color="#546e7a"))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f.type == "misc_feature":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ax.plot([b, b], [-0.15, 0.15], color="#263238", lw=2)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ax.add_patch(plt.Rectangle((b, y - 0.1), s - b, 0.2))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int(f.location.start)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 tabanlı başlangıç (çizim için yeterli)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iplikte ok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sağdan sola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başlangıç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uzunluk negatif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türüne göre farklı şekil: ok, çizgi, dikdörtgen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araçlar: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dna_features_viewer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SnapGene, Benchling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NCBI'dan kayıt indirmek (önizleme)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513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742432"/>
            <a:ext cx="6656649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815584"/>
            <a:ext cx="643719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NCBI'ya erişilemedi: URLError   (notebook çevrimdışı çalıştırıldı)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4233672"/>
          </a:xfrm>
          <a:prstGeom prst="roundRect">
            <a:avLst>
              <a:gd name="adj" fmla="val 1728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 import Entrez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Entrez.email = "ogrenci@ornek.edu.tr"   # zorunlu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Entrez.efetch(db="nucleotide", id="NC_001422.1",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rettype="gb", retmode="text") as h: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phix = SeqIO.read(h, "genbank")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print(phix.description, "|", len(phix), "bp |",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sum(f.type == "CDS" for f in phix.features), "CDS")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print("NCBI'ya erişilemedi:", type(e).__name__)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φX174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fajı: ilk dizilenen DNA genomu (1977), 5386 bp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efetch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dosya tutamacı (handle) döndürür → doğrudan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SeqIO.read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rettype="fasta"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yalnızca dizi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kuralı: e-posta zorunlu; saniyede ≤ 3 istek (API anahtarıyla 10)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Ayrıntılar: hafta 8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esearch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elink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BLAST)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Laboratuvar alıştırmaları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hafta03_dosya_formatlari_seqio.ipynb  —  çözümler notebook'un sonunda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ornek_genler.fasta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kayıtlarını GC oranına göre büyükten küçüğe sıralayıp ilk 30 bazlarıyla yazdırın (beklenen sıra: yuksekGC 0.669, ornB, ornA, kisaGen, dusukGC 0.322)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Plazmitin tüm özelliklerini (source hariç)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tabanlı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başlangıç, bitiş, uzunluk ve iplikle bir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tablosuna ve CSV dosyasına yazın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ornB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genini (a)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ile, (b) dilim + ters tamamlayıcı ile elde edin; eşitliğini gösterin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CDS proteinlerini içeren, başlığında gen adı ve protein uzunluğu olan bir FASTA dosyası yazın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&gt;ornA uzunluk=299 aa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Ek: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Location.fromstring("complement(join(101..151,201..260))")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özelliği çıkarıp çevirin; kaç amino asit elde edersiniz?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3: Dosya formatları ve SeqIO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Özet ve sonraki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 = başlık + dizi; GenBank = dizi + açıklama + özellikler; FASTQ = dizi + kalite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SeqRecord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seq, id, description, annotations, features, letter_annotations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Okuma: tek kayıt → read; akış →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küçük + rastgele → to_dict; büyük →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a..b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tabanlı, kapalı) ↔ Python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[a−1:b]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 tabanlı, yarı açık)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iplikteki genler için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kullanın: dilim + ters tamamlayıcı otomatik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Dosyadaki /translation ile karşılaştırma = açıklamanın birim testi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747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5321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DD2"/>
                </a:solidFill>
              </a:rPr>
              <a:t>Sonraki hafta  </a:t>
            </a:r>
            <a:r>
              <a:rPr lang="en-US" sz="1600" dirty="0">
                <a:solidFill>
                  <a:srgbClr val="FFFFFF"/>
                </a:solidFill>
              </a:rPr>
              <a:t>Yeni nesil dizileme ve FASTQ: Phred kalite skorları, beklenen hata, QC grafikleri, kırpma, kapsama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3: Biyolojik Dosya Formatları, SeqRecord ve SeqIO</dc:title>
  <dc:subject>PptxGenJS Presentation</dc:subject>
  <dc:creator>Biyoenformatiğe Giriş</dc:creator>
  <cp:lastModifiedBy>Biyoenformatiğe Giriş</cp:lastModifiedBy>
  <cp:revision>1</cp:revision>
  <dcterms:created xsi:type="dcterms:W3CDTF">2026-09-23T18:58:51Z</dcterms:created>
  <dcterms:modified xsi:type="dcterms:W3CDTF">2026-09-23T18:58:51Z</dcterms:modified>
</cp:coreProperties>
</file>