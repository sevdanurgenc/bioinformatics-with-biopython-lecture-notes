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Makine öğrenmesi bloğunun ilk haftası. Bu hafta etiket kullanmadan yapı arıyoruz; gelecek hafta etiketli (denetimli) öğrenmeye geçeceğiz.
Bilgisayar mühendisliği öğrencileri ML'i başka derslerden biliyor olabilir; bu yüzden vurgu biyolojik veriyi vektöre çevirmekte ve biyolojik tuzaklarda (yığın etkisi, p ≫ 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Hedeflerin iki yarısı var: veriyi sayıya çevirmek (özellik mühendisliği) ve sayılarda yapı aramak. Öğrencilere sorun: bir DNA dizisini bir sinir ağına nasıl verirsiniz? Cevapları tahtaya yazın; bölüm 2'de hepsini sistematikleştireceğiz.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Kısa bir çerçeve bölümü (10 dakika): terminolojiyi ve veri matrisinin gösterimini sabitliyoruz.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Satır = örnek, sütun = özellik gösterimini sabitleyin; scikit-learn bu kuralı kullanır. Dikkat: 11. haftadaki sayım matrisi gen × örnekti, yani transpozu. Bu, öğrencilerin en sık yaptığı hatalardan biri. p ≫ n durumunda neden boyut indirgeme yaptığımızı sorarak bölüm 3'e köprü kurun.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Birinci saatin ana bölümü. Modeller ancak sayılarla çalışır; biyolojik diziyi sayıya çevirme seçimleri sonucu modelden daha çok etkileyebilir.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Temsil seçimi problem bilgisine dayanır: motifin konumu önemliyse one-hot, genel kompozisyon önemliyse k-mer. Seyreklik sayısını birlikte hesaplayın: 100 − 6 + 1 = 95 pencere. Bu 9. haftadaki hizalamasız yöntemlerin de temelidir.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Sonuç kutusundaki son cümle konum bilgisinin anlamını gösteriyor. Öğrencilere GATTACA'nın 3-mer sayımlarını (alıştırma 1) hemen denetin: GAT, ATT, TTA, TAC, ACA, her biri 1. N bazlarının one-hot'ta tüm sıfır satır olarak kodlandığını belirtin.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Sabit sütun sırasının önemini vurgulayın: iki dizinin vektörleri ancak aynı özellik sırasındaysa karşılaştırılabilir. Bölüm 5'te protein ailesini bu fonksiyonla kümeleyeceğiz. N gibi belirsiz bazların one-hot'ta sıfır satır olarak kaldığını, k-mer sayımında ise N içeren pencerelerin sözlükte hiçbir sütuna düşmediğini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Yeni örnek; değerler Biopython ProteinAnalysis ile doğrulandı. Elle kestirilen +5 ile hesaplanan +4.76 arasındaki farkı tartışın: lizin yan zincirinin pKa'sı 10.5 civarında olduğundan pH 7'de hepsi tam protonlanmış değildir. AMP'lerin bakteri zarının negatif yüzeyine bağlanması bu yükle ilgilidir.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Histogramlar yoğunluk ölçeğinde (density=True) çizildi; sınıflar dengesiz olduğu için. Öğrencilere sorun: yalnızca 'yük &gt; 0' kuralıyla bir sınıflandırıcı yapsak ne olur? Bu soru gelecek haftanın karar ağacına köprü.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PCA'yı 2 × 4'lük bir örnekle tamamen elle yapacağız; öğrencilerden hesap makinesi hazırlamalarını isteyin. Ardından gerçek tümör verisine ve yığın etkisine geçiyoruz.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Min-maks ölçeklemeyi de anın: x' = (x − min)/(max − min); aykırı değerlere duyarlıdır. Karar ağaçlarının ölçeklemeye duyarsız olduğunu gelecek hafta göreceğiz. StandardScaler'ın yalnızca eğitim verisinde fit edilmesi gerektiğini (veri sızıntısı) 14. haftaya not olarak bırakın.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Pratikte scikit-learn kovaryans yerine tekil değer ayrışımı (SVD) kullanır; p ≫ n iken daha verimlidir. Özvektörlerin işaretinin keyfi olduğunu söyleyin: sklearn ile elle hesap arasında işaret farkı hata değildir. Dört adımı tahtaya yazın; sonraki üç slaytta her adımı sırasıyla elle ve kodla uygulayacağız.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Tahtada tabloyu doldurtun. n − 1 = 3 ile bölmenin örneklem kovaryansı olduğunu hatırlatın. Korelasyonu da hesaplatabilirsiniz: 2 / √(1.667 · 2.667) = 0.949.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Grafikte kırmızı noktalar örneklerin PC1 doğrusu üzerindeki dik izdüşümleri. İki boyuttan bire indiğimizde yalnızca %2.4 varyans kaybediyoruz. Hesaplar notebook çıktısıyla aynı: özdeğerler [4.228, 0.105], skorlar [−2.5, −0.308, 0.308, 2.5].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Kodu elle yaptığımız hesapla satır satır eşleştirin: merkezleme, kovaryans, özdeğer, izdüşüm. Çıktı notebook'tan alındı (yer kazanmak için matrisler tek satıra yazıldı). eigh'in özdeğerleri artan sırada döndürmesi öğrencilerin sık takıldığı bir ayrıntı; sıralamayı unutan PC1 yerine PC2'yi çizer.
Öğrencilere sorun: PC2 skorlarını atıp yalnızca PC1'le çalışsak her örnek için ne kadar bilgi kaybederiz? Cevap: varyansın %2.4'ü; bu küçük örnekte iki gen neredeyse tek bir 'ortak ifade' ekseni boyunca değişiyor.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Buradaki sürpriz: PC1 yalnızca %2.5 varyans açıklıyor; sinyal çok boyuta dağılmış. Orta panelde alt tipler iç içe; sağ panelde merkezler PC1 boyunca belirgin şekilde kaymış. Yani en büyük varyans ekseni biyolojiden çok teknik bir etkiyle ilişkili. Öğrencilere iki paneli karşılaştırtın.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Yığın etkisi genomikte en yaygın ve en tehlikeli hatalardan biri: bütün kontroller bir gün, bütün hastalar başka gün işlenirse ikisi ayrılamaz (confounding). Düzeltme sonuçları alıştırma 5'in notebook çıktısından. Dikkat: basit düzeltme ARI'yi artırmadı (0.719 → 0.637); düzeltmenin biyolojik sinyali de etkileyebileceğini tartışın.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Üçüncü saatin başı. Üç elle örnek var: temel algoritma, yerel minimum ve siluet. Her birini öğrencilere önce kendilerinin denemesi için 2–3 dakika verin.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Ata ve güncelle adımlarının her birinin W'yi neden artıramayacağını sezgisel açıklayın: atama her noktayı daha yakın merkeze götürür; ortalama, kareler toplamını en aza indiren noktadır. k-means++'ı yalnızca adıyla anın: uzak noktaları başlangıç olarak seçme olasılığını artırır. Öğrencilere sorun: k-means neden küresel olmayan (ör. halka biçimli) kümeleri bulamaz? Cevap: atama yalnızca merkeze uzaklığa bakar.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= 53.2'yi birlikte hesaplayın: ikinci küme için (2−6.4)² + (3−6.4)² + (8−6.4)² + (9−6.4)² + (10−6.4)² = 19.36 + 11.56 + 2.56 + 6.76 + 12.96 = 53.2. Kötü başlangıca rağmen iki adımda doğru çözüme ulaştık; bir sonraki örnek her zaman böyle olmadığını gösterecek. Grafikte gri üçgenler eski, kırmızı üçgenler yeni merkezleri gösteriyor; her satırı bir adım olarak okuyun.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Yeni örnek, Python ile doğrulandı (sabit başlangıçla W = 104; n_init = 10 ile W = 6). Öğrencilere sorun: k-means++ bu başlangıcı seçer miydi? Muhtemelen hayır, çünkü birbirine yakın 0 ve 2'yi birlikte seçme olasılığı düşüktür.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Yeni örnek; sklearn.metrics.silhouette_samples ile doğrulandı. Kümelerin sınırındaki noktaların (3 ve 8) skorunun en düşük olduğuna dikkat çekin. Siluet etiket gerektirmez; bu yüzden k seçiminde kullanılabilir.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Dirsek yöntemi çoğu zaman belirsizdir; bu grafikte de keskin bir kırılma yok. Siluetin yalnızca ≈ 0.11 olması, önceki örnekteki 0.81 ile karşılaştırıldığında gerçek verinin ne kadar zor olduğunu gösteriyor; siluet k = 5'i hafifçe tercih ediyor, oysa gerçek alt tip sayısı 4. Bu, k seçim ölçütlerinin gerçek veride ne kadar belirsiz kalabileceğini gösteren iyi bir örnek.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hücre bir önceki grafiği ve bir sonraki çapraz tabloyu üretiyor. Vurgu: etiketler fit adımına hiç girmiyor, yalnızca adjusted_rand_score içinde kullanılıyor; denetimsiz öğrenmenin tanımı budur.
Tekrarlanabilirlik notu: 200 × 1000'lik veride PCA(n_components=20) varsayılan olarak rastgele (randomized) SVD kullanır; notebook'ta bu yüzden svd_solver="full" verildi ve sonuçlar her çalıştırmada aynıdır. Öğrencilere rastgelelik içeren her adıma (PCA, k-means, t-SNE) tohum vermenin iyi bir alışkanlık olduğunu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Etiketleri hiç görmeden 200 tümörün çoğunu doğru gruplaması etkileyici; ama C–D ayrımı başarısız. Bu ayrımı 14. haftada denetimli öğrenmeyle deneyeceğiz. Küme 0, dört alt tipten de örnek içeren karışık bir küme; öğrencilere bu örneklerin neden ayrı toplandığını sorun (ör. yığın etkisi ya da gen modülleri gibi alt tip dışı varyasyon).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haftadaki UPGMA'yı hatırlatarak başlayın. Bu bölümde ayrıca kümelemeyi dış etiketle (ARI) değerlendirmeyi ve t-SNE'nin tuzaklarını ele alıyoruz.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bir sonraki elle örnekle birlikte okuyun. Karmaşıklık: naif uygulama O(n³), iyi uygulamalar O(n²) bellek ister; binlerce hücrelik tek hücre verisinde bu bir sorundur. k önceden gerekmez: dendrogram istenen yükseklikte kesilir.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Yeni örnek, scipy linkage ile doğrulandı. Dendrogramı belirli bir yükseklikte kesmenin küme sayısını belirlediğini gösterin: ör. complete'te 5 yüksekliğinde kesersek 2 küme. Single bağlantının zincirleme eğilimini tahtada uzun bir nokta dizisiyle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küme için kesim yüksekliği, sondan dördüncü birleşme (≈ 46) ile sondan üçüncü birleşme (≈ 60) arasına konur; notebook eşiği bu iki yüksekliğin ortasına koyar. Ward ile alt tip ARI'si 0.575 — k-means'ten (0.719) düşük. Öğrencilere sorun: dendrogramda yaprakların sağ–sol sırası anlamlı mıdır? (Hayır, her iç düğümde çocuklar yer değiştirebilir.)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Yeni örnek; sklearn rand_score = 0.5 ve adjusted_rand_score = 0.0 ile doğrulandı. Formülün ayrıntısını sınavda istemeyeceğimizi, ancak şans düzeltmesi fikrini bilmeleri gerektiğini söyleyin. ARI negatif de olabilir (şanstan kötü).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veride yöntem seçimi ARI'yi 0'dan 0.72'ye kadar değiştiriyor: single ve average bağlantı tek dev küme oluşturup başarısız oluyor. Bu farkın kendisi iyi bir ders: kümeleme sonuçları yönteme ve ön işlemeye çok duyarlıdır. 'En değişken genler' seçiminin sonucu kötüleştirmesi şaşırtıcı: en değişken genler merkez etkisini taşıyan genler olabilir.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Uyarıları tek tek sayın: (1) kümeler arası uzaklıklar anlamsızdır, (2) küme boyutları anlamsızdır, (3) sonuç perplexity ve rastgele tohuma bağlıdır, (4) t-SNE üzerinde kümeleme yapmayın, PCA veya orijinal uzayda yapın. Tek hücre RNA-seq'te UMAP da aynı uyarılara tabidir. Bu grafikte A ve B her perplexity değerinde ayrı dururken C ve D iç içe kalıyor; bu, k-means sonucuyla tutarlı ve t-SNE'nin yeni bir ayrım 'icat etmediğini' gösteriyor.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9. haftadaki filogenetik ağaçlarla bağlantı kuruyor: orada hizalama tabanlı uzaklık, burada bileşim tabanlı uzaklık kullandık. Kosinüs uzaklığı vektörlerin uzunluğunu değil yönünü karşılaştırır; farklı uzunluktaki proteinler için uygundur.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kart en önemli olanı: k-means rastgele gürültüde bile k küme döndürür. Öğrencilere sorun: tamamen rastgele veride siluet ne olur? (Sıfıra yakın.) Bu, kümelerin gerçekliğini test etmek için basit bir kontrol.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Sınavda bu tür iki adımlık bir k-means sorusu çıkabilir. Hesaplar Python ile doğrulandı. Öğrencilere uzaklıkların karesini alarak (karekök almadan) atama yapabileceklerini hatırlatın; W zaten kareler toplamıdır.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 sorunun çözümü: 5.5 noktası eski merkezlere (2 ve 9) eşit uzaklıkta (3.5); k-means onu 1. kümeye koyar (yeni merkez 2.875). Hangi kümede olursa olsun a = b = 3.5 olduğundan siluet değeri tam **0** çıkar (sklearn ile doğrulandı). Bu, siluetin sınır noktalarını nasıl yakaladığını gösterir. Diğer cevaplar notebook çözümlerinden.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Köprü sorusu: bu hafta C ve D alt tiplerini ayıramadık. Etiketleri kullanabilseydik ne değişirdi? Gelecek hafta promotör verisinde denetimli sınıflandırıcıları kuracağız.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B71C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12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I: Özellik Çıkarımı ve Denetimsiz Öğrenme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Dizileri ve ifade profillerini vektöre çevirmek; etiket olmadan yapı keşfetmek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Python ve Biopython ile uygulamalı ders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Colab: hafta12_ml1_ozellik_cikarimi_denetimsiz.ipynb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hedefleri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iş akışını ve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denetimli / denetimsiz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ayrımını kavramak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ve protein dizilerini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vektörlerine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çevirmek: one-hot, k-mer, bileşim, fizikokimyasal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uzaklık ölçüsünün etkisini görmek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'yı özdeğer ayrışımıyla elle ve scikit-learn ile uygulamak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tümör alt tiplerini etiketsiz keşfetmek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Siluet, ARI ile değerlendirmek;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etkisi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t-SNE tuzaklarını tanımak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23444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Ders akışı (3 saat)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42255" cy="914400"/>
        </p:xfrm>
        <a:graphic>
          <a:graphicData uri="http://schemas.openxmlformats.org/drawingml/2006/table">
            <a:tbl>
              <a:tblPr/>
              <a:tblGrid>
                <a:gridCol w="1048451"/>
                <a:gridCol w="41938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akışı, özellik temsilleri, ölçekleme, PCA matematiği (4 örnek × 2 gen, elle)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Peptit özellikleri, tümör verisinde PCA, yığın etkisi (Notebook 12: bölüm 1–4)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siluet, hiyerarşik kümeleme, ARI, t-SNE, hizalamasız kümeleme (bölüm 5–9)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iş akışı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biyolojik veriden sayısal özelliklere, modelden biyolojik yoruma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Denetimsiz ve denetimli öğrenme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akışı: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biyolojik veri → özellik çıkarımı → ön işleme → model → değerlendirme → biyolojik yorum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 hafta ilk üç adım ve denetimsiz modeller; 13–15. haftalar denetimli modeller.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4415" cy="914400"/>
        </p:xfrm>
        <a:graphic>
          <a:graphicData uri="http://schemas.openxmlformats.org/drawingml/2006/table">
            <a:tbl>
              <a:tblPr/>
              <a:tblGrid>
                <a:gridCol w="2200545"/>
                <a:gridCol w="4217712"/>
                <a:gridCol w="4676158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Denetimsiz öğrenme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Denetimli öğrenme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Etiket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(sınıf veya sayı)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Amaç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Yapı keşfi: gruplar, eksenler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örnek için tahmin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Yöntemler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PCA, t-SNE, k-means, hiyerarşik kümeleme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 regresyon, k-NN, karar ağacı, RF, SVM, sinir ağı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Değerlendirme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Siluet, dış etiketle ARI, biyolojik tutarlılık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kümesinde doğruluk, AUC, F1 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Biyoinformatik örneği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Tümör alt tiplerini, hücre tiplerini keşfetmek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Promotör tahmini, protein fonksiyonu, teşhis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1324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5413248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matrisi X ∈ ℝ^(n×p):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örnek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(satır),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özellik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(sütun). Bu haftaki tümör verisi: n = 200, p = 1000 →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≫ n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(boyut laneti): uzaklıklar birbirine benzer, aşırı öğrenme riski yüksek.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Dizilerden özellik çıkarımı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 uzunluklu harf dizilerini sabit boyutlu sayı vektörlerine çevirmek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temel temsil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200545"/>
                <a:gridCol w="2567303"/>
                <a:gridCol w="1742098"/>
                <a:gridCol w="458446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Konum bilgisi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 / not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Korunur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[1,0,0,0], C = [0,1,0,0] …; CNN girdisi (15. hafta)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k-mer frekansı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4ᵏ (DNA), 20ᵏ (protein)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Kaybolur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2 → 16, k = 3 → 64, k = 6 → 4096 özellik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Amino asit bileşimi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(dipeptit: 400)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Kaybolur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amino asidin oranı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Fizikokimyasal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sayıda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Kaybolur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pI, GRAVY, yük, aromatiklik (</a:t>
                      </a:r>
                      <a:r>
                        <a:rPr lang="en-US" sz="18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ProteinAnalysis</a:t>
                      </a: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48056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448056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ve bileşim, uzunluğu farklı dizileri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boyuta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getirir; bedeli sıra bilgisini kaybetmektir. k büyüdükçe vektör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seyrekleşir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100 bazlık bir dizi 4096 olası 6-merin en fazla 95'ini içerir.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vektörü ve one-hot kodlama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795528"/>
          </a:xfrm>
          <a:prstGeom prst="roundRect">
            <a:avLst>
              <a:gd name="adj" fmla="val 9195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ACGTAC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dizisinin (a) normalize 2-mer vektörünü ve (b) one-hot matrisini yazın.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6101928" cy="290779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2-mer pencere sayısı = L − k + 1 = 6 − 2 + 1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Pencereler: AC, CG, GT, TA, AC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Sayımlar: AC = 2, CG = GT = TA = 1; diğer 12 dinükleotit 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Normalize: AC = 2/5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CG = GT = TA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(16 boyutlu vektör)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One-hot: her konum için 4 boyutlu birim vektör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× 4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matris (24 sayı)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70608" y="2487168"/>
          <a:ext cx="4672447" cy="914400"/>
        </p:xfrm>
        <a:graphic>
          <a:graphicData uri="http://schemas.openxmlformats.org/drawingml/2006/table">
            <a:tbl>
              <a:tblPr/>
              <a:tblGrid>
                <a:gridCol w="1168112"/>
                <a:gridCol w="700867"/>
                <a:gridCol w="700867"/>
                <a:gridCol w="700867"/>
                <a:gridCol w="700867"/>
                <a:gridCol w="70086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2-mer: {AC: 0.4, CG: 0.2, GT: 0.2, TA: 0.2}. One-hot 6 × 4;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ACGTAC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CAGTCA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aynı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 bileşimine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one-hot matrisine sahiptir.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ve k-mer fonksiyonları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513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742432"/>
            <a:ext cx="6656649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815584"/>
            <a:ext cx="643719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{'AC': 0.4, 'CG': 0.2, 'GT': 0.2, 'TA': 0.2}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4233672"/>
          </a:xfrm>
          <a:prstGeom prst="roundRect">
            <a:avLst>
              <a:gd name="adj" fmla="val 1728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itertools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Counter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one_hot(dizi, alfabe="ACGT"):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np.zeros((len(dizi), len(alfabe)))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b in enumerate(dizi):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 in alfabe:   # N: sıfır satır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M[i, alfabe.index(b)] = 1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kmer_vektor(dizi, k=2, alfabe="ACGT"):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kel = ["".join(p) for p in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itertools.product(alfabe, repeat=k)]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say = Counter(dizi[i:i+k]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for i in range(len(dizi) - k + 1))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np.array([say[w] for w in kel], float)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 / v.sum(), kel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v, kel = kmer_vektor("ACGTAC", 2)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print({k: x for k, x in zip(kel, v) if x &gt; 0})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itertools.product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tüm 4ᵏ kelimeyi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sırada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üretir → sütunlar tüm dizilerde aynı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yalnızca görülen k-merleri tutar (seyrek)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fonksiyon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alfabe=AA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proteinde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dipeptit bileşimi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(400 boyut) verir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 O(L) + O(4ᵏ)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peptidin fizikokimyasal özellikleri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KKLLKKLLK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(9 amino asit) peptidi için amino asit bileşimini, GRAVY hidrofobiklik skorunu ve pH 7'deki yaklaşık net yükü hesaplayın.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878537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Bileşim: K = 5/9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0.556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 = 4/9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0.444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diğer 18 amino asit 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Kyte–Doolittle ölçeği: K = −3.9, L = +3.8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GRAVY = ortalama = (5·(−3.9) + 4·3.8) / 9 = (−19.5 + 15.2) / 9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−0.478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7'de her K (+1), N-uç (+1), C-uç (−1) → kaba tahmin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ProteinAnalysis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pKa değerleriyle: yük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+4.76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pI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10.60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47217" y="2779776"/>
          <a:ext cx="3895838" cy="914400"/>
        </p:xfrm>
        <a:graphic>
          <a:graphicData uri="http://schemas.openxmlformats.org/drawingml/2006/table">
            <a:tbl>
              <a:tblPr/>
              <a:tblGrid>
                <a:gridCol w="2520836"/>
                <a:gridCol w="137500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f_K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f_L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uzunluk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 (pH 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aromatiklik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peptit 26 boyutlu bir özellik vektörü olur (20 bileşim + 6 fizikokimyasal). Yüksek pozitif yük ve amfipatik K/L deseni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antimikrobiyal peptit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(AMP) tipiktir.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 AMP'leri ne kadar ayırıyor?</a:t>
            </a:r>
            <a:endParaRPr lang="en-US" sz="3000" dirty="0"/>
          </a:p>
        </p:txBody>
      </p:sp>
      <p:pic>
        <p:nvPicPr>
          <p:cNvPr id="3" name="Image 0" descr="p12_peptit_ozell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82241"/>
            <a:ext cx="8209867" cy="213359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078547" y="1234440"/>
            <a:ext cx="2564508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peptit (150 AMP, 450 AMP değil)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× 26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özellik matrisi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yük: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AMP'ler belirgin şekilde pozitif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f_K: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lizin oranı AMP'lerde yüksek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GRAVY: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dağılımlar büyük ölçüde örtüşüyor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özellik yetmez → özellikleri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birleştiren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modeller (13–15. hafta)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 ve PCA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Birimleri eşitlemek; en çok varyans taşıyan dik eksenleri bulmak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 uzaklığı nasıl değiştirir?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peptit (uzunluk, f_K) = (20, 0.10) ve (30, 0.30). Veri setinde σ(uzunluk) = 8, σ(f_K) = 0.08. Ham ve standartlaştırılmış Öklid uzaklıklarını karşılaştırın.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434761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farklar: Δuzunluk = 10, Δf_K = 0.2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uzaklık = √(10² + 0.2²) = √100.04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10.002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%99.96'sı uzunluktan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Standartlaştırma z = (x − μ)/σ; farklar σ'ya bölünür (μ sadeleşir)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Ölçekli farklar: 10/8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0.2/0.08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Ölçekli uzaklık = √(1.25² + 2.5²) = √7.8125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2.795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03441" y="2779776"/>
          <a:ext cx="4339614" cy="914400"/>
        </p:xfrm>
        <a:graphic>
          <a:graphicData uri="http://schemas.openxmlformats.org/drawingml/2006/table">
            <a:tbl>
              <a:tblPr/>
              <a:tblGrid>
                <a:gridCol w="1711603"/>
                <a:gridCol w="998435"/>
                <a:gridCol w="631141"/>
                <a:gridCol w="998435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uzunluk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f_K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uzaklık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 fark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Ölçekli fark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Ölçeklemeden sonra f_K farkı uzaklığa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çok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katkı veriyor. k-means, k-NN, PCA gibi uzaklık/varyans tabanlı yöntemlerde ölçekleme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zorunludur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bileşen analizi (PCA): dört adım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1. Merkezle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23444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X̃ = X − x̄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123444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özelliğin ortalaması 0 olur (çoğu zaman ayrıca ölçeklenir)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0886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0886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2. Kovaryans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0886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X̃ᵀ X̃ / (n − 1)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30886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× p simetrik matris; köşegen = varyanslar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8328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3. Özdeğer ayrışımı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38328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vₖ = λₖ vₖ,  λ₁ ≥ λ₂ ≥ …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38328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vₖ: bileşen yönü (birim vektör); λₖ: o yönde varyans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5770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5770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4. İzdüşüm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45770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X̃ V,  açıklanan oran = λₖ / Σλ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45770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birkaç sütun: düşük boyutlu temsil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denetimsizdir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etiketleri kullanmaz. En çok varyans taşıyan yön biyolojik olarak en ilginç yön olmayabilir (ör. yığın etkisi).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elle (1): merkezleme ve kovaryans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795528"/>
          </a:xfrm>
          <a:prstGeom prst="roundRect">
            <a:avLst>
              <a:gd name="adj" fmla="val 9195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örnek, 2 gen: (2, 1), (3, 3), (4, 3), (5, 5). Merkezlenmiş veriyi ve kovaryans matrisini bulun.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5547208" cy="290779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Ortalamalar: gen1 = (2+3+4+5)/4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gen2 = (1+3+3+5)/4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Merkezlenmiş: (−1.5, −2), (−0.5, 0), (0.5, 0), (1.5, 2)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Σ(gen1²) = 2.25 + 0.25 + 0.25 + 2.25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Σ(gen2²) = 4 + 0 + 0 + 4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Σ(gen1·gen2) = 3 + 0 + 0 + 3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(1/3)·[[5, 6], [6, 8]] = [[1.667, 2], [2, 2.667]]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487168"/>
          <a:ext cx="5227168" cy="914400"/>
        </p:xfrm>
        <a:graphic>
          <a:graphicData uri="http://schemas.openxmlformats.org/drawingml/2006/table">
            <a:tbl>
              <a:tblPr/>
              <a:tblGrid>
                <a:gridCol w="1829484"/>
                <a:gridCol w="603144"/>
                <a:gridCol w="603144"/>
                <a:gridCol w="603144"/>
                <a:gridCol w="603144"/>
                <a:gridCol w="98510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x̃₁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x̃₂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x̃₁·x̃₂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kare/çarpım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[[1.667, 2], [2, 2.667]]. Pozitif kovaryans (2): iki gen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artıyor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PC1 bu ortak yönü yakalayacak.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elle (2): özdeğerler, yön ve skorlar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795528"/>
          </a:xfrm>
          <a:prstGeom prst="roundRect">
            <a:avLst>
              <a:gd name="adj" fmla="val 9195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[[1.667, 2], [2, 2.667]] için özdeğerleri, PC1 yönünü ve 1. örneğin PC1 skorunu bulun.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6101928" cy="290779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det(Σ − λI) = 0 → λ² − (iz)λ + det = λ² − 4.333λ + 0.444 = 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(4.333 ± √(18.78 − 1.78)) / 2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λ₁ = 4.228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λ₂ = 0.105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Açıklanan oran: 4.228 / 4.333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%97.6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 − λ₁I)v = 0 → −2.561·v₁ + 2·v₂ = 0 → v₂ = 1.281·v₁ → normalize: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(0.615, 0.788)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örneğin skoru: (−1.5)(0.615) + (−2)(0.788)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−2.50</a:t>
            </a:r>
            <a:endParaRPr lang="en-US" sz="1800" dirty="0"/>
          </a:p>
        </p:txBody>
      </p:sp>
      <p:pic>
        <p:nvPicPr>
          <p:cNvPr id="7" name="Image 0" descr="p12_pca_orn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1193" y="2487168"/>
            <a:ext cx="3291278" cy="29077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≈ (0.615, 0.788), varyansın %97.6'sı. Skorlar: −2.50, −0.31, +0.31, +2.50.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np.linalg.eigh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sklearn.PCA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aynı oranı verir (işaret farkı önemsiz).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elle (3): aynı dört adım NumPy ve scikit-learn ile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937760"/>
            <a:ext cx="6878537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010912"/>
            <a:ext cx="6659081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Kovaryans: [[1.667 2.   ] [2.    2.667]]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Özdeğerler: [4.228 0.105] | oran: [0.976 0.024]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PC1 yönü: [0.615 0.788]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 skorları: [[-2.5 -0.049] [-0.308 0.394] [0.308 -0.394] [2.5 0.049]]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 oran: [0.976 0.024]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878537" cy="3429000"/>
          </a:xfrm>
          <a:prstGeom prst="roundRect">
            <a:avLst>
              <a:gd name="adj" fmla="val 2133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659081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X4 = np.array([[2, 1], [3, 3], [4, 3], [5, 5.]])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 = X4 - X4.mean(0)                      # 1. merkezle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Xc.T @ Xc / (len(X4) - 1)             # 2. kovaryans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ozdeger, ozvektor = np.linalg.eigh(S)     # 3. özdeğer ayrışımı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sira = np.argsort(ozdeger)[::-1]          #    (eigh artan sıralar!)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ozdeger, ozvektor = ozdeger[sira], ozvektor[:, sira]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print("Kovaryans:\n", S.round(3))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print("Özdeğerler:", ozdeger.round(3), "| oran:",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(ozdeger / ozdeger.sum()).round(3))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print("PC1 yönü:", ozvektor[:, 0].round(3))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print("PC skorları:\n", (Xc @ ozvektor).round(3))   # 4. izdüşüm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print("sklearn oran:", PCA().fit(X4).explained_variance_ratio_.round(3))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47217" y="1234440"/>
            <a:ext cx="3895838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satır bir önceki iki slayttaki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elle adıma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karşılık gelir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eigh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simetrik matrisler için; özdeğerleri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artan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sırada verir → ters çevir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Skorların 1. sütunu elle bulduğumuz −2.50, −0.31, +0.31, +2.50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skorları küçük (±0.05, ±0.39): kaybedilen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%2.4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varyans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aynı oranı verir; özvektör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işareti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farklı çıkabilir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Tümör verisinde PCA: 200 tümör × 1000 gen</a:t>
            </a:r>
            <a:endParaRPr lang="en-US" sz="3000" dirty="0"/>
          </a:p>
        </p:txBody>
      </p:sp>
      <p:pic>
        <p:nvPicPr>
          <p:cNvPr id="3" name="Image 0" descr="g12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90371"/>
            <a:ext cx="11094415" cy="2905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69381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Sol: scree grafiği (PC1 %2.5, ilk 20 bileşen ≈ %24). Orta: alt tipe göre. Sağ: merkeze göre renklendirilmiş PC1–PC2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(batch) etkisi: hangi bileşen neyi taşıyor?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bileşen için merkezle korelasyon |r| ve alt tipler arası ayrışma (ANOVA F). Veri iki merkezde işlenmiş: 112 + 88 tümör; 120 gende teknik kayma var.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4415" cy="914400"/>
        </p:xfrm>
        <a:graphic>
          <a:graphicData uri="http://schemas.openxmlformats.org/drawingml/2006/table">
            <a:tbl>
              <a:tblPr/>
              <a:tblGrid>
                <a:gridCol w="4267083"/>
                <a:gridCol w="1137889"/>
                <a:gridCol w="1137889"/>
                <a:gridCol w="1137889"/>
                <a:gridCol w="1137889"/>
                <a:gridCol w="1137889"/>
                <a:gridCol w="113788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Bileşen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Merkez ile |r|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tip ANOVA 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2958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3529584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biyolojiden çok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merkezle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ilişkili. Basit düzeltme (her merkezde gen ortalamasını çıkarmak) sonrası PC1–merkez korelasyonu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k-means ARI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Gerçek çalışmalarda: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dengeli deney tasarımı, modelde kovaryat.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kümeleme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Merkezleri ata, güncelle, tekrarla: küme içi kareler toplamını küçült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(Lloyd) algoritması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464994" cy="1554480"/>
          </a:xfrm>
          <a:prstGeom prst="roundRect">
            <a:avLst>
              <a:gd name="adj" fmla="val 4706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17320"/>
            <a:ext cx="23186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merkez seç (rastgele / k-means++)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059354" y="219456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425114" y="1417320"/>
            <a:ext cx="2464994" cy="1554480"/>
          </a:xfrm>
          <a:prstGeom prst="roundRect">
            <a:avLst>
              <a:gd name="adj" fmla="val 4706"/>
            </a:avLst>
          </a:prstGeom>
          <a:solidFill>
            <a:srgbClr val="FDECEA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8266" y="1417320"/>
            <a:ext cx="23186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noktayı en yakın merkeze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35828" y="219456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01588" y="1417320"/>
            <a:ext cx="2464994" cy="1554480"/>
          </a:xfrm>
          <a:prstGeom prst="roundRect">
            <a:avLst>
              <a:gd name="adj" fmla="val 4706"/>
            </a:avLst>
          </a:prstGeom>
          <a:solidFill>
            <a:srgbClr val="FDECEA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4740" y="1417320"/>
            <a:ext cx="23186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 = kümenin ortalaması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812301" y="219456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78061" y="1417320"/>
            <a:ext cx="2464994" cy="1554480"/>
          </a:xfrm>
          <a:prstGeom prst="roundRect">
            <a:avLst>
              <a:gd name="adj" fmla="val 4706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51213" y="1417320"/>
            <a:ext cx="23186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Atama değişmediyse dur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20440"/>
            <a:ext cx="11094415" cy="2743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 fonksiyonu (inertia):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Σₖ Σ_{x∈Cₖ} ‖x − μₖ‖²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her adım W'yi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artırmaz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yakınsama garantili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yalnızca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minimuma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sonuç başlangıca bağlı →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çok başlangıç, en küçük W seçilir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başına maliyet O(n·k·p); küresel, benzer boyutlu kümeleri varsayar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önceden verilmeli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dirsek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seçilir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elle: 1 boyutta 6 nokta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Noktalar 1, 2, 3, 8, 9, 10; k = 2; başlangıç merkezleri 1 ve 2. Algoritmayı yakınsayana kadar uygulayın ve her adımda W'yi hesaplayın.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4992487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1 ata: 1 → merkez 1; 2, 3, 8, 9, 10 → merkez 2 (hepsi 2'ye daha yakın)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Güncelle: μ₁ = 1, μ₂ = (2+3+8+9+10)/5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 = 0 + 53.2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2 ata: 3'ün 1'e uzaklığı 2, 6.4'e 3.4 → 1. kümeye; 2 de 1. kümeye geçer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Güncelle: μ₁ = (1+2+3)/3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μ₂ = (8+9+10)/3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 = 2 + 2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3: atamalar değişmedi →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yakınsadı</a:t>
            </a:r>
            <a:endParaRPr lang="en-US" sz="1600" dirty="0"/>
          </a:p>
        </p:txBody>
      </p:sp>
      <p:pic>
        <p:nvPicPr>
          <p:cNvPr id="7" name="Image 0" descr="p12_kmeans_ad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9590" y="2779776"/>
            <a:ext cx="3985042" cy="2615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Kümeler {1, 2, 3} ve {8, 9, 10}; merkezler 2 ve 9; W: 53.2 → 4 → 4. Notebook'taki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kmeans_elle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aynı üç adımı yazdırır.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minimum: başlangıç neden önemli?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Noktalar 0, 2, 10, 12, 20, 22; k = 3. Başlangıç merkezleri 0, 2, 10 olursa k-means nereye yakınsar? En iyi çözümle karşılaştırın.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10192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Ata: 0 → 0; 2 → 2; 10, 12, 20, 22 → 10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Güncelle: μ = 0, 2, (10+12+20+22)/4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ata: 10'un 2'ye uzaklığı 8, 16'ya 6 → yine 3. küme;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atama değişmez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 + 0 + (6² + 4² + 4² + 6²)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takıldı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çözüm {0, 2}, {10, 12}, {20, 22}: W = 2 + 2 + 2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70608" y="2779776"/>
          <a:ext cx="4672447" cy="914400"/>
        </p:xfrm>
        <a:graphic>
          <a:graphicData uri="http://schemas.openxmlformats.org/drawingml/2006/table">
            <a:tbl>
              <a:tblPr/>
              <a:tblGrid>
                <a:gridCol w="1490332"/>
                <a:gridCol w="2583242"/>
                <a:gridCol w="5988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Çözüm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Kötü başlangıç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{0}, {2}, {10, 12, 20, 22}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Küresel minimum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{0, 2}, {10, 12}, {20, 22}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17 kat kötü bir yerel minimumda durdu. Çözüm: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KMeans(n_init=10)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farklı başlangıçlar dener; burada W = 6'yı bulur.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 skoru elle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Noktalar 1, 2, 3 (küme 1) ve 8, 9, 10 (küme 2). Her nokta için siluet s = (b − a) / max(a, b) değerini ve ortalamasını hesaplayın.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434761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noktanın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kümesindeki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diğer noktalara ortalama uzaklığı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yakın diğer kümedeki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noktalara ortalama uzaklığı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Nokta 1: a = (1 + 2)/2 = 1.5; b = (7 + 8 + 9)/3 = 8 → s = 6.5/8 =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0.8125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Nokta 2: a = (1 + 1)/2 = 1; b = (6 + 7 + 8)/3 = 7 → s = 6/7 =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Nokta 3: a = 1.5; b = (5 + 6 + 7)/3 = 6 → s = 4.5/6 =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Simetriden 8, 9, 10 aynı değerleri alır → ortalama =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0.807</a:t>
            </a:r>
            <a:endParaRPr lang="en-US" sz="15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03441" y="2779776"/>
          <a:ext cx="4339614" cy="914400"/>
        </p:xfrm>
        <a:graphic>
          <a:graphicData uri="http://schemas.openxmlformats.org/drawingml/2006/table">
            <a:tbl>
              <a:tblPr/>
              <a:tblGrid>
                <a:gridCol w="1276357"/>
                <a:gridCol w="765814"/>
                <a:gridCol w="765814"/>
                <a:gridCol w="153162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Nokta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siluet 0.807: kümeler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 ayrışmış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 ≈ 1 iyi, s ≈ 0 sınırda, s &lt; 0 muhtemelen yanlış kümede.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seçimi: dirsek ve siluet</a:t>
            </a:r>
            <a:endParaRPr lang="en-US" sz="3000" dirty="0"/>
          </a:p>
        </p:txBody>
      </p:sp>
      <p:pic>
        <p:nvPicPr>
          <p:cNvPr id="3" name="Image 0" descr="p12_dirsek_silu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7901"/>
            <a:ext cx="7987979" cy="234227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856659" y="1234440"/>
            <a:ext cx="278639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10 PC üzerinde k = 2…8 denendi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Dirsek: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 sürekli azalır (k = n'de 0); eğimin kırıldığı nokta aranır → k ≈ 4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tüm k değerlerinde ≈ 0.11–0.12; en yüksek k = 5 (0.119), k = 4'te 0.114 — net bir tercih yok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 değerleri çok düşük: kümeler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zayıf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ayrışıyor (p ≫ n, gürültü)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alt tip sayısı 4 — ama bunu gerçek veride bilemeyiz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Tümör verisinde k-means: kod ve çıktı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12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541264"/>
            <a:ext cx="6878537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614416"/>
            <a:ext cx="665908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 - alt tip ile: 0.719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 - merkez ile: 0.077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878537" cy="4032504"/>
          </a:xfrm>
          <a:prstGeom prst="roundRect">
            <a:avLst>
              <a:gd name="adj" fmla="val 1814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659081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silhouette_score, adjusted_rand_score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Zk = Z[:, :10]            # ölçeklenmiş verinin ilk 10 PC'si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sil = [], []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range(2, 9):     # dirsek ve siluet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 = KMeans(n_clusters=k, n_init=10, random_state=0).fit(Zk)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W.append(km.inertia_)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sil.append(silhouette_score(Zk, km.labels_))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KMeans(n_clusters=4, n_init=20, random_state=0).fit(Zk)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print("ARI - alt tip ile:",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round(adjusted_rand_score(etiket.alt_tip, km.labels_), 3))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print("ARI - merkez ile:",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round(adjusted_rand_score(etiket.merkez, km.labels_), 3))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pd.crosstab(etiket.alt_tip, km.labels_)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47217" y="1234440"/>
            <a:ext cx="3895838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Etiketler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alt_tip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merkez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kümelemede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kullanılmaz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yalnızca sonradan değerlendirme için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n_init=20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20 başlangıç, en küçük W seçilir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PCA'dan önce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her gen eşit ağırlıkta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(merkez) ≈ 0.08: kümeler teknik merkezden çok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biyolojiyi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izliyor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 = 4) sonucu: gerçek alt tiplerle çapraz tablo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3530041"/>
                <a:gridCol w="1512875"/>
                <a:gridCol w="1512875"/>
                <a:gridCol w="1512875"/>
                <a:gridCol w="1512875"/>
                <a:gridCol w="15128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alt tip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 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 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 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3832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33832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(alt tip ile)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0.719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ARI (merkez ile)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0.077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ve B büyük ölçüde ayrıldı; ortak belirteçleri olan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ve D tek kümede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(küme 1) toplandı; küme 0 karışık. Küme numaraları keyfidir.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 ve değerlendirme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 türleri, dendrogram, ARI, t-SNE ve hizalamasız dizi kümeleme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Aglomeratif kümeleme ve bağlantı türleri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örnek bir küme → en yakın iki kümeyi birleştir → tek küme kalana dek tekrarla (9. haftadaki UPGMA ile aynı fikir). Fark,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kümeler arası uzaklığın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tanımında:</a:t>
            </a:r>
            <a:endParaRPr lang="en-US" sz="1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7166"/>
                <a:gridCol w="4217712"/>
                <a:gridCol w="485953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Bağlantı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Kümeler arası uzaklık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Eğilim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yakın iki üye: min d(a, b)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Zincirleme, uzun ince kümeler; aykırıya duyarlı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uzak iki üye: max d(a, b)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Kompakt, benzer çaplı kümeler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(UPGMA)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çiftlerin ortalaması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İkisinin arası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Birleşmenin W'yi en az artırdığı çift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k-means'e benzer küresel kümeler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 türleri elle: 5 nokta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boyutta A = 0, B = 1, C = 3, D = 7, E = 8.5. Single, complete ve average bağlantıyla birleşme sırasını ve yüksekliklerini bulun.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4659654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A–B (1) → {AB} @ 1; D–E (1.5) → {DE} @ 1.5 (hepsinde aynı)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{AB}–C: single = min(3, 2)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complete = max(3, 2)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average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{DE}–C daha uzak (4 / 5.5) → önce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{ABC}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oluşur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birleşme {ABC}–{DE}: single = d(C, D)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complete = d(A, E)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= (7 + 8.5 + 6 + 7.5 + 4 + 5.5)/6 = 38.5/6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6.42</a:t>
            </a:r>
            <a:endParaRPr lang="en-US" sz="1450" dirty="0"/>
          </a:p>
        </p:txBody>
      </p:sp>
      <p:pic>
        <p:nvPicPr>
          <p:cNvPr id="7" name="Image 0" descr="p12_bag_turle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8334" y="3000307"/>
            <a:ext cx="6114721" cy="21741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topoloji, farklı yükseklikler: single 4, average 6.42, complete 8.5. Daha karmaşık verilerde topoloji de değişir (tümör verisinde single ARI = 0).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Tümör verisinde ward dendrogramı</a:t>
            </a:r>
            <a:endParaRPr lang="en-US" sz="3000" dirty="0"/>
          </a:p>
        </p:txBody>
      </p:sp>
      <p:pic>
        <p:nvPicPr>
          <p:cNvPr id="3" name="Image 0" descr="p12_ward_dendr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51006"/>
            <a:ext cx="11094415" cy="31845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0874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Notebook grafiği, ilk 10 PC üzerinde ward bağlantısı; renkler dendrogramın 4 kümeye kesilmesini gösterir (kesim yüksekliği ≈ 53)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indeksi ve ARI: neden "düzeltilmiş"?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795528"/>
          </a:xfrm>
          <a:prstGeom prst="roundRect">
            <a:avLst>
              <a:gd name="adj" fmla="val 9195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örneğin gerçek etiketleri A, A, B, B; kümeleme sonucu 1, 1, 1, 2. Rand indeksini (RI) ve ARI'yi hesaplayın.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6656649" cy="290779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C(4, 2)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örnek çifti; her çift için "aynı / farklı" kararları karşılaştırılır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Uyuşan çiftler: (1,2) aynı–aynı, (1,4) farklı–farklı, (2,4) farklı–farklı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= 3/6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rastgele bir kümeleme de benzer bir değer alabilir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ARI: Σ C(nᵢⱼ, 2) = 1; satırlar Σ = 2; sütunlar Σ = 3; beklenen = 2·3/6 = 1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= (1 − 1) / ((2 + 3)/2 − 1) = 0 / 1.5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25329" y="2487168"/>
          <a:ext cx="4117726" cy="914400"/>
        </p:xfrm>
        <a:graphic>
          <a:graphicData uri="http://schemas.openxmlformats.org/drawingml/2006/table">
            <a:tbl>
              <a:tblPr/>
              <a:tblGrid>
                <a:gridCol w="1029432"/>
                <a:gridCol w="1029432"/>
                <a:gridCol w="1029432"/>
                <a:gridCol w="1029432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 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= 0.5 ama ARI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bu kümeleme şanstan iyi değil. ARI şans düzeltmelidir (0 ≈ rastgele, 1 = mükemmel) ve küme numaralarının permütasyonundan etkilenmez.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 ve ön işleme seçimi sonucu nasıl etkiliyor?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tip ile ARI (notebook çıktısı). Sonuçlar yönteme ve ön işlemeye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duyarlı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Sağda: en değişken 60 genin ward ısı haritası (sol şerit: gerçek alt tip) — alt tipler belirgin bloklar oluşturmuyor.</a:t>
            </a:r>
            <a:endParaRPr lang="en-US" sz="1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434761" cy="914400"/>
        </p:xfrm>
        <a:graphic>
          <a:graphicData uri="http://schemas.openxmlformats.org/drawingml/2006/table">
            <a:tbl>
              <a:tblPr/>
              <a:tblGrid>
                <a:gridCol w="4949816"/>
                <a:gridCol w="148494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 / ayar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(k = 4), ilk 10 PC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Hiyerarşik — ward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Hiyerarşik — complete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Hiyerarşik — single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Hiyerarşik — average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yalnızca en değişken 100 gen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merkez düzeltmesi sonrası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12_isi_harit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3441" y="2209485"/>
            <a:ext cx="4339614" cy="38563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t-SNE: güçlü ama yanıltıcı olabilir</a:t>
            </a:r>
            <a:endParaRPr lang="en-US" sz="3000" dirty="0"/>
          </a:p>
        </p:txBody>
      </p:sp>
      <p:pic>
        <p:nvPicPr>
          <p:cNvPr id="3" name="Image 0" descr="p12_ts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90371"/>
            <a:ext cx="11094415" cy="2905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69381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Aynı veri, üç perplexity değeri (5, 30, 60). Renkler gerçek alt tipler; t-SNE bunları kullanmadı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Hizalamasız dizi kümeleme</a:t>
            </a:r>
            <a:endParaRPr lang="en-US" sz="3000" dirty="0"/>
          </a:p>
        </p:txBody>
      </p:sp>
      <p:pic>
        <p:nvPicPr>
          <p:cNvPr id="3" name="Image 0" descr="p12_protein_dendr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82739"/>
            <a:ext cx="6101928" cy="27326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70608" y="1234440"/>
            <a:ext cx="4672447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protein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dipeptit bileşimi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(400 boyut)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Kosinüs uzaklığı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average bağlantı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 B alt aileleri ayrışıyor;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ilgisiz1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dışarıda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Hizalama gerektirmez: O(L) özellik + hızlı uzaklık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 homologlarda hizalamaya göre daha az duyarlı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yapılan hatalar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4416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Ölçeklememek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01368"/>
            <a:ext cx="333237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birimli özellik uzaklığa hâkim olur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10.002 vs ölçekli 2.795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yalnızca eğitimde fit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38218" y="123444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1098" y="134416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Transpoz karışıklığı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429658" y="1801368"/>
            <a:ext cx="333237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sklearn: satır = örnek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Sayım matrisi gen × örnekti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X.shape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her zaman kontrol 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797" y="123444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0677" y="134416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Tek başlangıç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19237" y="1801368"/>
            <a:ext cx="333237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yerel minimumda kalır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Örnekte W = 104 yerine 6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10,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sabitle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99592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Yığın etkisini atlamak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453128"/>
            <a:ext cx="333237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merkezle |r| = 0.52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PCA'yı teknik değişkenlerle de renklendir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Tasarımda dengele, düzelt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38218" y="388620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1098" y="399592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t-SNE'yi ölçmek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429658" y="4453128"/>
            <a:ext cx="333237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Uzaklık ve boyut anlamsız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perplexity'ye duyarlı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Kümelemeyi PCA uzayında yap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27797" y="388620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DECE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10677" y="399592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</a:rPr>
              <a:t>Kümeyi gerçek sanmak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219237" y="4453128"/>
            <a:ext cx="333237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veride k küme bulunur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Tümörde siluet yalnızca ≈ 0.11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bilgiyle doğrula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tipi soru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sınav sorusu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Noktalar P1(1,1), P2(2,1), P3(6,5), P4(7,5), P5(6,6). (a) Başlangıç merkezleri P1 ve P2 ile k-means'i yakınsayana dek uygulayın. (b) {P1,P2} ile {P3,P4} arası single ve complete uzaklık nedir?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656649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Adım 1: P1 → c₁; P2, P3, P4, P5 → c₂ (ör. d(P3, c₂) = 5.66 &lt; 6.40)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Güncelle: c₁ = (1, 1); c₂ = (21/4, 17/4) =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(5.25, 4.25)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 =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2: P2'nin c₁'e uzaklığı 1, c₂'ye 4.60 → P2 1. kümeye geçer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Güncelle: c₁ =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(1.5, 1)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c₂ =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(6.33, 5.33)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 = 0.5 + 1.33 =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3: atama değişmez → yakınsadı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single = d(P2, P3) = √32 =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5.66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complete = d(P1, P4) = √52 =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7.21</a:t>
            </a:r>
            <a:endParaRPr lang="en-US" sz="15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25329" y="2779776"/>
          <a:ext cx="4117726" cy="914400"/>
        </p:xfrm>
        <a:graphic>
          <a:graphicData uri="http://schemas.openxmlformats.org/drawingml/2006/table">
            <a:tbl>
              <a:tblPr/>
              <a:tblGrid>
                <a:gridCol w="603342"/>
                <a:gridCol w="970347"/>
                <a:gridCol w="1940694"/>
                <a:gridCol w="603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 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{P1}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{P2, P3, P4, P5}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{P1, P2}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{P3, P4, P5}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değişmez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Kümeler {P1, P2} ve {P3, P4, P5}; merkezler (1.5, 1) ve (6.33, 5.33); W = 1.83. Single 5.66, complete 7.21.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Laboratuvar alıştırmaları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hafta12_ml1_ozellik_cikarimi_denetimsiz.ipynb  —  çözümler notebook'un sonunda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GATTACA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dizisinin 3-mer sayım vektöründeki sıfır olmayan elemanları elle yazın; kodla doğrulayın. (GAT, ATT, TTA, TAC, ACA: her biri 1)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(1,1), (1,2), (4,4), (5,4), (5,5) noktalarına başlangıç merkezleri (1,1) ve (5,5) ile 2 adım k-means uygulayın. (Merkezler (1, 1.5) ve (4.67, 4.33))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Tümör verisinde ölçekleme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yapmadan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PCA uygulayın; açıklanan varyans ve PC1–PC2 grafiği nasıl değişti? (PC1, PC2: ölçeksiz %2.7, %2.2; ölçekli %2.5, %2.0)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k-means'i yalnızca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değişken 100 gen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üzerinde çalıştırın; ARI arttı mı? (0.475) Neden?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merkezin gen ortalamasını çıkararak basit bir yığın düzeltmesi yapın; PCA ve ARI'yi yeniden hesaplayın. (PC1–merkez |r| = 0.0; ARI = 0.637)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Ek: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Siluet örneğine 5.5 noktasını ekleyin; hangi kümeye atanır ve siluet değeri nedir?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12: ML I: özellikler ve kümeleme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Özet ve sonraki hafta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akışı: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çıkarımı → ön işleme → model → değerlendirme → yorum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X ∈ ℝ^(n×p), çoğu zaman p ≫ n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Diziler → vektör: one-hot (konumlu), k-mer / bileşim (konumsuz, sabit boyut), fizikokimyasal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Uzaklık tabanlı yöntemlerde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 zorunlu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PCA = kovaryansın özdeğer ayrışımı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yerel minimuma düşebilir (çözüm: n_init); k'yi dirsek/siluet ile seç; ARI şans düzeltmelidir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kümelemede bağlantı türü sonucu belirler;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etkisi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t-SNE yanılsamalarına dikkat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3747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53212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DD2"/>
                </a:solidFill>
              </a:rPr>
              <a:t>Sonraki hafta  </a:t>
            </a:r>
            <a:r>
              <a:rPr lang="en-US" sz="1600" dirty="0">
                <a:solidFill>
                  <a:srgbClr val="FFFFFF"/>
                </a:solidFill>
              </a:rPr>
              <a:t>Denetimli sınıflandırma: eğitim/test ayrımı, k-NN, lojistik regresyon, karar ağacı, rastgele orman, ROC–AUC, çapraz doğrulama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12: Makine Öğrenmesi I: Özellik Çıkarımı ve Denetimsiz Öğrenme</dc:title>
  <dc:subject>PptxGenJS Presentation</dc:subject>
  <dc:creator>Biyoenformatiğe Giriş</dc:creator>
  <cp:lastModifiedBy>Biyoenformatiğe Giriş</cp:lastModifiedBy>
  <cp:revision>1</cp:revision>
  <dcterms:created xsi:type="dcterms:W3CDTF">2026-09-23T19:01:38Z</dcterms:created>
  <dcterms:modified xsi:type="dcterms:W3CDTF">2026-09-23T19:01:38Z</dcterms:modified>
</cp:coreProperties>
</file>