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iki büyük konu var: biyolojik veritabanlarına programla erişim ve bu veritabanlarında benzerlik araması yapan BLAST algoritması.
Geçen iki haftada öğrendiğimiz Smith–Waterman kesin ama yavaş; BLAST bu yavaşlığı indeksleme ve sezgisel genişletmeyle aşıyor. Öğrencilere bunun klasik bir hız–doğruluk dengesi olduğunu baştan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Hedeflerde en kritik iki madde: X-drop genişletmeyi elle izleyebilmek ve E-değerini yorumlayabilmek. Sınavda bu iki konudan mutlaka soru çıkacağını söyleyebilirsiniz. Ders akışı tablosu: ilk saat teori, ikinci saat algoritma ve kod, üçüncü saat deney ve yorum.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bölüm kısa ve bilgi ağırlıklı: veritabanlarını ve tanımlayıcıları tanıyıp Entrez ile programla erişmeyi göreceğiz. Öğrencilere NCBI'da daha önce elle arama yapıp yapmadıklarını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Veritabanlarını ezberletmeyin; hangi soru için hangisine gidileceğini sorun: 'Bir proteinin işlevini güvenilir biçimde öğrenmek istiyorum' → Swiss-Prot. 'Bir deneyin ham okumalarını istiyorum' → SRA. Birincil/ikincil ayrımı veri kalitesi açısından önemli: GenBank'taki bir kaydın açıklaması yanlış olabilir, kimse düzeltmez.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Tahtaya NM_000546.6 yazıp parçalarına ayırın: NM = mRNA, 000546 = kayıt numarası, .6 = sürüm. Sürüm dizide bir değişiklik olunca artar. Makalelerde ve raporlarda tanımlayıcıyı sürümüyle birlikte yazmanın tekrarlanabilirlik için neden gerekli olduğunu sorun. XM/XP ön ekinin 'tahmin' anlamına geldiğini ve dikkatle kullanılması gerektiğini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E-utilities bir REST API'dir; Biopython yalnızca URL'yi kurup XML'i ayrıştırır. Öğrencilere tarayıcıda bir esearch URL'si açarak ham XML'i göstermek iyi bir fikir. E-posta kuralını vurgulayın: laboratuvarda 40 kişi aynı IP'den istek atarsa sınır hızla aşılır; time.sleep(0.34) kullanın.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Laboratuvarda internet sorunlu olabilir; notebook'taki guvenli() sarmalayıcısı bu yüzden var. Çalıştırılmış notebook'ta bu hücre 'NCBI'ya erişilemedi' der; bu beklenen bir durum. Sınıfta internet varsa canlı çalıştırın ve Count değerinin zamanla değiştiğini (veritabanı büyüyor)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Dersin çekirdek bölümü. BLAST'ı dört küçük elle örnekle adım adım kuracağız: indeks, tohum/köşegen, X-drop sağa ve sola. Tahtayı bu bölüm için boşaltın.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Hesabı tahtada yapın: 300 × 88 926 = 26 677 800 hücre; 300 × 3.1 × 10⁹ = 9.3 × 10¹¹ hücre. Saniyede 10⁹ hücre işleyen optimize bir SW bile bir genom için ~15 dakika harcar; veritabanı binlerce genom içerir. BLAST'ın tüm fikri: aramayı veritabanının küçük bir kısmına daraltmak.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Beş adımı tahtaya dikey yazın; önümüzdeki slaytlarda her birini küçük bir örnekle göstereceğiz. Vurgulanan adım (X-drop) haftanın elle çözülecek ana algoritması. Kritik soru: BLAST neden bazı homologları kaçırabilir? Cevap: hiç ortak w-kelime yoksa tohum oluşmaz. Ders notundaki f08_blast_akisi şekli bu akışın aynısıdır.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İndeksi tahtada bir sözlük olarak çizin. Soru: w = 11 için DNA'da kaç olası anahtar var? 4¹¹ ≈ 4.2 milyon; bu yüzden gerçek BLAST'ta indeks bir dizi (array) olarak tutulabilir. Kelime boyu büyüdükçe her anahtarın liste uzunluğu kısalır, yani daha az tohum oluşur.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Köşegen kavramı DP matrisinden tanıdık: boşluksuz hizalama matriste bir köşegen boyunca ilerler, s_i − q_i sabit kalır. Tabloyu köşegene göre sıralanmış verdik; öğrencilere önce karışık sırayla verip sınıflandırtabilirsiniz. İki-isabet kuralı BLAST 2.0'ın (1997) temel hızlandırmasıdır; alıştırma 3'te uygulayacağız.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satır satır birlikte doldurun. Kilit nokta: durduğumuz yer (k = 7) ile HSP'nin bittiği yer (k = 3) farklı. Öğrencilerin en sık hatası HSP'yi durulan noktaya kadar almak. Sorun: X = 5 olsaydı ne olurdu? (k = 10'da dizinin sonuna ulaşır, en düşük skor 2, düşüş tam 5 = X; en iyi skor yine 7'de kalır, sonuç değişmez.) Bu sayılar notebook'taki xdrop_genislet fonksiyonuyla doğrulandı.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 gri çizgi tohum, koyu çizgi sağa, kırmızı kesikli çizgi sola genişletme. Yatay noktalı çizgiler 'en iyi − X' eşikleri: skor bu çizginin altına inince durulur. Gölgeli bölge sonuçtaki HSP. Öğrencilere sorun: sola genişletme neden 4'ten değil 7'den başlıyor? Çünkü sağ tarafın en iyi skoru zaten HSP'ye eklenmiş durumda.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örnek Altschul ve ark. 1990 makalesindeki klasik örneğe dayanır; sayılar Biopython'un BLOSUM62 matrisiyle hesaplandı. Proteinde neden w = 3 kadar küçük bir kelime kullanılabildiğini tartışın: alfabe 20 harfli, 20³ = 8000 anahtar; DNA'da 4³ = 64 anahtar çok fazla rastgele isabet üretirdi.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program için bir senaryo sorun: 'Elimde bir bakteri genomu var ve insan proteinine benzeyen genleri bulmak istiyorum' → tblastn. 'Bir RNA-seq transkripti ne kodluyor?' → blastx. 6 çerçeve kavramı 2. haftadan geliyor; öğrencilere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Düşük karmaşıklık filtresi pratikte çok önemli: filtre kapatılırsa poli-A kuyrukları yüzlerce sahte isabet üretir. Boşluklu genişletme eksikliğini mini-BLAST sonuçlarında göreceğiz: db_102'de %3 indel var ve ungapped HSP sorgunun yalnızca ilk 65 bazını kapsıyor. Öğrencilere sorun: bu üç özellikten hangisi hızı, hangisi doğruluğu, hangisi kullanışlılığı artırır?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İstatistik bölümü: bir BLAST skorunun ne zaman anlamlı olduğunu soruyoruz. λ'yı sayısal olarak bulacak, E-değeri ve bit skorunu elle hesaplayacağız.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λ'nın sezgisi: puanları doğal logaritma birimine (nat) çeviren ölçek çarpanı. λ·s(a,b) bir log-olasılık oranıdır. Beklenen skorun negatif olma koşulunu vurgulayın: +1/−1 puanlamada eşit frekanslı DNA'da beklenen skor 0.25 − 0.75 = −0.5, yani uygun. K ise arama uzayındaki bağımlılıkları düzeltir; elle bulunmaz, tablodan alınır.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İkiye bölme (bisection) yöntemini sayısal analiz dersinden hatırlatın. Neden λ = 0 dışlanıyor: f(0) = p + (1 − p) = 1 her puanlama için sağlanır, anlamsız köktür. Öğrencilere f'nin şeklini çizdirin: 0'da 1, önce 1'in altına iner, sonra üstel olarak artar; ikinci kesişim aradığımız λ. Arama aralığını brentq'da 1e-6'dan başlatmamızın nedeni 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Ölçek değişmezliğini gösterin: +2/−6 puanlaması için λ, +1/−3'ün tam yarısı olur (0.687). +2/−3 ise farklı bir orandır, bu yüzden 0.634 tam yarı değil. Bit skorunun amacı tam da bu ölçek farkını ortadan kaldırmak.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 özdeşlik formülü Karlin–Altschul teorisinin güzel bir sonucu: puanlama sistemi, gerçek hizalamalarda beklenen eşleşme frekansını örtük olarak belirler. Sayıları doğrulamak için: 0.25·e^1.374 = 0.988; 0.25·e^1.333 = 0.948; 0.25·e^1.099 = 0.750; 0.25·e^(2·0.634) = 0.888 ≈ %89. Bu nedenle uzak homolog ararken +1/−1 gibi yumuşak puanlamalar tercih edilir.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Hesabı adım adım tahtada yapın; öğrencilerin en çok zorlandığı yer üstel terimin büyüklük mertebesi. E-değerinin anlamını bir kez daha söyleyin: 'rastgele bir veritabanında bu kadar iyi bir skoru kaç kez görmeyi beklerdim?' 2.7 × 10⁻¹⁰ neredeyse sıfır, yani bu isabet rastlantı olamaz. İkinci soruyu öğrencilere sorun, sonra cevabı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notebook'tan: y ekseni logaritmik, düz çizgi üstel düşüşü gösteriyor. Eşik çizgisi ile kesişim S ≈ 17.2. Son adım önemli bir sezgi: veritabanı 10 kat büyüdüğünde anlamlı sayılmak için 1.7 puan (yaklaşık 2 eşleşme) daha gerekiyor. Bu nedenle BLAST dev veritabanlarında da çalışabiliyor.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Üçüncü saat: mini-BLAST'ı ders veritabanında çalıştırıp sonuçları yorumluyoruz, sonra gerçek NCBI BLAST çıktısının alanlarını okuyoruz.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 genişletme kodu simetrik olduğu için slaytta kısalttık; notebook'ta tamamı var. Öğrencilere sorun: sağ genişletme en iyi skoru güncellerken neden sağ uç konumunu da saklıyoruz? Cevap: durduğumuz yer HSP'nin sonu değildir.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kapsanan sözlüğü, iki slayt önceki köşegen örneğinin kod karşılığı. Öğrencilere bu satır silinirse ne olacağını sorun: aynı HSP her tohum için yeniden genişletilir; sonuç aynı ama iş yükü artar. Süre makineye göre değişir; çıktıdaki 0.19 s çalıştırılmış notebook'tan.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satır satır okuyun. db_005 ve db_023 neredeyse tüm sorguyu kapsıyor. db_102 ilginç: mutasyon oranı db_047'den düşük ama skoru daha düşük, çünkü indel var ve mini-BLAST boşluklu genişletme yapmıyor. Gerçek BLAST bu HSP'yi boşluklu DP ile uzatırdı. E &gt; 1 olan son üç satır rastlantı isabetleri: E ≈ 5 demek, rastgele bir veritabanında bu skoru 5 kez görmeyi beklerim demek.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Tohum sayısı iş yükünün ölçüsüdür: her tohum bir indeks okuması ve olası bir genişletme demek. w küçüldükçe rastgele eşleşmeler 4^w ile ters orantılı artar. Öğrencilere sorun: w = 7'de 4⁷ = 16 384 olası kelime var; 88 926 bazlık veritabanında her kelime ortalama kaç kez geçer? (≈ 5.4). w = 11'de ≈ 0.02. Bu küçük veride tüm w değerleri aynı sonucu veriyor; fark büyük veritabanında ortaya çıkar.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 gri çubuklar homolog olmayan dizilerin SW skor dağılımı, kırmızı çizgiler gerçek homologlar; x ekseni 20'den sonra logaritmik. db_133 gri kütlenin tam ortasında: en kesin algoritma bile bulamıyor. İki rastgele DNA dizisi zaten ~%25 özdeş olduğundan %45 mutasyon sinyali neredeyse yok ediyor. db_102 için SW'nin 132 vermesi, boşluklu genişletmenin neden BLAST'ın 4. adımı olduğunu gösteriyor.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Öğrencilerin en çok düştüğü tuzak: yalnızca % identity'ye bakmak. 20 bazlık %100 özdeş bir isabet, 300 bazlık %85 özdeş bir isabetten çok daha zayıf kanıttır. E-değeri bu ikisini doğru sıralar çünkü hem uzunluğu hem özdeşliği skora katar. Alacakaranlık bölgesi: %20–25 protein özdeşliğinde homoloji ile rastlantı ayırt edilemez.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hücre notebook'ta varsayılan olarak kapalı; sınıfta internet varsa bir kez birlikte çalıştırın ve p53 ortologlarının (fare, sıçan, maymun…) E-değerlerini inceleyin. Eski Biopython sürümlerinde NCBIXML.parse kullanılıyordu; internette gördükleri örneklerin çoğu eski API'yi kullanır, bunu belirtin. NCBI kuyruğu yoğunsa sorgu dakikalar sürebilir; bu yüzden sonucu diske yazıp tekrar kullanmayı alışkanlık hâline getirmelerini isteyin.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maddeyi bu haftanın bir örneğine bağlayın. İlk madde en önemlisi: E = 0.05'i 'yüzde 5 olasılık' diye okumak yaygın ve küçük E'de yaklaşık doğrudur ama E = 5'te anlamsızdır. P = 1 − e^(−E) formülünü tekrar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tür soru sınavda sık çıkar. Öğrencilerin tuzağı: '45 &gt; 40, A daha iyi.' Birimler farklı: biri bit, biri ham puan. Hesabı tahtada birlikte yapın; 2^45 ≈ 3.5 × 10¹³ değerini hatırlatın (2^10 ≈ 10³). Sayılar Python ile doğrulandı.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dört soru notebook'taki alıştırmalarla aynı; çözümler notebook'un sonunda. Beşinci soru bu sunumdaki elle örneğin devamı: X = 5 ile sağa genişletme dizinin sonuna kadar gider (skor en düşük 2'ye iner, düşüş 5 ≤ X), sola genişletme k = 7'de 6'ya (düşüş 4), k = 8'de 3'e iner (düşüş 7 &gt; 5) ve durur; ancak en iyi skorlar değişmediği için HSP aynı kalır: skor 10, q[5:15]. Birinci sorunun sayısal cevabını (λ = 0.634, S ≥ 79) sınıfta birlikte kontrol 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 slaytında bir soru bırakın: BLAST ile bulduğumuz beş homoloğu aynı anda hizalayıp aralarındaki akrabalığı nasıl gösterebiliriz? Bu, gelecek haftanın çoklu hizalama ve filogenetik ağaç konusuna köprü. Öğrencilerden gelecek haftaya kadar notebook alıştırmalarını bitirmelerini ve E-değeri ile bit skoru arasındaki farkı bir cümleyle yazmalarını isteyin.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B71C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2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 Veritabanları, NCBI Entrez ve BLAST Algoritması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Milyarlarca bazın içinde benzer diziyi saniyeler içinde bulmak: indeks, tohum, genişletme ve istatistik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Python ve Biopython ile uygulamalı ders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Colab: hafta08_veritabanlari_blast.ipynb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hedefleri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Başlıca biyolojik veritabanlarını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tanımlayıcı (accession)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biçimlerini tanımak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Bio.Entrez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arama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esearch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özet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esummary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ve kayıt indirme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efetch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yapmak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BLAST'ın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→ tohum → X-drop genişletme → HSP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adımlarını elle izlemek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programlarını (blastn, blastp, blastx, tblastn, tblastx) doğru seçmek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Karlin–Altschul istatistiği: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λ'yı sayısal çözmek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E-değeri ve bit skorunu hesaplamak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mini-BLAST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yazıp kelime boyu–hassasiyet dengesini ölçmek; BLAST çıktısını okumak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23444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Ders akışı (3 saat)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42255" cy="914400"/>
        </p:xfrm>
        <a:graphic>
          <a:graphicData uri="http://schemas.openxmlformats.org/drawingml/2006/table">
            <a:tbl>
              <a:tblPr/>
              <a:tblGrid>
                <a:gridCol w="1048451"/>
                <a:gridCol w="41938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Veritabanları, tanımlayıcılar, Entrez; BLAST'ın mantığı ve Karlin–Altschul teorisi (λ, E, bit)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Mini-BLAST: indeks, tohum, X-drop genişletme (elle örnek + kod), notebook bölüm 2–3.2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Kelime boyu–hassasiyet, SW ile kesin arama, NCBI BLAST ve çıktı okuma, alıştırmalar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 veritabanları ve tanımlayıcılar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 ne var, nasıl adlandırılır, programla nasıl erişilir?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Başlıca veritabanları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295396"/>
                <a:gridCol w="4208226"/>
                <a:gridCol w="1721547"/>
                <a:gridCol w="286924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Biopython erişimi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GenBank / RefSeq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Nükleotit dizileri (RefSeq: gözden geçirilmiş, tekil)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NCBI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Entrez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(db="nucleotide")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(NCBI)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dizileri (çevrilmiş CDS'ler dahil)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NCBI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Entrez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(db="protein")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UniProtKB/Swiss-Prot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Elle açıklanmış proteinler (TrEMBL: otomatik)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 / SIB / PIR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ExPASy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 makromolekül yapıları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wwPDB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Bio.PDB.PDBList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PubMed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Literatür özetleri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NCBI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Entrez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(db="pubmed")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/ SRA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ifadesi / ham dizileme verisi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NCBI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Entrez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(db="gds", "sra")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Ökaryot genom açıklamaları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EMBL-EBI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19074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5190744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Birincil (arşiv)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veritabanları deneycinin gönderdiğini saklar (GenBank, SRA);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ikincil / küratörlü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olanlar bu veriyi birleştirip gözden geçirir (RefSeq, Swiss-Prot). Aynı gen için GenBank'ta onlarca kayıt, RefSeq'te genellikle bir kayıt vardır.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Tanımlayıcıları (accession) okumak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Tanımlayıcı, bir kaydın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adresidir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öneki kaydın türünü,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eki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sürümünü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söyler.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610451"/>
                <a:gridCol w="1957838"/>
                <a:gridCol w="652612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Tanımlayıcı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8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NM_000546.6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RefSeq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mRNA (deneysel kanıtlı), TP53, </a:t>
                      </a: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sürüm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8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NP_000537.3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RefSeq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(NM_ kaydının çevirisi)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8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XM_…</a:t>
                      </a: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18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XP_…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RefSeq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i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Tahmini</a:t>
                      </a: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(hesaplamalı) mRNA / protein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8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NC_000017.11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RefSeq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kromozom / genom (insan kromozom 17)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8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P04637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UniProtKB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p53 proteini (Swiss-Prot girdisi)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8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1TUP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p53–DNA kompleksinin 3B yapısı (4 karakter)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8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GSE…</a:t>
                      </a: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18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SRR…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/ SRA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İfade deneyi serisi / tek bir dizileme çalıştırması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Entrez yardımcıları (E-utilities)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706833"/>
                <a:gridCol w="4480437"/>
                <a:gridCol w="490714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 → çıktı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kullanım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einfo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→ veritabanı listesi / alanlar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Hangi arama alanları var? ([Gene], [Organism]…)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esearch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sorgu → </a:t>
                      </a: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listesi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(+ toplam sayı)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"TP53[Gene] AND Homo sapiens[Organism]"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esummary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ID'ler → kısa özet (başlık, uzunluk)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İndirmeden önce süzmek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efetch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ID'ler → </a:t>
                      </a: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kayıt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(FASTA, GenBank, XML)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SeqIO.read(h, "fasta")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ile ayrıştırma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elink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(db A) → ilgili ID'ler (db B)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→ protein, nükleotit → PubMed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19404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194048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kuralları: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Entrez.email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mutlaka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belirtilmeli; saniyede en fazla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istek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(API anahtarıyla 10). Yüzlerce kayıt: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usehistory="y"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retstart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parça parça indirin ve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diske kaydedin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kuralı çiğneyen IP'ler engellenir.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Entrez ile arama, özet ve indirme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56649" cy="5029200"/>
          </a:xfrm>
          <a:prstGeom prst="roundRect">
            <a:avLst>
              <a:gd name="adj" fmla="val 1455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07592"/>
            <a:ext cx="6437193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 import Entrez, SeqIO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Entrez.email = "ogrenci@ornek.edu.tr"   # kendi adresiniz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terim = ("TP53[Gene] AND Homo sapiens[Organism]"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 AND mRNA[Filter] AND RefSeq[Filter]")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Entrez.esearch(db="nucleotide", term=terim,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retmax=5) as h: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sonuc = Entrez.read(h)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idler = sonuc["IdList"]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print("Toplam:", sonuc["Count"], idler)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Entrez.esummary(db="nucleotide",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id=",".join(idler[:3])) as h: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 in Entrez.read(h):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print(d["AccessionVersion"], int(d["Length"]))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Entrez.efetch(db="nucleotide", id=idler[0],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rettype="fasta", retmode="text") as h: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kayit = SeqIO.read(h, "fasta")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print(kayit.id, len(kayit), "bp")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dili: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terim[Alan]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AND/OR/NOT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Entrez.read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XML'i Python sözlük/listesine çevirir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bloğu bağlantıyı kapatır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rettype="gb"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GenBank kaydı: özellikler (CDS, exon) de gelir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bu hücreleri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try/except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sarar: çevrimdışıyken ders akışı bozulmaz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algoritması adım adım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 → tohum → X-drop genişletme → HSP → boşluklu hizalama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Smith–Waterman yetmiyor?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84778" cy="219456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3484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71C1C"/>
                </a:solidFill>
              </a:rPr>
              <a:t>2.7 × 10⁷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5176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Hücre: 300 bazlık sorgu × ders veritabanı (88 926 baz)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53458" y="1417320"/>
            <a:ext cx="3484778" cy="219456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53458" y="1554480"/>
            <a:ext cx="3484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71C1C"/>
                </a:solidFill>
              </a:rPr>
              <a:t>9.3 × 10¹¹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490618" y="265176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Hücre: 300 bazlık sorgu × tek bir insan genomu (3.1 Gbp)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8277" y="1417320"/>
            <a:ext cx="3484778" cy="219456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58277" y="1554480"/>
            <a:ext cx="3484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71C1C"/>
                </a:solidFill>
              </a:rPr>
              <a:t>O(m·n)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5437" y="265176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SW, her veritabanı dizisi için </a:t>
            </a:r>
            <a:r>
              <a:rPr lang="en-US" sz="1400" b="1" dirty="0">
                <a:solidFill>
                  <a:srgbClr val="546E7A"/>
                </a:solidFill>
              </a:rPr>
              <a:t>tüm</a:t>
            </a:r>
            <a:r>
              <a:rPr lang="en-US" sz="1400" dirty="0">
                <a:solidFill>
                  <a:srgbClr val="546E7A"/>
                </a:solidFill>
              </a:rPr>
              <a:t> DP matrisini doldurur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86200"/>
            <a:ext cx="11094415" cy="23774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nt veritabanı binlerce insan genomu büyüklüğündedir → SW her sorgu için saatler sürer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fikri: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gerçek homologlar neredeyse her zaman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kısa, tam eşleşen bir kelime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paylaşır → önce onu hızlıca bul (indeks), DP'yi yalnızca oraya uygula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Bedel: BLAST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 değil, sezgiseldir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hız için az sayıda gerçek homoloğu kaçırmayı kabul eder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BLAST'ın adımları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889699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1732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Tohumlama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→ w-uzunluklu kelimeler (DNA w = 11, protein w = 3 + komşular)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84059" y="23317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49819" y="1417320"/>
            <a:ext cx="1889699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2971" y="141732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İndeks araması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→ veritabanı konumları (hash tablosu, bir kez kurulur)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85238" y="23317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0998" y="1417320"/>
            <a:ext cx="1889699" cy="182880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24150" y="141732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X-drop genişletme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boşluksuz, iki yöne; skor en iyiden X kadar düşünce dur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86417" y="23317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52177" y="1417320"/>
            <a:ext cx="1889699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25329" y="141732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Boşluklu hizalama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skorlu HSP'ler bant sınırlı DP ile uzatılır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87596" y="23317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53356" y="1417320"/>
            <a:ext cx="1889699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26508" y="141732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İstatistik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E-değeri, bit skoru, sıralama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11094415" cy="2468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HSP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(High-scoring Segment Pair): genişletme sonucu elde edilen boşluksuz yüksek skorlu segment çifti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Formüller: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K·m·n·e^(−λS)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 = (λS − ln K) / ln 2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m·n·2^(−S')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(Bölüm 3)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Tohum: DNA'da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eşleşen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w-kelime; proteinde BLOSUM62 skoru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olan komşu kelimeler de sayılır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Raporlama: her hedef için en iyi HSP'ler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E-değerine göre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sıralanır; E ≤ eşik (varsayılan 10) olanlar listelenir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Sezgiselliğin bedeli: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ortak bir w-kelime yoksa tohum oluşmaz → genişletme hiç başlamaz → homolog kaçabilir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1–2: kelime indeksini kurmak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ACGTACG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TACGGA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Kelime boyu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3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 indeksi (kelime → [(dizi, konum)]) kurun. Kaç girdi oluşur?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s1'de 7 − 3 + 1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pencere: ACG(0), CGT(1), GTA(2), TAC(3), ACG(4)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s2'de 6 − 3 + 1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pencere: TAC(0), ACG(1), CGG(2), GGA(3)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kelimeler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anahtarda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toplanır: ACG üç kez geçer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9 girdi,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farklı anahtar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 fazla 4³ = 64 anahtar olabilir)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Kurma maliyeti O(n); sorgu başına bir kelime araması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(hash)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1011710"/>
                <a:gridCol w="421545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Konumlar (dizi, 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(s1, 0), (s1, 4), (s2, 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(s1, 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(s1, 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(s1, 3), (s2,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(s2, 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(s2, 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 =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defaultdict(list)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9 girdi, 6 anahtar. Gerçek BLAST veritabanı bu indeksi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kez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hazırlar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makeblastdb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sonra her sorguda yeniden kullanır.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2–3: tohumları bulmak ve köşegene göre gruplamak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TACGT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 = 3) önceki indekste aranıyor. Tüm tohum isabetlerini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köşegenlerini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 = s_i − q_i) bulun.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212873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kelimeleri: TAC (q_i = 0), ACG (1), CGT (2)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 → (s1, 3): d = 3;  (s2, 0): d = 0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ACG → (s1, 0): d = −1;  (s1, 4): d = 3;  (s2, 1): d = 0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 → (s1, 1): d = −1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tohum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ancak yalnızca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farklı köşegen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(s1, 3), (s1, −1), (s2, 0) — her birinde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tohum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köşegendeki ardışık tohumlar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boşluksuz hizalamanın parçasıdır → biri genişletilince diğeri atlanır</a:t>
            </a:r>
            <a:endParaRPr lang="en-US" sz="16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1553" y="2779776"/>
          <a:ext cx="4561503" cy="914400"/>
        </p:xfrm>
        <a:graphic>
          <a:graphicData uri="http://schemas.openxmlformats.org/drawingml/2006/table">
            <a:tbl>
              <a:tblPr/>
              <a:tblGrid>
                <a:gridCol w="720237"/>
                <a:gridCol w="1440475"/>
                <a:gridCol w="960316"/>
                <a:gridCol w="720237"/>
                <a:gridCol w="72023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Mini-BLAST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kapsanan[(dizi, d)]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sözlüğüyle aynı köşegende zaten genişletilmiş bölgenin içindeki tohumları atlar;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iki-isabet kuralı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ise tam da bu "aynı köşegende iki tohum" durumunu şart koşar.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3: X-drop genişletme — sağa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(eşleşme +1, uyumsuzluk −3, X = 3)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TCAGGTACCATGAGTTCAGCTA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GAAGCTACCATGAGTACAACTG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Tohum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q_i = s_i = 8, w = 4. Tohumu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genişletin.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212873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skoru = tohum skoru = 4 × (+1) =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en iyi = 4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1…3: A/A, G/G, T/T eşleşir → skor 5, 6,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 iyi = 7, k = 3)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4: T/A uyumsuz → 7 − 3 = 4; düşüş 7 − 4 = 3 (≤ X, devam)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5, 6: C/C, A/A → 5, 6; en iyiyi geçemez (düşüş 2, 1)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7: G/A uyumsuz → 6 − 3 = 3; düşüş 7 − 3 =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&gt; X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uç, en iyi skorun elde edildiği k = 3'e geri çekilir → sağ uç q = 14</a:t>
            </a:r>
            <a:endParaRPr lang="en-US" sz="15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1553" y="2779776"/>
          <a:ext cx="4561503" cy="914400"/>
        </p:xfrm>
        <a:graphic>
          <a:graphicData uri="http://schemas.openxmlformats.org/drawingml/2006/table">
            <a:tbl>
              <a:tblPr/>
              <a:tblGrid>
                <a:gridCol w="651643"/>
                <a:gridCol w="651643"/>
                <a:gridCol w="868858"/>
                <a:gridCol w="1303286"/>
                <a:gridCol w="10860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iyi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T/T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genişletme skoru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Dikkat: k = 5–6'daki eşleşmeler HSP'ye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girmez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X-drop'un amacı kısa bir kötü bölgeyi tolere edip, toparlanma yoksa durmaktır.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3: X-drop genişletme — sola ve sonuç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(devam)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genişletmeden gelen skor 7 ile tohumu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genişletin (q_i − 1 = 7'den geriye doğru). HSP'nin sınırları ve skoru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4992487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1…3: C/C, A/A, T/T → 8, 9,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 iyi = 10, k = 3)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4: G/C → 7 (düşüş 3); k = 5, 6: G/G, A/A → 8, 9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7: C/A → 6; düşüş 10 − 6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&gt; X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dur, sol uç k = 3'e çekilir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HSP: q[5:15] = s[5:15] =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TACCATGAGT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10 baz,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10</a:t>
            </a:r>
            <a:endParaRPr lang="en-US" sz="1800" dirty="0"/>
          </a:p>
        </p:txBody>
      </p:sp>
      <p:pic>
        <p:nvPicPr>
          <p:cNvPr id="7" name="Image 0" descr="p08_xd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5" y="2779776"/>
            <a:ext cx="4483173" cy="2615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HSP skoru = 4 (tohum) + 3 (sağ) + 3 (sol)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Notebook fonksiyonu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xdrop_genislet(q, s, 8, 8, 4, X=3)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(10, 5, 15, 5)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BLAST: komşu kelimeler ve eşik 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blastp, sorgu kelimesi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 BLOSUM62 skoru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T = 13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olan tüm 3-harfli kelimeleri tohum kabul eder. Kaç komşu kelime vardır?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10192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skoru: s(P,P) + s(Q,Q) + s(G,G) = 7 + 5 + 6 =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Q→E (+2): PEG = 7 + 2 + 6 = 15;  Q→R/K (+1): PRG, PKG = 14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Q→N/D/H/M/S (0): PNG, PDG, PHG, PMG, PSG = 13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veya G'yi değiştirmek pahalı: ör. PQA = 7 + 5 + 0 = 12 &lt; 13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20³ = 8000 kelimeden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9'u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eşiği geçer; T = 11 → 21, T = 15 → 2</a:t>
            </a:r>
            <a:endParaRPr lang="en-US" sz="16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779776"/>
          <a:ext cx="4672447" cy="914400"/>
        </p:xfrm>
        <a:graphic>
          <a:graphicData uri="http://schemas.openxmlformats.org/drawingml/2006/table">
            <a:tbl>
              <a:tblPr/>
              <a:tblGrid>
                <a:gridCol w="1401734"/>
                <a:gridCol w="934489"/>
                <a:gridCol w="1401734"/>
                <a:gridCol w="93448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Proteinde tam eşleşme yerine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komşuluk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kullanılır: T küçüldükçe hassasiyet artar ama tohum sayısı (iş yükü) da artar — DNA'daki kelime boyu w ile aynı denge.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programları: hangisini seçmeli?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243340"/>
                <a:gridCol w="2199755"/>
                <a:gridCol w="2199755"/>
                <a:gridCol w="1817189"/>
                <a:gridCol w="363437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Varsayılan 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kullanım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Nükleotit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Nükleotit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(megablast: 28)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Primer, yakın tür geni, kontaminasyon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(+ T eşiği)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işlevi, homolog protein ailesi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Nükleotit → 6 çerçeve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bir transkriptin ne kodladığı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tblastn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Nükleotit → 6 çerçeve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Açıklanmamış genomda gen bulma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tblastx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Nükleotit → 6 çerçeve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Nükleotit → 6 çerçeve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Uzak nükleotit homolojisi (en yavaş)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97128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971288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kodlayan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dizilerde mümkünse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düzeyinde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arayın. Kodon dejenerasyonu nedeniyle DNA ~%25 rastgele özdeşlikle gürültülüdür; protein dizisi evrimde daha yavaş değişir. tblastx 6 × 6 =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çerçeve çiftini karşılaştırır.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BLAST'ın ek hızlandırmaları ve filtreleri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İki-isabet kuralı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01368"/>
            <a:ext cx="3332378" cy="345643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köşegende A (≈ 40) konum içinde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tohum gerekir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tohumların çoğu rastgele → genişletme sayısı büyük ölçüde azalır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Kaybı telafi için T biraz düşürülür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2.0 (1997): aynı hassasiyette ≈ 3 kat hız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38218" y="123444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1098" y="1344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Boşluklu genişletme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429658" y="1801368"/>
            <a:ext cx="3332378" cy="345643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skorlu HSP'ler bant sınırlı DP ile boşluklu uzatılır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Mini-BLAST'ımızda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indelli dizide HSP kısa kalır (db_102)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yalnızca HSP çevresindeki dar bir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bantta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yapılır → SW'den çok daha ucuz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797" y="123444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FDECE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344168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</a:rPr>
              <a:t>Düşük karmaşıklık maskeleme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19237" y="1801368"/>
            <a:ext cx="3332378" cy="345643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AAAAAA…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CACACA…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gibi tekrarlar anlamsız isabet üretir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DNA: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protein: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filtresi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Maskeli bölgeler küçük harfle gösterilir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Maskeleme yalnızca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tohumlamayı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engeller; genişletme bu bölgelerden geçebilir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üç özellik, BLAST'ın hem hızlı hem de kullanışlı olmasının nedenidir. Mini-BLAST'ımız yalnızca çekirdek fikri (indeks + tohum + X-drop) içerir.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Karlin–Altschul istatistiği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skor ne zaman "rastlantı değil" denecek kadar yüksektir? λ, K, E-değeri, bit skoru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formüller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λ'nın tanımı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23444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p_a p_b e^(λ·s(a,b)) = 1  (λ &gt; 0)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23444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skor negatif olmalı: Σ p_a p_b s(a,b) &lt; 0; aksi halde yerel hizalama anlamsız uzar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886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886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E-değeri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0886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K · m · n · e^(−λS)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30886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Skoru ≥ S olan </a:t>
            </a: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HSP'lerin beklenen sayısı; m: sorgu, n: veritabanı uzunluğu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8328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Bit skoru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38328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 = (λS − ln K) / ln 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38328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Puanlama sisteminden bağımsız ölçek; farklı matrislerle yapılan aramalar karşılaştırılabilir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5770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5770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E'nin bit ile ifadesi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45770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m · n · 2^(−S')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45770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+1 bit, E'yi </a:t>
            </a: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yarıya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indirir; P = 1 − e^(−E) ≈ E (E küçükse)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rastgele yerel skor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Gumbel (aşırı değer)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dağılımına uyar; normal dağılım değildir. E, skorla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üstel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azalır, arama uzayı (m·n) ile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artar.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λ'yı sayısal olarak bulmak (ikiye bölme)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95528"/>
          </a:xfrm>
          <a:prstGeom prst="roundRect">
            <a:avLst>
              <a:gd name="adj" fmla="val 9195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+1/−3 puanlama, eşit baz frekansları: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0.25·e^λ + 0.75·e^(−3λ) = 1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denkleminin pozitif kökü λ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5990984" cy="290779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f(λ) = 0.25e^λ + 0.75e^(−3λ). λ = 0 her zaman bir köktür (f(0) = 1);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kökü arıyoruz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1.3: 0.9173 + 0.0152 = 0.9325 &lt; 1;  λ = 1.4: 1.0138 + 0.0112 = 1.0250 &gt; 1 → kök [1.3, 1.4]'te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nokta 1.35: f = 0.9774 &lt; 1 → [1.35, 1.4];  1.375: f = 1.0009 &gt; 1 → [1.35, 1.375]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1.3625: 0.9891;  1.36875: 0.9950;  1.371875: 0.9979 → [1.3719, 1.375]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 aralığı yarıya indirir; 10⁻⁶ hassasiyet için ≈ 17 adım. </a:t>
            </a:r>
            <a:r>
              <a:rPr lang="en-US" sz="16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scipy.optimize.brentq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1.3741</a:t>
            </a:r>
            <a:endParaRPr lang="en-US" sz="16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9664" y="2487168"/>
          <a:ext cx="4783391" cy="914400"/>
        </p:xfrm>
        <a:graphic>
          <a:graphicData uri="http://schemas.openxmlformats.org/drawingml/2006/table">
            <a:tbl>
              <a:tblPr/>
              <a:tblGrid>
                <a:gridCol w="1195848"/>
                <a:gridCol w="1046367"/>
                <a:gridCol w="1644291"/>
                <a:gridCol w="89688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0.25e^λ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0.75e^(−3λ)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f(λ)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1.0138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1.36875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1.371875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1.3741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≈ 1.374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(nat/puan). Bu puanlama için NCBI tablosundaki K ≈ 0.711. Aynı yöntem: +1/−2 → 1.333, +1/−1 → 1.099, +2/−3 → 0.634.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λ, E-değeri ve bit skoru: Python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937760"/>
            <a:ext cx="6656649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010912"/>
            <a:ext cx="6437193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+1/-3 -&gt; λ = 1.374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+1/-2 -&gt; λ = 1.333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+1/-1 -&gt; λ = 1.099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+2/-3 -&gt; λ = 0.634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2.67e-10, bit = 60.0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429000"/>
          </a:xfrm>
          <a:prstGeom prst="roundRect">
            <a:avLst>
              <a:gd name="adj" fmla="val 2133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scipy.optimize import brentq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lambda_bul(eslesme, uyumsuz, p=0.25):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 = lambda L: (p * math.exp(L * eslesme)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+ (1 - p) * math.exp(L * uyumsuz) - 1)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brentq(f, 1e-6, 10)     # 0 kökünü dışla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e, u in [(1, -3), (1, -2), (1, -1), (2, -3)]: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print(f"{e:+d}/{u:+d} -&gt; λ = {lambda_bul(e, u):.3f}")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LAM, K = lambda_bul(1, -3), 0.711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e_degeri = lambda S, m, n: K * m * n * math.exp(-LAM * S)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bit_skoru = lambda S: (LAM * S - math.log(K)) / math.log(2)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print(f"E = {e_degeri(30, 300, 1e6):.2e}, 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f"bit = {bit_skoru(30):.1f}")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Uyumsuzluk cezası azaldıkça λ küçülür: her puan daha az bilgi taşır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+2/−3 için λ yaklaşık yarı: puanlar iki katına çıktı, λ·s neredeyse aynı kaldı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 değişmezliği: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tüm skorlar c ile çarpılırsa λ → λ/c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Puanlama sistemi → λ: yorum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1613733"/>
                <a:gridCol w="2118025"/>
                <a:gridCol w="1714591"/>
                <a:gridCol w="342918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Eşleşme / uyumsuzluk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(nat/puan)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 skor/konum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özdeşlik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Uygun olduğu durum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/ −3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%99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yakın diziler (megablast)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/ −2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%95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Yakın diziler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/ −1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%75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uzak diziler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/ −3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%89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blastn varsayılanlarından biri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82524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38252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özdeşlik q = gerçek HSP'lerde beklenen eşleşme oranı q = p·e^(λ·s_eş) (ör. +1/−3: 0.25 × e^1.374 ≈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Uyumsuzluk cezası sert oldukça puanlama yalnızca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neredeyse özdeş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bölgeleri ödüllendirir.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E-değeri ve bit skoru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Puanlama +1/−3 (λ = 1.374, K = 0.711). Sorgu m = 300, veritabanı n = 10⁶ baz, HSP skoru S = 30. E-değeri ve bit skoru nedir? Veritabanı 10 kat büyürse ne değişir?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11094415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uzayı: K·m·n = 0.711 × 300 × 10⁶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2.133 × 10⁸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Üstel terim: e^(−1.374 × 30) = e^(−41.22)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 × 10⁻¹⁸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2.133 × 10⁸ × 1.25 × 10⁻¹⁸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× 10⁻¹⁰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skoru: (41.22 − ln 0.711) / ln 2 = (41.22 + 0.341) / 0.693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 bit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Kontrol: m·n·2^(−60) = 3 × 10⁸ / 1.15 × 10¹⁸ ≈ 2.7 × 10⁻¹⁰ ✓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→ 10⁷: 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artar (2.7 × 10⁻⁹); bit skoru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değişmez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(60.0)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≈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× 10⁻¹⁰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S' ≈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bit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 veritabanı boyutuna bağlıdır, bit skoru bağlı değildir → farklı veritabanlarındaki aramaları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skoruyla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karşılaştırın.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veritabanında anlamlılık eşiği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Notebook'taki veri: m = 300, n = 88 926 baz.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&lt; 0.001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 gereken minimum ham skor nedir? Bu eşik kaç bite karşılık gelir?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K·m·n·e^(−λS) &lt; 10⁻³ → S &gt; ln(K·m·n / 10⁻³) / λ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K·m·n = 0.711 × 300 × 88 926 = 1.897 × 10⁷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ln(1.897 × 10⁷ / 10⁻³) = ln(1.897 × 10¹⁰) = 23.67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&gt; 23.67 / 1.374 = 17.22 → tam sayı skor: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18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Kontrol: E(17) = 1.4 × 10⁻³ ✗;  E(18) = 3.4 × 10⁻⁴ ✓; bit(18) ≈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10 kat olsaydı eşik 18.9 →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yalnızca ln 10 / λ ≈ 1.7 puan artar</a:t>
            </a:r>
            <a:endParaRPr lang="en-US" sz="1650" dirty="0"/>
          </a:p>
        </p:txBody>
      </p:sp>
      <p:pic>
        <p:nvPicPr>
          <p:cNvPr id="7" name="Image 0" descr="g08_e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5888" y="2903088"/>
            <a:ext cx="5227168" cy="2368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18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(notebook çıktısı: "gereken minimum ham skor: 18"). E, S ile üstel düştüğü için veritabanının büyümesi eşiği yalnızca logaritmik olarak yükseltir.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Mini-BLAST ve sonuçların okunması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dizilik ders veritabanında kendi BLAST'ımız; kelime boyu, Smith–Waterman karşılaştırması, NCBI çıktısı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Mini-BLAST (1): indeks ve X-drop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878537" cy="5029200"/>
          </a:xfrm>
          <a:prstGeom prst="roundRect">
            <a:avLst>
              <a:gd name="adj" fmla="val 1455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07592"/>
            <a:ext cx="6659081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ESLESME, UYUMSUZ = 1, -3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indeks_olustur(vt, w):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 = defaultdict(list)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sid, s in vt.items():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range(len(s) - w + 1):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ind[s[i:i + w]].append((sid, i))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ind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xdrop_genislet(q, s, qi, si, w, X=10):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skor = w * ESLESME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en_iyi, sag, cur, k = skor, 0, skor, 0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qi + w + k &lt; len(q) and si + w + k &lt; len(s):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 += (ESLESME if q[qi+w+k] == s[si+w+k]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else UYUMSUZ)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+= 1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cur &gt; en_iyi: en_iyi, sag = cur, k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en_iyi - cur &gt; X: break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sola: aynı döngü, q[qi-k-1] ile (en_iyi'den başlar)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en_iyi, qi - sol, qi + w + sag, si - sol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47217" y="1234440"/>
            <a:ext cx="3895838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indeks_olustur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O(n) bellek ve zaman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anlık skor,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en_iyi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şimdiye kadarki en yüksek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 iyi skorun elde edildiği uzaklık → HSP sınırı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Dönüş: (skor, sorgu başı, sorgu sonu, hedef başı); son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dahil değil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örneğimiz: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(10, 5, 15, 5)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Mini-BLAST (2): tohum döngüsü ve istatistik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513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742432"/>
            <a:ext cx="7100426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815584"/>
            <a:ext cx="688097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w=11: 374 tohum isabeti, 0.19 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100426" cy="4233672"/>
          </a:xfrm>
          <a:prstGeom prst="roundRect">
            <a:avLst>
              <a:gd name="adj" fmla="val 1728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880970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mini_blast(sorgu, vt, w=11, X=10, e_esik=10):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 = indeks_olustur(vt, w)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sum(map(len, vt.values()))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en_iyi, kapsanan, tohum_sayisi = {}, {}, 0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qi in range(len(sorgu) - w + 1):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sid, si in ind.get(sorgu[qi:qi + w], []):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tohum_sayisi += 1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kosegen = (sid, si - qi)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qi &lt; kapsanan.get(kosegen, -1):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          # önceki HSP'nin içinde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skor, qb, qs, sb = xdrop_genislet(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sorgu, vt[sid], qi, si, w, X)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kapsanan[kosegen] = qs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sid not in en_iyi or skor &gt; en_iyi[sid][0]: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en_iyi[sid] = (skor, qb, qs, sb)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her dizi için en iyi HSP -&gt; E, bit; E'ye göre sırala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df, tohum_sayisi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sonuc11, n_tohum = mini_blast(sorgu, vt, w=11)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969106" y="1234440"/>
            <a:ext cx="3673949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döngü: sorgunun her kelimesi; iç döngü: indeksteki isabetler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kapsanan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köşegen başına genişletilmiş bölgenin sonu → gereksiz genişletmeyi önler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veritabanı dizisi için yalnızca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HSP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tutulur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E-değeri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veritabanı uzunluğu (n = 88 926) ile hesaplanır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Mini-BLAST sonuçları (w = 11, X = 10)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331330"/>
                <a:gridCol w="998497"/>
                <a:gridCol w="1109442"/>
                <a:gridCol w="1886051"/>
                <a:gridCol w="1775106"/>
                <a:gridCol w="1331330"/>
                <a:gridCol w="26626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E-değeri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Sorgu [baş:son)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baş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db_005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× 10⁻¹⁵¹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%5 mut.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db_023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 × 10⁻¹⁰⁰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0:279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%10 mut.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db_047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 × 10⁻¹⁴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106:244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%20 mut.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db_102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× 10⁻¹³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%12 + %3 indel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db_081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 × 10⁻¹⁰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236:272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%30 mut.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db_116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286:298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db_045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174:185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db_078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87:98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64515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645152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&lt; 0.001 eşiği 5 gerçek homoloğu ayırır, yanlış pozitif yok. db_102'de HSP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65 baz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boşluksuz genişletme ilk indelde durur. %45 mutasyonlu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db_133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listede hiç yok (E &gt; 10).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boyu w: hız ile hassasiyet dengesi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 15 → 7 iken tohum sayısı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kat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artıyor, ama bu küçük veride bulunan homolog sayısı değişmiyor. Milyarlarca bazlık veritabanlarında bu fark dakikalar ile saatler arasındaki farktır. %45 mutasyonlu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db_133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hiçbir w ile bulunamıyor.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434761" cy="914400"/>
        </p:xfrm>
        <a:graphic>
          <a:graphicData uri="http://schemas.openxmlformats.org/drawingml/2006/table">
            <a:tbl>
              <a:tblPr/>
              <a:tblGrid>
                <a:gridCol w="609431"/>
                <a:gridCol w="1305677"/>
                <a:gridCol w="1908298"/>
                <a:gridCol w="1406114"/>
                <a:gridCol w="120524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Tohum isabeti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Bulunan (E &lt; 0.001)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Yanlış pozitif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Kaçan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db_133 (%45)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db_133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db_133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db_133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08_tohu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3441" y="2153995"/>
            <a:ext cx="4339614" cy="396733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 arama: tüm veritabanında Smith–Waterman</a:t>
            </a:r>
            <a:endParaRPr lang="en-US" sz="3000" dirty="0"/>
          </a:p>
        </p:txBody>
      </p:sp>
      <p:pic>
        <p:nvPicPr>
          <p:cNvPr id="3" name="Image 0" descr="p08_sw_skor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6199"/>
            <a:ext cx="7100426" cy="4605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69106" y="1234440"/>
            <a:ext cx="3673949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(+1/−3, boşluk −5/−2) 150 dizinin tümüyle: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 s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(küçük veri!)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 olmayan 144 dizi: skor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5 homolog: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28–264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db_102: SW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mini-BLAST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fark boşluklu hizalamadan (indel)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db_133 (%45 mut.): SW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rastgele dağılımın ortasında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sınır BLAST'ın sezgiselliği değil,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sinyalin kendisi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uzak homologlar protein düzeyinde aranmalı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çıktısını okumak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4437766"/>
                <a:gridCol w="443776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yorum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E-value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skor ya da daha iyisinin rastlantıyla beklenen sayısı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10⁻⁵ güçlü homoloji kanıtı; ≥ 1 rastlantı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score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Veritabanından bağımsız normalize skor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 genellikle anlamlı; aramalar arası karşılaştırma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Identity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Hizalanan bölgedeki özdeş konum oranı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Proteinde &lt; %25: "alacakaranlık bölgesi"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coverage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Sorgunun hizalanan kısmının oranı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%100 özdeş ama %10 kapsama → kısa ortak motif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length / gaps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HSP uzunluğu, boşluk sayısı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 HSP'lerde yüksek özdeşlik yanıltıcıdır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 / frame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Plus/Minus iplik; blastx'te okuma çerçevesi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Minus → ters tamamlayıcıda eşleşme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BLAST'ı Biopython'dan çalıştırmak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56649" cy="5029200"/>
          </a:xfrm>
          <a:prstGeom prst="roundRect">
            <a:avLst>
              <a:gd name="adj" fmla="val 1455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07592"/>
            <a:ext cx="6437193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CALISTIR = False    # True: internet gerekir, 1-5 dk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CALISTIR: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Bio.Blast import NCBIWWW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Bio import Blast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protein = ("MEEPQSDPSVEPPLSQETFSDLWKLLPEN"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"NVLSPLPSQAMDDLMLSPDDIEQWFTEDPGP")  # p53 N-ucu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NCBIWWW.qblast("blastp", "swissprot", protein,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hitlist_size=10) as h: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open("blast_sonuc.xml", "w").write(h.read())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open("blast_sonuc.xml", "rb") as h: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kayitlar = Blast.read(h)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hit in kayitlar: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hsp = hit[0]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print(hit.target.id,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f"E={hsp.annotations['evalue']:.1e}",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f"bit={hsp.annotations['bit score']:.1f}")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qblast(program, veritabanı, dizi)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NCBI kuyruğuna iş gönderir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önce diske yazın, sonra ayrıştırın (tekrar sorgu atmayın)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Blast.read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Biopython ≥ 1.83'ün yeni ayrıştırıcısı; her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hedef dizi,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hit[0]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iyi HSP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işler için yerel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BLAST+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makeblastdb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blastn -outfmt 6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yapılan hatalar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E-değerini p-değeri gibi okumak</a:t>
            </a:r>
            <a:endParaRPr lang="en-US" sz="2200" dirty="0"/>
          </a:p>
          <a:p>
            <a:pPr lvl="1" marL="406400" indent="-2032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bir beklenen sayıdır, 1'i aşabilir (E = 5.17); yalnızca E küçükken P ≈ E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veritabanlarındaki E-değerlerini karşılaştırmak</a:t>
            </a:r>
            <a:endParaRPr lang="en-US" sz="2200" dirty="0"/>
          </a:p>
          <a:p>
            <a:pPr lvl="1" marL="406400" indent="-2032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hizalama büyük veritabanında daha büyük E alır → bit skorunu kullanın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Kodlayan diziyi yalnızca blastn ile aramak</a:t>
            </a:r>
            <a:endParaRPr lang="en-US" sz="2200" dirty="0"/>
          </a:p>
          <a:p>
            <a:pPr lvl="1" marL="406400" indent="-2032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 homologlar DNA'da kaybolur (db_133); blastx / tblastx deneyin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HSP'yi X-drop'un durduğu yere kadar almak</a:t>
            </a:r>
            <a:endParaRPr lang="en-US" sz="2200" dirty="0"/>
          </a:p>
          <a:p>
            <a:pPr lvl="1" marL="406400" indent="-2032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HSP, en iyi skorun elde edildiği noktada biter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karmaşıklık filtresini kapatmak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tekrar bölgelerinden yüzlerce sahte isabet</a:t>
            </a:r>
            <a:endParaRPr lang="en-US" sz="22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Sürümsüz tanımlayıcı yazmak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2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NM_000546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yerine </a:t>
            </a:r>
            <a:r>
              <a:rPr lang="en-US" sz="22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NM_000546.6</a:t>
            </a:r>
            <a:r>
              <a:rPr lang="en-US" sz="2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sonuç tekrarlanamaz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tipi soru: iki isabeti karşılaştırmak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aa'lık bir sorgu, n = 10⁹ harflik bir veritabanında aranıyor. İsabet A: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bit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İsabet B (+1/−3 puanlamalı başka bir arama, aynı m·n): ham skor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40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Hangisi daha anlamlı?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11094415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 = m·n·2^(−45) = 4 × 10¹¹ / 3.52 × 10¹³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B'yi bite çevir: S' = (1.374 × 40 + 0.341) / 0.693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 bit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E = 4 × 10¹¹ × 2^(−79.8)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× 10⁻¹³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skorlar (45 ile 40)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karşılaştırılamaz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farklı puanlama sistemleri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A'nın E'si 0.011: 100 aramada ~1 kez rastlantıyla görülür → zayıf kanıt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çok daha anlamlı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(79.8 bit ≫ 45 bit; E ≈ 10⁻¹³ ≪ 10⁻²). Karşılaştırmayı her zaman bit skoru veya aynı arama uzayındaki E-değeriyle yapın.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Laboratuvar alıştırmaları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hafta08_veritabanlari_blast.ipynb  —  çözümler notebook'un sonunda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+2/−3 puanlama için λ'yı ikiye bölme ile bulun (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0.634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K = 0.62, m = 500, n = 10⁹ için E = 10⁻¹⁰ sağlayan minimum ham skoru hesaplayın (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 → 79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10 kat büyürse aynı skorlu bir isabetin E-değeri ve bit skoru nasıl değişir? (E × 10, bit sabit)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mini_blast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iki-isabet kuralı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ekleyin (aynı köşegende ≤ A = 40 uzaklıkta iki tohum). w = 9 için genişletme sayısını tek-isabetle karşılaştırın (notebook: 465 genişletme).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Sorgunun ters tamamlayıcısıyla arayın (E &lt; 0.001 isabet: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mini_blast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'ı iki ipliği tarayacak şekilde güncelleyin.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Elle: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TCAGGTACCATGAGTTCAGCTA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GAAGCTACCATGAGTACAACTG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tohum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X = 5 ile genişletmeyi tekrarlayın. HSP değişir mi?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8: Veritabanları ve BLAST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Özet ve sonraki hafta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Veritabanları birincil (GenBank, SRA) ve küratörlü (RefSeq, Swiss-Prot); tanımlayıcıyı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sürümüyle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yazın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Entrez: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esearch → esummary → efetch → SeqIO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e-posta ve hız sınırı kuralları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=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+ tohum + X-drop genişletme + (boşluklu) HSP + istatistik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sezgisel, SW'den kat kat hızlı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λ: Σ p_a p_b e^(λs) = 1'in pozitif kökü;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K·m·n·e^(−λS)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bit skoru veritabanından bağımsız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w / T → daha hassas ama daha yavaş; uzak homologlar için protein düzeyinde arayın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747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53212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DD2"/>
                </a:solidFill>
              </a:rPr>
              <a:t>Sonraki hafta  </a:t>
            </a:r>
            <a:r>
              <a:rPr lang="en-US" sz="1600" dirty="0">
                <a:solidFill>
                  <a:srgbClr val="FFFFFF"/>
                </a:solidFill>
              </a:rPr>
              <a:t>Çoklu dizi hizalama (MSA), SP skoru, evrimsel uzaklıklar (Jukes–Cantor), UPGMA ve Komşu Birleştirme ile filogenetik ağaçlar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8: Biyolojik Veritabanları, NCBI Entrez ve BLAST Algoritması</dc:title>
  <dc:subject>PptxGenJS Presentation</dc:subject>
  <dc:creator>Biyoenformatiğe Giriş</dc:creator>
  <cp:lastModifiedBy>Biyoenformatiğe Giriş</cp:lastModifiedBy>
  <cp:revision>1</cp:revision>
  <dcterms:created xsi:type="dcterms:W3CDTF">2026-09-23T18:55:40Z</dcterms:created>
  <dcterms:modified xsi:type="dcterms:W3CDTF">2026-09-23T18:55:40Z</dcterms:modified>
</cp:coreProperties>
</file>