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Dönemin son haftası. Sinir ağlarını sıfırdan, elle çözülmüş bir örnekle kuracağız; ardından 5. haftadaki PSSM taramasının aslında bir evrişim olduğunu gösterip küçük bir CNN eğiteceğiz.
Son saat derin öğrenmenin biyoenformatikteki yerine ve dönem projesine ayrıldı.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saat tamamen tahtada geçebilir: ağın çizimi ve sayıların tek tek yerine konması. İkinci saatte notebook'u canlı çalıştırın; CNN eğitimi CPU'da birkaç saniye sürüyor, GPU gerekmiyor.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saat büyük ölçüde tahtada geçecek. Öğrencilerden kâğıt kalem hazırlamalarını isteyin; ileri ve geri geçişi birlikte hesaplayacağız.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tek bir nöronu çizin: girdiler, ağırlıklar, toplama düğümü, aktivasyon. Sonra lojistik regresyonun tam olarak bu olduğunu söyleyin. XOR örneğini sorun: (0,0) ve (1,1) bir sınıf, (0,1) ve (1,0) diğer sınıf; tek bir doğru bunu ayıramaz. Evrensel yaklaşım teoreminin 'öğrenilebilir' demediğini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Kesikli çizgiler türevler. Geri yayılımda her katmanda türevler çarpılır: 10 sigmoid katmanında en iyi durumda 0.25¹⁰ ≈ 10⁻⁶. ReLU'nun yaygınlaşmasının nedeni budur. ReLU'nun sorunu: z &lt; 0 bölgesinde türev 0, nöron 'ölür'; birazdan örneğimizde tam olarak bunu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Diyagramı tahtaya çizin ve sayıları öğrencilerle birlikte yerleştirin. Satır = girdi, sütun = nöron kuralı xW çarpımıyla uyumlu; PyTorch'un nn.Linear'ı ağırlığı transpoze saklar (çıkış × girdi), bu bir karışıklık kaynağıdır. Kırmızı oklar gradyanın akacağı tek yolu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− y türevinin güzelliğini gösterin: σ'(z) = p(1 − p) terimi çapraz entropinin türeviyle sadeleşir. Tahtada türetin: ∂L/∂p = −1/p, ∂p/∂z = p(1−p), çarpım = −(1 − p) = p − 1. Kapalı nörona giden ağırlığın gradyanının sıfır olmasını 'ölü ReLU' ile bağlayın.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alıştırma 1'in tam çözümü (notebook çözümü: ∂L/∂h₁ = −0.332, 1. sütun (0.666, 0.3)). Öğrencilere iki 'kapı' kavramını verin: girdi sıfırsa o girdiden çıkan ağırlıklar, ReLU kapalıysa o nörona gelen ağırlıklar güncellenmez. Tüm gradyanlar eski ağırlıklarla hesaplanır, güncelleme en sonda birlikte yapılır.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slayt, bir önceki iki örneğin tek tabloda özeti: her ağırlığın gradyanı, çıkıştan o ağırlığa giden yol üzerindeki yerel türevlerin çarpımıdır. Tahtada ağ şemasının üzerine her kenarın yerel türevini yazın ve öğrencilerden W₁[1,1] için yolu parmaklarıyla izlemelerini isteyin. Sorun: ağ daha derin olsaydı ve her katmanda sigmoid (türev ≤ 0.25) olsaydı çarpım ne olurdu? Kaybolan gradyan sorununa buradan bağlanın.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 ders notundaki örneği tamamlıyor: notta yalnız w₂ güncellenmişti (p = 0.677). Tam adımda p = 0.780'e çıkıyor. Öğrencilere sorun: η = 5 alsaydık ne olurdu? Adım çok büyük olur, doğrusal yaklaşım geçerliliğini yitirir; bir sonraki örnek bunu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Kodun satır satır tahtadaki hesapla eşleştiğini gösterin; öğrencilerin kendi elle hesaplarını bu hücreyle denetlemelerini önerin. np.outer ile gradyan matrisinin boyutunun W₁ ile aynı (2 × 2) olduğunu vurgulayın: her ağırlığın bir gradyanı vardır. Sonraki slaytta aynı sonucu PyTorch'un otomatik türeviyle alacağız.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Autograd'ın sihir olmadığını, tam olarak tahtada yaptığımız işlemi otomatik yaptığını vurgulayın. BCEWithLogitsLoss'un neden tercih edildiğini söyleyin: çok büyük negatif z'de sigmoid 0'a yuvarlanır ve log(0) = −∞ olur; birleşik formül bunu önler. Çıktının tensor gösterimi kısaltılmıştır (dtype bilgisi atlandı).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Sağ panelde 0.1 ve 0.9 eğrilerinin çakışmasına dikkat çekin: ikisinin de çarpanı mutlak değerce 0.8, biri tek yönden, diğeri salınarak yaklaşıyor. Genel kural: η, eğriliğin (ikinci türev, burada 2) tersinin iki katından küçük olmalı. Notebook'ta Adam ve lr = 3·10⁻³ kullandık.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Mini-yığının neden kullanıldığını açıklayın: tüm veriyle gradyan pahalı, tek örnekle gürültülü; yığın ikisinin dengesi ve GPU'da paralel. 2800/64 = 43.75 → 44 yığın. Adam'ı ayrıntıya girmeden 'her parametre için ayrı öğrenme hızı' diye özetleyin.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saat: notebook'un 2–4. bölümleri. Veri sentetik: pozitiflerde E-box çekirdekli 10 bazlık motif rastgele konumda, negatiflerin %35'inde aynı bazların karıştırılmış hâli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öğrencilere sorun: MLP daha güçlü bir model, neden LR'yi geçemedi? Cevap: temsil. k-mer frekansları konum bilgisini ve 10 bazlık motifin bütünlüğünü kaybediyor; karıştırılmış motif içeren negatifler aynı k-mer'leri taşıyor. 5-mer'de 1024 özellik / 2800 örnek: aşırı öğrenme riski artıyor. Ana mesaj: temsil, modelden önemlidir.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Ağırlık paylaşımı kavramını vurgulayın: motif dizinin neresinde olursa olsun aynı 48 ağırlık onu tanır. Tam bağlantılı bir ağ one-hot girdide (404 özellik) her konum için ayrı ağırlık öğrenmek zorunda kalırdı. Parametre sayısı notebook'ta sum(p.numel()) ile doğrulandı: 801.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Derin öğrenme kütüphanelerindeki 'convolution' matematiksel olarak çapraz korelasyondur (filtre ters çevrilmez); bu ayrıntı sonucu değiştirmez çünkü filtre öğrenilir. Bias terimi PSSM'deki eşik gibi davranır: ReLU ile birlikte 'skor eşikten büyükse ateşle' anlamına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filtreyi kâğıt şerit gibi dizi üzerinde kaydırın. Skorun simetrik çıkmasına dikkat çekin (−2, −6, 6, −6, −2): CACGTG palindromik bir dizidir (ters tamamlayıcısı kendisi). Öğrencilere konum 4'ü (CGTGAA) kendilerinin hesaplamasını söyleyin: C ve G eşleşir → −2.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One-hot matriste her sütunda tek bir koyu hücre var; filtreyle eleman eleman çarpıp toplamak, yalnızca dizideki bazlara karşılık gelen filtre değerlerini toplamak demek. Bu yüzden evrişim, PSSM'de her konumda o bazın skorunu okuyup toplamakla aynıdır. Koyu çubuklar bir sonraki örneğin sonucu.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Notebook'taki doğrulama hücresini gösterin. Bu slayt haftanın kavramsal doruğu: 5. haftada elle kurduğumuz PSSM, bir CNN filtresinin özel bir hâli. Fark: PSSM hizalanmış bilinen örneklerden sayılarak, CNN filtresi etiketlerden gradyan inişiyle öğrenilir.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mimari seçiminin biyolojik varsayım olduğunu gösteriyor. Öğrencilere sorun: bir promotörde aynı TF'nin üç bağlanma yeri olması etkiyi artırıyorsa hangi havuzlama daha uygun olurdu? (Toplam ya da k-maks.)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f15_cnn şemasını tahtaya kabaca çizin: one-hot matris, kayan kırmızı pencere, özellik haritaları, 16 değerlik vektör, tek çıkış. PyTorch'ta Conv1d kanal ekseninin ikinci boyut olduğunu (N, C, L) vurgulayın; bu yüzden one-hot matrisin transpozunu alıyoruz.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Modeli eğitip ardından içini açacağız: filtreler ve in silico mutajenez. Kara kutu eleştirisine yanıt olarak yorumlama araçlarını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forward'daki boyut yorumlarını yüksek sesle okuyun; boyut takibi derin öğrenmede en sık hata kaynağıdır. Öğrencilere sorun: max yerine mean yazsak ne değişir? Bir önceki bölümde gördük: AUC 0.93'ten 0.61'e düşer.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zero_grad'ın unutulması klasik hatadır: PyTorch gradyanları biriktirir, sonraki adımlar yanlış olur. Notebook'taki orijinal kod state_dict'i clone ile kopyalıyor; burada kısalık için deepcopy yazdık, ikisi de aynı işi görür. Seçimin doğrulama kümesiyle yapıldığını, 14. haftadaki kurala uygun olduğunu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notebook'taki aynı tohumla (torch.manual_seed(0)) yeniden üretildi ve notebook sonuçlarıyla birebir aynı: en iyi doğrulama AUC 0.930, test AUC 0.924. 17. epok civarından sonra eğitim kaybının doğrulama kaybının altına inmesi aşırı öğrenmenin başlangıcı. İlk epoklarda eğitim kaybının doğrulamadan yüksek olması Dropout'tan kaynaklanır.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filtre 4 × 12'lik bir ağırlık matrisi; sütun başına en yüksek bazı okuyunca bir konsensüs dizisi elde ediliyor. Üç filtre de verinin üretiminde kullanılan NCCACGTGGN motifinin çekirdeğini içeriyor.
Model motifi hiç görmedi; yalnız 0/1 etiketlerinden öğrendi. Filtre 7'nin motifi kaydırılmış biçimde içermesi normaldir: 12 bazlık filtre 10 bazlık motifi farklı hizalarda yakalayabilir. Filtreler bir logo grafiğine çevrilip JASPAR'daki bilinen motiflerle (TomTom) karşılaştırılabilir.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Yöntem: 101 konum × 3 alternatif baz = 303 mutant dizi için tahmin; Δp = p(mutant) − p₀. Üst panel her konumdaki en büyük düşüş.
Not: notebook'taki orijinal grafikte (g15_mutajenez) başlık 'mavi = düşüren' diyor ama RdBu renk haritası negatif değerleri kırmızı çiziyor. Bu slayttaki grafik aynı modelle yeniden üretildi ve renk başlıkla tutarlı hâle getirildi; yalnız motif çevresi (28–51) gösteriliyor.
Bu yöntem varyant etkisi tahmininin temeli: bir hastadaki tek nükleotit değişiminin bağlanmayı bozup bozmadığını model üzerinden sorabiliriz.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veri deneyi öğrencilerin sezgisine ters düşebilir: 'derin öğrenme çok veri ister' denir. Burada CNN'in az parametresi ve doğru tümevarımsal yanlılığı sayesinde 280 diziyle bile 4-mer LR'yi geçtiğini görüyoruz. Veri artırmanın kazanç sağlamamasının nedeni CACGTG'nin kendi ters tamamlayıcısı olması.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satırı dersin bir haftasına bağlayın; bu dönemin bir özeti gibi de okunabilir. AlphaFold2'nin girdisinde MSA olması 9. haftadaki çoklu hizalamanın hâlâ merkezi olduğunu gösterir. ESM gömmelerini bir proje fikri olarak önerin: 14. haftadaki AMP verisinde amino asit bileşimi yerine ESM gömmesi kullanmak.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yarım saat: dönem projesi ve dönem özeti. Grupların bu hafta içinde oluşturulmasını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 seçimi için bir teslim tarihi verin (ör. iki hafta). Grupların veri kaynağını ilk hafta içinde indirip doğrulamalarını isteyin; projelerin çoğu veri bulma aşamasında gecikir. Konu 3'te 14. haftadaki kontrol listesini zorunlu tutun.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yüksek ağırlıklı ölçütün 'yöntemlerin doğru uygulanması' olduğunu, bunun da 14. haftanın kontrol listesiyle birebir örtüştüğünü söyleyin. Tekrarlanabilirlik için ortak bir kural: notebook veri dosyası yoksa indirip oluşturmalı (bizim ders notebook'larımız gibi).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haftadaki yol haritasına geri dönün. Öğrencilere bu dönem gördükleri algoritmaları sınıflandırmalarını isteyin: dinamik programlama (hizalama), sezgisel arama (BLAST), kümeleme (UPGMA, k-means), optimizasyon (gradyan inişi). Bugünkü PSSM = evrişim bağlantısı temeller bloğu ile ML bloğunun birleştiği 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Alıştırma 6'yı derste yaptırın: w = 0 → 1.5 → 2.25 → 2.625; hata −3, −1.5, −0.75, −0.375, yani çarpan 1 − 2·0.25 = 0.5. Diğer alıştırmaların çözümleri notebook'un sonunda.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Dönemi kapatırken öğrencilere şu soruyu bırakın: bir biyoenformatik sonucuna ne zaman güvenirsiniz? Cevabın dönem boyunca kurduğumuz alışkanlıklarda olduğunu söyleyin: elle anlamak, kütüphaneyle test etmek, sızıntıdan kaçınmak, biyolojik olarak yorumlamak.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IV: Yapay Sinir Ağları ve Derin Öğrenmeye Giriş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Nöron, MLP, geri yayılım; 1B evrişim = öğrenilebilir PWM; TF bağlanma bölgesi tahmini; dönem projesi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hafta15_ml4_sinir_aglari_derin_ogrenme.ipynb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Nöron, aktivasyon fonksiyonu ve MLP kavramlarını tanımlamak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geçiş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elle, tüm ağırlıklar için hesaplamak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hızının gradyan inişine etkisini yorumlamak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evrişimin bir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taraması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olduğunu elle göstermek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ile küçük bir CNN eğitmek; parametrelerini saymak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Filtreleri motif olarak okumak;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mutajenez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yapmak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projesinin kapsamını ve değerlendirmesini netleştirmek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Nöron, aktivasyonlar, MLP; ileri geçiş + geri yayılım elle; gradyan inişi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Taban modeller (k-mer + LR/MLP); evrişim = PWM; maks. havuzlama; PyTorch CNN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Filtreler, in silico mutajenez, derin öğrenme haritası, dönem projesi, dönem özeti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ağları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Nörondan çok katmanlı algılayıcıya (MLP); ileri geçiş, geri yayılım, gradyan inişi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nöron ve çok katmanlı algılayıcı (MLP)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= f(wᵀx + b) — ağırlıklı toplam + doğrusal olmayan aktivasyon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Lojistik regresyon</a:t>
            </a: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sigmoid aktivasyonlu tek bir nöron (13. hafta)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Girdi → [Doğrusal + ReLU] × L → Doğrusal + Sigmoid (ikili) / Softmax (çok sınıflı)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katman: h = f(xW + b); W boyutu (girdi sayısı × nöron sayısı)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gizli katman?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Doğrusal katmanları üst üste koymak yine doğrusaldır: W₂(W₁x) = (W₂W₁)x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aktivasyon sayesinde eğri karar sınırları (ör. XOR) öğrenilir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kayıp (ikili çapraz entropi) zincir kuralıyla türevlenir (</a:t>
            </a: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ağırlıklar gradyan inişiyle güncellenir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Evrensel yaklaşım: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yeterince geniş tek gizli katman, sürekli bir fonksiyona istenen doğrulukta yaklaşabilir — ama veri ve eğitim ayrı bir sorundur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fonksiyonları ve türevleri</a:t>
            </a:r>
            <a:endParaRPr lang="en-US" sz="3000" dirty="0"/>
          </a:p>
        </p:txBody>
      </p:sp>
      <p:pic>
        <p:nvPicPr>
          <p:cNvPr id="3" name="Image 0" descr="p15_aktivas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1560"/>
            <a:ext cx="6101928" cy="45549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70608" y="1234440"/>
            <a:ext cx="4672447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1/(1 + e⁻ᶻ) → (0, 1): ikili çıkış; türev en fazla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(−1, 1): sıfır merkezli; türev en fazla 1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max(0, z) → [0, ∞): gizli katmanlarda varsayılan; türev 0 veya 1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eᶻᵏ / Σⱼ eᶻʲ: çok sınıflı çıkış; z = (2, 1, 0.1) → (0.659, 0.242, 0.099)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Sigmoid/tanh doyduğunda türev ≈ 0 → derin ağlarda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gradyan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geçiş: 2-2-1 ağ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(1, 0), y = 1. W₁ = [[0.5, −0.5], [0.3, 0.8]] (satır: girdi, sütun: nöron), b₁ = (0, 0.1), ReLU; w₂ = (1.0, −1.0), b₂ = 0.2, sigmoid. Çıkış olasılığı ve kayıp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Ön-aktivasyon: a = xW₁ + b₁ = (1·0.5 + 0·0.3, 1·(−0.5) + 0·0.8) + (0, 0.1)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(0.5, −0.4)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h = max(0, a)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(0.5, 0)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ikinci nöron kapalı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Çıkış: z = h·w₂ + b₂ = 0.5·1.0 + 0·(−1.0) + 0.2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Olasılık: p = σ(0.7) = 1/(1 + e⁻⁰·⁷)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(y = 1): L = −ln p = −ln 0.668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0.403</a:t>
            </a:r>
            <a:endParaRPr lang="en-US" sz="1800" dirty="0"/>
          </a:p>
        </p:txBody>
      </p:sp>
      <p:pic>
        <p:nvPicPr>
          <p:cNvPr id="7" name="Image 0" descr="p15_ag_orn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888" y="2837393"/>
            <a:ext cx="5227168" cy="2499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0.668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Model doğru yönde ama emin değil; bir gradyan adımıyla p'yi artıracağız.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(1): çıkış katmanı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+ ikili çapraz entropi için ∂L/∂z = p − y. Aynı ağda w₂ ve b₂ için gradyanları bulun ve η = 0.5 ile güncelleyin.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212873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hatası: δ = ∂L/∂z = p − y = 0.668 − 1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−0.332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∂L/∂w₂ = h · δ = (0.5, 0) · (−0.332)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(−0.166, 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∂L/∂b₂ = δ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−0.332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 ← w₂ − η·∂L/∂w₂ = (1.0 + 0.083, −1.0 − 0)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(1.083, −1.0)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← 0.2 − 0.5·(−0.332)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0.366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w₂ güncellenseydi: z = 0.5·1.083 + 0.2 = 0.742 → p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(arttı)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1553" y="2779776"/>
          <a:ext cx="4561503" cy="914400"/>
        </p:xfrm>
        <a:graphic>
          <a:graphicData uri="http://schemas.openxmlformats.org/drawingml/2006/table">
            <a:tbl>
              <a:tblPr/>
              <a:tblGrid>
                <a:gridCol w="1642141"/>
                <a:gridCol w="729840"/>
                <a:gridCol w="1277221"/>
                <a:gridCol w="9123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Gradyan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w₂₁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w₂₂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negatif → ağırlık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artar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 artar, kayıp azalır. h₂ = 0 olduğundan w₂₂ hiç değişmez.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 (2): gizli katman ve W₁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Hatayı gizli katmana taşıyın: ∂L/∂h = δ · w₂, ReLU türevi (a &gt; 0 ise 1, değilse 0). Ardından ∂L/∂W₁ = xᵀ δ₁ ve ∂L/∂b₁ = δ₁ ile W₁ ve b₁'i güncelleyin.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434761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∂L/∂h = δ · w₂ = −0.332 · (1, −1)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(−0.332, +0.332)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(eski w₂)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kapısı (1, 0) → δ₁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(−0.332, 0)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∂L/∂W₁ = xᵀδ₁: yalnız satır 1, sütun 1 sıfırdan farklı: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−0.332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W₁[1,1] ← 0.5 − 0.5·(−0.332)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← (0, 0.1) − 0.5·(−0.332, 0)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(0.166, 0.1)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03441" y="2779776"/>
          <a:ext cx="4339614" cy="914400"/>
        </p:xfrm>
        <a:graphic>
          <a:graphicData uri="http://schemas.openxmlformats.org/drawingml/2006/table">
            <a:tbl>
              <a:tblPr/>
              <a:tblGrid>
                <a:gridCol w="1125085"/>
                <a:gridCol w="1125085"/>
                <a:gridCol w="964359"/>
                <a:gridCol w="1125085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W₁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∂L/∂W₁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W₁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→ n₁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→ n₂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→ n₁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→ n₂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ağırlıktan yalnız biri değişti: gradyan hem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= 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girdisinden hem 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kapalı ReLU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nöronundan geçemez.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kuralı: her ağırlık için dört çarpan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∂L/∂W₁[i,j] = ∂L/∂z · ∂z/∂hⱼ · ∂hⱼ/∂aⱼ · ∂aⱼ/∂W₁[i,j] = δ · w₂ⱼ · ReLU′(aⱼ) · xᵢ   (δ = p − y = −0.332)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444532"/>
                <a:gridCol w="1504327"/>
                <a:gridCol w="1786389"/>
                <a:gridCol w="2162471"/>
                <a:gridCol w="1786389"/>
                <a:gridCol w="141030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∂L/∂z (δ)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∂z/∂hⱼ (w₂ⱼ)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∂hⱼ/∂aⱼ (ReLU′)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∂aⱼ/∂W (xᵢ)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Çarpım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W₁[1,1]: x₁ → n₁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(a₁ = 0.5 &gt;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W₁[1,2]: x₁ → n₂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(a₂ = −0.4)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W₁[2,1]: x₂ → n₁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(x₂ = 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W₁[2,2]: x₂ → n₂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w₂₁: h₁ → çıkış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h₁ = 0.5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b₂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−0.332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33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593336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Çarpanlardan biri sıfırsa gradyan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girdi kapısı (xᵢ = 0) ya da ReLU kapısı (aⱼ ≤ 0). Çıkışa yakın ağırlıklar daha kısa zincire sahiptir.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bir gradyan adımının sonucu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parametreler aynı anda güncellendikten sonra aynı girdi için yeni ileri geçiş (η = 0.5):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19583"/>
                <a:gridCol w="2141027"/>
                <a:gridCol w="2141027"/>
                <a:gridCol w="389277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Büyüklük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Adımdan önce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Adımdan sonra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(ön-aktivasyon)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−0.4)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(0.832, −0.4)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1·0.666 + 0.166 = 0.832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(ReLU)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(0.832, 0)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ikinci nöron hâlâ kapalı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0.832·1.083 + 0.366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σ(z)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σ(1.267)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−ln 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%38 azaldı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w₂ güncellenseydi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0.677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0.5·1.083 + 0.2 = 0.742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66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486656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katmanları güncellemek tek katmana göre çok daha büyük ilerleme sağlar. PyTorch'un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çağrısı bu gradyanların hepsini aynı zincir kuralıyla hesaplar (sonraki slayt).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hesap NumPy'da: ileri ve geri geçiş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434761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21530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0.668 [-0.166 -0.   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[[-0.332  0.   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[ 0.     0.   ]]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434761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215305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= np.array([1., 0.])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= np.array([[.5, -.5],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[.3,  .8]])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= np.array([0, .1])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= np.array([1., -1.]);  b2 = .2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ileri geçiş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x @ W1 + b1               # (0.5, -0.4)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np.maximum(0, a)          # ReLU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 / (1 + np.exp(-(h @ w2 + b2)))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geri geçiş (y = 1)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  = p - 1                   # dL/dz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dw2 = h * dz                  # dL/dw2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 = dz * w2 * (a &gt; 0)       # ReLU kapısı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dW1 = np.outer(x, d1)         # x^T d1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print(round(p, 3), dw2.round(3))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print(dW1.round(3))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03441" y="1234440"/>
            <a:ext cx="4339614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tahtadaki bir adıma karşılık gelir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&gt; 0)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ReLU türevi — True/False → 1/0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np.outer(x, d1)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xᵀδ₁ dış çarpımı → 2 × 2 gradyan matrisi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elle bulunanlarla aynı: −0.166 ve −0.332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gradyanlar PyTorch autograd 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878537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65908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tensor([[-0.3318, 0.0000],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[0.0000, 0.0000]])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tensor([-0.1659, 0.0000]) tensor(-0.3318)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878537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659081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lambda v: torch.tensor(v, requires_grad=True)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W1t, b1t = t(W1), t(b1)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w2t, b2t = t(w2), t(b2)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torch.tensor(x) @ W1t + b1t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torch.relu(a) @ w2t + b2t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torch.nn.functional.binary_cross_entropy_with_logits(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z, torch.tensor(1., dtype=torch.float64))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L.backward()          # zincir kuralı otomatik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print(W1t.grad)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print(w2t.grad, b2t.grad)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47217" y="1234440"/>
            <a:ext cx="389583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bulunan tüm gradyanlar autograd ile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requires_grad=True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PyTorch hesap grafiğini kaydeder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grafiği geriye doğru dolaşıp zincir kuralını uygular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BCEWithLogits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sigmoid + BCE birleşik ve sayısal olarak kararlı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inişi ve öğrenme hızı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L(w) = (w − 3)², w₀ = 0. Güncelleme w ← w − η·2(w − 3). η = 0.1, 0.5, 0.9 ve 1.1 için ilk adımları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4659654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eᵗ = w − 3 her adımda (1 − 2η) ile çarpılır: eᵗ⁺¹ = (1 − 2η)·eᵗ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0.1: w = 0 → 0.6 → 1.08 → 1.464 (çarpan 0.8: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yavaş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0.5: w = 0 →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(çarpan 0: tek adımda minimum)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0.9: w = 0 → 5.4 → 1.08 → 4.536 (çarpan −0.8: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salınım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1.1: w = 0 → 6.6 → −1.32 → 8.184 (|çarpan| = 1.2: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ıraksama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50" dirty="0"/>
          </a:p>
        </p:txBody>
      </p:sp>
      <p:pic>
        <p:nvPicPr>
          <p:cNvPr id="7" name="Image 0" descr="p15_ogrenme_hiz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334" y="2610646"/>
            <a:ext cx="6114721" cy="26608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Yakınsama koşulu |1 − 2η| &lt; 1 ⇔ 0 &lt; η &lt; 1. Gerçek ağlarda eğrilik bilinmez; η deneyle seçilir (Adam için tipik 10⁻³).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Eğitimin dört bileşeni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İkili çapraz entropi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−[y·ln p + (1 − y)·ln(1 − p)]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sınıfa verilen olasılık düştükçe kayıp hızla artar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Zincir kuralı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∂L/∂W₁ = ∂L/∂z · ∂z/∂h · ∂h/∂a · ∂a/∂W₁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yayılım: türevler çıkıştan girdiye doğru çarpılarak taşınır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Mini-yığın SGD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← w − η · (1/B) Σᵢ∈yığın ∇Lᵢ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64 örnek; 2800 eğitim dizisi → epok başına 44 güncelleme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Adam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← w − η · m̂ / (√v̂ + ε)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Gradyanın hareketli ortalaması (m) ve karesi (v) ile parametre başına uyarlanan adım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Düzenlileştirme: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weight_decay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(L2),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(eğitimde nöronları rastgele kapatır) ve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durdurma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iyi doğrulama epoğunu saklamak).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modeller ve evrişim = PWM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tf_baglanma.csv</a:t>
            </a: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4000 × 101 bp; pozitiflerde E-box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CACGTG</a:t>
            </a: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çekirdekli motif, negatiflerin %35'inde karıştırılmış motif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modeller ve CNN: test sonuçları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Bölme: %70 eğitim (2800), %10 doğrulama (400), %20 test (800); sınıflar dengeli (2000 / 2000).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34761" cy="914400"/>
        </p:xfrm>
        <a:graphic>
          <a:graphicData uri="http://schemas.openxmlformats.org/drawingml/2006/table">
            <a:tbl>
              <a:tblPr/>
              <a:tblGrid>
                <a:gridCol w="2103672"/>
                <a:gridCol w="2351163"/>
                <a:gridCol w="989963"/>
                <a:gridCol w="98996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3-mer (64)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3-mer (64)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(64-16)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4-mer (256)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4-mer (256)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(64-16)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5-mer (1024)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5-mer (1024)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(64-16)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(4 × 101)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 CNN (801 param.)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15_ta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3441" y="2567608"/>
            <a:ext cx="4339614" cy="286578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sayısı: 4-mer MLP ve CNN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4-mer frekanslarıyla (256 özellik) MLP(64, 16) ve one-hot girdili CNN (16 filtre, çekirdek 12) kaç öğrenilebilir parametreye sahiptir?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katman 1: 256 × 64 + 64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16 448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katman 2: 64 × 16 + 16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çıkış: 16 × 1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toplam: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17 505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(3-mer: 5 217; 5-mer: 66 657)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evrişim: 16 filtre × 4 baz × 12 konum + 16 bias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çıkış: 16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toplam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809404"/>
                <a:gridCol w="1809404"/>
                <a:gridCol w="16083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4-mer MLP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17 505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5-mer MLP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66 657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 CNN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4-mer MLP'nin yaklaşık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 kadar parametreyle çok daha iyi: ağırlık paylaşımı (aynı filtre her konumda) doğru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tümevarımsal yanlılık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evrişim ve maks. havuzlama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Evrişim (konum i)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cᵢ = Σⱼ Σ_b X(i+j, b) · F(j, b) + bias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one-hot dizi (L × 4), F: filtre (w × 4); tam olarak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 skoru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(5. hafta)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Çıktı uzunluğu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− w + 1 = 101 − 12 + 1 = 90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Dolgusuz (padding yok), adım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ReLU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rᵢ = max(0, cᵢ)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altındaki (motife benzemeyen) konumlar sıfırlanır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Global maks. havuzlama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maxᵢ rᵢ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'Motif dizinin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yerinde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 mı?' → konumdan bağımsızlık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PWM'yi elle vermek yerine filtre ağırlıklarını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etiketlerden öğrenir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16 filtre = 16 motif dedektörü.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Evrişimi elle hesaplamak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CACGTG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bazlarında +1, diğer bazlarda −1 (6 × 4).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TTCACGTGAA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dizisinde her pencere için skor ve maks. havuzlama sonucu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10 − 6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pencere (konum 0–4)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pencerede: skor = (+1)·eşleşme + (−1)·(6 − eşleşme) = 2·eşleşme − 6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0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TTCACG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yalnız 3. (C) ve 6. (G) baz eşleşir → 2·2 − 6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2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CACGTG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 eşleşme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yüksek)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havuzlama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(konum 2): motif dizide var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667492"/>
                <a:gridCol w="1557482"/>
                <a:gridCol w="1557482"/>
                <a:gridCol w="88999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Eşleşme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TTCACG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TCACGT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CACGTG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CGTGAA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çıktısı (−2, −6,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−6, −2); maks. havuzlama = 6. Filtre kaydırılarak her konumda aynı ağırlıklarla uygulanır.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görsel olarak: one-hot × filtre</a:t>
            </a:r>
            <a:endParaRPr lang="en-US" sz="3000" dirty="0"/>
          </a:p>
        </p:txBody>
      </p:sp>
      <p:pic>
        <p:nvPicPr>
          <p:cNvPr id="3" name="Image 0" descr="p15_evri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1323"/>
            <a:ext cx="11094415" cy="28439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38429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Kırmızı çerçeve i = 2 penceresi; sağda ±1 filtre ve PSSM log-odds filtresiyle tüm konumlardaki çıktılar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= PSSM: Biopython ile birebir aynı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dizilik motif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CACGTG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'den sözde sayım 0.1 ile PSSM kurulursa (arka plan 0.25) log-odds değerleri nedir? Bu filtreyle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TTCACGTGAA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evrişimi ne verir?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konumda sayım + 0.1: eşleşen baz 1.1, diğerleri 0.1; toplam 1.4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Olasılıklar: 1.1/1.4 = 0.786; 0.1/1.4 = 0.0714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Log-odds: log₂(0.786/0.25)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+1.652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log₂(0.0714/0.25)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−1.807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2 (6 eşleşme): 6 · 1.652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0 (2 eşleşme): 2 · 1.652 − 4 · 1.807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−3.93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0 eşleşme: 6 · (−1.807) = −10.84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613550"/>
                <a:gridCol w="1259658"/>
                <a:gridCol w="1539582"/>
                <a:gridCol w="12596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 filtre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PSSM filtre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ağırlıkları PSSM log-odds değerleri seçilince evrişim çıktısı Biopython'un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pssm.calculate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sonucuyla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birebir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havuzlama mı, ortalama havuzlama mı?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 çıktısı (−2, −6, 6, −6, −2) ReLU'dan geçirildikten sonra maks. ve ortalama havuzlama ne verir? 101 bp'lik gerçek girdide (90 konum) tek bir tam eşleşme olursa?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434761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(0, 0, 6, 0, 0)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havuzlama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ortalama havuzlama = 6/5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konumlu dizide tek tepe: maks = 6, ortalama = 6/90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Ortalama, motif sinyalini dizi uzunluğuyla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seyreltir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arka plan gürültüsü baskınlaşır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(alıştırma 3): ortalama havuzlama doğrulama AUC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0.609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maks. ile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03441" y="2779776"/>
          <a:ext cx="4339614" cy="914400"/>
        </p:xfrm>
        <a:graphic>
          <a:graphicData uri="http://schemas.openxmlformats.org/drawingml/2006/table">
            <a:tbl>
              <a:tblPr/>
              <a:tblGrid>
                <a:gridCol w="1183531"/>
                <a:gridCol w="920524"/>
                <a:gridCol w="1052028"/>
                <a:gridCol w="118353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Havuzlama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konum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konum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Doğr. 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dizide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yerde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konumu rastgele olduğunda maks. havuzlama doğru tercihtir. Motif sayısının önemli olduğu problemlerde (ör. çoklu bağlanma) ortalama/toplam havuzlama da kullanılır.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mimarisi: boyutlar ve parametreler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(N, 4, 101) → Conv1d(4 → 16, çekirdek 12) → ReLU → global maks. → Dropout(0.3) → Linear(16 → 1). Her katmanın çıktı boyutu ve parametre sayısı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çıktısı: (N, 16, 101 − 12 + 1)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(N, 16, 90)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parametresi: 16 · 4 · 12 + 16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maks. havuzlama: (N, 16) — parametresiz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parametresiz; yalnız eğitimde %30 nöronu sıfırlar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16 · 1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toplam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64 filtreyle 3 201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1933426"/>
                <a:gridCol w="1772307"/>
                <a:gridCol w="96671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(N, 4, 101)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Conv1d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(N, 16, 90)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+ maks.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(N, 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(N, 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(N, 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bir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tir; olasılık için sigmoid uygulanır. Mimari şeması ders notundaki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f15_cnn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görselindedir.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ile eğitim ve modeli yorumlamak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döngüsü, erken durdurma, öğrenilen filtreler, in silico mutajenez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tanımlamak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742432"/>
            <a:ext cx="6656649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815584"/>
            <a:ext cx="643719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4233672"/>
          </a:xfrm>
          <a:prstGeom prst="roundRect">
            <a:avLst>
              <a:gd name="adj" fmla="val 1728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torch, torch.nn as nn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DNACNN(nn.Module):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n_filtre=16, cekirdek=12):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self.conv = nn.Conv1d(4, n_filtre, cekirdek)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self.drop = nn.Dropout(0.3)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self.cikis = nn.Linear(n_filtre, 1)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               # x: (N, 4, 101)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torch.relu(self.conv(x))    # (N, 16, 90)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h.max(dim=2).values         # global maks.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self.cikis(self.drop(h)) # logit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DNACNN()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print(sum(p.numel() for p in model.parameters()))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nn.Module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katmanlar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'te, hesap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max(dim=2).values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konum ekseninde maksimum (indeks değil)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yok: kayıp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BCEWithLogitsLoss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içinde uygulanır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sınıf alıştırmalarda farklı filtre/çekirdek ile kullanılır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döngüsü ve erken durdurma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56649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437193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torch.optim.Adam(model.parameters(), lr=3e-3,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weight_decay=1e-4)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kayip_f = nn.BCEWithLogitsLoss()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range(25):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model.train()                    # dropout açık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sira = torch.randperm(len(Xe))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range(0, len(Xe), 64):  # mini-yığın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 = sira[i:i + 64]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opt.zero_grad()              # eski gradyanı sil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kayip = kayip_f(model(Xe[b]), ye[b])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kayip.backward()             # geri yayılım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opt.step()                   # güncelleme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model.eval()                     # dropout kapalı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torch.no_grad():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= torch.sigmoid(model(Xd))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 = roc_auc_score(yd, p)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auc &gt; en_iyi:                 # en iyi epoğu sakla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en_iyi = auc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durum = copy.deepcopy(model.state_dict())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yinelemede dört adım: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→ ileri → backward → step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epok × 44 yığın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güncelleme; CPU'da ≈ 3.5 s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Dropout davranışını değiştirir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durdurma mantığı: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AUC'si en iyi olan ağırlıklar saklanır; test hiç kullanılmaz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eğrileri</a:t>
            </a:r>
            <a:endParaRPr lang="en-US" sz="3000" dirty="0"/>
          </a:p>
        </p:txBody>
      </p:sp>
      <p:pic>
        <p:nvPicPr>
          <p:cNvPr id="3" name="Image 0" descr="p15_egit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6296"/>
            <a:ext cx="11094415" cy="34740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534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En iyi doğrulama AUC'si 8. epokta (0.930); sonraki epoklarda eğitim kaybı düşmeye devam eder, doğrulama kaybı yatay kalır. Test: AUC 0.924, doğruluk 0.848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Öğrenilen filtreler = motifler</a:t>
            </a:r>
            <a:endParaRPr lang="en-US" sz="3000" dirty="0"/>
          </a:p>
        </p:txBody>
      </p:sp>
      <p:pic>
        <p:nvPicPr>
          <p:cNvPr id="3" name="Image 0" descr="p15_filtreler_di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373" y="1234440"/>
            <a:ext cx="3004301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6446" y="1234440"/>
            <a:ext cx="633660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ağırlığı en büyük üç filtre: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8, 9, 7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= pozitif ağırlık (o baz o konumda skoru artırır), mavi = negatif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başına en yüksek baz: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TGCGCCACGTGG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ATTGCCACGTGG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CCACGTGGGGTT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Üçünde 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CCACGTGG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çekirdeği: verinin üretildiği NCCACGTGGN motifi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motifi hiç görmedi; yalnız 0/1 etiketlerinden öğrendi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adım: filtreyi logo grafiğine çevirip JASPAR ile karşılaştırmak (TomTom)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silico mutajenez</a:t>
            </a:r>
            <a:endParaRPr lang="en-US" sz="3000" dirty="0"/>
          </a:p>
        </p:txBody>
      </p:sp>
      <p:pic>
        <p:nvPicPr>
          <p:cNvPr id="3" name="Image 0" descr="p15_mutajene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41" y="1234440"/>
            <a:ext cx="10342613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253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Test kümesinden bir pozitif (p₀ = 0.956): her konumdaki baz diğer üç baza çevrildi. En büyük düşüşler konum 37–42'de (CACGTG); en kritik konum 38 (Δp = −0.228)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Deneyler: mimari ve veri miktarı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182508"/>
                <a:gridCol w="2728135"/>
                <a:gridCol w="3000948"/>
                <a:gridCol w="3182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Deney (alıştırma)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/ çekirdek (2)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4/12, 16/6, 16/20, 64/12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Doğr. AUC 0.912, 0.907, 0.917, 0.925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mimari değişikliklere dayanıklı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Havuzlama (3)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Doğr. AUC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motifli problemde maks. doğru tercih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artırma (4)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 tamamlayıcılar eklendi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 0.924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 palindromik → kazanç 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veri (5)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Eğitimin %10'u (280 dizi)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4-mer LR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CNN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yanlılık az veride de işe yarar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062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 artırma: one-hot'ta A↔T, C↔G ve konum ekseni birlikte ters çevrilir (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torch.flip(X, dims=[1, 2])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çünkü kanal sırası A, C, G, T'dir.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biyoenformatikte: kısa bir harita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182508"/>
                <a:gridCol w="3000948"/>
                <a:gridCol w="3000948"/>
                <a:gridCol w="291001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 modeller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→ çıktı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dersteki karşılığı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bağlanma, kromatin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DeepBind, DeepSEA, Basset (CNN)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→ bağlanma / erişilebilirlik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Bugünkü CNN (hafta 5, 15)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ifadesi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Enformer (CNN + Transformer)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kb DNA → ifade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ifadesi (hafta 11)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yapısı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AlphaFold2 (Evoformer)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+ MSA → 3B koordinat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MSA, Bio.PDB (hafta 9–10)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dil modelleri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ESM, ProtBERT (Transformer)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→ gömme vektörü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çıkarımı (hafta 12)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Varyant etkisi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AlphaMissense, SpliceAI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Mutasyon → patojenite / splicing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silico mutajenez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97128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97128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Uyarılar: veri azsa basit modeller çoğu zaman yeterlidir; derin modellerin yorumlanması zordur;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homoloji sızıntısı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(hafta 14) derin modellerin başarısını da şişirir.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projesi ve dönem özeti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kişilik gruplar; çalışan bir Colab notebook'u + 10 dakikalık sunum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projesi: örnek konular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389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Filogenetik: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NCBI'dan bir gen ailesi → MSA → bootstrap destekli ağaç (hafta 8–9)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Transkriptomik: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GEO'dan açık bir RNA-seq sayım matrisiyle diferansiyel ifade + kümeleme (hafta 11–12)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Peptit sınıflandırma: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UniProt'tan AMP / AMP değil → sınıflandırıcı; </a:t>
            </a: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homoloji sızıntısına dikkat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(hafta 13–14)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motifi: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JASPAR/ENCODE bağlanma dizileriyle CNN; öğrenilen motifi bilinen motifle karşılaştırma (hafta 5, 15)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mini-BLAST'ı proteinler ve BLOSUM62 için genişletip hassasiyet–hız analizi (hafta 7–8)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Yapı: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PDB'den bir protein ailesinde yapısal RMSD ile dizi özdeşliği ilişkisi (hafta 6, 10)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konunuzu da önerebilirsiniz; koşul: gerçek (açık) veri, dönemde öğrenilen en az iki yöntem, tekrarlanabilir bir notebook.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projesi: değerlendirme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4087416"/>
                <a:gridCol w="1167833"/>
                <a:gridCol w="583916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Neye bakılır?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tanımı ve biyolojik motivasyon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 net mi? Biyolojik önemi açıklanmış mı?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toplama, ön işleme ve kalite kontrol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Kaynak, sürüm, filtreleme; QC grafikleri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Yöntemlerin doğru uygulanması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Sızıntı yok, uygun ölçüt ve baz model, doğru istatistik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Görselleştirme ve yorum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Grafikler okunaklı; sonuçlar biyolojik olarak yorumlanmış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Tekrarlanabilir notebook ve kod kalitesi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Baştan sona çalışıyor; tohumlar ve sürümler sabit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Sunum (10 dk)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Süre, açıklık, sorulara yanıt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009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340096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Colab notebook bağlantısı + sunum dosyası. Notebook, 'Tümünü çalıştır' ile hatasız sonuna kadar çalışmalıdır.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özeti: 15 haftada ne öğrendik?</a:t>
            </a:r>
            <a:endParaRPr lang="en-US" sz="3000" dirty="0"/>
          </a:p>
        </p:txBody>
      </p:sp>
      <p:pic>
        <p:nvPicPr>
          <p:cNvPr id="3" name="Image 0" descr="f00_yol_harit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7297"/>
            <a:ext cx="7766091" cy="28034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34771" y="1234440"/>
            <a:ext cx="3008285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Seq, SeqIO, FASTQ, motif ve PSSM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DP ile hizalama, BLAST, MSA, ağaçlar, yapı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11–15: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analizi, PCA/kümeleme, sınıflandırma, güvenilir değerlendirme, CNN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iplik: önce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anla, sonra kütüphaneyle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ederek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hafta15_ml4_sinir_aglari_derin_ogrenme.ipynb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örnekteki ağda W₁'in ilk sütununu güncelleyin (ipucu: ∂L/∂h₁ = (p − y)·w₂₁, ReLU türevi h₁ &gt; 0 için 1). (Cevap: (0.666, 0.3))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CNN'de filtre sayısını 4, 16, 64 ve çekirdek boyunu 6, 12, 20 alarak doğrulama AUC'sini karşılaştırın. (0.907–0.925)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maks. havuzlama yerine global ortalama havuzlama kullanın. Hangisi bu problem için uygun, neden? (Ortalama: 0.609)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artırma: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eğitim dizilerinin ters tamamlayıcılarını ekleyin. Test AUC değişti mi? Neden? (0.924)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kümesinin yalnız %10'uyla CNN ve 4-mer LR'yi karşılaştırın. (CNN 0.870, LR 0.739)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(elle):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L(w) = (w − 3)², w₀ = 0 için η = 0.25 ile üç adım atın. Hata her adımda hangi çarpanla küçülür? (1.5, 2.25, 2.625; 0.5)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15: ML IV: sinir ağları ve CNN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Nöron = ağırlıklı toplam + aktivasyon; LR tek bir nörondur;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zincir kuralı (p 0.668 → 0.780)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hızı: küçük → yavaş, büyük → salınım/ıraksama; |1 − 2η| &lt; 1 örneği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evrişim = PSSM taraması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filtreler etiketlerden öğrenilen motiflerdir; maks. havuzlama konumdan bağımsızlık verir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parametreli CNN, 17 505 parametreli k-mer MLP'yi geçti (AUC 0.924 vs 0.830):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temsil, modelden önemli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Yorumlama: filtre = motif (CCACGTGG), in silico mutajenez motif konumunu buldu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Dönem projesi: konu seçimi ve veri kaynağının doğrulanması; proje sunumları dönem sonunda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15: Makine Öğrenmesi IV: Yapay Sinir Ağları ve Derin Öğrenmeye Giriş</dc:title>
  <dc:subject>PptxGenJS Presentation</dc:subject>
  <dc:creator>Biyoenformatiğe Giriş</dc:creator>
  <cp:lastModifiedBy>Biyoenformatiğe Giriş</cp:lastModifiedBy>
  <cp:revision>1</cp:revision>
  <dcterms:created xsi:type="dcterms:W3CDTF">2026-09-23T18:54:55Z</dcterms:created>
  <dcterms:modified xsi:type="dcterms:W3CDTF">2026-09-23T18:54:55Z</dcterms:modified>
</cp:coreProperties>
</file>