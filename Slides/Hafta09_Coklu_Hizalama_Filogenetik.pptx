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Geçen hafta BLAST ile bir sorguya benzeyen dizileri bulduk. Bu hafta bu dizileri birlikte hizalayıp aralarındaki evrimsel ilişkiyi bir ağaçla göstereceğiz.
Bilgisayar mühendisliği bağlantıları: çok boyutlu DP (neden imkânsız), hiyerarşik kümeleme (UPGMA), açgözlü algoritmalar (NJ), yeniden örnekleme (bootstrap).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hafta elle hesap yoğun: UPGMA ve NJ'yi tahtada birlikte yürüteceğiz. Öğrencilere hesap makinesi getirmelerini önceden söyleyin. İkinci saatin sonunda NJ'nin ilk adımını öğrencilerin kendilerinin yapmasını hedefleyin.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Önce çoklu hizalamanın neden zor olduğunu, sonra pratik araçların nasıl çalıştığını göreceğiz. SP skoru ve entropi elle hesaplanacak.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İkili hizalamanın iki boyutlu tablosunu hatırlatın ve üç dizi için bir küp çizin: her hücreye 7 yönden gelinebilir (2³ − 1). Sayılar: 160² = 25 600; 160⁸ ≈ 4.3 × 10¹⁷. Saniyede 10⁹ hücre ile bile 13 yıldan fazla sürer. Bu, 'problemin kendisi zor' örneği; BLAST'taki gibi burada da sezgisellik zorunluluk.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Kılavuz ağaç ile bu haftanın sonunda kuracağımız filogenetik ağaç arasındaki farkı vurgulayın: ilki hızlı ve kaba bir sıralama aracı. 'Bir kez boşluk, hep boşluk' ilkesini bir örnekle anlatın: ilk iki dizi hizalanırken yanlış yere konan boşluk, üçüncü dizi eklenirken değiştirilemez. Colab'da apt-get install clustalo ile gerçek aracı kurabileceklerini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 skorunun bir zayıflığını tartışın: N dizi varken her sütun N(N−1)/2 çift içerir, yani çok sayıda benzer dizi skoru baskılar. Bu yüzden gerçek araçlar dizilere ağırlık verir (Clustal'da dizi ağırlıkları). Boşluk–boşluk çiftinin 0 alması önemli: iki dizide aynı yerde boşluk olması ceza gerektirmez.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örnek sayıları Python sp_sutun fonksiyonuyla doğrulandı. Öğrencilere dördüncü bir hizalama önermelerini ve skorlamalarını isteyin. H2'nin iki boşluğu aynı sütunda toplaması, ilerlemeli hizalamada profil–profil birleştirmenin doğal sonucu: AGT ve ACT önce birbirleriyle hizalanır (boşluksuz), sonra birlikte ACGT'ye karşı tek bir boşluk sütunu alır.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msa[:, j] sözdiziminin NumPy'den tanıdık olduğunu belirtin. Format dönüşümü pratikte çok sık gerekir: filogeni programları PHYLIP, Pfam Stockholm, çoğu araç FASTA ister. Çıktı sayıları çalıştırılmış notebook'tan: 8 dizi, 160 sütun, ilk 50 sütunun SP'si 593.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Entropiyi bilgi kuramından hatırlatın: bir sütunun 'sürpriz' miktarı. Sekiz dizili bir hizalamada bir sütun en fazla 8 farklı harf içerebileceğinden entropi 3 biti aşamaz; bu küçük örneklem sınırlamasını belirtin. I, L, V hepsi hidrofobik: kimyasal olarak benzer harflerin karıştığı bir sütun, entropisi yüksek olsa da işlevsel olarak korunmuş olabilir; ileri yöntemler bu yüzden amino asit sınıflarını da hesaba katar.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Grafikte kırmızı işaretlerin (H = 0; yüksekliği sıfır olduğu için eksenin altında işaretlendi) kümelendiği bölgeleri gösterin: bunlar ailenin işlevsel çekirdeği. Boşluk oranı grafiğindeki tepeleri entropiyle karşılaştırın: boşluklu sütunların entropisi yalnızca harfli dizilerden hesaplanıyor, bu bir tasarım kararı. Notebook'ta hizalama ayrıca amino asit sınıflarına göre renkli bir ısı haritası olarak da çiziliyor. Konsensüs dizisi (her sütunda en sık harf) MGLLTDFNLSLRRRMFNDSK… ile başlıyor. Uygulama bağlantısı: korunmuş bölgeler primer ve ilaç hedefi tasarımında adaydır.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Hizalamadan sayıya geçiyoruz: iki dizi arasındaki farklılığı evrimsel bir uzaklığa çeviriyoruz. Bu uzaklıklar ağaç kurmanın girdisi olacak.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Tahtada bir siteyi zaman içinde izleyin: A → G → A. İki mutasyon oldu, gözlenen farklılık sıfır. JC modelinin varsayımlarını söyleyin; daha gerçekçi modeller (Kimura 2P: transisyon/transversiyon ayrımı, GTR) aynı mantıkla türetilir. Taylor açılımı küçük p'de neden düzeltmenin önemsiz olduğunu gösterir.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Tabloyu grafikle birlikte okuyun: kesikli çizgi d = p, düz çizgi JC. p = 0.3'e kadar iki eğri yakın; sonra JC üstel olarak ayrılıyor. d/p sütunu düzeltmenin büyüklüğünü gösteriyor. Sorun: 800 sitede 592 farklılık (p = 0.74) ile 600 farklılık (p = 0.75) arasındaki fark nedir? İkincisinde d tanımsız.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Hesap makinesiyle öğrencilere (b)'yi yaptırın. Notebook'taki p-matrisi 3 basamağa yuvarlanmış (0.206); tam sayı 165 olduğu için kesin değeri kullandık. d'nin birimi: site başına beklenen yer değiştirme sayısı, yani 'zaman × hız'. Moleküler saat varsayımıyla bu, ayrılma zamanına çevrilebilir.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Matrisi okumayı öğretin: simetrik, köşegen sıfır. Blokları renkli tebeşirle çizin. Bu matris bilinen bir ağaç boyunca JC modeliyle simüle edilmiş dizilerden geliyor; birazdan kuracağımız ağaçları gerçek ağaçla karşılaştırabileceğiz. Tur_ adlarını yer kazanmak için T olarak kısalttık.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Haftanın en elle hesap yoğun bölümü: UPGMA'yı ara matrislerle, NJ'yi Q-matrisiyle adım adım yürüteceğiz. Hesap makinelerini hazırlatın.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 yaprak için olası köksüz ağaç sayısı (2n−5)!!: 10 yaprakta 2 027 025, 20 yaprakta 2 × 10²⁰. Bu yüzden karakter tabanlı yöntemler tüm ağaçları deneyemez. Uzaklık yöntemleri hızlı ama bilgi kaybeder (her dizi çifti tek bir sayıya iner). Ultrametrik/toplamsal tanımlarını tahtaya bir örnekle çizin.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Tahtada matrisi yazın ve en küçük elemanı daire içine alın. Tablonun alt yarısı yeni 3 × 3 matris. Öğrencilere sorun: A ve B'nin C'ye uzaklıkları farklı olsaydı (ör. 8 ve 10) ne olurdu? (Ortalama 9.) Bu hiyerarşik kümelemenin 'ortalama bağlantı' (average linkage) sürümüdür; 12. haftada dendrogramlarda yine göreceğiz.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Ultrametrikliği kontrol ettirin: kökten A'ya 1.67 + 2 + 2, C'ye 1.67 + 4, D'ye 5.67 — hepsi 5.67. En sık hata: son adımda basit ortalama alıp (12 + 10)/2 = 11 bulmak. Bu, sonraki slaytta göreceğimiz WPGMA'dır; Biopython da bunu yapar.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kütüphane belgelerine körü körüne güvenmemek için iyi bir ders: ad UPGMA, davranış WPGMA. Öğrencilere sorun: iki yöntem ne zaman aynı sonucu verir? Birleşen iki küme aynı boyuttaysa (ör. ilk adımda iki tek yaprak). Alıştırma 3'te farklı bir matrisle iki sonucu karşılaştıracaklar.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Kodun her döngüsü bir elle hesap adımına karşılık geliyor; bir önceki iki slaytla eşleştirin. Naif uygulama O(n³): her adımda O(n²) arama, n adım. Çıktıdaki Newick'te D önce yazılmış; çocukların sırası ağacı değiştirmez, bunu öğrencilere mutlaka söyleyin.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 formülünün sezgisini verin: yalnızca d(i,j)'ye bakmak, hızlı evrilen bir soyun uzun dalını yanıltıcı yapar (uzun dal çekimi). r terimleri her yaprağın 'ortalama uzaklığını' çıkararak bu etkiyi düzeltir. n = 3'te Q tüm çiftler için aynı çıkar; son adımda seçim önemsizdir.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Satır toplamlarını öğrencilerle birlikte hesaplayın, sonra Q matrisinin birkaç hücresini tahtada doldurun, kalanını tablodan gösterin. Q simetrik ve köşegeni tanımsız. Kilit mesaj: NJ en yakın çifti değil, Q ölçütüne göre en iyi 'komşu' çifti birleştirir. Tüm sayılar Python ile ve Biopython nj()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Dal uzunluklarının farklı olduğuna dikkat çekin: A (2) ve B (3) aynı düğümden ayrılıyor ama farklı uzunlukta; bu, moleküler saatin bozulduğu anlamına gelir ve UPGMA bunu gösteremez (UPGMA aynı matriste A ve B'ye 2.5 verir). İkinci adımdaki eşitlik de öğretici: Q(C,u) = Q(D,E) = −28; hangisi seçilirse seçilsin aynı köksüz ağaca varılır. Matris toplamsal olduğu için NJ tüm uzaklıkları tam olarak yeniden üretir.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önceki slaytın üçüncü ve dördüncü adımlarını tablo hâlinde açıyor. Hücrelerde önce uzaklık, sonra Q değeri yazıyor; öğrencilerden r sütununu önce kendilerinin doldurmalarını isteyin.
n = 4'te Q katsayısı (n − 2) = 2'dir; öğrenciler sıklıkla ilk adımdaki 3'ü kullanmaya devam ediyor, buna dikkat çekin. Eşitlik durumunda Biopython da ilk bulduğu en küçük Q'yu seçer.
Son adımda (n = 3) tüm Q değerleri eşittir (−10); bu yüzden son üç düğüm her zaman tek bir iç düğümde birleşir. Tüm sayılar Python ile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Kurduğumuz ağaçlar ne kadar doğru ve güvenilir? Simülasyon verisinde gerçek ağacı bildiğimiz için RF uzaklığıyla kesin karşılaştırma yapabiliyoruz; bootstrap ile dal desteğini ölçüyoruz.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DistanceMatrix'in alt üçgen biçimi öğrencilerin sık takıldığı yer: her satır i+1 eleman içerir ve son eleman 0'dır. NJ ağacı çizildiğinde bir kök görünür ama bu yalnızca çizim içindir; biyolojik kök için dış grup (outgroup) ya da orta nokta köklendirmesi gerekir. Bir sonraki slayttaki NJ ağacı bu yüzden root_at_midpoint() ile köklendirilerek çizildi.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Üç ağacın topolojisini karşılaştırın: yaprakların çizim sırası farklı ama gruplar aynı: {1,2,3}, {4,5}, {6,7,8}. Veri sabit hızlı bir JC modeliyle simüle edildiği için UPGMA'nın moleküler saat varsayımı burada sağlanıyor; bu yüzden UPGMA da başarılı. NJ köksüz bir ağaç verir; çizim için orta noktadan (root_at_midpoint) köklendirdik. NJ'de T1 ve T2'nin dal uzunlukları farklı, UPGMA'da ise ultrametrik olduğu için tüm yapraklar aynı hizada. Sonraki slaytta 'aynı' demeyi RF uzaklığıyla kesinleştireceğiz.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Sınavda bu tür soru sık çıkar. Öğrencilere bipartisyonu bir dalı 'kesmek' olarak anlatın: bir dal kesilince ağaç iki parçaya ayrılır ve her parça bir yaprak kümesidir. Ek soru: T3 = ((A,D),C,(B,E)) ile T1 arasındaki RF? (4: hiçbir ortak bipartisyon yok, en büyük değer.) Sayılar notebook'taki bipartisyonlar/rf fonksiyonlarıyla doğrulandı.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min(yap, tum − yap, key=sorted) satırını açıklayın: köksüz ağaçta AB | CDE ile CDE | AB aynı bipartisyon; ikisinden sözlük sırasına göre küçüğünü seçerek tek bir temsil elde ediyoruz. Bootstrap'ta 100 hizalama üretilip her biri için ağaç kuruluyor; bu, notebook'un en yavaş hücresi. Sınıfta süre kısıtlıysa tekrar sayısını 20'ye indirip sonuçların nasıl dalgalandığını gösterebilirsiniz.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Bootstrap'ın mantığı: elimizdeki sütunları gerçek dağılımdan bir örneklem sayıp 'başka bir gen bölgesi dizileseydik aynı ağacı bulur muyduk?' sorusunu taklit ediyoruz. Destek, doğru olma olasılığı değildir; verideki sinyalin tutarlılığıdır. Kısa hizalamada desteklerin düşmesi beklenir: daha az site, daha fazla örnekleme gürültüsü. Destekler rastgele örneklemeye bağlı olduğundan her çalıştırmada birkaç puan değişebilir.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 maddeyi bu haftaki bir slayta bağlayın. NJ'deki en küçük d hatasını 5 yapraklı örnekteki D–E çiftiyle hatırlatın. Köklendirme konusunda: gerçek çalışmalarda dış grup olarak açıkça uzak bir tür eklenir, ağaç o dal üzerinden köklenir.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Çözümler notebook'un sonunda. Dördüncü soru bu sunumdaki NJ örneğinin devamı ve notebook'ta yok: D–E önce birleşirse d(D,w) = 2, d(E,w) = 1 yine çıkar ve sonuç aynı köksüz ağaçtır. Altıncı soru JC düzeltmesinin neden gerekli olduğunu sayısal olarak gösterir: p-uzaklığı toplam dal uzunluğunu belirgin şekilde küçümser.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sorusu: bu hafta tüm analizleri yalnızca dizilerle yaptık. Proteinlerde dizi değişse de 3B yapı çok daha korunmuş olabilir; gelecek hafta yapı düzeyine geçeceğiz ve iki yapıyı RMSD ile karşılaştıracağız. Öğrencilere UPGMA ve NJ'nin elle çözümünü tekrar etmelerini, çünkü sınavda benzer bir matrisin geleceğini hatırlatın.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3238"/>
        </a:solidFill>
      </p:bgPr>
    </p:bg>
    <p:spTree>
      <p:nvGrpSpPr>
        <p:cNvPr id="1" name=""/>
        <p:cNvGrpSpPr/>
        <p:nvPr/>
      </p:nvGrpSpPr>
      <p:grpSpPr>
        <a:xfrm>
          <a:off x="0" y="0"/>
          <a:ext cx="0" cy="0"/>
          <a:chOff x="0" y="0"/>
          <a:chExt cx="0" cy="0"/>
        </a:xfrm>
      </p:grpSpPr>
      <p:sp>
        <p:nvSpPr>
          <p:cNvPr id="2" name="Shape 0"/>
          <p:cNvSpPr/>
          <p:nvPr/>
        </p:nvSpPr>
        <p:spPr>
          <a:xfrm>
            <a:off x="548640" y="1188720"/>
            <a:ext cx="1143000" cy="1143000"/>
          </a:xfrm>
          <a:prstGeom prst="roundRect">
            <a:avLst>
              <a:gd name="adj" fmla="val 9600"/>
            </a:avLst>
          </a:prstGeom>
          <a:solidFill>
            <a:srgbClr val="B71C1C"/>
          </a:solidFill>
          <a:ln/>
        </p:spPr>
      </p:sp>
      <p:sp>
        <p:nvSpPr>
          <p:cNvPr id="3" name="Text 1"/>
          <p:cNvSpPr txBox="1"/>
          <p:nvPr/>
        </p:nvSpPr>
        <p:spPr>
          <a:xfrm>
            <a:off x="548640" y="1188720"/>
            <a:ext cx="1143000" cy="11430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HAFTA</a:t>
            </a:r>
            <a:endParaRPr lang="en-US" sz="1200" dirty="0"/>
          </a:p>
          <a:p>
            <a:pPr algn="ctr" indent="0" marL="0">
              <a:buNone/>
            </a:pPr>
            <a:r>
              <a:rPr lang="en-US" sz="4000" b="1" dirty="0">
                <a:solidFill>
                  <a:srgbClr val="FFFFFF"/>
                </a:solidFill>
                <a:latin typeface="Calibri" pitchFamily="34" charset="0"/>
                <a:ea typeface="Calibri" pitchFamily="34" charset="-122"/>
                <a:cs typeface="Calibri" pitchFamily="34" charset="-120"/>
              </a:rPr>
              <a:t>9</a:t>
            </a:r>
            <a:endParaRPr lang="en-US" sz="1200" dirty="0"/>
          </a:p>
        </p:txBody>
      </p:sp>
      <p:sp>
        <p:nvSpPr>
          <p:cNvPr id="4" name="Text 2"/>
          <p:cNvSpPr txBox="1"/>
          <p:nvPr/>
        </p:nvSpPr>
        <p:spPr>
          <a:xfrm>
            <a:off x="548640" y="2606040"/>
            <a:ext cx="11094415" cy="1371600"/>
          </a:xfrm>
          <a:prstGeom prst="rect">
            <a:avLst/>
          </a:prstGeom>
          <a:noFill/>
          <a:ln/>
        </p:spPr>
        <p:txBody>
          <a:bodyPr wrap="square" lIns="0" tIns="0" rIns="0" bIns="0" rtlCol="0" anchor="t"/>
          <a:lstStyle/>
          <a:p>
            <a:pPr indent="0" marL="0">
              <a:buNone/>
            </a:pPr>
            <a:r>
              <a:rPr lang="en-US" sz="3600" b="1" dirty="0">
                <a:solidFill>
                  <a:srgbClr val="FFFFFF"/>
                </a:solidFill>
                <a:latin typeface="Calibri" pitchFamily="34" charset="0"/>
                <a:ea typeface="Calibri" pitchFamily="34" charset="-122"/>
                <a:cs typeface="Calibri" pitchFamily="34" charset="-120"/>
              </a:rPr>
              <a:t>Çoklu Dizi Hizalama ve Filogenetik Ağaçlar</a:t>
            </a:r>
            <a:endParaRPr lang="en-US" sz="3600" dirty="0"/>
          </a:p>
        </p:txBody>
      </p:sp>
      <p:sp>
        <p:nvSpPr>
          <p:cNvPr id="5" name="Text 3"/>
          <p:cNvSpPr txBox="1"/>
          <p:nvPr/>
        </p:nvSpPr>
        <p:spPr>
          <a:xfrm>
            <a:off x="548640" y="4023360"/>
            <a:ext cx="11094415" cy="731520"/>
          </a:xfrm>
          <a:prstGeom prst="rect">
            <a:avLst/>
          </a:prstGeom>
          <a:noFill/>
          <a:ln/>
        </p:spPr>
        <p:txBody>
          <a:bodyPr wrap="square" lIns="0" tIns="0" rIns="0" bIns="0" rtlCol="0" anchor="t"/>
          <a:lstStyle/>
          <a:p>
            <a:pPr indent="0" marL="0">
              <a:buNone/>
            </a:pPr>
            <a:r>
              <a:rPr lang="en-US" sz="1800" dirty="0">
                <a:solidFill>
                  <a:srgbClr val="CFD8DC"/>
                </a:solidFill>
                <a:latin typeface="Calibri" pitchFamily="34" charset="0"/>
                <a:ea typeface="Calibri" pitchFamily="34" charset="-122"/>
                <a:cs typeface="Calibri" pitchFamily="34" charset="-120"/>
              </a:rPr>
              <a:t>Diziler arasındaki ortak geçmişi okumak: hizalama, uzaklık, ağaç ve güven</a:t>
            </a:r>
            <a:endParaRPr lang="en-US" sz="1800" dirty="0"/>
          </a:p>
        </p:txBody>
      </p:sp>
      <p:sp>
        <p:nvSpPr>
          <p:cNvPr id="6" name="Text 4"/>
          <p:cNvSpPr txBox="1"/>
          <p:nvPr/>
        </p:nvSpPr>
        <p:spPr>
          <a:xfrm>
            <a:off x="548640" y="5760720"/>
            <a:ext cx="8229600" cy="365760"/>
          </a:xfrm>
          <a:prstGeom prst="rect">
            <a:avLst/>
          </a:prstGeom>
          <a:noFill/>
          <a:ln/>
        </p:spPr>
        <p:txBody>
          <a:bodyPr wrap="square" lIns="0" tIns="0" rIns="0" bIns="0" rtlCol="0" anchor="ctr"/>
          <a:lstStyle/>
          <a:p>
            <a:pPr indent="0" marL="0">
              <a:buNone/>
            </a:pPr>
            <a:r>
              <a:rPr lang="en-US" sz="1300" dirty="0">
                <a:solidFill>
                  <a:srgbClr val="90A4AE"/>
                </a:solidFill>
                <a:latin typeface="Calibri" pitchFamily="34" charset="0"/>
                <a:ea typeface="Calibri" pitchFamily="34" charset="-122"/>
                <a:cs typeface="Calibri" pitchFamily="34" charset="-120"/>
              </a:rPr>
              <a:t>Biyoenformatiğe Giriş  ·  Python ve Biopython ile uygulamalı ders</a:t>
            </a:r>
            <a:endParaRPr lang="en-US" sz="1300" dirty="0"/>
          </a:p>
        </p:txBody>
      </p:sp>
      <p:sp>
        <p:nvSpPr>
          <p:cNvPr id="7" name="Text 5"/>
          <p:cNvSpPr txBox="1"/>
          <p:nvPr/>
        </p:nvSpPr>
        <p:spPr>
          <a:xfrm>
            <a:off x="548640" y="6126480"/>
            <a:ext cx="10058400" cy="320040"/>
          </a:xfrm>
          <a:prstGeom prst="rect">
            <a:avLst/>
          </a:prstGeom>
          <a:noFill/>
          <a:ln/>
        </p:spPr>
        <p:txBody>
          <a:bodyPr wrap="square" lIns="0" tIns="0" rIns="0" bIns="0" rtlCol="0" anchor="ctr"/>
          <a:lstStyle/>
          <a:p>
            <a:pPr indent="0" marL="0">
              <a:buNone/>
            </a:pPr>
            <a:r>
              <a:rPr lang="en-US" sz="1100" dirty="0">
                <a:solidFill>
                  <a:srgbClr val="90A4AE"/>
                </a:solidFill>
                <a:latin typeface="Courier New" pitchFamily="34" charset="0"/>
                <a:ea typeface="Courier New" pitchFamily="34" charset="-122"/>
                <a:cs typeface="Courier New" pitchFamily="34" charset="-120"/>
              </a:rPr>
              <a:t>Colab: hafta09_coklu_hizalama_filogenetik.ipynb</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Bu haftanın hedefleri</a:t>
            </a:r>
            <a:endParaRPr lang="en-US" sz="3000" dirty="0"/>
          </a:p>
        </p:txBody>
      </p:sp>
      <p:sp>
        <p:nvSpPr>
          <p:cNvPr id="3" name="Text 1"/>
          <p:cNvSpPr txBox="1"/>
          <p:nvPr/>
        </p:nvSpPr>
        <p:spPr>
          <a:xfrm>
            <a:off x="548640" y="1234440"/>
            <a:ext cx="5486400" cy="4983480"/>
          </a:xfrm>
          <a:prstGeom prst="rect">
            <a:avLst/>
          </a:prstGeom>
          <a:noFill/>
          <a:ln/>
        </p:spPr>
        <p:txBody>
          <a:bodyPr wrap="square" lIns="25400" tIns="25400" rIns="50800" bIns="25400" rtlCol="0" anchor="t"/>
          <a:lstStyle/>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Çoklu dizi hizalamanın (MSA) amacını ve </a:t>
            </a:r>
            <a:r>
              <a:rPr lang="en-US" sz="1800" b="1" dirty="0">
                <a:solidFill>
                  <a:srgbClr val="212121"/>
                </a:solidFill>
                <a:latin typeface="Calibri" pitchFamily="34" charset="0"/>
                <a:ea typeface="Calibri" pitchFamily="34" charset="-122"/>
                <a:cs typeface="Calibri" pitchFamily="34" charset="-120"/>
              </a:rPr>
              <a:t>ilerlemeli</a:t>
            </a:r>
            <a:r>
              <a:rPr lang="en-US" sz="1800" dirty="0">
                <a:solidFill>
                  <a:srgbClr val="212121"/>
                </a:solidFill>
                <a:latin typeface="Calibri" pitchFamily="34" charset="0"/>
                <a:ea typeface="Calibri" pitchFamily="34" charset="-122"/>
                <a:cs typeface="Calibri" pitchFamily="34" charset="-120"/>
              </a:rPr>
              <a:t> yaklaşımı açıklamak</a:t>
            </a:r>
            <a:endParaRPr lang="en-US" sz="1800" dirty="0"/>
          </a:p>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SP skoru</a:t>
            </a:r>
            <a:r>
              <a:rPr lang="en-US" sz="1800" dirty="0">
                <a:solidFill>
                  <a:srgbClr val="212121"/>
                </a:solidFill>
                <a:latin typeface="Calibri" pitchFamily="34" charset="0"/>
                <a:ea typeface="Calibri" pitchFamily="34" charset="-122"/>
                <a:cs typeface="Calibri" pitchFamily="34" charset="-120"/>
              </a:rPr>
              <a:t> ve </a:t>
            </a:r>
            <a:r>
              <a:rPr lang="en-US" sz="1800" b="1" dirty="0">
                <a:solidFill>
                  <a:srgbClr val="212121"/>
                </a:solidFill>
                <a:latin typeface="Calibri" pitchFamily="34" charset="0"/>
                <a:ea typeface="Calibri" pitchFamily="34" charset="-122"/>
                <a:cs typeface="Calibri" pitchFamily="34" charset="-120"/>
              </a:rPr>
              <a:t>Shannon entropisi</a:t>
            </a:r>
            <a:r>
              <a:rPr lang="en-US" sz="1800" dirty="0">
                <a:solidFill>
                  <a:srgbClr val="212121"/>
                </a:solidFill>
                <a:latin typeface="Calibri" pitchFamily="34" charset="0"/>
                <a:ea typeface="Calibri" pitchFamily="34" charset="-122"/>
                <a:cs typeface="Calibri" pitchFamily="34" charset="-120"/>
              </a:rPr>
              <a:t> ile hizalamayı ve korunmuşluğu ölçmek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p-uzaklığı ve </a:t>
            </a:r>
            <a:r>
              <a:rPr lang="en-US" sz="1800" b="1" dirty="0">
                <a:solidFill>
                  <a:srgbClr val="212121"/>
                </a:solidFill>
                <a:latin typeface="Calibri" pitchFamily="34" charset="0"/>
                <a:ea typeface="Calibri" pitchFamily="34" charset="-122"/>
                <a:cs typeface="Calibri" pitchFamily="34" charset="-120"/>
              </a:rPr>
              <a:t>Jukes–Cantor</a:t>
            </a:r>
            <a:r>
              <a:rPr lang="en-US" sz="1800" dirty="0">
                <a:solidFill>
                  <a:srgbClr val="212121"/>
                </a:solidFill>
                <a:latin typeface="Calibri" pitchFamily="34" charset="0"/>
                <a:ea typeface="Calibri" pitchFamily="34" charset="-122"/>
                <a:cs typeface="Calibri" pitchFamily="34" charset="-120"/>
              </a:rPr>
              <a:t> düzeltmesini hesaplamak</a:t>
            </a:r>
            <a:endParaRPr lang="en-US" sz="1800" dirty="0"/>
          </a:p>
          <a:p>
            <a:pPr marL="228600" indent="-228600">
              <a:spcAft>
                <a:spcPts val="700"/>
              </a:spcAft>
              <a:buSzPct val="100000"/>
              <a:buChar char="•"/>
            </a:pPr>
            <a:r>
              <a:rPr lang="en-US" sz="1800" b="1" dirty="0">
                <a:solidFill>
                  <a:srgbClr val="212121"/>
                </a:solidFill>
                <a:latin typeface="Calibri" pitchFamily="34" charset="0"/>
                <a:ea typeface="Calibri" pitchFamily="34" charset="-122"/>
                <a:cs typeface="Calibri" pitchFamily="34" charset="-120"/>
              </a:rPr>
              <a:t>UPGMA</a:t>
            </a:r>
            <a:r>
              <a:rPr lang="en-US" sz="1800" dirty="0">
                <a:solidFill>
                  <a:srgbClr val="212121"/>
                </a:solidFill>
                <a:latin typeface="Calibri" pitchFamily="34" charset="0"/>
                <a:ea typeface="Calibri" pitchFamily="34" charset="-122"/>
                <a:cs typeface="Calibri" pitchFamily="34" charset="-120"/>
              </a:rPr>
              <a:t> ve </a:t>
            </a:r>
            <a:r>
              <a:rPr lang="en-US" sz="1800" b="1" dirty="0">
                <a:solidFill>
                  <a:srgbClr val="212121"/>
                </a:solidFill>
                <a:latin typeface="Calibri" pitchFamily="34" charset="0"/>
                <a:ea typeface="Calibri" pitchFamily="34" charset="-122"/>
                <a:cs typeface="Calibri" pitchFamily="34" charset="-120"/>
              </a:rPr>
              <a:t>Komşu Birleştirme (NJ)</a:t>
            </a:r>
            <a:r>
              <a:rPr lang="en-US" sz="1800" dirty="0">
                <a:solidFill>
                  <a:srgbClr val="212121"/>
                </a:solidFill>
                <a:latin typeface="Calibri" pitchFamily="34" charset="0"/>
                <a:ea typeface="Calibri" pitchFamily="34" charset="-122"/>
                <a:cs typeface="Calibri" pitchFamily="34" charset="-120"/>
              </a:rPr>
              <a:t> algoritmalarını elle, ara matrislerle yürütmek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Bio.Phylo</a:t>
            </a:r>
            <a:r>
              <a:rPr lang="en-US" sz="1800" dirty="0">
                <a:solidFill>
                  <a:srgbClr val="212121"/>
                </a:solidFill>
                <a:latin typeface="Calibri" pitchFamily="34" charset="0"/>
                <a:ea typeface="Calibri" pitchFamily="34" charset="-122"/>
                <a:cs typeface="Calibri" pitchFamily="34" charset="-120"/>
              </a:rPr>
              <a:t> ile ağaç kurmak/çizmek; Biopython UPGMA = WPGMA farkını bilmek</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Ağaçları </a:t>
            </a:r>
            <a:r>
              <a:rPr lang="en-US" sz="1800" b="1" dirty="0">
                <a:solidFill>
                  <a:srgbClr val="212121"/>
                </a:solidFill>
                <a:latin typeface="Calibri" pitchFamily="34" charset="0"/>
                <a:ea typeface="Calibri" pitchFamily="34" charset="-122"/>
                <a:cs typeface="Calibri" pitchFamily="34" charset="-120"/>
              </a:rPr>
              <a:t>Robinson–Foulds</a:t>
            </a:r>
            <a:r>
              <a:rPr lang="en-US" sz="1800" dirty="0">
                <a:solidFill>
                  <a:srgbClr val="212121"/>
                </a:solidFill>
                <a:latin typeface="Calibri" pitchFamily="34" charset="0"/>
                <a:ea typeface="Calibri" pitchFamily="34" charset="-122"/>
                <a:cs typeface="Calibri" pitchFamily="34" charset="-120"/>
              </a:rPr>
              <a:t> uzaklığı ve </a:t>
            </a:r>
            <a:r>
              <a:rPr lang="en-US" sz="1800" b="1" dirty="0">
                <a:solidFill>
                  <a:srgbClr val="212121"/>
                </a:solidFill>
                <a:latin typeface="Calibri" pitchFamily="34" charset="0"/>
                <a:ea typeface="Calibri" pitchFamily="34" charset="-122"/>
                <a:cs typeface="Calibri" pitchFamily="34" charset="-120"/>
              </a:rPr>
              <a:t>bootstrap</a:t>
            </a:r>
            <a:r>
              <a:rPr lang="en-US" sz="1800" dirty="0">
                <a:solidFill>
                  <a:srgbClr val="212121"/>
                </a:solidFill>
                <a:latin typeface="Calibri" pitchFamily="34" charset="0"/>
                <a:ea typeface="Calibri" pitchFamily="34" charset="-122"/>
                <a:cs typeface="Calibri" pitchFamily="34" charset="-120"/>
              </a:rPr>
              <a:t> desteğiyle değerlendirmek</a:t>
            </a:r>
            <a:endParaRPr lang="en-US" sz="1800" dirty="0"/>
          </a:p>
        </p:txBody>
      </p:sp>
      <p:sp>
        <p:nvSpPr>
          <p:cNvPr id="4" name="Text 2"/>
          <p:cNvSpPr txBox="1"/>
          <p:nvPr/>
        </p:nvSpPr>
        <p:spPr>
          <a:xfrm>
            <a:off x="6400800" y="1234440"/>
            <a:ext cx="5242255" cy="365760"/>
          </a:xfrm>
          <a:prstGeom prst="rect">
            <a:avLst/>
          </a:prstGeom>
          <a:noFill/>
          <a:ln/>
        </p:spPr>
        <p:txBody>
          <a:bodyPr wrap="square" lIns="0" tIns="0" rIns="0" bIns="0" rtlCol="0" anchor="ctr"/>
          <a:lstStyle/>
          <a:p>
            <a:pPr indent="0" marL="0">
              <a:buNone/>
            </a:pPr>
            <a:r>
              <a:rPr lang="en-US" sz="1600" b="1" dirty="0">
                <a:solidFill>
                  <a:srgbClr val="263238"/>
                </a:solidFill>
              </a:rPr>
              <a:t>Ders akışı (3 saat)</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6400800" y="1691640"/>
          <a:ext cx="5242255" cy="914400"/>
        </p:xfrm>
        <a:graphic>
          <a:graphicData uri="http://schemas.openxmlformats.org/drawingml/2006/table">
            <a:tbl>
              <a:tblPr/>
              <a:tblGrid>
                <a:gridCol w="1048451"/>
                <a:gridCol w="4193804"/>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İçerik</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MSA, SP skoru, entropi; evrimsel uzaklık ve JC69 (elle örnekler)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UPGMA ve NJ elle (ara matrisler, Q-matrisi); Biopython ağaç araçları; notebook bölüm 1–4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saat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RF uzaklığı, bootstrap, protein ailesi ağacı; notebook bölüm 5–8 ve alıştırmalar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1</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Çoklu dizi hizalama (MSA)</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Üç ya da daha fazla diziyi aynı anda hizalamak: korunmuş bölgeler, işlevsel kalıntılar, filogeninin girdisi</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Neden kesin MSA yapılamıyor?</a:t>
            </a:r>
            <a:endParaRPr lang="en-US" sz="3000" dirty="0"/>
          </a:p>
        </p:txBody>
      </p:sp>
      <p:sp>
        <p:nvSpPr>
          <p:cNvPr id="3" name="Shape 1"/>
          <p:cNvSpPr/>
          <p:nvPr/>
        </p:nvSpPr>
        <p:spPr>
          <a:xfrm>
            <a:off x="548640" y="1417320"/>
            <a:ext cx="3484778" cy="2194560"/>
          </a:xfrm>
          <a:prstGeom prst="roundRect">
            <a:avLst>
              <a:gd name="adj" fmla="val 3333"/>
            </a:avLst>
          </a:prstGeom>
          <a:solidFill>
            <a:srgbClr val="F7F9FA"/>
          </a:solidFill>
          <a:ln w="12700">
            <a:solidFill>
              <a:srgbClr val="B0BEC5"/>
            </a:solidFill>
            <a:prstDash val="solid"/>
          </a:ln>
        </p:spPr>
      </p:sp>
      <p:sp>
        <p:nvSpPr>
          <p:cNvPr id="4" name="Text 2"/>
          <p:cNvSpPr txBox="1"/>
          <p:nvPr/>
        </p:nvSpPr>
        <p:spPr>
          <a:xfrm>
            <a:off x="548640" y="1554480"/>
            <a:ext cx="3484778" cy="1097280"/>
          </a:xfrm>
          <a:prstGeom prst="rect">
            <a:avLst/>
          </a:prstGeom>
          <a:noFill/>
          <a:ln/>
        </p:spPr>
        <p:txBody>
          <a:bodyPr wrap="square" lIns="0" tIns="0" rIns="0" bIns="0" rtlCol="0" anchor="ctr"/>
          <a:lstStyle/>
          <a:p>
            <a:pPr algn="ctr" indent="0" marL="0">
              <a:buNone/>
            </a:pPr>
            <a:r>
              <a:rPr lang="en-US" sz="3400" b="1" dirty="0">
                <a:solidFill>
                  <a:srgbClr val="B71C1C"/>
                </a:solidFill>
              </a:rPr>
              <a:t>2.6 × 10⁴</a:t>
            </a:r>
            <a:endParaRPr lang="en-US" sz="3400" dirty="0"/>
          </a:p>
        </p:txBody>
      </p:sp>
      <p:sp>
        <p:nvSpPr>
          <p:cNvPr id="5" name="Text 3"/>
          <p:cNvSpPr txBox="1"/>
          <p:nvPr/>
        </p:nvSpPr>
        <p:spPr>
          <a:xfrm>
            <a:off x="685800" y="2651760"/>
            <a:ext cx="3210458" cy="868680"/>
          </a:xfrm>
          <a:prstGeom prst="rect">
            <a:avLst/>
          </a:prstGeom>
          <a:noFill/>
          <a:ln/>
        </p:spPr>
        <p:txBody>
          <a:bodyPr wrap="square" lIns="0" tIns="0" rIns="0" bIns="0" rtlCol="0" anchor="t"/>
          <a:lstStyle/>
          <a:p>
            <a:pPr algn="ctr" indent="0" marL="0">
              <a:buNone/>
            </a:pPr>
            <a:r>
              <a:rPr lang="en-US" sz="1400" dirty="0">
                <a:solidFill>
                  <a:srgbClr val="546E7A"/>
                </a:solidFill>
              </a:rPr>
              <a:t>Hücre: </a:t>
            </a:r>
            <a:r>
              <a:rPr lang="en-US" sz="1400" b="1" dirty="0">
                <a:solidFill>
                  <a:srgbClr val="546E7A"/>
                </a:solidFill>
              </a:rPr>
              <a:t>2</a:t>
            </a:r>
            <a:r>
              <a:rPr lang="en-US" sz="1400" dirty="0">
                <a:solidFill>
                  <a:srgbClr val="546E7A"/>
                </a:solidFill>
              </a:rPr>
              <a:t> dizi × 160 sütun (L² — ikili DP)</a:t>
            </a:r>
            <a:endParaRPr lang="en-US" sz="1400" dirty="0"/>
          </a:p>
        </p:txBody>
      </p:sp>
      <p:sp>
        <p:nvSpPr>
          <p:cNvPr id="6" name="Shape 4"/>
          <p:cNvSpPr/>
          <p:nvPr/>
        </p:nvSpPr>
        <p:spPr>
          <a:xfrm>
            <a:off x="4353458" y="1417320"/>
            <a:ext cx="3484778" cy="2194560"/>
          </a:xfrm>
          <a:prstGeom prst="roundRect">
            <a:avLst>
              <a:gd name="adj" fmla="val 3333"/>
            </a:avLst>
          </a:prstGeom>
          <a:solidFill>
            <a:srgbClr val="F7F9FA"/>
          </a:solidFill>
          <a:ln w="12700">
            <a:solidFill>
              <a:srgbClr val="B0BEC5"/>
            </a:solidFill>
            <a:prstDash val="solid"/>
          </a:ln>
        </p:spPr>
      </p:sp>
      <p:sp>
        <p:nvSpPr>
          <p:cNvPr id="7" name="Text 5"/>
          <p:cNvSpPr txBox="1"/>
          <p:nvPr/>
        </p:nvSpPr>
        <p:spPr>
          <a:xfrm>
            <a:off x="4353458" y="1554480"/>
            <a:ext cx="3484778" cy="1097280"/>
          </a:xfrm>
          <a:prstGeom prst="rect">
            <a:avLst/>
          </a:prstGeom>
          <a:noFill/>
          <a:ln/>
        </p:spPr>
        <p:txBody>
          <a:bodyPr wrap="square" lIns="0" tIns="0" rIns="0" bIns="0" rtlCol="0" anchor="ctr"/>
          <a:lstStyle/>
          <a:p>
            <a:pPr algn="ctr" indent="0" marL="0">
              <a:buNone/>
            </a:pPr>
            <a:r>
              <a:rPr lang="en-US" sz="3400" b="1" dirty="0">
                <a:solidFill>
                  <a:srgbClr val="B71C1C"/>
                </a:solidFill>
              </a:rPr>
              <a:t>4.3 × 10¹⁷</a:t>
            </a:r>
            <a:endParaRPr lang="en-US" sz="3400" dirty="0"/>
          </a:p>
        </p:txBody>
      </p:sp>
      <p:sp>
        <p:nvSpPr>
          <p:cNvPr id="8" name="Text 6"/>
          <p:cNvSpPr txBox="1"/>
          <p:nvPr/>
        </p:nvSpPr>
        <p:spPr>
          <a:xfrm>
            <a:off x="4490618" y="2651760"/>
            <a:ext cx="3210458" cy="868680"/>
          </a:xfrm>
          <a:prstGeom prst="rect">
            <a:avLst/>
          </a:prstGeom>
          <a:noFill/>
          <a:ln/>
        </p:spPr>
        <p:txBody>
          <a:bodyPr wrap="square" lIns="0" tIns="0" rIns="0" bIns="0" rtlCol="0" anchor="t"/>
          <a:lstStyle/>
          <a:p>
            <a:pPr algn="ctr" indent="0" marL="0">
              <a:buNone/>
            </a:pPr>
            <a:r>
              <a:rPr lang="en-US" sz="1400" dirty="0">
                <a:solidFill>
                  <a:srgbClr val="546E7A"/>
                </a:solidFill>
              </a:rPr>
              <a:t>Hücre: </a:t>
            </a:r>
            <a:r>
              <a:rPr lang="en-US" sz="1400" b="1" dirty="0">
                <a:solidFill>
                  <a:srgbClr val="546E7A"/>
                </a:solidFill>
              </a:rPr>
              <a:t>8</a:t>
            </a:r>
            <a:r>
              <a:rPr lang="en-US" sz="1400" dirty="0">
                <a:solidFill>
                  <a:srgbClr val="546E7A"/>
                </a:solidFill>
              </a:rPr>
              <a:t> dizi × 160 sütun (L⁸ — 8 boyutlu DP)</a:t>
            </a:r>
            <a:endParaRPr lang="en-US" sz="1400" dirty="0"/>
          </a:p>
        </p:txBody>
      </p:sp>
      <p:sp>
        <p:nvSpPr>
          <p:cNvPr id="9" name="Shape 7"/>
          <p:cNvSpPr/>
          <p:nvPr/>
        </p:nvSpPr>
        <p:spPr>
          <a:xfrm>
            <a:off x="8158277" y="1417320"/>
            <a:ext cx="3484778" cy="2194560"/>
          </a:xfrm>
          <a:prstGeom prst="roundRect">
            <a:avLst>
              <a:gd name="adj" fmla="val 3333"/>
            </a:avLst>
          </a:prstGeom>
          <a:solidFill>
            <a:srgbClr val="F7F9FA"/>
          </a:solidFill>
          <a:ln w="12700">
            <a:solidFill>
              <a:srgbClr val="B0BEC5"/>
            </a:solidFill>
            <a:prstDash val="solid"/>
          </a:ln>
        </p:spPr>
      </p:sp>
      <p:sp>
        <p:nvSpPr>
          <p:cNvPr id="10" name="Text 8"/>
          <p:cNvSpPr txBox="1"/>
          <p:nvPr/>
        </p:nvSpPr>
        <p:spPr>
          <a:xfrm>
            <a:off x="8158277" y="1554480"/>
            <a:ext cx="3484778" cy="1097280"/>
          </a:xfrm>
          <a:prstGeom prst="rect">
            <a:avLst/>
          </a:prstGeom>
          <a:noFill/>
          <a:ln/>
        </p:spPr>
        <p:txBody>
          <a:bodyPr wrap="square" lIns="0" tIns="0" rIns="0" bIns="0" rtlCol="0" anchor="ctr"/>
          <a:lstStyle/>
          <a:p>
            <a:pPr algn="ctr" indent="0" marL="0">
              <a:buNone/>
            </a:pPr>
            <a:r>
              <a:rPr lang="en-US" sz="4800" b="1" dirty="0">
                <a:solidFill>
                  <a:srgbClr val="B71C1C"/>
                </a:solidFill>
              </a:rPr>
              <a:t>255</a:t>
            </a:r>
            <a:endParaRPr lang="en-US" sz="4800" dirty="0"/>
          </a:p>
        </p:txBody>
      </p:sp>
      <p:sp>
        <p:nvSpPr>
          <p:cNvPr id="11" name="Text 9"/>
          <p:cNvSpPr txBox="1"/>
          <p:nvPr/>
        </p:nvSpPr>
        <p:spPr>
          <a:xfrm>
            <a:off x="8295437" y="2651760"/>
            <a:ext cx="3210458" cy="868680"/>
          </a:xfrm>
          <a:prstGeom prst="rect">
            <a:avLst/>
          </a:prstGeom>
          <a:noFill/>
          <a:ln/>
        </p:spPr>
        <p:txBody>
          <a:bodyPr wrap="square" lIns="0" tIns="0" rIns="0" bIns="0" rtlCol="0" anchor="t"/>
          <a:lstStyle/>
          <a:p>
            <a:pPr algn="ctr" indent="0" marL="0">
              <a:buNone/>
            </a:pPr>
            <a:r>
              <a:rPr lang="en-US" sz="1400" dirty="0">
                <a:solidFill>
                  <a:srgbClr val="546E7A"/>
                </a:solidFill>
              </a:rPr>
              <a:t>Her hücrede incelenecek öncül: 2⁸ − 1</a:t>
            </a:r>
            <a:endParaRPr lang="en-US" sz="1400" dirty="0"/>
          </a:p>
        </p:txBody>
      </p:sp>
      <p:sp>
        <p:nvSpPr>
          <p:cNvPr id="12" name="Text 10"/>
          <p:cNvSpPr txBox="1"/>
          <p:nvPr/>
        </p:nvSpPr>
        <p:spPr>
          <a:xfrm>
            <a:off x="548640" y="3886200"/>
            <a:ext cx="11094415" cy="2377440"/>
          </a:xfrm>
          <a:prstGeom prst="rect">
            <a:avLst/>
          </a:prstGeom>
          <a:noFill/>
          <a:ln/>
        </p:spPr>
        <p:txBody>
          <a:bodyPr wrap="square" lIns="25400" tIns="25400" rIns="50800" bIns="25400" rtlCol="0" anchor="t"/>
          <a:lstStyle/>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Kesin DP N dizi için </a:t>
            </a:r>
            <a:r>
              <a:rPr lang="en-US" sz="1800" b="1" dirty="0">
                <a:solidFill>
                  <a:srgbClr val="212121"/>
                </a:solidFill>
                <a:latin typeface="Calibri" pitchFamily="34" charset="0"/>
                <a:ea typeface="Calibri" pitchFamily="34" charset="-122"/>
                <a:cs typeface="Calibri" pitchFamily="34" charset="-120"/>
              </a:rPr>
              <a:t>O(Lᴺ · 2ᴺ)</a:t>
            </a:r>
            <a:r>
              <a:rPr lang="en-US" sz="1800" dirty="0">
                <a:solidFill>
                  <a:srgbClr val="212121"/>
                </a:solidFill>
                <a:latin typeface="Calibri" pitchFamily="34" charset="0"/>
                <a:ea typeface="Calibri" pitchFamily="34" charset="-122"/>
                <a:cs typeface="Calibri" pitchFamily="34" charset="-120"/>
              </a:rPr>
              <a:t>; SP skorunu optimize eden MSA </a:t>
            </a:r>
            <a:r>
              <a:rPr lang="en-US" sz="1800" b="1" dirty="0">
                <a:solidFill>
                  <a:srgbClr val="212121"/>
                </a:solidFill>
                <a:latin typeface="Calibri" pitchFamily="34" charset="0"/>
                <a:ea typeface="Calibri" pitchFamily="34" charset="-122"/>
                <a:cs typeface="Calibri" pitchFamily="34" charset="-120"/>
              </a:rPr>
              <a:t>NP-zordur</a:t>
            </a:r>
            <a:endParaRPr lang="en-US" sz="1800" dirty="0"/>
          </a:p>
          <a:p>
            <a:pPr marL="228600" indent="-228600">
              <a:spcAft>
                <a:spcPts val="700"/>
              </a:spcAft>
              <a:buSzPct val="100000"/>
              <a:buChar char="•"/>
            </a:pPr>
            <a:r>
              <a:rPr lang="en-US" sz="1800" dirty="0">
                <a:solidFill>
                  <a:srgbClr val="212121"/>
                </a:solidFill>
                <a:latin typeface="Calibri" pitchFamily="34" charset="0"/>
                <a:ea typeface="Calibri" pitchFamily="34" charset="-122"/>
                <a:cs typeface="Calibri" pitchFamily="34" charset="-120"/>
              </a:rPr>
              <a:t>Pratik çözüm: </a:t>
            </a:r>
            <a:r>
              <a:rPr lang="en-US" sz="1800" b="1" dirty="0">
                <a:solidFill>
                  <a:srgbClr val="212121"/>
                </a:solidFill>
                <a:latin typeface="Calibri" pitchFamily="34" charset="0"/>
                <a:ea typeface="Calibri" pitchFamily="34" charset="-122"/>
                <a:cs typeface="Calibri" pitchFamily="34" charset="-120"/>
              </a:rPr>
              <a:t>sezgisel</a:t>
            </a:r>
            <a:r>
              <a:rPr lang="en-US" sz="1800" dirty="0">
                <a:solidFill>
                  <a:srgbClr val="212121"/>
                </a:solidFill>
                <a:latin typeface="Calibri" pitchFamily="34" charset="0"/>
                <a:ea typeface="Calibri" pitchFamily="34" charset="-122"/>
                <a:cs typeface="Calibri" pitchFamily="34" charset="-120"/>
              </a:rPr>
              <a:t> yöntemler — ilerlemeli (Clustal Omega, MAFFT, MUSCLE), iteratif iyileştirme, tutarlılık tabanlı (T-Coffee)</a:t>
            </a:r>
            <a:endParaRPr lang="en-US" sz="1800" dirty="0"/>
          </a:p>
        </p:txBody>
      </p:sp>
      <p:sp>
        <p:nvSpPr>
          <p:cNvPr id="13" name="Text 11"/>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4" name="Text 12"/>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İlerlemeli (progressive) hizalama</a:t>
            </a:r>
            <a:endParaRPr lang="en-US" sz="3000" dirty="0"/>
          </a:p>
        </p:txBody>
      </p:sp>
      <p:sp>
        <p:nvSpPr>
          <p:cNvPr id="3" name="Shape 1"/>
          <p:cNvSpPr/>
          <p:nvPr/>
        </p:nvSpPr>
        <p:spPr>
          <a:xfrm>
            <a:off x="548640" y="1417320"/>
            <a:ext cx="1889699" cy="1828800"/>
          </a:xfrm>
          <a:prstGeom prst="roundRect">
            <a:avLst>
              <a:gd name="adj" fmla="val 4000"/>
            </a:avLst>
          </a:prstGeom>
          <a:solidFill>
            <a:srgbClr val="F7F9FA"/>
          </a:solidFill>
          <a:ln w="12700">
            <a:solidFill>
              <a:srgbClr val="B0BEC5"/>
            </a:solidFill>
            <a:prstDash val="solid"/>
          </a:ln>
        </p:spPr>
      </p:sp>
      <p:sp>
        <p:nvSpPr>
          <p:cNvPr id="4" name="Text 2"/>
          <p:cNvSpPr txBox="1"/>
          <p:nvPr/>
        </p:nvSpPr>
        <p:spPr>
          <a:xfrm>
            <a:off x="621792" y="1417320"/>
            <a:ext cx="1743395" cy="182880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1. İkili uzaklıklar</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N(N−1)/2 çift; 8 dizi → 28 ikili hizalama</a:t>
            </a:r>
            <a:endParaRPr lang="en-US" sz="1500" dirty="0"/>
          </a:p>
        </p:txBody>
      </p:sp>
      <p:sp>
        <p:nvSpPr>
          <p:cNvPr id="5" name="Shape 3"/>
          <p:cNvSpPr/>
          <p:nvPr/>
        </p:nvSpPr>
        <p:spPr>
          <a:xfrm>
            <a:off x="2484059" y="2331720"/>
            <a:ext cx="320040" cy="0"/>
          </a:xfrm>
          <a:prstGeom prst="line">
            <a:avLst/>
          </a:prstGeom>
          <a:noFill/>
          <a:ln w="19050">
            <a:solidFill>
              <a:srgbClr val="546E7A"/>
            </a:solidFill>
            <a:prstDash val="solid"/>
            <a:tailEnd type="triangle"/>
          </a:ln>
        </p:spPr>
      </p:sp>
      <p:sp>
        <p:nvSpPr>
          <p:cNvPr id="6" name="Shape 4"/>
          <p:cNvSpPr/>
          <p:nvPr/>
        </p:nvSpPr>
        <p:spPr>
          <a:xfrm>
            <a:off x="2849819" y="1417320"/>
            <a:ext cx="1889699" cy="1828800"/>
          </a:xfrm>
          <a:prstGeom prst="roundRect">
            <a:avLst>
              <a:gd name="adj" fmla="val 4000"/>
            </a:avLst>
          </a:prstGeom>
          <a:solidFill>
            <a:srgbClr val="F7F9FA"/>
          </a:solidFill>
          <a:ln w="12700">
            <a:solidFill>
              <a:srgbClr val="B0BEC5"/>
            </a:solidFill>
            <a:prstDash val="solid"/>
          </a:ln>
        </p:spPr>
      </p:sp>
      <p:sp>
        <p:nvSpPr>
          <p:cNvPr id="7" name="Text 5"/>
          <p:cNvSpPr txBox="1"/>
          <p:nvPr/>
        </p:nvSpPr>
        <p:spPr>
          <a:xfrm>
            <a:off x="2922971" y="1417320"/>
            <a:ext cx="1743395" cy="182880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2. Kılavuz ağaç</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uzaklıklardan UPGMA / NJ (guide tree)</a:t>
            </a:r>
            <a:endParaRPr lang="en-US" sz="1500" dirty="0"/>
          </a:p>
        </p:txBody>
      </p:sp>
      <p:sp>
        <p:nvSpPr>
          <p:cNvPr id="8" name="Shape 6"/>
          <p:cNvSpPr/>
          <p:nvPr/>
        </p:nvSpPr>
        <p:spPr>
          <a:xfrm>
            <a:off x="4785238" y="2331720"/>
            <a:ext cx="320040" cy="0"/>
          </a:xfrm>
          <a:prstGeom prst="line">
            <a:avLst/>
          </a:prstGeom>
          <a:noFill/>
          <a:ln w="19050">
            <a:solidFill>
              <a:srgbClr val="546E7A"/>
            </a:solidFill>
            <a:prstDash val="solid"/>
            <a:tailEnd type="triangle"/>
          </a:ln>
        </p:spPr>
      </p:sp>
      <p:sp>
        <p:nvSpPr>
          <p:cNvPr id="9" name="Shape 7"/>
          <p:cNvSpPr/>
          <p:nvPr/>
        </p:nvSpPr>
        <p:spPr>
          <a:xfrm>
            <a:off x="5150998" y="1417320"/>
            <a:ext cx="1889699" cy="1828800"/>
          </a:xfrm>
          <a:prstGeom prst="roundRect">
            <a:avLst>
              <a:gd name="adj" fmla="val 4000"/>
            </a:avLst>
          </a:prstGeom>
          <a:solidFill>
            <a:srgbClr val="FDECEA"/>
          </a:solidFill>
          <a:ln w="12700">
            <a:solidFill>
              <a:srgbClr val="B71C1C"/>
            </a:solidFill>
            <a:prstDash val="solid"/>
          </a:ln>
        </p:spPr>
      </p:sp>
      <p:sp>
        <p:nvSpPr>
          <p:cNvPr id="10" name="Text 8"/>
          <p:cNvSpPr txBox="1"/>
          <p:nvPr/>
        </p:nvSpPr>
        <p:spPr>
          <a:xfrm>
            <a:off x="5224150" y="1417320"/>
            <a:ext cx="1743395" cy="182880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3. Yapraklardan köke</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en benzer iki dizi önce hizalanır</a:t>
            </a:r>
            <a:endParaRPr lang="en-US" sz="1500" dirty="0"/>
          </a:p>
        </p:txBody>
      </p:sp>
      <p:sp>
        <p:nvSpPr>
          <p:cNvPr id="11" name="Shape 9"/>
          <p:cNvSpPr/>
          <p:nvPr/>
        </p:nvSpPr>
        <p:spPr>
          <a:xfrm>
            <a:off x="7086417" y="2331720"/>
            <a:ext cx="320040" cy="0"/>
          </a:xfrm>
          <a:prstGeom prst="line">
            <a:avLst/>
          </a:prstGeom>
          <a:noFill/>
          <a:ln w="19050">
            <a:solidFill>
              <a:srgbClr val="546E7A"/>
            </a:solidFill>
            <a:prstDash val="solid"/>
            <a:tailEnd type="triangle"/>
          </a:ln>
        </p:spPr>
      </p:sp>
      <p:sp>
        <p:nvSpPr>
          <p:cNvPr id="12" name="Shape 10"/>
          <p:cNvSpPr/>
          <p:nvPr/>
        </p:nvSpPr>
        <p:spPr>
          <a:xfrm>
            <a:off x="7452177" y="1417320"/>
            <a:ext cx="1889699" cy="1828800"/>
          </a:xfrm>
          <a:prstGeom prst="roundRect">
            <a:avLst>
              <a:gd name="adj" fmla="val 4000"/>
            </a:avLst>
          </a:prstGeom>
          <a:solidFill>
            <a:srgbClr val="F7F9FA"/>
          </a:solidFill>
          <a:ln w="12700">
            <a:solidFill>
              <a:srgbClr val="B0BEC5"/>
            </a:solidFill>
            <a:prstDash val="solid"/>
          </a:ln>
        </p:spPr>
      </p:sp>
      <p:sp>
        <p:nvSpPr>
          <p:cNvPr id="13" name="Text 11"/>
          <p:cNvSpPr txBox="1"/>
          <p:nvPr/>
        </p:nvSpPr>
        <p:spPr>
          <a:xfrm>
            <a:off x="7525329" y="1417320"/>
            <a:ext cx="1743395" cy="182880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4. Profil–profil</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kümeler profil olarak birleştirilir; N − 1 birleştirme</a:t>
            </a:r>
            <a:endParaRPr lang="en-US" sz="1500" dirty="0"/>
          </a:p>
        </p:txBody>
      </p:sp>
      <p:sp>
        <p:nvSpPr>
          <p:cNvPr id="14" name="Shape 12"/>
          <p:cNvSpPr/>
          <p:nvPr/>
        </p:nvSpPr>
        <p:spPr>
          <a:xfrm>
            <a:off x="9387596" y="2331720"/>
            <a:ext cx="320040" cy="0"/>
          </a:xfrm>
          <a:prstGeom prst="line">
            <a:avLst/>
          </a:prstGeom>
          <a:noFill/>
          <a:ln w="19050">
            <a:solidFill>
              <a:srgbClr val="546E7A"/>
            </a:solidFill>
            <a:prstDash val="solid"/>
            <a:tailEnd type="triangle"/>
          </a:ln>
        </p:spPr>
      </p:sp>
      <p:sp>
        <p:nvSpPr>
          <p:cNvPr id="15" name="Shape 13"/>
          <p:cNvSpPr/>
          <p:nvPr/>
        </p:nvSpPr>
        <p:spPr>
          <a:xfrm>
            <a:off x="9753356" y="1417320"/>
            <a:ext cx="1889699" cy="1828800"/>
          </a:xfrm>
          <a:prstGeom prst="roundRect">
            <a:avLst>
              <a:gd name="adj" fmla="val 4000"/>
            </a:avLst>
          </a:prstGeom>
          <a:solidFill>
            <a:srgbClr val="F7F9FA"/>
          </a:solidFill>
          <a:ln w="12700">
            <a:solidFill>
              <a:srgbClr val="B0BEC5"/>
            </a:solidFill>
            <a:prstDash val="solid"/>
          </a:ln>
        </p:spPr>
      </p:sp>
      <p:sp>
        <p:nvSpPr>
          <p:cNvPr id="16" name="Text 14"/>
          <p:cNvSpPr txBox="1"/>
          <p:nvPr/>
        </p:nvSpPr>
        <p:spPr>
          <a:xfrm>
            <a:off x="9826508" y="1417320"/>
            <a:ext cx="1743395" cy="1828800"/>
          </a:xfrm>
          <a:prstGeom prst="rect">
            <a:avLst/>
          </a:prstGeom>
          <a:noFill/>
          <a:ln/>
        </p:spPr>
        <p:txBody>
          <a:bodyPr wrap="square" lIns="0" tIns="0" rIns="0" bIns="0" rtlCol="0" anchor="ctr"/>
          <a:lstStyle/>
          <a:p>
            <a:pPr algn="ctr" indent="0" marL="0">
              <a:buNone/>
            </a:pPr>
            <a:r>
              <a:rPr lang="en-US" sz="1500" b="1" dirty="0">
                <a:solidFill>
                  <a:srgbClr val="263238"/>
                </a:solidFill>
                <a:latin typeface="Calibri" pitchFamily="34" charset="0"/>
                <a:ea typeface="Calibri" pitchFamily="34" charset="-122"/>
                <a:cs typeface="Calibri" pitchFamily="34" charset="-120"/>
              </a:rPr>
              <a:t>5. (İsteğe bağlı) iyileştirme</a:t>
            </a:r>
            <a:endParaRPr lang="en-US" sz="1500" dirty="0"/>
          </a:p>
          <a:p>
            <a:pPr algn="ctr" indent="0" marL="0">
              <a:buNone/>
            </a:pPr>
            <a:r>
              <a:rPr lang="en-US" sz="1200" dirty="0">
                <a:solidFill>
                  <a:srgbClr val="37474F"/>
                </a:solidFill>
                <a:latin typeface="Calibri" pitchFamily="34" charset="0"/>
                <a:ea typeface="Calibri" pitchFamily="34" charset="-122"/>
                <a:cs typeface="Calibri" pitchFamily="34" charset="-120"/>
              </a:rPr>
              <a:t>MUSCLE / MAFFT: yeniden böl, yeniden hizala</a:t>
            </a:r>
            <a:endParaRPr lang="en-US" sz="1500" dirty="0"/>
          </a:p>
        </p:txBody>
      </p:sp>
      <p:sp>
        <p:nvSpPr>
          <p:cNvPr id="17" name="Text 15"/>
          <p:cNvSpPr txBox="1"/>
          <p:nvPr/>
        </p:nvSpPr>
        <p:spPr>
          <a:xfrm>
            <a:off x="548640" y="3794760"/>
            <a:ext cx="11094415" cy="2468880"/>
          </a:xfrm>
          <a:prstGeom prst="rect">
            <a:avLst/>
          </a:prstGeom>
          <a:noFill/>
          <a:ln/>
        </p:spPr>
        <p:txBody>
          <a:bodyPr wrap="square" lIns="25400" tIns="25400" rIns="50800" bIns="25400" rtlCol="0" anchor="t"/>
          <a:lstStyle/>
          <a:p>
            <a:pPr marL="228600" indent="-228600">
              <a:spcAft>
                <a:spcPts val="700"/>
              </a:spcAft>
              <a:buSzPct val="100000"/>
              <a:buChar char="•"/>
            </a:pPr>
            <a:r>
              <a:rPr lang="en-US" sz="1700" b="1" dirty="0">
                <a:solidFill>
                  <a:srgbClr val="212121"/>
                </a:solidFill>
                <a:latin typeface="Calibri" pitchFamily="34" charset="0"/>
                <a:ea typeface="Calibri" pitchFamily="34" charset="-122"/>
                <a:cs typeface="Calibri" pitchFamily="34" charset="-120"/>
              </a:rPr>
              <a:t>"Bir kez boşluk, hep boşluk":</a:t>
            </a:r>
            <a:r>
              <a:rPr lang="en-US" sz="1700" dirty="0">
                <a:solidFill>
                  <a:srgbClr val="212121"/>
                </a:solidFill>
                <a:latin typeface="Calibri" pitchFamily="34" charset="0"/>
                <a:ea typeface="Calibri" pitchFamily="34" charset="-122"/>
                <a:cs typeface="Calibri" pitchFamily="34" charset="-120"/>
              </a:rPr>
              <a:t> erken yapılan hata sonradan düzeltilemez → kılavuz ağacın kalitesi kritik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Kılavuz ağaç </a:t>
            </a:r>
            <a:r>
              <a:rPr lang="en-US" sz="1700" b="1" dirty="0">
                <a:solidFill>
                  <a:srgbClr val="212121"/>
                </a:solidFill>
                <a:latin typeface="Calibri" pitchFamily="34" charset="0"/>
                <a:ea typeface="Calibri" pitchFamily="34" charset="-122"/>
                <a:cs typeface="Calibri" pitchFamily="34" charset="-120"/>
              </a:rPr>
              <a:t>filogenetik ağaç değildir</a:t>
            </a:r>
            <a:r>
              <a:rPr lang="en-US" sz="1700" dirty="0">
                <a:solidFill>
                  <a:srgbClr val="212121"/>
                </a:solidFill>
                <a:latin typeface="Calibri" pitchFamily="34" charset="0"/>
                <a:ea typeface="Calibri" pitchFamily="34" charset="-122"/>
                <a:cs typeface="Calibri" pitchFamily="34" charset="-120"/>
              </a:rPr>
              <a:t>; yalnızca hizalama sırasını belirler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Araçlar: Clustal Omega (</a:t>
            </a:r>
            <a:r>
              <a:rPr lang="en-US" sz="1700" dirty="0">
                <a:solidFill>
                  <a:srgbClr val="455A64"/>
                </a:solidFill>
                <a:latin typeface="Courier New" pitchFamily="34" charset="0"/>
                <a:ea typeface="Courier New" pitchFamily="34" charset="-122"/>
                <a:cs typeface="Courier New" pitchFamily="34" charset="-120"/>
              </a:rPr>
              <a:t>clustalo</a:t>
            </a:r>
            <a:r>
              <a:rPr lang="en-US" sz="1700" dirty="0">
                <a:solidFill>
                  <a:srgbClr val="212121"/>
                </a:solidFill>
                <a:latin typeface="Calibri" pitchFamily="34" charset="0"/>
                <a:ea typeface="Calibri" pitchFamily="34" charset="-122"/>
                <a:cs typeface="Calibri" pitchFamily="34" charset="-120"/>
              </a:rPr>
              <a:t>), MAFFT (</a:t>
            </a:r>
            <a:r>
              <a:rPr lang="en-US" sz="1700" dirty="0">
                <a:solidFill>
                  <a:srgbClr val="455A64"/>
                </a:solidFill>
                <a:latin typeface="Courier New" pitchFamily="34" charset="0"/>
                <a:ea typeface="Courier New" pitchFamily="34" charset="-122"/>
                <a:cs typeface="Courier New" pitchFamily="34" charset="-120"/>
              </a:rPr>
              <a:t>mafft</a:t>
            </a:r>
            <a:r>
              <a:rPr lang="en-US" sz="1700" dirty="0">
                <a:solidFill>
                  <a:srgbClr val="212121"/>
                </a:solidFill>
                <a:latin typeface="Calibri" pitchFamily="34" charset="0"/>
                <a:ea typeface="Calibri" pitchFamily="34" charset="-122"/>
                <a:cs typeface="Calibri" pitchFamily="34" charset="-120"/>
              </a:rPr>
              <a:t>), MUSCLE; çıktı </a:t>
            </a:r>
            <a:r>
              <a:rPr lang="en-US" sz="1700" dirty="0">
                <a:solidFill>
                  <a:srgbClr val="455A64"/>
                </a:solidFill>
                <a:latin typeface="Courier New" pitchFamily="34" charset="0"/>
                <a:ea typeface="Courier New" pitchFamily="34" charset="-122"/>
                <a:cs typeface="Courier New" pitchFamily="34" charset="-120"/>
              </a:rPr>
              <a:t>AlignIO.read</a:t>
            </a:r>
            <a:r>
              <a:rPr lang="en-US" sz="1700" dirty="0">
                <a:solidFill>
                  <a:srgbClr val="212121"/>
                </a:solidFill>
                <a:latin typeface="Calibri" pitchFamily="34" charset="0"/>
                <a:ea typeface="Calibri" pitchFamily="34" charset="-122"/>
                <a:cs typeface="Calibri" pitchFamily="34" charset="-120"/>
              </a:rPr>
              <a:t> ile okunur</a:t>
            </a:r>
            <a:endParaRPr lang="en-US" sz="1700" dirty="0"/>
          </a:p>
        </p:txBody>
      </p:sp>
      <p:sp>
        <p:nvSpPr>
          <p:cNvPr id="18" name="Text 16"/>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9" name="Text 17"/>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SP (sum-of-pairs) skoru: tek sütun</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Puanlama: eşleşme +1, uyumsuzluk −1, harf–boşluk −2, boşluk–boşluk 0. Sütun </a:t>
            </a:r>
            <a:r>
              <a:rPr lang="en-US" sz="1800" dirty="0">
                <a:solidFill>
                  <a:srgbClr val="455A64"/>
                </a:solidFill>
                <a:latin typeface="Courier New" pitchFamily="34" charset="0"/>
                <a:ea typeface="Courier New" pitchFamily="34" charset="-122"/>
                <a:cs typeface="Courier New" pitchFamily="34" charset="-120"/>
              </a:rPr>
              <a:t>A, A, C, −</a:t>
            </a:r>
            <a:r>
              <a:rPr lang="en-US" sz="1800" dirty="0">
                <a:solidFill>
                  <a:srgbClr val="212121"/>
                </a:solidFill>
                <a:latin typeface="Calibri" pitchFamily="34" charset="0"/>
                <a:ea typeface="Calibri" pitchFamily="34" charset="-122"/>
                <a:cs typeface="Calibri" pitchFamily="34" charset="-120"/>
              </a:rPr>
              <a:t> için SP skorunu hesaplayın.</a:t>
            </a:r>
            <a:endParaRPr lang="en-US" sz="1800" dirty="0"/>
          </a:p>
        </p:txBody>
      </p:sp>
      <p:sp>
        <p:nvSpPr>
          <p:cNvPr id="6" name="Text 4"/>
          <p:cNvSpPr txBox="1"/>
          <p:nvPr/>
        </p:nvSpPr>
        <p:spPr>
          <a:xfrm>
            <a:off x="548640" y="2779776"/>
            <a:ext cx="554720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4 dizi → C(4,2) = </a:t>
            </a:r>
            <a:r>
              <a:rPr lang="en-US" sz="1800" b="1" dirty="0">
                <a:solidFill>
                  <a:srgbClr val="212121"/>
                </a:solidFill>
                <a:latin typeface="Calibri" pitchFamily="34" charset="0"/>
                <a:ea typeface="Calibri" pitchFamily="34" charset="-122"/>
                <a:cs typeface="Calibri" pitchFamily="34" charset="-120"/>
              </a:rPr>
              <a:t>6</a:t>
            </a:r>
            <a:r>
              <a:rPr lang="en-US" sz="1800" dirty="0">
                <a:solidFill>
                  <a:srgbClr val="212121"/>
                </a:solidFill>
                <a:latin typeface="Calibri" pitchFamily="34" charset="0"/>
                <a:ea typeface="Calibri" pitchFamily="34" charset="-122"/>
                <a:cs typeface="Calibri" pitchFamily="34" charset="-120"/>
              </a:rPr>
              <a:t> çift</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(A,A) = +1;  (A,C) = −1 (iki kez);  (A,−) = −2 (iki kez);  (C,−) = −2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Toplam: +1 − 1 − 2 − 1 − 2 − 2 = </a:t>
            </a:r>
            <a:r>
              <a:rPr lang="en-US" sz="1800" b="1" dirty="0">
                <a:solidFill>
                  <a:srgbClr val="212121"/>
                </a:solidFill>
                <a:latin typeface="Calibri" pitchFamily="34" charset="0"/>
                <a:ea typeface="Calibri" pitchFamily="34" charset="-122"/>
                <a:cs typeface="Calibri" pitchFamily="34" charset="-120"/>
              </a:rPr>
              <a:t>−7</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Karşılaştırma: </a:t>
            </a:r>
            <a:r>
              <a:rPr lang="en-US" sz="1800" dirty="0">
                <a:solidFill>
                  <a:srgbClr val="455A64"/>
                </a:solidFill>
                <a:latin typeface="Courier New" pitchFamily="34" charset="0"/>
                <a:ea typeface="Courier New" pitchFamily="34" charset="-122"/>
                <a:cs typeface="Courier New" pitchFamily="34" charset="-120"/>
              </a:rPr>
              <a:t>AAAA</a:t>
            </a:r>
            <a:r>
              <a:rPr lang="en-US" sz="1800" dirty="0">
                <a:solidFill>
                  <a:srgbClr val="212121"/>
                </a:solidFill>
                <a:latin typeface="Calibri" pitchFamily="34" charset="0"/>
                <a:ea typeface="Calibri" pitchFamily="34" charset="-122"/>
                <a:cs typeface="Calibri" pitchFamily="34" charset="-120"/>
              </a:rPr>
              <a:t> → 6 × (+1) = </a:t>
            </a:r>
            <a:r>
              <a:rPr lang="en-US" sz="1800" b="1" dirty="0">
                <a:solidFill>
                  <a:srgbClr val="212121"/>
                </a:solidFill>
                <a:latin typeface="Calibri" pitchFamily="34" charset="0"/>
                <a:ea typeface="Calibri" pitchFamily="34" charset="-122"/>
                <a:cs typeface="Calibri" pitchFamily="34" charset="-120"/>
              </a:rPr>
              <a:t>+6</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ACGT</a:t>
            </a:r>
            <a:r>
              <a:rPr lang="en-US" sz="1800" dirty="0">
                <a:solidFill>
                  <a:srgbClr val="212121"/>
                </a:solidFill>
                <a:latin typeface="Calibri" pitchFamily="34" charset="0"/>
                <a:ea typeface="Calibri" pitchFamily="34" charset="-122"/>
                <a:cs typeface="Calibri" pitchFamily="34" charset="-120"/>
              </a:rPr>
              <a:t> → 6 × (−1) = </a:t>
            </a:r>
            <a:r>
              <a:rPr lang="en-US" sz="1800" b="1" dirty="0">
                <a:solidFill>
                  <a:srgbClr val="212121"/>
                </a:solidFill>
                <a:latin typeface="Calibri" pitchFamily="34" charset="0"/>
                <a:ea typeface="Calibri" pitchFamily="34" charset="-122"/>
                <a:cs typeface="Calibri" pitchFamily="34" charset="-120"/>
              </a:rPr>
              <a:t>−6</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Hizalamanın SP skoru = </a:t>
            </a:r>
            <a:r>
              <a:rPr lang="en-US" sz="1800" b="1" dirty="0">
                <a:solidFill>
                  <a:srgbClr val="212121"/>
                </a:solidFill>
                <a:latin typeface="Calibri" pitchFamily="34" charset="0"/>
                <a:ea typeface="Calibri" pitchFamily="34" charset="-122"/>
                <a:cs typeface="Calibri" pitchFamily="34" charset="-120"/>
              </a:rPr>
              <a:t>sütun skorlarının toplamı</a:t>
            </a:r>
            <a:endParaRPr lang="en-US" sz="1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15888" y="2779776"/>
          <a:ext cx="5227168" cy="914400"/>
        </p:xfrm>
        <a:graphic>
          <a:graphicData uri="http://schemas.openxmlformats.org/drawingml/2006/table">
            <a:tbl>
              <a:tblPr/>
              <a:tblGrid>
                <a:gridCol w="1844883"/>
                <a:gridCol w="2152363"/>
                <a:gridCol w="1229922"/>
              </a:tblGrid>
              <a:tr h="0">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Çift</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Harfler</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Skor</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 A</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 C</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1–4</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 −</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2–3</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 C</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2–4</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A, −</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3–4</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C, −</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400" dirty="0">
                          <a:solidFill>
                            <a:srgbClr val="212121"/>
                          </a:solidFill>
                          <a:latin typeface="Calibri" pitchFamily="34" charset="0"/>
                          <a:ea typeface="Calibri" pitchFamily="34" charset="-122"/>
                          <a:cs typeface="Calibri" pitchFamily="34" charset="-120"/>
                        </a:rPr>
                        <a:t>Toplam</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SP(A, A, C, −) = </a:t>
            </a:r>
            <a:r>
              <a:rPr lang="en-US" sz="1700" b="1" dirty="0">
                <a:solidFill>
                  <a:srgbClr val="212121"/>
                </a:solidFill>
                <a:latin typeface="Calibri" pitchFamily="34" charset="0"/>
                <a:ea typeface="Calibri" pitchFamily="34" charset="-122"/>
                <a:cs typeface="Calibri" pitchFamily="34" charset="-120"/>
              </a:rPr>
              <a:t>−7</a:t>
            </a:r>
            <a:r>
              <a:rPr lang="en-US" sz="1700" dirty="0">
                <a:solidFill>
                  <a:srgbClr val="212121"/>
                </a:solidFill>
                <a:latin typeface="Calibri" pitchFamily="34" charset="0"/>
                <a:ea typeface="Calibri" pitchFamily="34" charset="-122"/>
                <a:cs typeface="Calibri" pitchFamily="34" charset="-120"/>
              </a:rPr>
              <a:t>. Notebook: </a:t>
            </a:r>
            <a:r>
              <a:rPr lang="en-US" sz="1700" dirty="0">
                <a:solidFill>
                  <a:srgbClr val="455A64"/>
                </a:solidFill>
                <a:latin typeface="Courier New" pitchFamily="34" charset="0"/>
                <a:ea typeface="Courier New" pitchFamily="34" charset="-122"/>
                <a:cs typeface="Courier New" pitchFamily="34" charset="-120"/>
              </a:rPr>
              <a:t>sp_sutun("AAC-")</a:t>
            </a:r>
            <a:r>
              <a:rPr lang="en-US" sz="1700" dirty="0">
                <a:solidFill>
                  <a:srgbClr val="212121"/>
                </a:solidFill>
                <a:latin typeface="Calibri" pitchFamily="34" charset="0"/>
                <a:ea typeface="Calibri" pitchFamily="34" charset="-122"/>
                <a:cs typeface="Calibri" pitchFamily="34" charset="-120"/>
              </a:rPr>
              <a:t> → −7; ders ailesinin ilk 50 sütunu için toplam SP = </a:t>
            </a:r>
            <a:r>
              <a:rPr lang="en-US" sz="1700" b="1" dirty="0">
                <a:solidFill>
                  <a:srgbClr val="212121"/>
                </a:solidFill>
                <a:latin typeface="Calibri" pitchFamily="34" charset="0"/>
                <a:ea typeface="Calibri" pitchFamily="34" charset="-122"/>
                <a:cs typeface="Calibri" pitchFamily="34" charset="-120"/>
              </a:rPr>
              <a:t>593</a:t>
            </a:r>
            <a:r>
              <a:rPr lang="en-US" sz="1700" dirty="0">
                <a:solidFill>
                  <a:srgbClr val="212121"/>
                </a:solidFill>
                <a:latin typeface="Calibri" pitchFamily="34" charset="0"/>
                <a:ea typeface="Calibri" pitchFamily="34" charset="-122"/>
                <a:cs typeface="Calibri" pitchFamily="34" charset="-120"/>
              </a:rPr>
              <a:t>.</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Hangi hizalama daha iyi? SP ile karşılaştırma</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ACGT</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AGT</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ACT</a:t>
            </a:r>
            <a:r>
              <a:rPr lang="en-US" sz="1800" dirty="0">
                <a:solidFill>
                  <a:srgbClr val="212121"/>
                </a:solidFill>
                <a:latin typeface="Calibri" pitchFamily="34" charset="0"/>
                <a:ea typeface="Calibri" pitchFamily="34" charset="-122"/>
                <a:cs typeface="Calibri" pitchFamily="34" charset="-120"/>
              </a:rPr>
              <a:t> dizilerinin üç aday hizalaması veriliyor. Aynı puanlamayla (+1 / −1 / −2 / 0) SP skorlarını hesaplayıp en iyisini seçin.</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00" b="1" dirty="0">
                <a:solidFill>
                  <a:srgbClr val="212121"/>
                </a:solidFill>
                <a:latin typeface="Calibri" pitchFamily="34" charset="0"/>
                <a:ea typeface="Calibri" pitchFamily="34" charset="-122"/>
                <a:cs typeface="Calibri" pitchFamily="34" charset="-120"/>
              </a:rPr>
              <a:t>H1:</a:t>
            </a:r>
            <a:r>
              <a:rPr lang="en-US" sz="1500" dirty="0">
                <a:solidFill>
                  <a:srgbClr val="212121"/>
                </a:solidFill>
                <a:latin typeface="Calibri" pitchFamily="34" charset="0"/>
                <a:ea typeface="Calibri" pitchFamily="34" charset="-122"/>
                <a:cs typeface="Calibri" pitchFamily="34" charset="-120"/>
              </a:rPr>
              <a:t> </a:t>
            </a:r>
            <a:r>
              <a:rPr lang="en-US" sz="1500" dirty="0">
                <a:solidFill>
                  <a:srgbClr val="455A64"/>
                </a:solidFill>
                <a:latin typeface="Courier New" pitchFamily="34" charset="0"/>
                <a:ea typeface="Courier New" pitchFamily="34" charset="-122"/>
                <a:cs typeface="Courier New" pitchFamily="34" charset="-120"/>
              </a:rPr>
              <a:t>ACGT / A-GT / AC-T</a:t>
            </a:r>
            <a:r>
              <a:rPr lang="en-US" sz="1500" dirty="0">
                <a:solidFill>
                  <a:srgbClr val="212121"/>
                </a:solidFill>
                <a:latin typeface="Calibri" pitchFamily="34" charset="0"/>
                <a:ea typeface="Calibri" pitchFamily="34" charset="-122"/>
                <a:cs typeface="Calibri" pitchFamily="34" charset="-120"/>
              </a:rPr>
              <a:t> → sütunlar AAA (+3), C−C (−3), GG− (−3), TTT (+3) → </a:t>
            </a:r>
            <a:r>
              <a:rPr lang="en-US" sz="1500" b="1" dirty="0">
                <a:solidFill>
                  <a:srgbClr val="212121"/>
                </a:solidFill>
                <a:latin typeface="Calibri" pitchFamily="34" charset="0"/>
                <a:ea typeface="Calibri" pitchFamily="34" charset="-122"/>
                <a:cs typeface="Calibri" pitchFamily="34" charset="-120"/>
              </a:rPr>
              <a:t>0</a:t>
            </a:r>
            <a:endParaRPr lang="en-US" sz="1500" dirty="0"/>
          </a:p>
          <a:p>
            <a:pPr marL="342900" indent="-342900">
              <a:spcAft>
                <a:spcPts val="600"/>
              </a:spcAft>
              <a:buSzPct val="100000"/>
              <a:buFont typeface="+mj-lt"/>
              <a:buAutoNum type="arabicPeriod" startAt="1"/>
            </a:pPr>
            <a:r>
              <a:rPr lang="en-US" sz="1500" b="1" dirty="0">
                <a:solidFill>
                  <a:srgbClr val="212121"/>
                </a:solidFill>
                <a:latin typeface="Calibri" pitchFamily="34" charset="0"/>
                <a:ea typeface="Calibri" pitchFamily="34" charset="-122"/>
                <a:cs typeface="Calibri" pitchFamily="34" charset="-120"/>
              </a:rPr>
              <a:t>H2:</a:t>
            </a:r>
            <a:r>
              <a:rPr lang="en-US" sz="1500" dirty="0">
                <a:solidFill>
                  <a:srgbClr val="212121"/>
                </a:solidFill>
                <a:latin typeface="Calibri" pitchFamily="34" charset="0"/>
                <a:ea typeface="Calibri" pitchFamily="34" charset="-122"/>
                <a:cs typeface="Calibri" pitchFamily="34" charset="-120"/>
              </a:rPr>
              <a:t> </a:t>
            </a:r>
            <a:r>
              <a:rPr lang="en-US" sz="1500" dirty="0">
                <a:solidFill>
                  <a:srgbClr val="455A64"/>
                </a:solidFill>
                <a:latin typeface="Courier New" pitchFamily="34" charset="0"/>
                <a:ea typeface="Courier New" pitchFamily="34" charset="-122"/>
                <a:cs typeface="Courier New" pitchFamily="34" charset="-120"/>
              </a:rPr>
              <a:t>ACGT / AG-T / AC-T</a:t>
            </a:r>
            <a:r>
              <a:rPr lang="en-US" sz="1500" dirty="0">
                <a:solidFill>
                  <a:srgbClr val="212121"/>
                </a:solidFill>
                <a:latin typeface="Calibri" pitchFamily="34" charset="0"/>
                <a:ea typeface="Calibri" pitchFamily="34" charset="-122"/>
                <a:cs typeface="Calibri" pitchFamily="34" charset="-120"/>
              </a:rPr>
              <a:t> → AAA (+3), CGC (−1), G−− (−4), TTT (+3) → </a:t>
            </a:r>
            <a:r>
              <a:rPr lang="en-US" sz="1500" b="1" dirty="0">
                <a:solidFill>
                  <a:srgbClr val="212121"/>
                </a:solidFill>
                <a:latin typeface="Calibri" pitchFamily="34" charset="0"/>
                <a:ea typeface="Calibri" pitchFamily="34" charset="-122"/>
                <a:cs typeface="Calibri" pitchFamily="34" charset="-120"/>
              </a:rPr>
              <a:t>+1</a:t>
            </a:r>
            <a:endParaRPr lang="en-US" sz="1500" dirty="0"/>
          </a:p>
          <a:p>
            <a:pPr marL="342900" indent="-342900">
              <a:spcAft>
                <a:spcPts val="600"/>
              </a:spcAft>
              <a:buSzPct val="100000"/>
              <a:buFont typeface="+mj-lt"/>
              <a:buAutoNum type="arabicPeriod" startAt="1"/>
            </a:pPr>
            <a:r>
              <a:rPr lang="en-US" sz="1500" b="1" dirty="0">
                <a:solidFill>
                  <a:srgbClr val="212121"/>
                </a:solidFill>
                <a:latin typeface="Calibri" pitchFamily="34" charset="0"/>
                <a:ea typeface="Calibri" pitchFamily="34" charset="-122"/>
                <a:cs typeface="Calibri" pitchFamily="34" charset="-120"/>
              </a:rPr>
              <a:t>H3:</a:t>
            </a:r>
            <a:r>
              <a:rPr lang="en-US" sz="1500" dirty="0">
                <a:solidFill>
                  <a:srgbClr val="212121"/>
                </a:solidFill>
                <a:latin typeface="Calibri" pitchFamily="34" charset="0"/>
                <a:ea typeface="Calibri" pitchFamily="34" charset="-122"/>
                <a:cs typeface="Calibri" pitchFamily="34" charset="-120"/>
              </a:rPr>
              <a:t> </a:t>
            </a:r>
            <a:r>
              <a:rPr lang="en-US" sz="1500" dirty="0">
                <a:solidFill>
                  <a:srgbClr val="455A64"/>
                </a:solidFill>
                <a:latin typeface="Courier New" pitchFamily="34" charset="0"/>
                <a:ea typeface="Courier New" pitchFamily="34" charset="-122"/>
                <a:cs typeface="Courier New" pitchFamily="34" charset="-120"/>
              </a:rPr>
              <a:t>ACGT / -AGT / -ACT</a:t>
            </a:r>
            <a:r>
              <a:rPr lang="en-US" sz="1500" dirty="0">
                <a:solidFill>
                  <a:srgbClr val="212121"/>
                </a:solidFill>
                <a:latin typeface="Calibri" pitchFamily="34" charset="0"/>
                <a:ea typeface="Calibri" pitchFamily="34" charset="-122"/>
                <a:cs typeface="Calibri" pitchFamily="34" charset="-120"/>
              </a:rPr>
              <a:t> → A−− (−4), CAA (−1), GGC (−1), TTT (+3) → </a:t>
            </a:r>
            <a:r>
              <a:rPr lang="en-US" sz="1500" b="1" dirty="0">
                <a:solidFill>
                  <a:srgbClr val="212121"/>
                </a:solidFill>
                <a:latin typeface="Calibri" pitchFamily="34" charset="0"/>
                <a:ea typeface="Calibri" pitchFamily="34" charset="-122"/>
                <a:cs typeface="Calibri" pitchFamily="34" charset="-120"/>
              </a:rPr>
              <a:t>−3</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3 dizide bir sütunda 3 çift var: ör. </a:t>
            </a:r>
            <a:r>
              <a:rPr lang="en-US" sz="1500" dirty="0">
                <a:solidFill>
                  <a:srgbClr val="455A64"/>
                </a:solidFill>
                <a:latin typeface="Courier New" pitchFamily="34" charset="0"/>
                <a:ea typeface="Courier New" pitchFamily="34" charset="-122"/>
                <a:cs typeface="Courier New" pitchFamily="34" charset="-120"/>
              </a:rPr>
              <a:t>C−C</a:t>
            </a:r>
            <a:r>
              <a:rPr lang="en-US" sz="1500" dirty="0">
                <a:solidFill>
                  <a:srgbClr val="212121"/>
                </a:solidFill>
                <a:latin typeface="Calibri" pitchFamily="34" charset="0"/>
                <a:ea typeface="Calibri" pitchFamily="34" charset="-122"/>
                <a:cs typeface="Calibri" pitchFamily="34" charset="-120"/>
              </a:rPr>
              <a:t> = (C,−) + (C,C) + (−,C) = −2 + 1 − 2</a:t>
            </a:r>
            <a:endParaRPr lang="en-US" sz="1500" dirty="0"/>
          </a:p>
          <a:p>
            <a:pPr marL="342900" indent="-342900">
              <a:spcAft>
                <a:spcPts val="600"/>
              </a:spcAft>
              <a:buSzPct val="100000"/>
              <a:buFont typeface="+mj-lt"/>
              <a:buAutoNum type="arabicPeriod" startAt="1"/>
            </a:pPr>
            <a:r>
              <a:rPr lang="en-US" sz="1500" dirty="0">
                <a:solidFill>
                  <a:srgbClr val="212121"/>
                </a:solidFill>
                <a:latin typeface="Calibri" pitchFamily="34" charset="0"/>
                <a:ea typeface="Calibri" pitchFamily="34" charset="-122"/>
                <a:cs typeface="Calibri" pitchFamily="34" charset="-120"/>
              </a:rPr>
              <a:t>H2, iki boşluğu </a:t>
            </a:r>
            <a:r>
              <a:rPr lang="en-US" sz="1500" b="1" dirty="0">
                <a:solidFill>
                  <a:srgbClr val="212121"/>
                </a:solidFill>
                <a:latin typeface="Calibri" pitchFamily="34" charset="0"/>
                <a:ea typeface="Calibri" pitchFamily="34" charset="-122"/>
                <a:cs typeface="Calibri" pitchFamily="34" charset="-120"/>
              </a:rPr>
              <a:t>aynı sütuna</a:t>
            </a:r>
            <a:r>
              <a:rPr lang="en-US" sz="1500" dirty="0">
                <a:solidFill>
                  <a:srgbClr val="212121"/>
                </a:solidFill>
                <a:latin typeface="Calibri" pitchFamily="34" charset="0"/>
                <a:ea typeface="Calibri" pitchFamily="34" charset="-122"/>
                <a:cs typeface="Calibri" pitchFamily="34" charset="-120"/>
              </a:rPr>
              <a:t> koyar: boşluk–boşluk çifti ceza almaz</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1272566"/>
                <a:gridCol w="2226991"/>
                <a:gridCol w="618169"/>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Hizalama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Sütun skorları</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H1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−3, −3, +3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H2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 −1, −4, +3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H3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 −1, −1, +3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En yüksek SP: </a:t>
            </a:r>
            <a:r>
              <a:rPr lang="en-US" sz="1700" b="1" dirty="0">
                <a:solidFill>
                  <a:srgbClr val="212121"/>
                </a:solidFill>
                <a:latin typeface="Calibri" pitchFamily="34" charset="0"/>
                <a:ea typeface="Calibri" pitchFamily="34" charset="-122"/>
                <a:cs typeface="Calibri" pitchFamily="34" charset="-120"/>
              </a:rPr>
              <a:t>H2 (+1)</a:t>
            </a:r>
            <a:r>
              <a:rPr lang="en-US" sz="1700" dirty="0">
                <a:solidFill>
                  <a:srgbClr val="212121"/>
                </a:solidFill>
                <a:latin typeface="Calibri" pitchFamily="34" charset="0"/>
                <a:ea typeface="Calibri" pitchFamily="34" charset="-122"/>
                <a:cs typeface="Calibri" pitchFamily="34" charset="-120"/>
              </a:rPr>
              <a:t>. MSA algoritmaları bu tür bir amaç fonksiyonunu (SP veya türevleri) en büyüklemeye çalışır; H2 biyolojik olarak da makul (G ile C'nin hizalanması bir yer değiştirme).</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SP skoru ve AlignIO</a:t>
            </a:r>
            <a:endParaRPr lang="en-US" sz="3000" dirty="0"/>
          </a:p>
        </p:txBody>
      </p:sp>
      <p:sp>
        <p:nvSpPr>
          <p:cNvPr id="3" name="Shape 1"/>
          <p:cNvSpPr/>
          <p:nvPr/>
        </p:nvSpPr>
        <p:spPr>
          <a:xfrm>
            <a:off x="548640" y="1234440"/>
            <a:ext cx="7100426" cy="5029200"/>
          </a:xfrm>
          <a:prstGeom prst="roundRect">
            <a:avLst>
              <a:gd name="adj" fmla="val 1455"/>
            </a:avLst>
          </a:prstGeom>
          <a:solidFill>
            <a:srgbClr val="F4F6F7"/>
          </a:solidFill>
          <a:ln w="12700">
            <a:solidFill>
              <a:srgbClr val="B0BEC5"/>
            </a:solidFill>
            <a:prstDash val="solid"/>
          </a:ln>
        </p:spPr>
      </p:sp>
      <p:sp>
        <p:nvSpPr>
          <p:cNvPr id="4" name="Text 2"/>
          <p:cNvSpPr txBox="1"/>
          <p:nvPr/>
        </p:nvSpPr>
        <p:spPr>
          <a:xfrm>
            <a:off x="658368" y="1307592"/>
            <a:ext cx="6880970" cy="4882896"/>
          </a:xfrm>
          <a:prstGeom prst="rect">
            <a:avLst/>
          </a:prstGeom>
          <a:noFill/>
          <a:ln/>
        </p:spPr>
        <p:txBody>
          <a:bodyPr wrap="square" lIns="0" tIns="0" rIns="0" bIns="0" rtlCol="0" anchor="t"/>
          <a:lstStyle/>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itertools import combinations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Bio import AlignIO</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def sp_sutun(sutun, e=1, u=-1, g=-2):</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toplam = 0</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for a, b in combinations(sutun, 2):</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if a == "-" and b ==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continue                      # boşluk-boşluk: 0</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toplam += g if "-" in (a, b) else (e if a == b else u)</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return toplam</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msa = AlignIO.read("veri/protein_ailesi_hizali.aln", "clustal")</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print(len(msa), msa.get_alignment_length())   # 8 160</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print(msa[:3, 20:60])                         # satır/sütun dilimi</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print(sum(sp_sutun(msa[:, j]) for j in range(50)))  # 593</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AlignIO.write(msa, "aile.fasta", "fasta")</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AlignIO.write(msa, "aile.phy", "phylip-relaxed")</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AlignIO.write(msa, "aile.sto", "stockholm")</a:t>
            </a:r>
            <a:endParaRPr lang="en-US" sz="1350" dirty="0"/>
          </a:p>
        </p:txBody>
      </p:sp>
      <p:sp>
        <p:nvSpPr>
          <p:cNvPr id="5" name="Text 3"/>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combinations(sutun, 2)</a:t>
            </a:r>
            <a:r>
              <a:rPr lang="en-US" sz="1700" dirty="0">
                <a:solidFill>
                  <a:srgbClr val="212121"/>
                </a:solidFill>
                <a:latin typeface="Calibri" pitchFamily="34" charset="0"/>
                <a:ea typeface="Calibri" pitchFamily="34" charset="-122"/>
                <a:cs typeface="Calibri" pitchFamily="34" charset="-120"/>
              </a:rPr>
              <a:t>: tüm dizi çiftleri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msa[:, j]</a:t>
            </a:r>
            <a:r>
              <a:rPr lang="en-US" sz="1700" dirty="0">
                <a:solidFill>
                  <a:srgbClr val="212121"/>
                </a:solidFill>
                <a:latin typeface="Calibri" pitchFamily="34" charset="0"/>
                <a:ea typeface="Calibri" pitchFamily="34" charset="-122"/>
                <a:cs typeface="Calibri" pitchFamily="34" charset="-120"/>
              </a:rPr>
              <a:t>: j. sütun (dizgi); </a:t>
            </a:r>
            <a:r>
              <a:rPr lang="en-US" sz="1700" dirty="0">
                <a:solidFill>
                  <a:srgbClr val="455A64"/>
                </a:solidFill>
                <a:latin typeface="Courier New" pitchFamily="34" charset="0"/>
                <a:ea typeface="Courier New" pitchFamily="34" charset="-122"/>
                <a:cs typeface="Courier New" pitchFamily="34" charset="-120"/>
              </a:rPr>
              <a:t>msa[i]</a:t>
            </a:r>
            <a:r>
              <a:rPr lang="en-US" sz="1700" dirty="0">
                <a:solidFill>
                  <a:srgbClr val="212121"/>
                </a:solidFill>
                <a:latin typeface="Calibri" pitchFamily="34" charset="0"/>
                <a:ea typeface="Calibri" pitchFamily="34" charset="-122"/>
                <a:cs typeface="Calibri" pitchFamily="34" charset="-120"/>
              </a:rPr>
              <a:t>: i. satır (SeqRecord)</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AlignIO</a:t>
            </a:r>
            <a:r>
              <a:rPr lang="en-US" sz="1700" dirty="0">
                <a:solidFill>
                  <a:srgbClr val="212121"/>
                </a:solidFill>
                <a:latin typeface="Calibri" pitchFamily="34" charset="0"/>
                <a:ea typeface="Calibri" pitchFamily="34" charset="-122"/>
                <a:cs typeface="Calibri" pitchFamily="34" charset="-120"/>
              </a:rPr>
              <a:t> = hizalamalar için </a:t>
            </a:r>
            <a:r>
              <a:rPr lang="en-US" sz="1700" dirty="0">
                <a:solidFill>
                  <a:srgbClr val="455A64"/>
                </a:solidFill>
                <a:latin typeface="Courier New" pitchFamily="34" charset="0"/>
                <a:ea typeface="Courier New" pitchFamily="34" charset="-122"/>
                <a:cs typeface="Courier New" pitchFamily="34" charset="-120"/>
              </a:rPr>
              <a:t>SeqIO</a:t>
            </a:r>
            <a:r>
              <a:rPr lang="en-US" sz="1700" dirty="0">
                <a:solidFill>
                  <a:srgbClr val="212121"/>
                </a:solidFill>
                <a:latin typeface="Calibri" pitchFamily="34" charset="0"/>
                <a:ea typeface="Calibri" pitchFamily="34" charset="-122"/>
                <a:cs typeface="Calibri" pitchFamily="34" charset="-120"/>
              </a:rPr>
              <a:t>: Clustal, FASTA, PHYLIP, Stockholm</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PHYLIP klasik biçimde adlar 10 karakterle sınırlı → </a:t>
            </a:r>
            <a:r>
              <a:rPr lang="en-US" sz="1700" dirty="0">
                <a:solidFill>
                  <a:srgbClr val="455A64"/>
                </a:solidFill>
                <a:latin typeface="Courier New" pitchFamily="34" charset="0"/>
                <a:ea typeface="Courier New" pitchFamily="34" charset="-122"/>
                <a:cs typeface="Courier New" pitchFamily="34" charset="-120"/>
              </a:rPr>
              <a:t>phylip-relaxed</a:t>
            </a:r>
            <a:endParaRPr lang="en-US" sz="1700" dirty="0"/>
          </a:p>
        </p:txBody>
      </p:sp>
      <p:sp>
        <p:nvSpPr>
          <p:cNvPr id="6"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7"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Korunmuşluk: Shannon entropisi</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H = −Σ pₐ log₂ pₐ (boşluklar hariç). Sütun </a:t>
            </a:r>
            <a:r>
              <a:rPr lang="en-US" sz="1800" dirty="0">
                <a:solidFill>
                  <a:srgbClr val="455A64"/>
                </a:solidFill>
                <a:latin typeface="Courier New" pitchFamily="34" charset="0"/>
                <a:ea typeface="Courier New" pitchFamily="34" charset="-122"/>
                <a:cs typeface="Courier New" pitchFamily="34" charset="-120"/>
              </a:rPr>
              <a:t>L L L L I I V V</a:t>
            </a:r>
            <a:r>
              <a:rPr lang="en-US" sz="1800" dirty="0">
                <a:solidFill>
                  <a:srgbClr val="212121"/>
                </a:solidFill>
                <a:latin typeface="Calibri" pitchFamily="34" charset="0"/>
                <a:ea typeface="Calibri" pitchFamily="34" charset="-122"/>
                <a:cs typeface="Calibri" pitchFamily="34" charset="-120"/>
              </a:rPr>
              <a:t> için entropiyi hesaplayın; farklı sütunlarla karşılaştırın.</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Frekanslar: p(L) = 4/8 = 0.5, p(I) = 2/8 = 0.25, p(V) = 0.25</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Terimler: −0.5·log₂0.5 = 0.5;  −0.25·log₂0.25 = 0.5 (iki kez)</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H = 0.5 + 0.5 + 0.5 = </a:t>
            </a:r>
            <a:r>
              <a:rPr lang="en-US" sz="1650" b="1" dirty="0">
                <a:solidFill>
                  <a:srgbClr val="212121"/>
                </a:solidFill>
                <a:latin typeface="Calibri" pitchFamily="34" charset="0"/>
                <a:ea typeface="Calibri" pitchFamily="34" charset="-122"/>
                <a:cs typeface="Calibri" pitchFamily="34" charset="-120"/>
              </a:rPr>
              <a:t>1.5 bit</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Tam korunmuş sütun (</a:t>
            </a:r>
            <a:r>
              <a:rPr lang="en-US" sz="1650" dirty="0">
                <a:solidFill>
                  <a:srgbClr val="455A64"/>
                </a:solidFill>
                <a:latin typeface="Courier New" pitchFamily="34" charset="0"/>
                <a:ea typeface="Courier New" pitchFamily="34" charset="-122"/>
                <a:cs typeface="Courier New" pitchFamily="34" charset="-120"/>
              </a:rPr>
              <a:t>LLLLLLLL</a:t>
            </a:r>
            <a:r>
              <a:rPr lang="en-US" sz="1650" dirty="0">
                <a:solidFill>
                  <a:srgbClr val="212121"/>
                </a:solidFill>
                <a:latin typeface="Calibri" pitchFamily="34" charset="0"/>
                <a:ea typeface="Calibri" pitchFamily="34" charset="-122"/>
                <a:cs typeface="Calibri" pitchFamily="34" charset="-120"/>
              </a:rPr>
              <a:t>): H = </a:t>
            </a:r>
            <a:r>
              <a:rPr lang="en-US" sz="1650" b="1" dirty="0">
                <a:solidFill>
                  <a:srgbClr val="212121"/>
                </a:solidFill>
                <a:latin typeface="Calibri" pitchFamily="34" charset="0"/>
                <a:ea typeface="Calibri" pitchFamily="34" charset="-122"/>
                <a:cs typeface="Calibri" pitchFamily="34" charset="-120"/>
              </a:rPr>
              <a:t>0</a:t>
            </a:r>
            <a:r>
              <a:rPr lang="en-US" sz="1650" dirty="0">
                <a:solidFill>
                  <a:srgbClr val="212121"/>
                </a:solidFill>
                <a:latin typeface="Calibri" pitchFamily="34" charset="0"/>
                <a:ea typeface="Calibri" pitchFamily="34" charset="-122"/>
                <a:cs typeface="Calibri" pitchFamily="34" charset="-120"/>
              </a:rPr>
              <a:t>; tek farklı harf (</a:t>
            </a:r>
            <a:r>
              <a:rPr lang="en-US" sz="1650" dirty="0">
                <a:solidFill>
                  <a:srgbClr val="455A64"/>
                </a:solidFill>
                <a:latin typeface="Courier New" pitchFamily="34" charset="0"/>
                <a:ea typeface="Courier New" pitchFamily="34" charset="-122"/>
                <a:cs typeface="Courier New" pitchFamily="34" charset="-120"/>
              </a:rPr>
              <a:t>LLLLLLLI</a:t>
            </a:r>
            <a:r>
              <a:rPr lang="en-US" sz="1650" dirty="0">
                <a:solidFill>
                  <a:srgbClr val="212121"/>
                </a:solidFill>
                <a:latin typeface="Calibri" pitchFamily="34" charset="0"/>
                <a:ea typeface="Calibri" pitchFamily="34" charset="-122"/>
                <a:cs typeface="Calibri" pitchFamily="34" charset="-120"/>
              </a:rPr>
              <a:t>): H = 0.544</a:t>
            </a:r>
            <a:endParaRPr lang="en-US" sz="1650" dirty="0"/>
          </a:p>
          <a:p>
            <a:pPr marL="342900" indent="-342900">
              <a:spcAft>
                <a:spcPts val="600"/>
              </a:spcAft>
              <a:buSzPct val="100000"/>
              <a:buFont typeface="+mj-lt"/>
              <a:buAutoNum type="arabicPeriod" startAt="1"/>
            </a:pPr>
            <a:r>
              <a:rPr lang="en-US" sz="1650" dirty="0">
                <a:solidFill>
                  <a:srgbClr val="212121"/>
                </a:solidFill>
                <a:latin typeface="Calibri" pitchFamily="34" charset="0"/>
                <a:ea typeface="Calibri" pitchFamily="34" charset="-122"/>
                <a:cs typeface="Calibri" pitchFamily="34" charset="-120"/>
              </a:rPr>
              <a:t>Üst sınır: 20 amino asit eşit dağılırsa log₂20 = </a:t>
            </a:r>
            <a:r>
              <a:rPr lang="en-US" sz="1650" b="1" dirty="0">
                <a:solidFill>
                  <a:srgbClr val="212121"/>
                </a:solidFill>
                <a:latin typeface="Calibri" pitchFamily="34" charset="0"/>
                <a:ea typeface="Calibri" pitchFamily="34" charset="-122"/>
                <a:cs typeface="Calibri" pitchFamily="34" charset="-120"/>
              </a:rPr>
              <a:t>4.32 bit</a:t>
            </a:r>
            <a:r>
              <a:rPr lang="en-US" sz="1650" dirty="0">
                <a:solidFill>
                  <a:srgbClr val="212121"/>
                </a:solidFill>
                <a:latin typeface="Calibri" pitchFamily="34" charset="0"/>
                <a:ea typeface="Calibri" pitchFamily="34" charset="-122"/>
                <a:cs typeface="Calibri" pitchFamily="34" charset="-120"/>
              </a:rPr>
              <a:t> (8 dizide en fazla log₂8 = 3)</a:t>
            </a:r>
            <a:endParaRPr lang="en-US" sz="16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2196121"/>
                <a:gridCol w="1921606"/>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Sütun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H (bit)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LLLLLLLL</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LLLLLLLI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0.544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LLLLIIVV</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LLIIVVAA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ACDEFGHI</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H(LLLLIIVV) = </a:t>
            </a:r>
            <a:r>
              <a:rPr lang="en-US" sz="1700" b="1" dirty="0">
                <a:solidFill>
                  <a:srgbClr val="212121"/>
                </a:solidFill>
                <a:latin typeface="Calibri" pitchFamily="34" charset="0"/>
                <a:ea typeface="Calibri" pitchFamily="34" charset="-122"/>
                <a:cs typeface="Calibri" pitchFamily="34" charset="-120"/>
              </a:rPr>
              <a:t>1.5 bit</a:t>
            </a:r>
            <a:r>
              <a:rPr lang="en-US" sz="1700" dirty="0">
                <a:solidFill>
                  <a:srgbClr val="212121"/>
                </a:solidFill>
                <a:latin typeface="Calibri" pitchFamily="34" charset="0"/>
                <a:ea typeface="Calibri" pitchFamily="34" charset="-122"/>
                <a:cs typeface="Calibri" pitchFamily="34" charset="-120"/>
              </a:rPr>
              <a:t>. Düşük entropi = korunmuş = büyük olasılıkla işlevsel olarak önemli (aktif bölge, yapısal kalıntı).</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Protein ailesinde sütun entropisi</a:t>
            </a:r>
            <a:endParaRPr lang="en-US" sz="3000" dirty="0"/>
          </a:p>
        </p:txBody>
      </p:sp>
      <p:pic>
        <p:nvPicPr>
          <p:cNvPr id="3" name="Image 0" descr="p09_entropi.png">    </p:cNvPr>
          <p:cNvPicPr>
            <a:picLocks noChangeAspect="1"/>
          </p:cNvPicPr>
          <p:nvPr/>
        </p:nvPicPr>
        <p:blipFill>
          <a:blip r:embed="rId1"/>
          <a:stretch>
            <a:fillRect/>
          </a:stretch>
        </p:blipFill>
        <p:spPr>
          <a:xfrm>
            <a:off x="767709" y="1234440"/>
            <a:ext cx="10656277" cy="4617720"/>
          </a:xfrm>
          <a:prstGeom prst="rect">
            <a:avLst/>
          </a:prstGeom>
        </p:spPr>
      </p:pic>
      <p:sp>
        <p:nvSpPr>
          <p:cNvPr id="4" name="Text 1"/>
          <p:cNvSpPr txBox="1"/>
          <p:nvPr/>
        </p:nvSpPr>
        <p:spPr>
          <a:xfrm>
            <a:off x="548640" y="5925312"/>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Üst: sütun entropisi; eksenin altındaki kırmızı işaretler H = 0 (tam korunmuş, 59 / 160 sütun). Alt: boşluk oranı. 8 dizi × 160 sütun.</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2</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Evrimsel uzaklık</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Gözlenen farklılıktan gerçekleşen yer değiştirme sayısına: p-uzaklığı ve Jukes–Cantor</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p-uzaklığı ve Jukes–Cantor (JC69) düzeltmesi</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p-uzaklığı</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p = farklı site sayısı / karşılaştırılan site</a:t>
            </a:r>
            <a:endParaRPr lang="en-US" sz="15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Gözlenen farklılık oranı; boşluklu siteler genellikle çıkarılır</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JC69 uzaklığı</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d = −(3/4) · ln(1 − (4/3)·p)</a:t>
            </a:r>
            <a:endParaRPr lang="en-US" sz="18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Site başına </a:t>
            </a:r>
            <a:r>
              <a:rPr lang="en-US" sz="1300" b="1" dirty="0">
                <a:solidFill>
                  <a:srgbClr val="546E7A"/>
                </a:solidFill>
                <a:latin typeface="Calibri" pitchFamily="34" charset="0"/>
                <a:ea typeface="Calibri" pitchFamily="34" charset="-122"/>
                <a:cs typeface="Calibri" pitchFamily="34" charset="-120"/>
              </a:rPr>
              <a:t>beklenen</a:t>
            </a:r>
            <a:r>
              <a:rPr lang="en-US" sz="1300" dirty="0">
                <a:solidFill>
                  <a:srgbClr val="546E7A"/>
                </a:solidFill>
                <a:latin typeface="Calibri" pitchFamily="34" charset="0"/>
                <a:ea typeface="Calibri" pitchFamily="34" charset="-122"/>
                <a:cs typeface="Calibri" pitchFamily="34" charset="-120"/>
              </a:rPr>
              <a:t> yer değiştirme; tüm değişimler eşit olasılıklı, bazlar eşit frekanslı</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Küçük p</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d ≈ p + (2/3)p² + …</a:t>
            </a:r>
            <a:endParaRPr lang="en-US" sz="18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p küçükken düzeltme ihmal edilebilir (p = 0.05 → d = 0.052)</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Doygunluk</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p = 3/4 ⇒ ln(0) ⇒ d = ∞</a:t>
            </a:r>
            <a:endParaRPr lang="en-US" sz="18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İki rastgele DNA dizisi zaten %25 özdeş: p en fazla 0.75</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Neden düzeltme? Aynı sitede </a:t>
            </a:r>
            <a:r>
              <a:rPr lang="en-US" sz="1600" b="1" dirty="0">
                <a:solidFill>
                  <a:srgbClr val="212121"/>
                </a:solidFill>
                <a:latin typeface="Calibri" pitchFamily="34" charset="0"/>
                <a:ea typeface="Calibri" pitchFamily="34" charset="-122"/>
                <a:cs typeface="Calibri" pitchFamily="34" charset="-120"/>
              </a:rPr>
              <a:t>birden fazla</a:t>
            </a:r>
            <a:r>
              <a:rPr lang="en-US" sz="1600" dirty="0">
                <a:solidFill>
                  <a:srgbClr val="212121"/>
                </a:solidFill>
                <a:latin typeface="Calibri" pitchFamily="34" charset="0"/>
                <a:ea typeface="Calibri" pitchFamily="34" charset="-122"/>
                <a:cs typeface="Calibri" pitchFamily="34" charset="-120"/>
              </a:rPr>
              <a:t> mutasyon (A→G→A geri dönüş, A→G→T çoklu değişim) gözlenen farklılığa yansımaz: p, gerçek evrimsel mesafeyi </a:t>
            </a:r>
            <a:r>
              <a:rPr lang="en-US" sz="1600" b="1" dirty="0">
                <a:solidFill>
                  <a:srgbClr val="212121"/>
                </a:solidFill>
                <a:latin typeface="Calibri" pitchFamily="34" charset="0"/>
                <a:ea typeface="Calibri" pitchFamily="34" charset="-122"/>
                <a:cs typeface="Calibri" pitchFamily="34" charset="-120"/>
              </a:rPr>
              <a:t>küçümser</a:t>
            </a:r>
            <a:r>
              <a:rPr lang="en-US" sz="1600" dirty="0">
                <a:solidFill>
                  <a:srgbClr val="212121"/>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p ile d arasındaki ilişki</a:t>
            </a:r>
            <a:endParaRPr lang="en-US" sz="3000" dirty="0"/>
          </a:p>
        </p:txBody>
      </p:sp>
      <p:sp>
        <p:nvSpPr>
          <p:cNvPr id="3" name="Text 1"/>
          <p:cNvSpPr txBox="1"/>
          <p:nvPr/>
        </p:nvSpPr>
        <p:spPr>
          <a:xfrm>
            <a:off x="548640" y="1234440"/>
            <a:ext cx="11094415" cy="731520"/>
          </a:xfrm>
          <a:prstGeom prst="rect">
            <a:avLst/>
          </a:prstGeom>
          <a:noFill/>
          <a:ln/>
        </p:spPr>
        <p:txBody>
          <a:bodyPr wrap="square" lIns="25400" tIns="25400" rIns="50800" bIns="25400" rtlCol="0" anchor="t"/>
          <a:lstStyle/>
          <a:p>
            <a:pPr algn="l" indent="0" marL="0">
              <a:spcAft>
                <a:spcPts val="600"/>
              </a:spcAft>
              <a:buNone/>
            </a:pPr>
            <a:r>
              <a:rPr lang="en-US" sz="1600" dirty="0">
                <a:solidFill>
                  <a:srgbClr val="212121"/>
                </a:solidFill>
                <a:latin typeface="Calibri" pitchFamily="34" charset="0"/>
                <a:ea typeface="Calibri" pitchFamily="34" charset="-122"/>
                <a:cs typeface="Calibri" pitchFamily="34" charset="-120"/>
              </a:rPr>
              <a:t>p = 0.74'te d = 3.24: logaritmanın argümanı sıfıra yaklaştığı için </a:t>
            </a:r>
            <a:r>
              <a:rPr lang="en-US" sz="1600" b="1" dirty="0">
                <a:solidFill>
                  <a:srgbClr val="212121"/>
                </a:solidFill>
                <a:latin typeface="Calibri" pitchFamily="34" charset="0"/>
                <a:ea typeface="Calibri" pitchFamily="34" charset="-122"/>
                <a:cs typeface="Calibri" pitchFamily="34" charset="-120"/>
              </a:rPr>
              <a:t>küçük bir sayım hatası d'yi çok büyük değiştirir</a:t>
            </a:r>
            <a:r>
              <a:rPr lang="en-US" sz="1600" dirty="0">
                <a:solidFill>
                  <a:srgbClr val="212121"/>
                </a:solidFill>
                <a:latin typeface="Calibri" pitchFamily="34" charset="0"/>
                <a:ea typeface="Calibri" pitchFamily="34" charset="-122"/>
                <a:cs typeface="Calibri" pitchFamily="34" charset="-120"/>
              </a:rPr>
              <a:t> → bu bölgedeki uzaklıklar güvenilmez.</a:t>
            </a:r>
            <a:endParaRPr lang="en-US" sz="16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057400"/>
          <a:ext cx="6434761" cy="914400"/>
        </p:xfrm>
        <a:graphic>
          <a:graphicData uri="http://schemas.openxmlformats.org/drawingml/2006/table">
            <a:tbl>
              <a:tblPr/>
              <a:tblGrid>
                <a:gridCol w="1119089"/>
                <a:gridCol w="2238178"/>
                <a:gridCol w="1678633"/>
                <a:gridCol w="1398861"/>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1 − 4p/3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 (JC)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 / p</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0.9333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0.052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0.8667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0.107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0.7333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0.6000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0.383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1.28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0.3333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0.824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1.65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0.70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0.0667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2.031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2.90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0.74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0.0133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3.24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bl>
          </a:graphicData>
        </a:graphic>
      </p:graphicFrame>
      <p:pic>
        <p:nvPicPr>
          <p:cNvPr id="5" name="Image 0" descr="p09_jc.png">    </p:cNvPr>
          <p:cNvPicPr>
            <a:picLocks noChangeAspect="1"/>
          </p:cNvPicPr>
          <p:nvPr/>
        </p:nvPicPr>
        <p:blipFill>
          <a:blip r:embed="rId1"/>
          <a:stretch>
            <a:fillRect/>
          </a:stretch>
        </p:blipFill>
        <p:spPr>
          <a:xfrm>
            <a:off x="7303441" y="2853488"/>
            <a:ext cx="4339614" cy="2568343"/>
          </a:xfrm>
          <a:prstGeom prst="rect">
            <a:avLst/>
          </a:prstGeom>
        </p:spPr>
      </p:pic>
      <p:sp>
        <p:nvSpPr>
          <p:cNvPr id="6"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7"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JC uzaklığını elle hesaplamak</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 800 sitede 160 farklılık. (b) Notebook verisinde Tur_1 ile Tur_3 arasında 800 sitenin </a:t>
            </a:r>
            <a:r>
              <a:rPr lang="en-US" sz="1800" b="1" dirty="0">
                <a:solidFill>
                  <a:srgbClr val="212121"/>
                </a:solidFill>
                <a:latin typeface="Calibri" pitchFamily="34" charset="0"/>
                <a:ea typeface="Calibri" pitchFamily="34" charset="-122"/>
                <a:cs typeface="Calibri" pitchFamily="34" charset="-120"/>
              </a:rPr>
              <a:t>165</a:t>
            </a:r>
            <a:r>
              <a:rPr lang="en-US" sz="1800" dirty="0">
                <a:solidFill>
                  <a:srgbClr val="212121"/>
                </a:solidFill>
                <a:latin typeface="Calibri" pitchFamily="34" charset="0"/>
                <a:ea typeface="Calibri" pitchFamily="34" charset="-122"/>
                <a:cs typeface="Calibri" pitchFamily="34" charset="-120"/>
              </a:rPr>
              <a:t>'i farklı. Her iki durum için p ve JC uzaklığını bulun.</a:t>
            </a:r>
            <a:endParaRPr lang="en-US" sz="1800" dirty="0"/>
          </a:p>
        </p:txBody>
      </p:sp>
      <p:sp>
        <p:nvSpPr>
          <p:cNvPr id="6" name="Text 4"/>
          <p:cNvSpPr txBox="1"/>
          <p:nvPr/>
        </p:nvSpPr>
        <p:spPr>
          <a:xfrm>
            <a:off x="548640" y="2779776"/>
            <a:ext cx="11094415"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 p = 160 / 800 = </a:t>
            </a:r>
            <a:r>
              <a:rPr lang="en-US" sz="1800" b="1" dirty="0">
                <a:solidFill>
                  <a:srgbClr val="212121"/>
                </a:solidFill>
                <a:latin typeface="Calibri" pitchFamily="34" charset="0"/>
                <a:ea typeface="Calibri" pitchFamily="34" charset="-122"/>
                <a:cs typeface="Calibri" pitchFamily="34" charset="-120"/>
              </a:rPr>
              <a:t>0.200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1 − (4/3)(0.2) = 1 − 0.2667 = 0.7333;  ln 0.7333 = −0.3102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 = −0.75 × (−0.3102) = </a:t>
            </a:r>
            <a:r>
              <a:rPr lang="en-US" sz="1800" b="1" dirty="0">
                <a:solidFill>
                  <a:srgbClr val="212121"/>
                </a:solidFill>
                <a:latin typeface="Calibri" pitchFamily="34" charset="0"/>
                <a:ea typeface="Calibri" pitchFamily="34" charset="-122"/>
                <a:cs typeface="Calibri" pitchFamily="34" charset="-120"/>
              </a:rPr>
              <a:t>0.233</a:t>
            </a:r>
            <a:r>
              <a:rPr lang="en-US" sz="1800" dirty="0">
                <a:solidFill>
                  <a:srgbClr val="212121"/>
                </a:solidFill>
                <a:latin typeface="Calibri" pitchFamily="34" charset="0"/>
                <a:ea typeface="Calibri" pitchFamily="34" charset="-122"/>
                <a:cs typeface="Calibri" pitchFamily="34" charset="-120"/>
              </a:rPr>
              <a:t> yer değiştirme / site</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(b) p = 165 / 800 = </a:t>
            </a:r>
            <a:r>
              <a:rPr lang="en-US" sz="1800" b="1" dirty="0">
                <a:solidFill>
                  <a:srgbClr val="212121"/>
                </a:solidFill>
                <a:latin typeface="Calibri" pitchFamily="34" charset="0"/>
                <a:ea typeface="Calibri" pitchFamily="34" charset="-122"/>
                <a:cs typeface="Calibri" pitchFamily="34" charset="-120"/>
              </a:rPr>
              <a:t>0.206</a:t>
            </a:r>
            <a:r>
              <a:rPr lang="en-US" sz="1800" dirty="0">
                <a:solidFill>
                  <a:srgbClr val="212121"/>
                </a:solidFill>
                <a:latin typeface="Calibri" pitchFamily="34" charset="0"/>
                <a:ea typeface="Calibri" pitchFamily="34" charset="-122"/>
                <a:cs typeface="Calibri" pitchFamily="34" charset="-120"/>
              </a:rPr>
              <a:t>;  1 − (4/3)(0.20625) = 0.7250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ln 0.7250 = −0.3216 → d = 0.75 × 0.3216 = </a:t>
            </a:r>
            <a:r>
              <a:rPr lang="en-US" sz="1800" b="1" dirty="0">
                <a:solidFill>
                  <a:srgbClr val="212121"/>
                </a:solidFill>
                <a:latin typeface="Calibri" pitchFamily="34" charset="0"/>
                <a:ea typeface="Calibri" pitchFamily="34" charset="-122"/>
                <a:cs typeface="Calibri" pitchFamily="34" charset="-120"/>
              </a:rPr>
              <a:t>0.241</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Kontrol: notebook'un JC matrisinde d(Tur_1, Tur_3) = 0.241 ✓</a:t>
            </a:r>
            <a:endParaRPr lang="en-US" sz="1800" dirty="0"/>
          </a:p>
        </p:txBody>
      </p:sp>
      <p:sp>
        <p:nvSpPr>
          <p:cNvPr id="7" name="Shape 5"/>
          <p:cNvSpPr/>
          <p:nvPr/>
        </p:nvSpPr>
        <p:spPr>
          <a:xfrm>
            <a:off x="548640" y="5577840"/>
            <a:ext cx="11094415" cy="685800"/>
          </a:xfrm>
          <a:prstGeom prst="roundRect">
            <a:avLst>
              <a:gd name="adj" fmla="val 10667"/>
            </a:avLst>
          </a:prstGeom>
          <a:solidFill>
            <a:srgbClr val="FDECEA"/>
          </a:solidFill>
          <a:ln/>
        </p:spPr>
      </p:sp>
      <p:sp>
        <p:nvSpPr>
          <p:cNvPr id="8"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(a) d = </a:t>
            </a:r>
            <a:r>
              <a:rPr lang="en-US" sz="1700" b="1" dirty="0">
                <a:solidFill>
                  <a:srgbClr val="212121"/>
                </a:solidFill>
                <a:latin typeface="Calibri" pitchFamily="34" charset="0"/>
                <a:ea typeface="Calibri" pitchFamily="34" charset="-122"/>
                <a:cs typeface="Calibri" pitchFamily="34" charset="-120"/>
              </a:rPr>
              <a:t>0.233</a:t>
            </a:r>
            <a:r>
              <a:rPr lang="en-US" sz="1700" dirty="0">
                <a:solidFill>
                  <a:srgbClr val="212121"/>
                </a:solidFill>
                <a:latin typeface="Calibri" pitchFamily="34" charset="0"/>
                <a:ea typeface="Calibri" pitchFamily="34" charset="-122"/>
                <a:cs typeface="Calibri" pitchFamily="34" charset="-120"/>
              </a:rPr>
              <a:t>, (b) d = </a:t>
            </a:r>
            <a:r>
              <a:rPr lang="en-US" sz="1700" b="1" dirty="0">
                <a:solidFill>
                  <a:srgbClr val="212121"/>
                </a:solidFill>
                <a:latin typeface="Calibri" pitchFamily="34" charset="0"/>
                <a:ea typeface="Calibri" pitchFamily="34" charset="-122"/>
                <a:cs typeface="Calibri" pitchFamily="34" charset="-120"/>
              </a:rPr>
              <a:t>0.241</a:t>
            </a:r>
            <a:r>
              <a:rPr lang="en-US" sz="1700" dirty="0">
                <a:solidFill>
                  <a:srgbClr val="212121"/>
                </a:solidFill>
                <a:latin typeface="Calibri" pitchFamily="34" charset="0"/>
                <a:ea typeface="Calibri" pitchFamily="34" charset="-122"/>
                <a:cs typeface="Calibri" pitchFamily="34" charset="-120"/>
              </a:rPr>
              <a:t>. JC, gözlenen %20.6 farklılığın arkasında site başına ≈ 0.24 yer değiştirme olduğunu söyler (≈ %17 daha fazla).</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Simülasyon verisi: JC uzaklık matrisi (8 tür, 800 bp)</a:t>
            </a:r>
            <a:endParaRPr lang="en-US" sz="28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774029"/>
                <a:gridCol w="1290048"/>
                <a:gridCol w="1290048"/>
                <a:gridCol w="1290048"/>
                <a:gridCol w="1290048"/>
                <a:gridCol w="1290048"/>
                <a:gridCol w="1290048"/>
                <a:gridCol w="1290048"/>
                <a:gridCol w="1290048"/>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0.082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0.241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0.451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0.082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0.228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0.435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0.498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0.604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0.585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0.588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0.241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0.228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0.448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0.495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0.580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0.619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0.451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0.435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0.448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0.183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0.498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0.495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0.183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0.602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0.604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0.613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0.602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0.585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0.580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0.138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0.415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0.588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0.619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0.599</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0.596</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0.411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0.415</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4" name="Shape 1"/>
          <p:cNvSpPr/>
          <p:nvPr/>
        </p:nvSpPr>
        <p:spPr>
          <a:xfrm>
            <a:off x="548640" y="4645152"/>
            <a:ext cx="11094415" cy="822960"/>
          </a:xfrm>
          <a:prstGeom prst="roundRect">
            <a:avLst>
              <a:gd name="adj" fmla="val 8889"/>
            </a:avLst>
          </a:prstGeom>
          <a:solidFill>
            <a:srgbClr val="FDECEA"/>
          </a:solidFill>
          <a:ln/>
        </p:spPr>
      </p:sp>
      <p:sp>
        <p:nvSpPr>
          <p:cNvPr id="5" name="Text 2"/>
          <p:cNvSpPr txBox="1"/>
          <p:nvPr/>
        </p:nvSpPr>
        <p:spPr>
          <a:xfrm>
            <a:off x="731520" y="4645152"/>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Blok yapısı gözle görülüyor: {T1, T2, T3}, {T4, T5}, {T6, T7, T8}. En küçük uzaklık d(T1, T2) = </a:t>
            </a:r>
            <a:r>
              <a:rPr lang="en-US" sz="1600" b="1" dirty="0">
                <a:solidFill>
                  <a:srgbClr val="212121"/>
                </a:solidFill>
                <a:latin typeface="Calibri" pitchFamily="34" charset="0"/>
                <a:ea typeface="Calibri" pitchFamily="34" charset="-122"/>
                <a:cs typeface="Calibri" pitchFamily="34" charset="-120"/>
              </a:rPr>
              <a:t>0.082</a:t>
            </a:r>
            <a:r>
              <a:rPr lang="en-US" sz="1600" dirty="0">
                <a:solidFill>
                  <a:srgbClr val="212121"/>
                </a:solidFill>
                <a:latin typeface="Calibri" pitchFamily="34" charset="0"/>
                <a:ea typeface="Calibri" pitchFamily="34" charset="-122"/>
                <a:cs typeface="Calibri" pitchFamily="34" charset="-120"/>
              </a:rPr>
              <a:t> (62 farklılık, p = 0.0775) → UPGMA'nın da NJ'nin de ilk birleştirmesi bu çift olur.</a:t>
            </a:r>
            <a:endParaRPr lang="en-US" sz="16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3</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Uzaklık matrisinden ağaca</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UPGMA (hiyerarşik kümeleme) ve Komşu Birleştirme (NJ) — adım adım</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Ağaç kurma yöntemleri</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234440"/>
          <a:ext cx="11094415" cy="914400"/>
        </p:xfrm>
        <a:graphic>
          <a:graphicData uri="http://schemas.openxmlformats.org/drawingml/2006/table">
            <a:tbl>
              <a:tblPr/>
              <a:tblGrid>
                <a:gridCol w="2218883"/>
                <a:gridCol w="1832990"/>
                <a:gridCol w="3473034"/>
                <a:gridCol w="1832990"/>
                <a:gridCol w="1736517"/>
              </a:tblGrid>
              <a:tr h="0">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Yöntem</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Tür</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Varsayım</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Çıktı</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Karmaşıklık</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UPGMA</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Uzaklık, kümeleme</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b="1" dirty="0">
                          <a:solidFill>
                            <a:srgbClr val="212121"/>
                          </a:solidFill>
                          <a:latin typeface="Calibri" pitchFamily="34" charset="0"/>
                          <a:ea typeface="Calibri" pitchFamily="34" charset="-122"/>
                          <a:cs typeface="Calibri" pitchFamily="34" charset="-120"/>
                        </a:rPr>
                        <a:t>Moleküler saat</a:t>
                      </a:r>
                      <a:r>
                        <a:rPr lang="en-US" sz="1700" dirty="0">
                          <a:solidFill>
                            <a:srgbClr val="212121"/>
                          </a:solidFill>
                          <a:latin typeface="Calibri" pitchFamily="34" charset="0"/>
                          <a:ea typeface="Calibri" pitchFamily="34" charset="-122"/>
                          <a:cs typeface="Calibri" pitchFamily="34" charset="-120"/>
                        </a:rPr>
                        <a:t> (tüm soylarda eşit hız)</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Köklü, ultrametrik</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O(n²)–O(n³)</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Komşu Birleştirme (NJ)</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Uzaklık</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Toplamsallık; hız sabitliği gerekmez</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Köksüz</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O(n³)</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Maksimum tutumluluk</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Karakter</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En az değişim</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Köksüz</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NP-zor (sezgisel)</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Maks. olabilirlik / Bayesçi</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Model tabanlı</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Açık evrim modeli (JC, GTR…)</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Köksüz / köklü</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700" dirty="0">
                          <a:solidFill>
                            <a:srgbClr val="212121"/>
                          </a:solidFill>
                          <a:latin typeface="Calibri" pitchFamily="34" charset="0"/>
                          <a:ea typeface="Calibri" pitchFamily="34" charset="-122"/>
                          <a:cs typeface="Calibri" pitchFamily="34" charset="-120"/>
                        </a:rPr>
                        <a:t>Çok yüksek</a:t>
                      </a:r>
                      <a:endParaRPr lang="en-US" sz="17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4" name="Shape 1"/>
          <p:cNvSpPr/>
          <p:nvPr/>
        </p:nvSpPr>
        <p:spPr>
          <a:xfrm>
            <a:off x="548640" y="4343400"/>
            <a:ext cx="11094415" cy="822960"/>
          </a:xfrm>
          <a:prstGeom prst="roundRect">
            <a:avLst>
              <a:gd name="adj" fmla="val 8889"/>
            </a:avLst>
          </a:prstGeom>
          <a:solidFill>
            <a:srgbClr val="FDECEA"/>
          </a:solidFill>
          <a:ln/>
        </p:spPr>
      </p:sp>
      <p:sp>
        <p:nvSpPr>
          <p:cNvPr id="5" name="Text 2"/>
          <p:cNvSpPr txBox="1"/>
          <p:nvPr/>
        </p:nvSpPr>
        <p:spPr>
          <a:xfrm>
            <a:off x="731520" y="4343400"/>
            <a:ext cx="10728655" cy="822960"/>
          </a:xfrm>
          <a:prstGeom prst="rect">
            <a:avLst/>
          </a:prstGeom>
          <a:noFill/>
          <a:ln/>
        </p:spPr>
        <p:txBody>
          <a:bodyPr wrap="square" lIns="0" tIns="0" rIns="0" bIns="0" rtlCol="0" anchor="ctr"/>
          <a:lstStyle/>
          <a:p>
            <a:pPr indent="0" marL="0">
              <a:buNone/>
            </a:pPr>
            <a:r>
              <a:rPr lang="en-US" sz="1500" b="1" dirty="0">
                <a:solidFill>
                  <a:srgbClr val="212121"/>
                </a:solidFill>
                <a:latin typeface="Calibri" pitchFamily="34" charset="0"/>
                <a:ea typeface="Calibri" pitchFamily="34" charset="-122"/>
                <a:cs typeface="Calibri" pitchFamily="34" charset="-120"/>
              </a:rPr>
              <a:t>Ultrametrik:</a:t>
            </a:r>
            <a:r>
              <a:rPr lang="en-US" sz="1500" dirty="0">
                <a:solidFill>
                  <a:srgbClr val="212121"/>
                </a:solidFill>
                <a:latin typeface="Calibri" pitchFamily="34" charset="0"/>
                <a:ea typeface="Calibri" pitchFamily="34" charset="-122"/>
                <a:cs typeface="Calibri" pitchFamily="34" charset="-120"/>
              </a:rPr>
              <a:t> kökten her yaprağa uzaklık eşit. </a:t>
            </a:r>
            <a:r>
              <a:rPr lang="en-US" sz="1500" b="1" dirty="0">
                <a:solidFill>
                  <a:srgbClr val="212121"/>
                </a:solidFill>
                <a:latin typeface="Calibri" pitchFamily="34" charset="0"/>
                <a:ea typeface="Calibri" pitchFamily="34" charset="-122"/>
                <a:cs typeface="Calibri" pitchFamily="34" charset="-120"/>
              </a:rPr>
              <a:t>Toplamsal:</a:t>
            </a:r>
            <a:r>
              <a:rPr lang="en-US" sz="1500" dirty="0">
                <a:solidFill>
                  <a:srgbClr val="212121"/>
                </a:solidFill>
                <a:latin typeface="Calibri" pitchFamily="34" charset="0"/>
                <a:ea typeface="Calibri" pitchFamily="34" charset="-122"/>
                <a:cs typeface="Calibri" pitchFamily="34" charset="-120"/>
              </a:rPr>
              <a:t> iki yaprak arası uzaklık, aradaki dal uzunluklarının toplamı. Her ultrametrik matris toplamsaldır; tersi doğru değildir → NJ daha geniş bir veri sınıfında doğru ağacı bulur.</a:t>
            </a:r>
            <a:endParaRPr lang="en-US" sz="1500" dirty="0"/>
          </a:p>
        </p:txBody>
      </p:sp>
      <p:sp>
        <p:nvSpPr>
          <p:cNvPr id="6"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7"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UPGMA — 1. adım</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(ara matrislerle)</a:t>
            </a:r>
            <a:endParaRPr lang="en-US" sz="1500" dirty="0"/>
          </a:p>
        </p:txBody>
      </p:sp>
      <p:sp>
        <p:nvSpPr>
          <p:cNvPr id="4" name="Shape 2"/>
          <p:cNvSpPr/>
          <p:nvPr/>
        </p:nvSpPr>
        <p:spPr>
          <a:xfrm>
            <a:off x="548640" y="1463040"/>
            <a:ext cx="11094415" cy="795528"/>
          </a:xfrm>
          <a:prstGeom prst="roundRect">
            <a:avLst>
              <a:gd name="adj" fmla="val 9195"/>
            </a:avLst>
          </a:prstGeom>
          <a:solidFill>
            <a:srgbClr val="ECEFF1"/>
          </a:solidFill>
          <a:ln/>
        </p:spPr>
      </p:sp>
      <p:sp>
        <p:nvSpPr>
          <p:cNvPr id="5" name="Text 3"/>
          <p:cNvSpPr txBox="1"/>
          <p:nvPr/>
        </p:nvSpPr>
        <p:spPr>
          <a:xfrm>
            <a:off x="685800" y="1508760"/>
            <a:ext cx="10820095" cy="704088"/>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Sağdaki matrisi UPGMA ile birleştirin: yükseklik = d/2, yeni uzaklık = </a:t>
            </a:r>
            <a:r>
              <a:rPr lang="en-US" sz="1800" b="1" dirty="0">
                <a:solidFill>
                  <a:srgbClr val="212121"/>
                </a:solidFill>
                <a:latin typeface="Calibri" pitchFamily="34" charset="0"/>
                <a:ea typeface="Calibri" pitchFamily="34" charset="-122"/>
                <a:cs typeface="Calibri" pitchFamily="34" charset="-120"/>
              </a:rPr>
              <a:t>boyut ağırlıklı ortalama</a:t>
            </a:r>
            <a:r>
              <a:rPr lang="en-US" sz="1800" dirty="0">
                <a:solidFill>
                  <a:srgbClr val="212121"/>
                </a:solidFill>
                <a:latin typeface="Calibri" pitchFamily="34" charset="0"/>
                <a:ea typeface="Calibri" pitchFamily="34" charset="-122"/>
                <a:cs typeface="Calibri" pitchFamily="34" charset="-120"/>
              </a:rPr>
              <a:t>.</a:t>
            </a:r>
            <a:endParaRPr lang="en-US" sz="1800" dirty="0"/>
          </a:p>
        </p:txBody>
      </p:sp>
      <p:sp>
        <p:nvSpPr>
          <p:cNvPr id="6" name="Text 4"/>
          <p:cNvSpPr txBox="1"/>
          <p:nvPr/>
        </p:nvSpPr>
        <p:spPr>
          <a:xfrm>
            <a:off x="548640" y="2487168"/>
            <a:ext cx="6101928" cy="2907792"/>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En küçük uzaklık: d(A, B) = </a:t>
            </a:r>
            <a:r>
              <a:rPr lang="en-US" sz="1800" b="1" dirty="0">
                <a:solidFill>
                  <a:srgbClr val="212121"/>
                </a:solidFill>
                <a:latin typeface="Calibri" pitchFamily="34" charset="0"/>
                <a:ea typeface="Calibri" pitchFamily="34" charset="-122"/>
                <a:cs typeface="Calibri" pitchFamily="34" charset="-120"/>
              </a:rPr>
              <a:t>4</a:t>
            </a:r>
            <a:r>
              <a:rPr lang="en-US" sz="1800" dirty="0">
                <a:solidFill>
                  <a:srgbClr val="212121"/>
                </a:solidFill>
                <a:latin typeface="Calibri" pitchFamily="34" charset="0"/>
                <a:ea typeface="Calibri" pitchFamily="34" charset="-122"/>
                <a:cs typeface="Calibri" pitchFamily="34" charset="-120"/>
              </a:rPr>
              <a:t> → yeni küme (AB), boyut 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Düğüm yüksekliği h(AB) = 4 / 2 = </a:t>
            </a:r>
            <a:r>
              <a:rPr lang="en-US" sz="1800" b="1" dirty="0">
                <a:solidFill>
                  <a:srgbClr val="212121"/>
                </a:solidFill>
                <a:latin typeface="Calibri" pitchFamily="34" charset="0"/>
                <a:ea typeface="Calibri" pitchFamily="34" charset="-122"/>
                <a:cs typeface="Calibri" pitchFamily="34" charset="-120"/>
              </a:rPr>
              <a:t>2</a:t>
            </a:r>
            <a:r>
              <a:rPr lang="en-US" sz="1800" dirty="0">
                <a:solidFill>
                  <a:srgbClr val="212121"/>
                </a:solidFill>
                <a:latin typeface="Calibri" pitchFamily="34" charset="0"/>
                <a:ea typeface="Calibri" pitchFamily="34" charset="-122"/>
                <a:cs typeface="Calibri" pitchFamily="34" charset="-120"/>
              </a:rPr>
              <a:t> → dal uzunlukları A: 2, B: 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d(AB, C) = (1·d(A,C) + 1·d(B,C)) / 2 = (8 + 8) / 2 = </a:t>
            </a:r>
            <a:r>
              <a:rPr lang="en-US" sz="1800" b="1" dirty="0">
                <a:solidFill>
                  <a:srgbClr val="212121"/>
                </a:solidFill>
                <a:latin typeface="Calibri" pitchFamily="34" charset="0"/>
                <a:ea typeface="Calibri" pitchFamily="34" charset="-122"/>
                <a:cs typeface="Calibri" pitchFamily="34" charset="-120"/>
              </a:rPr>
              <a:t>8</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d(AB, D) = (12 + 12) / 2 = </a:t>
            </a:r>
            <a:r>
              <a:rPr lang="en-US" sz="1800" b="1" dirty="0">
                <a:solidFill>
                  <a:srgbClr val="212121"/>
                </a:solidFill>
                <a:latin typeface="Calibri" pitchFamily="34" charset="0"/>
                <a:ea typeface="Calibri" pitchFamily="34" charset="-122"/>
                <a:cs typeface="Calibri" pitchFamily="34" charset="-120"/>
              </a:rPr>
              <a:t>12</a:t>
            </a:r>
            <a:r>
              <a:rPr lang="en-US" sz="1800" dirty="0">
                <a:solidFill>
                  <a:srgbClr val="212121"/>
                </a:solidFill>
                <a:latin typeface="Calibri" pitchFamily="34" charset="0"/>
                <a:ea typeface="Calibri" pitchFamily="34" charset="-122"/>
                <a:cs typeface="Calibri" pitchFamily="34" charset="-120"/>
              </a:rPr>
              <a:t>;  d(C, D) = 10 değişmez</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Matris 4 × 4'ten 3 × 3'e küçüldü (sağ alt)</a:t>
            </a:r>
            <a:endParaRPr lang="en-US" sz="1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970608" y="2487168"/>
          <a:ext cx="4672447" cy="914400"/>
        </p:xfrm>
        <a:graphic>
          <a:graphicData uri="http://schemas.openxmlformats.org/drawingml/2006/table">
            <a:tbl>
              <a:tblPr/>
              <a:tblGrid>
                <a:gridCol w="934489"/>
                <a:gridCol w="934489"/>
                <a:gridCol w="934489"/>
                <a:gridCol w="934489"/>
                <a:gridCol w="934489"/>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A</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B</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C</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D</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B</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C</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D</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AB</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C</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D</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AB</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b="1" dirty="0">
                          <a:solidFill>
                            <a:srgbClr val="212121"/>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C</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8</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D</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12</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10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350" dirty="0">
                          <a:solidFill>
                            <a:srgbClr val="212121"/>
                          </a:solidFill>
                          <a:latin typeface="Calibri" pitchFamily="34" charset="0"/>
                          <a:ea typeface="Calibri" pitchFamily="34" charset="-122"/>
                          <a:cs typeface="Calibri" pitchFamily="34" charset="-120"/>
                        </a:rPr>
                        <a:t>0</a:t>
                      </a:r>
                      <a:endParaRPr lang="en-US" sz="135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Sonuç  </a:t>
            </a:r>
            <a:r>
              <a:rPr lang="en-US" sz="1800" dirty="0">
                <a:solidFill>
                  <a:srgbClr val="212121"/>
                </a:solidFill>
                <a:latin typeface="Calibri" pitchFamily="34" charset="0"/>
                <a:ea typeface="Calibri" pitchFamily="34" charset="-122"/>
                <a:cs typeface="Calibri" pitchFamily="34" charset="-120"/>
              </a:rPr>
              <a:t>İlk birleşme </a:t>
            </a:r>
            <a:r>
              <a:rPr lang="en-US" sz="1800" b="1" dirty="0">
                <a:solidFill>
                  <a:srgbClr val="212121"/>
                </a:solidFill>
                <a:latin typeface="Calibri" pitchFamily="34" charset="0"/>
                <a:ea typeface="Calibri" pitchFamily="34" charset="-122"/>
                <a:cs typeface="Calibri" pitchFamily="34" charset="-120"/>
              </a:rPr>
              <a:t>(A, B)</a:t>
            </a:r>
            <a:r>
              <a:rPr lang="en-US" sz="1800" dirty="0">
                <a:solidFill>
                  <a:srgbClr val="212121"/>
                </a:solidFill>
                <a:latin typeface="Calibri" pitchFamily="34" charset="0"/>
                <a:ea typeface="Calibri" pitchFamily="34" charset="-122"/>
                <a:cs typeface="Calibri" pitchFamily="34" charset="-120"/>
              </a:rPr>
              <a:t>, yükseklik </a:t>
            </a:r>
            <a:r>
              <a:rPr lang="en-US" sz="1800" b="1" dirty="0">
                <a:solidFill>
                  <a:srgbClr val="212121"/>
                </a:solidFill>
                <a:latin typeface="Calibri" pitchFamily="34" charset="0"/>
                <a:ea typeface="Calibri" pitchFamily="34" charset="-122"/>
                <a:cs typeface="Calibri" pitchFamily="34" charset="-120"/>
              </a:rPr>
              <a:t>2</a:t>
            </a:r>
            <a:r>
              <a:rPr lang="en-US" sz="1800" dirty="0">
                <a:solidFill>
                  <a:srgbClr val="212121"/>
                </a:solidFill>
                <a:latin typeface="Calibri" pitchFamily="34" charset="0"/>
                <a:ea typeface="Calibri" pitchFamily="34" charset="-122"/>
                <a:cs typeface="Calibri" pitchFamily="34" charset="-120"/>
              </a:rPr>
              <a:t>. Yeni matris: d(AB, C) = 8, d(AB, D) = 12, d(C, D) = 10.</a:t>
            </a:r>
            <a:endParaRPr lang="en-US" sz="18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UPGMA — 2. ve 3. adım</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(devam)</a:t>
            </a:r>
            <a:endParaRPr lang="en-US" sz="1500" dirty="0"/>
          </a:p>
        </p:txBody>
      </p:sp>
      <p:sp>
        <p:nvSpPr>
          <p:cNvPr id="4" name="Shape 2"/>
          <p:cNvSpPr/>
          <p:nvPr/>
        </p:nvSpPr>
        <p:spPr>
          <a:xfrm>
            <a:off x="548640" y="1463040"/>
            <a:ext cx="11094415" cy="795528"/>
          </a:xfrm>
          <a:prstGeom prst="roundRect">
            <a:avLst>
              <a:gd name="adj" fmla="val 9195"/>
            </a:avLst>
          </a:prstGeom>
          <a:solidFill>
            <a:srgbClr val="ECEFF1"/>
          </a:solidFill>
          <a:ln/>
        </p:spPr>
      </p:sp>
      <p:sp>
        <p:nvSpPr>
          <p:cNvPr id="5" name="Text 3"/>
          <p:cNvSpPr txBox="1"/>
          <p:nvPr/>
        </p:nvSpPr>
        <p:spPr>
          <a:xfrm>
            <a:off x="685800" y="1508760"/>
            <a:ext cx="10820095" cy="704088"/>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3 × 3 matristen devam edin. Son birleştirmede ağırlıklandırmaya dikkat: (AB)C kümesinin boyutu </a:t>
            </a:r>
            <a:r>
              <a:rPr lang="en-US" sz="1800" b="1" dirty="0">
                <a:solidFill>
                  <a:srgbClr val="212121"/>
                </a:solidFill>
                <a:latin typeface="Calibri" pitchFamily="34" charset="0"/>
                <a:ea typeface="Calibri" pitchFamily="34" charset="-122"/>
                <a:cs typeface="Calibri" pitchFamily="34" charset="-120"/>
              </a:rPr>
              <a:t>3</a:t>
            </a:r>
            <a:r>
              <a:rPr lang="en-US" sz="1800" dirty="0">
                <a:solidFill>
                  <a:srgbClr val="212121"/>
                </a:solidFill>
                <a:latin typeface="Calibri" pitchFamily="34" charset="0"/>
                <a:ea typeface="Calibri" pitchFamily="34" charset="-122"/>
                <a:cs typeface="Calibri" pitchFamily="34" charset="-120"/>
              </a:rPr>
              <a:t>.</a:t>
            </a:r>
            <a:endParaRPr lang="en-US" sz="1800" dirty="0"/>
          </a:p>
        </p:txBody>
      </p:sp>
      <p:sp>
        <p:nvSpPr>
          <p:cNvPr id="6" name="Text 4"/>
          <p:cNvSpPr txBox="1"/>
          <p:nvPr/>
        </p:nvSpPr>
        <p:spPr>
          <a:xfrm>
            <a:off x="548640" y="2487168"/>
            <a:ext cx="6434761" cy="2907792"/>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En küçük: d(AB, C) = </a:t>
            </a:r>
            <a:r>
              <a:rPr lang="en-US" sz="1800" b="1" dirty="0">
                <a:solidFill>
                  <a:srgbClr val="212121"/>
                </a:solidFill>
                <a:latin typeface="Calibri" pitchFamily="34" charset="0"/>
                <a:ea typeface="Calibri" pitchFamily="34" charset="-122"/>
                <a:cs typeface="Calibri" pitchFamily="34" charset="-120"/>
              </a:rPr>
              <a:t>8</a:t>
            </a:r>
            <a:r>
              <a:rPr lang="en-US" sz="1800" dirty="0">
                <a:solidFill>
                  <a:srgbClr val="212121"/>
                </a:solidFill>
                <a:latin typeface="Calibri" pitchFamily="34" charset="0"/>
                <a:ea typeface="Calibri" pitchFamily="34" charset="-122"/>
                <a:cs typeface="Calibri" pitchFamily="34" charset="-120"/>
              </a:rPr>
              <a:t> → ((AB)C), boyut 3, yükseklik 8/2 = </a:t>
            </a:r>
            <a:r>
              <a:rPr lang="en-US" sz="1800" b="1" dirty="0">
                <a:solidFill>
                  <a:srgbClr val="212121"/>
                </a:solidFill>
                <a:latin typeface="Calibri" pitchFamily="34" charset="0"/>
                <a:ea typeface="Calibri" pitchFamily="34" charset="-122"/>
                <a:cs typeface="Calibri" pitchFamily="34" charset="-120"/>
              </a:rPr>
              <a:t>4</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Dallar: C: 4 − 0 = 4;  (AB): 4 − 2 = </a:t>
            </a:r>
            <a:r>
              <a:rPr lang="en-US" sz="1800" b="1" dirty="0">
                <a:solidFill>
                  <a:srgbClr val="212121"/>
                </a:solidFill>
                <a:latin typeface="Calibri" pitchFamily="34" charset="0"/>
                <a:ea typeface="Calibri" pitchFamily="34" charset="-122"/>
                <a:cs typeface="Calibri" pitchFamily="34" charset="-120"/>
              </a:rPr>
              <a:t>2</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d(ABC, D) = (2·d(AB,D) + 1·d(C,D)) / 3 = (2·12 + 1·10) / 3 = 34/3 = </a:t>
            </a:r>
            <a:r>
              <a:rPr lang="en-US" sz="1800" b="1" dirty="0">
                <a:solidFill>
                  <a:srgbClr val="212121"/>
                </a:solidFill>
                <a:latin typeface="Calibri" pitchFamily="34" charset="0"/>
                <a:ea typeface="Calibri" pitchFamily="34" charset="-122"/>
                <a:cs typeface="Calibri" pitchFamily="34" charset="-120"/>
              </a:rPr>
              <a:t>11.33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Kök yüksekliği = 11.33 / 2 = </a:t>
            </a:r>
            <a:r>
              <a:rPr lang="en-US" sz="1800" b="1" dirty="0">
                <a:solidFill>
                  <a:srgbClr val="212121"/>
                </a:solidFill>
                <a:latin typeface="Calibri" pitchFamily="34" charset="0"/>
                <a:ea typeface="Calibri" pitchFamily="34" charset="-122"/>
                <a:cs typeface="Calibri" pitchFamily="34" charset="-120"/>
              </a:rPr>
              <a:t>5.67</a:t>
            </a:r>
            <a:r>
              <a:rPr lang="en-US" sz="1800" dirty="0">
                <a:solidFill>
                  <a:srgbClr val="212121"/>
                </a:solidFill>
                <a:latin typeface="Calibri" pitchFamily="34" charset="0"/>
                <a:ea typeface="Calibri" pitchFamily="34" charset="-122"/>
                <a:cs typeface="Calibri" pitchFamily="34" charset="-120"/>
              </a:rPr>
              <a:t>;  dallar: D: 5.67, (ABC): 5.67 − 4 = </a:t>
            </a:r>
            <a:r>
              <a:rPr lang="en-US" sz="1800" b="1" dirty="0">
                <a:solidFill>
                  <a:srgbClr val="212121"/>
                </a:solidFill>
                <a:latin typeface="Calibri" pitchFamily="34" charset="0"/>
                <a:ea typeface="Calibri" pitchFamily="34" charset="-122"/>
                <a:cs typeface="Calibri" pitchFamily="34" charset="-120"/>
              </a:rPr>
              <a:t>1.67</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Newick: </a:t>
            </a:r>
            <a:r>
              <a:rPr lang="en-US" sz="1800" dirty="0">
                <a:solidFill>
                  <a:srgbClr val="455A64"/>
                </a:solidFill>
                <a:latin typeface="Courier New" pitchFamily="34" charset="0"/>
                <a:ea typeface="Courier New" pitchFamily="34" charset="-122"/>
                <a:cs typeface="Courier New" pitchFamily="34" charset="-120"/>
              </a:rPr>
              <a:t>(((A:2,B:2):2,C:4):1.67,D:5.67);</a:t>
            </a:r>
            <a:endParaRPr lang="en-US" sz="1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7303441" y="2487168"/>
          <a:ext cx="4339614" cy="914400"/>
        </p:xfrm>
        <a:graphic>
          <a:graphicData uri="http://schemas.openxmlformats.org/drawingml/2006/table">
            <a:tbl>
              <a:tblPr/>
              <a:tblGrid>
                <a:gridCol w="813678"/>
                <a:gridCol w="1356129"/>
                <a:gridCol w="1356129"/>
                <a:gridCol w="813678"/>
              </a:tblGrid>
              <a:tr h="0">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ABC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ABC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11.33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11.33</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Ağaç ultrametrik: kökten her yaprağa uzaklık </a:t>
            </a:r>
            <a:r>
              <a:rPr lang="en-US" sz="1700" b="1" dirty="0">
                <a:solidFill>
                  <a:srgbClr val="212121"/>
                </a:solidFill>
                <a:latin typeface="Calibri" pitchFamily="34" charset="0"/>
                <a:ea typeface="Calibri" pitchFamily="34" charset="-122"/>
                <a:cs typeface="Calibri" pitchFamily="34" charset="-120"/>
              </a:rPr>
              <a:t>5.67</a:t>
            </a:r>
            <a:r>
              <a:rPr lang="en-US" sz="1700" dirty="0">
                <a:solidFill>
                  <a:srgbClr val="212121"/>
                </a:solidFill>
                <a:latin typeface="Calibri" pitchFamily="34" charset="0"/>
                <a:ea typeface="Calibri" pitchFamily="34" charset="-122"/>
                <a:cs typeface="Calibri" pitchFamily="34" charset="-120"/>
              </a:rPr>
              <a:t> (ör. A: 1.67 + 2 + 2 = 5.67). Notebook'taki </a:t>
            </a:r>
            <a:r>
              <a:rPr lang="en-US" sz="1700" dirty="0">
                <a:solidFill>
                  <a:srgbClr val="455A64"/>
                </a:solidFill>
                <a:latin typeface="Courier New" pitchFamily="34" charset="0"/>
                <a:ea typeface="Courier New" pitchFamily="34" charset="-122"/>
                <a:cs typeface="Courier New" pitchFamily="34" charset="-120"/>
              </a:rPr>
              <a:t>upgma</a:t>
            </a:r>
            <a:r>
              <a:rPr lang="en-US" sz="1700" dirty="0">
                <a:solidFill>
                  <a:srgbClr val="212121"/>
                </a:solidFill>
                <a:latin typeface="Calibri" pitchFamily="34" charset="0"/>
                <a:ea typeface="Calibri" pitchFamily="34" charset="-122"/>
                <a:cs typeface="Calibri" pitchFamily="34" charset="-120"/>
              </a:rPr>
              <a:t> fonksiyonu aynı adımları ve yükseklikleri (2, 4, 5.667) verir.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2800" b="1" dirty="0">
                <a:solidFill>
                  <a:srgbClr val="263238"/>
                </a:solidFill>
                <a:latin typeface="Calibri" pitchFamily="34" charset="0"/>
                <a:ea typeface="Calibri" pitchFamily="34" charset="-122"/>
                <a:cs typeface="Calibri" pitchFamily="34" charset="-120"/>
              </a:rPr>
              <a:t>Dikkat: Biopython'un upgma() fonksiyonu aslında WPGMA</a:t>
            </a:r>
            <a:endParaRPr lang="en-US" sz="2800" dirty="0"/>
          </a:p>
        </p:txBody>
      </p:sp>
      <p:sp>
        <p:nvSpPr>
          <p:cNvPr id="3" name="Shape 1"/>
          <p:cNvSpPr/>
          <p:nvPr/>
        </p:nvSpPr>
        <p:spPr>
          <a:xfrm>
            <a:off x="548640" y="1234440"/>
            <a:ext cx="5364328" cy="4389120"/>
          </a:xfrm>
          <a:prstGeom prst="roundRect">
            <a:avLst>
              <a:gd name="adj" fmla="val 1667"/>
            </a:avLst>
          </a:prstGeom>
          <a:solidFill>
            <a:srgbClr val="F7F9FA"/>
          </a:solidFill>
          <a:ln w="12700">
            <a:solidFill>
              <a:srgbClr val="B0BEC5"/>
            </a:solidFill>
            <a:prstDash val="solid"/>
          </a:ln>
        </p:spPr>
      </p:sp>
      <p:sp>
        <p:nvSpPr>
          <p:cNvPr id="4" name="Text 2"/>
          <p:cNvSpPr txBox="1"/>
          <p:nvPr/>
        </p:nvSpPr>
        <p:spPr>
          <a:xfrm>
            <a:off x="731520" y="1344168"/>
            <a:ext cx="4998568" cy="411480"/>
          </a:xfrm>
          <a:prstGeom prst="rect">
            <a:avLst/>
          </a:prstGeom>
          <a:noFill/>
          <a:ln/>
        </p:spPr>
        <p:txBody>
          <a:bodyPr wrap="square" lIns="0" tIns="0" rIns="0" bIns="0" rtlCol="0" anchor="ctr"/>
          <a:lstStyle/>
          <a:p>
            <a:pPr indent="0" marL="0">
              <a:buNone/>
            </a:pPr>
            <a:r>
              <a:rPr lang="en-US" sz="1800" b="1" dirty="0">
                <a:solidFill>
                  <a:srgbClr val="263238"/>
                </a:solidFill>
              </a:rPr>
              <a:t>UPGMA (ağırlıksız ortalama)</a:t>
            </a:r>
            <a:endParaRPr lang="en-US" sz="1800" dirty="0"/>
          </a:p>
        </p:txBody>
      </p:sp>
      <p:sp>
        <p:nvSpPr>
          <p:cNvPr id="5" name="Text 3"/>
          <p:cNvSpPr txBox="1"/>
          <p:nvPr/>
        </p:nvSpPr>
        <p:spPr>
          <a:xfrm>
            <a:off x="685800" y="1828800"/>
            <a:ext cx="5090008" cy="36576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Yeni uzaklık: küme </a:t>
            </a:r>
            <a:r>
              <a:rPr lang="en-US" sz="1700" b="1" dirty="0">
                <a:solidFill>
                  <a:srgbClr val="212121"/>
                </a:solidFill>
                <a:latin typeface="Calibri" pitchFamily="34" charset="0"/>
                <a:ea typeface="Calibri" pitchFamily="34" charset="-122"/>
                <a:cs typeface="Calibri" pitchFamily="34" charset="-120"/>
              </a:rPr>
              <a:t>boyutlarıyla</a:t>
            </a:r>
            <a:r>
              <a:rPr lang="en-US" sz="1700" dirty="0">
                <a:solidFill>
                  <a:srgbClr val="212121"/>
                </a:solidFill>
                <a:latin typeface="Calibri" pitchFamily="34" charset="0"/>
                <a:ea typeface="Calibri" pitchFamily="34" charset="-122"/>
                <a:cs typeface="Calibri" pitchFamily="34" charset="-120"/>
              </a:rPr>
              <a:t> ağırlıklı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d(ABC, D) = (2·12 + 1·10) / 3 = </a:t>
            </a:r>
            <a:r>
              <a:rPr lang="en-US" sz="1700" b="1" dirty="0">
                <a:solidFill>
                  <a:srgbClr val="212121"/>
                </a:solidFill>
                <a:latin typeface="Calibri" pitchFamily="34" charset="0"/>
                <a:ea typeface="Calibri" pitchFamily="34" charset="-122"/>
                <a:cs typeface="Calibri" pitchFamily="34" charset="-120"/>
              </a:rPr>
              <a:t>11.33</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Kök yüksekliği </a:t>
            </a:r>
            <a:r>
              <a:rPr lang="en-US" sz="1700" b="1" dirty="0">
                <a:solidFill>
                  <a:srgbClr val="212121"/>
                </a:solidFill>
                <a:latin typeface="Calibri" pitchFamily="34" charset="0"/>
                <a:ea typeface="Calibri" pitchFamily="34" charset="-122"/>
                <a:cs typeface="Calibri" pitchFamily="34" charset="-120"/>
              </a:rPr>
              <a:t>5.67</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Her </a:t>
            </a:r>
            <a:r>
              <a:rPr lang="en-US" sz="1700" b="1" dirty="0">
                <a:solidFill>
                  <a:srgbClr val="212121"/>
                </a:solidFill>
                <a:latin typeface="Calibri" pitchFamily="34" charset="0"/>
                <a:ea typeface="Calibri" pitchFamily="34" charset="-122"/>
                <a:cs typeface="Calibri" pitchFamily="34" charset="-120"/>
              </a:rPr>
              <a:t>yaprak</a:t>
            </a:r>
            <a:r>
              <a:rPr lang="en-US" sz="1700" dirty="0">
                <a:solidFill>
                  <a:srgbClr val="212121"/>
                </a:solidFill>
                <a:latin typeface="Calibri" pitchFamily="34" charset="0"/>
                <a:ea typeface="Calibri" pitchFamily="34" charset="-122"/>
                <a:cs typeface="Calibri" pitchFamily="34" charset="-120"/>
              </a:rPr>
              <a:t> eşit ağırlıkta sayılır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Newick: </a:t>
            </a:r>
            <a:r>
              <a:rPr lang="en-US" sz="1700" dirty="0">
                <a:solidFill>
                  <a:srgbClr val="455A64"/>
                </a:solidFill>
                <a:latin typeface="Courier New" pitchFamily="34" charset="0"/>
                <a:ea typeface="Courier New" pitchFamily="34" charset="-122"/>
                <a:cs typeface="Courier New" pitchFamily="34" charset="-120"/>
              </a:rPr>
              <a:t>(((A:2,B:2):2,C:4):1.67,D:5.67);</a:t>
            </a:r>
            <a:endParaRPr lang="en-US" sz="1700" dirty="0"/>
          </a:p>
        </p:txBody>
      </p:sp>
      <p:sp>
        <p:nvSpPr>
          <p:cNvPr id="6" name="Shape 4"/>
          <p:cNvSpPr/>
          <p:nvPr/>
        </p:nvSpPr>
        <p:spPr>
          <a:xfrm>
            <a:off x="6278728" y="1234440"/>
            <a:ext cx="5364328" cy="4389120"/>
          </a:xfrm>
          <a:prstGeom prst="roundRect">
            <a:avLst>
              <a:gd name="adj" fmla="val 1667"/>
            </a:avLst>
          </a:prstGeom>
          <a:solidFill>
            <a:srgbClr val="FDECEA"/>
          </a:solidFill>
          <a:ln w="12700">
            <a:solidFill>
              <a:srgbClr val="B0BEC5"/>
            </a:solidFill>
            <a:prstDash val="solid"/>
          </a:ln>
        </p:spPr>
      </p:sp>
      <p:sp>
        <p:nvSpPr>
          <p:cNvPr id="7" name="Text 5"/>
          <p:cNvSpPr txBox="1"/>
          <p:nvPr/>
        </p:nvSpPr>
        <p:spPr>
          <a:xfrm>
            <a:off x="6461608" y="1344168"/>
            <a:ext cx="4998568" cy="411480"/>
          </a:xfrm>
          <a:prstGeom prst="rect">
            <a:avLst/>
          </a:prstGeom>
          <a:noFill/>
          <a:ln/>
        </p:spPr>
        <p:txBody>
          <a:bodyPr wrap="square" lIns="0" tIns="0" rIns="0" bIns="0" rtlCol="0" anchor="ctr"/>
          <a:lstStyle/>
          <a:p>
            <a:pPr indent="0" marL="0">
              <a:buNone/>
            </a:pPr>
            <a:r>
              <a:rPr lang="en-US" sz="1800" b="1" dirty="0">
                <a:solidFill>
                  <a:srgbClr val="B71C1C"/>
                </a:solidFill>
              </a:rPr>
              <a:t>WPGMA (Biopython upgma())</a:t>
            </a:r>
            <a:endParaRPr lang="en-US" sz="1800" dirty="0"/>
          </a:p>
        </p:txBody>
      </p:sp>
      <p:sp>
        <p:nvSpPr>
          <p:cNvPr id="8" name="Text 6"/>
          <p:cNvSpPr txBox="1"/>
          <p:nvPr/>
        </p:nvSpPr>
        <p:spPr>
          <a:xfrm>
            <a:off x="6415888" y="1828800"/>
            <a:ext cx="5090008" cy="36576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Yeni uzaklık: iki kümenin </a:t>
            </a:r>
            <a:r>
              <a:rPr lang="en-US" sz="1700" b="1" dirty="0">
                <a:solidFill>
                  <a:srgbClr val="212121"/>
                </a:solidFill>
                <a:latin typeface="Calibri" pitchFamily="34" charset="0"/>
                <a:ea typeface="Calibri" pitchFamily="34" charset="-122"/>
                <a:cs typeface="Calibri" pitchFamily="34" charset="-120"/>
              </a:rPr>
              <a:t>basit</a:t>
            </a:r>
            <a:r>
              <a:rPr lang="en-US" sz="1700" dirty="0">
                <a:solidFill>
                  <a:srgbClr val="212121"/>
                </a:solidFill>
                <a:latin typeface="Calibri" pitchFamily="34" charset="0"/>
                <a:ea typeface="Calibri" pitchFamily="34" charset="-122"/>
                <a:cs typeface="Calibri" pitchFamily="34" charset="-120"/>
              </a:rPr>
              <a:t> ortalaması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d(ABC, D) = (d(AB,D) + d(C,D)) / 2 = (12 + 10) / 2 = </a:t>
            </a:r>
            <a:r>
              <a:rPr lang="en-US" sz="1700" b="1" dirty="0">
                <a:solidFill>
                  <a:srgbClr val="212121"/>
                </a:solidFill>
                <a:latin typeface="Calibri" pitchFamily="34" charset="0"/>
                <a:ea typeface="Calibri" pitchFamily="34" charset="-122"/>
                <a:cs typeface="Calibri" pitchFamily="34" charset="-120"/>
              </a:rPr>
              <a:t>11</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Kök yüksekliği </a:t>
            </a:r>
            <a:r>
              <a:rPr lang="en-US" sz="1700" b="1" dirty="0">
                <a:solidFill>
                  <a:srgbClr val="212121"/>
                </a:solidFill>
                <a:latin typeface="Calibri" pitchFamily="34" charset="0"/>
                <a:ea typeface="Calibri" pitchFamily="34" charset="-122"/>
                <a:cs typeface="Calibri" pitchFamily="34" charset="-120"/>
              </a:rPr>
              <a:t>5.5</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Her </a:t>
            </a:r>
            <a:r>
              <a:rPr lang="en-US" sz="1700" b="1" dirty="0">
                <a:solidFill>
                  <a:srgbClr val="212121"/>
                </a:solidFill>
                <a:latin typeface="Calibri" pitchFamily="34" charset="0"/>
                <a:ea typeface="Calibri" pitchFamily="34" charset="-122"/>
                <a:cs typeface="Calibri" pitchFamily="34" charset="-120"/>
              </a:rPr>
              <a:t>küme</a:t>
            </a:r>
            <a:r>
              <a:rPr lang="en-US" sz="1700" dirty="0">
                <a:solidFill>
                  <a:srgbClr val="212121"/>
                </a:solidFill>
                <a:latin typeface="Calibri" pitchFamily="34" charset="0"/>
                <a:ea typeface="Calibri" pitchFamily="34" charset="-122"/>
                <a:cs typeface="Calibri" pitchFamily="34" charset="-120"/>
              </a:rPr>
              <a:t> eşit ağırlıkta: büyük kümeler az temsil edilir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Bu örnekte topoloji aynı, yükseklikler farklı</a:t>
            </a:r>
            <a:endParaRPr lang="en-US" sz="1700" dirty="0"/>
          </a:p>
        </p:txBody>
      </p:sp>
      <p:sp>
        <p:nvSpPr>
          <p:cNvPr id="9" name="Shape 7"/>
          <p:cNvSpPr/>
          <p:nvPr/>
        </p:nvSpPr>
        <p:spPr>
          <a:xfrm>
            <a:off x="548640" y="5440680"/>
            <a:ext cx="11094415" cy="822960"/>
          </a:xfrm>
          <a:prstGeom prst="roundRect">
            <a:avLst>
              <a:gd name="adj" fmla="val 8889"/>
            </a:avLst>
          </a:prstGeom>
          <a:solidFill>
            <a:srgbClr val="FDECEA"/>
          </a:solidFill>
          <a:ln/>
        </p:spPr>
      </p:sp>
      <p:sp>
        <p:nvSpPr>
          <p:cNvPr id="10" name="Text 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a:t>
            </a:r>
            <a:r>
              <a:rPr lang="en-US" sz="1600" dirty="0">
                <a:solidFill>
                  <a:srgbClr val="455A64"/>
                </a:solidFill>
                <a:latin typeface="Courier New" pitchFamily="34" charset="0"/>
                <a:ea typeface="Courier New" pitchFamily="34" charset="-122"/>
                <a:cs typeface="Courier New" pitchFamily="34" charset="-120"/>
              </a:rPr>
              <a:t>DistanceTreeConstructor().upgma(dm)</a:t>
            </a:r>
            <a:r>
              <a:rPr lang="en-US" sz="1600" dirty="0">
                <a:solidFill>
                  <a:srgbClr val="212121"/>
                </a:solidFill>
                <a:latin typeface="Calibri" pitchFamily="34" charset="0"/>
                <a:ea typeface="Calibri" pitchFamily="34" charset="-122"/>
                <a:cs typeface="Calibri" pitchFamily="34" charset="-120"/>
              </a:rPr>
              <a:t> kaynak kodunda yeni uzaklık </a:t>
            </a:r>
            <a:r>
              <a:rPr lang="en-US" sz="1600" dirty="0">
                <a:solidFill>
                  <a:srgbClr val="455A64"/>
                </a:solidFill>
                <a:latin typeface="Courier New" pitchFamily="34" charset="0"/>
                <a:ea typeface="Courier New" pitchFamily="34" charset="-122"/>
                <a:cs typeface="Courier New" pitchFamily="34" charset="-120"/>
              </a:rPr>
              <a:t>(d[i][k] + d[j][k]) / 2</a:t>
            </a:r>
            <a:r>
              <a:rPr lang="en-US" sz="1600" dirty="0">
                <a:solidFill>
                  <a:srgbClr val="212121"/>
                </a:solidFill>
                <a:latin typeface="Calibri" pitchFamily="34" charset="0"/>
                <a:ea typeface="Calibri" pitchFamily="34" charset="-122"/>
                <a:cs typeface="Calibri" pitchFamily="34" charset="-120"/>
              </a:rPr>
              <a:t> ile hesaplanır. Gerçek UPGMA gerekiyorsa notebook'taki </a:t>
            </a:r>
            <a:r>
              <a:rPr lang="en-US" sz="1600" dirty="0">
                <a:solidFill>
                  <a:srgbClr val="455A64"/>
                </a:solidFill>
                <a:latin typeface="Courier New" pitchFamily="34" charset="0"/>
                <a:ea typeface="Courier New" pitchFamily="34" charset="-122"/>
                <a:cs typeface="Courier New" pitchFamily="34" charset="-120"/>
              </a:rPr>
              <a:t>upgma</a:t>
            </a:r>
            <a:r>
              <a:rPr lang="en-US" sz="1600" dirty="0">
                <a:solidFill>
                  <a:srgbClr val="212121"/>
                </a:solidFill>
                <a:latin typeface="Calibri" pitchFamily="34" charset="0"/>
                <a:ea typeface="Calibri" pitchFamily="34" charset="-122"/>
                <a:cs typeface="Calibri" pitchFamily="34" charset="-120"/>
              </a:rPr>
              <a:t> fonksiyonunu kullanın.</a:t>
            </a:r>
            <a:endParaRPr lang="en-US" sz="1600" dirty="0"/>
          </a:p>
        </p:txBody>
      </p:sp>
      <p:sp>
        <p:nvSpPr>
          <p:cNvPr id="11" name="Text 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2" name="Text 1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UPGMA'yı yazmak (notebook)</a:t>
            </a:r>
            <a:endParaRPr lang="en-US" sz="3000" dirty="0"/>
          </a:p>
        </p:txBody>
      </p:sp>
      <p:sp>
        <p:nvSpPr>
          <p:cNvPr id="3" name="Text 1"/>
          <p:cNvSpPr txBox="1"/>
          <p:nvPr/>
        </p:nvSpPr>
        <p:spPr>
          <a:xfrm>
            <a:off x="548640" y="5513832"/>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742432"/>
            <a:ext cx="7100426" cy="521208"/>
          </a:xfrm>
          <a:prstGeom prst="roundRect">
            <a:avLst>
              <a:gd name="adj" fmla="val 14035"/>
            </a:avLst>
          </a:prstGeom>
          <a:solidFill>
            <a:srgbClr val="FFFFFF"/>
          </a:solidFill>
          <a:ln w="12700">
            <a:solidFill>
              <a:srgbClr val="B0BEC5"/>
            </a:solidFill>
            <a:prstDash val="solid"/>
          </a:ln>
        </p:spPr>
      </p:sp>
      <p:sp>
        <p:nvSpPr>
          <p:cNvPr id="5" name="Text 3"/>
          <p:cNvSpPr txBox="1"/>
          <p:nvPr/>
        </p:nvSpPr>
        <p:spPr>
          <a:xfrm>
            <a:off x="658368" y="5815584"/>
            <a:ext cx="6880970" cy="374904"/>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(D:5.67,(C:4,(A:2,B:2):2):1.67);</a:t>
            </a:r>
            <a:endParaRPr lang="en-US" sz="1300" dirty="0"/>
          </a:p>
        </p:txBody>
      </p:sp>
      <p:sp>
        <p:nvSpPr>
          <p:cNvPr id="6" name="Shape 4"/>
          <p:cNvSpPr/>
          <p:nvPr/>
        </p:nvSpPr>
        <p:spPr>
          <a:xfrm>
            <a:off x="548640" y="1234440"/>
            <a:ext cx="7100426" cy="4233672"/>
          </a:xfrm>
          <a:prstGeom prst="roundRect">
            <a:avLst>
              <a:gd name="adj" fmla="val 1728"/>
            </a:avLst>
          </a:prstGeom>
          <a:solidFill>
            <a:srgbClr val="F4F6F7"/>
          </a:solidFill>
          <a:ln w="12700">
            <a:solidFill>
              <a:srgbClr val="B0BEC5"/>
            </a:solidFill>
            <a:prstDash val="solid"/>
          </a:ln>
        </p:spPr>
      </p:sp>
      <p:sp>
        <p:nvSpPr>
          <p:cNvPr id="7" name="Text 5"/>
          <p:cNvSpPr txBox="1"/>
          <p:nvPr/>
        </p:nvSpPr>
        <p:spPr>
          <a:xfrm>
            <a:off x="658368" y="1307592"/>
            <a:ext cx="6880970" cy="4087368"/>
          </a:xfrm>
          <a:prstGeom prst="rect">
            <a:avLst/>
          </a:prstGeom>
          <a:noFill/>
          <a:ln/>
        </p:spPr>
        <p:txBody>
          <a:bodyPr wrap="square" lIns="0" tIns="0" rIns="0" bIns="0" rtlCol="0" anchor="t"/>
          <a:lstStyle/>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def upgma(D, isimler):</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D = D.astype(float).copy()</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kumeler = [{"ad": a, "boyut": 1, "yukseklik": 0.0}</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for a in isimler]</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while len(kumeler) &gt; 1:</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n = len(kumeler)</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i, j = min(((i, j) for i in range(n)</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for j in range(i + 1, n)), key=lambda t: D[t])</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h = D[i, j] / 2</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ki, kj = kumeler[i], kumeler[j]</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yeni = {"ad": f"({ki['ad']}:{h - ki['yukseklik']:.3g},"</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f"{kj['ad']}:{h - kj['yukseklik']:.3g})",</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"boyut": ki["boyut"] + kj["boyut"], "yukseklik": h}</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yeni_satir = (ki["boyut"] * D[i] + kj["boyut"] * D[j]) \</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 yeni["boyut"]           # ağırlıklı ortalama</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tut = [k for k in range(n) if k not in (i, j)]</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D2 = np.zeros((len(tut) + 1, len(tut) + 1))</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D2[:-1, :-1] = D[np.ix_(tut, tut)]</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D2[-1, :-1] = D2[:-1, -1] = yeni_satir[tut]</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D, kumeler = D2, [kumeler[k] for k in tut] + [yeni]</a:t>
            </a:r>
            <a:endParaRPr lang="en-US" sz="1250" dirty="0"/>
          </a:p>
          <a:p>
            <a:pPr indent="0" marL="0">
              <a:lnSpc>
                <a:spcPct val="100000"/>
              </a:lnSpc>
              <a:buNone/>
            </a:pPr>
            <a:r>
              <a:rPr lang="en-US" sz="1250" dirty="0">
                <a:solidFill>
                  <a:srgbClr val="263238"/>
                </a:solidFill>
                <a:latin typeface="Courier New" pitchFamily="34" charset="0"/>
                <a:ea typeface="Courier New" pitchFamily="34" charset="-122"/>
                <a:cs typeface="Courier New" pitchFamily="34" charset="-120"/>
              </a:rPr>
              <a:t>    return kumeler[0]["ad"] + ";"</a:t>
            </a:r>
            <a:endParaRPr lang="en-US" sz="1250" dirty="0"/>
          </a:p>
        </p:txBody>
      </p:sp>
      <p:sp>
        <p:nvSpPr>
          <p:cNvPr id="8" name="Text 6"/>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Her küme: ad (Newick), boyut, yükseklik</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Dal uzunluğu = yeni yükseklik − alt kümenin yüksekliği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yeni_satir</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boyut ağırlıklı</a:t>
            </a:r>
            <a:r>
              <a:rPr lang="en-US" sz="1700" dirty="0">
                <a:solidFill>
                  <a:srgbClr val="212121"/>
                </a:solidFill>
                <a:latin typeface="Calibri" pitchFamily="34" charset="0"/>
                <a:ea typeface="Calibri" pitchFamily="34" charset="-122"/>
                <a:cs typeface="Calibri" pitchFamily="34" charset="-120"/>
              </a:rPr>
              <a:t> ortalama → gerçek UPGMA</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np.ix_</a:t>
            </a:r>
            <a:r>
              <a:rPr lang="en-US" sz="1700" dirty="0">
                <a:solidFill>
                  <a:srgbClr val="212121"/>
                </a:solidFill>
                <a:latin typeface="Calibri" pitchFamily="34" charset="0"/>
                <a:ea typeface="Calibri" pitchFamily="34" charset="-122"/>
                <a:cs typeface="Calibri" pitchFamily="34" charset="-120"/>
              </a:rPr>
              <a:t>: kalan satır/sütunları seçer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Newick'te çocukların sırası önemsizdir: çıktı elle çözümle </a:t>
            </a:r>
            <a:r>
              <a:rPr lang="en-US" sz="1700" b="1" dirty="0">
                <a:solidFill>
                  <a:srgbClr val="212121"/>
                </a:solidFill>
                <a:latin typeface="Calibri" pitchFamily="34" charset="0"/>
                <a:ea typeface="Calibri" pitchFamily="34" charset="-122"/>
                <a:cs typeface="Calibri" pitchFamily="34" charset="-120"/>
              </a:rPr>
              <a:t>aynı ağaç</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Komşu Birleştirme (NJ): formüller</a:t>
            </a:r>
            <a:endParaRPr lang="en-US" sz="3000" dirty="0"/>
          </a:p>
        </p:txBody>
      </p:sp>
      <p:sp>
        <p:nvSpPr>
          <p:cNvPr id="3" name="Shape 1"/>
          <p:cNvSpPr/>
          <p:nvPr/>
        </p:nvSpPr>
        <p:spPr>
          <a:xfrm>
            <a:off x="548640" y="1234440"/>
            <a:ext cx="11094415" cy="891540"/>
          </a:xfrm>
          <a:prstGeom prst="roundRect">
            <a:avLst>
              <a:gd name="adj" fmla="val 8205"/>
            </a:avLst>
          </a:prstGeom>
          <a:solidFill>
            <a:srgbClr val="F7F9FA"/>
          </a:solidFill>
          <a:ln w="12700">
            <a:solidFill>
              <a:srgbClr val="B0BEC5"/>
            </a:solidFill>
            <a:prstDash val="solid"/>
          </a:ln>
        </p:spPr>
      </p:sp>
      <p:sp>
        <p:nvSpPr>
          <p:cNvPr id="4" name="Text 2"/>
          <p:cNvSpPr txBox="1"/>
          <p:nvPr/>
        </p:nvSpPr>
        <p:spPr>
          <a:xfrm>
            <a:off x="731520" y="123444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Satır toplamı</a:t>
            </a:r>
            <a:endParaRPr lang="en-US" sz="1600" dirty="0"/>
          </a:p>
        </p:txBody>
      </p:sp>
      <p:sp>
        <p:nvSpPr>
          <p:cNvPr id="5" name="Text 3"/>
          <p:cNvSpPr txBox="1"/>
          <p:nvPr/>
        </p:nvSpPr>
        <p:spPr>
          <a:xfrm>
            <a:off x="3474720" y="123444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rᵢ = Σₖ d(i, k)</a:t>
            </a:r>
            <a:endParaRPr lang="en-US" sz="1800" dirty="0"/>
          </a:p>
        </p:txBody>
      </p:sp>
      <p:sp>
        <p:nvSpPr>
          <p:cNvPr id="6" name="Text 4"/>
          <p:cNvSpPr txBox="1"/>
          <p:nvPr/>
        </p:nvSpPr>
        <p:spPr>
          <a:xfrm>
            <a:off x="8412480" y="123444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i'nin diğer tüm yapraklardan toplam uzaklığı</a:t>
            </a:r>
            <a:endParaRPr lang="en-US" sz="1300" dirty="0"/>
          </a:p>
        </p:txBody>
      </p:sp>
      <p:sp>
        <p:nvSpPr>
          <p:cNvPr id="7" name="Shape 5"/>
          <p:cNvSpPr/>
          <p:nvPr/>
        </p:nvSpPr>
        <p:spPr>
          <a:xfrm>
            <a:off x="548640" y="2308860"/>
            <a:ext cx="11094415" cy="891540"/>
          </a:xfrm>
          <a:prstGeom prst="roundRect">
            <a:avLst>
              <a:gd name="adj" fmla="val 8205"/>
            </a:avLst>
          </a:prstGeom>
          <a:solidFill>
            <a:srgbClr val="F7F9FA"/>
          </a:solidFill>
          <a:ln w="12700">
            <a:solidFill>
              <a:srgbClr val="B0BEC5"/>
            </a:solidFill>
            <a:prstDash val="solid"/>
          </a:ln>
        </p:spPr>
      </p:sp>
      <p:sp>
        <p:nvSpPr>
          <p:cNvPr id="8" name="Text 6"/>
          <p:cNvSpPr txBox="1"/>
          <p:nvPr/>
        </p:nvSpPr>
        <p:spPr>
          <a:xfrm>
            <a:off x="731520" y="230886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Q-matrisi</a:t>
            </a:r>
            <a:endParaRPr lang="en-US" sz="1600" dirty="0"/>
          </a:p>
        </p:txBody>
      </p:sp>
      <p:sp>
        <p:nvSpPr>
          <p:cNvPr id="9" name="Text 7"/>
          <p:cNvSpPr txBox="1"/>
          <p:nvPr/>
        </p:nvSpPr>
        <p:spPr>
          <a:xfrm>
            <a:off x="3474720" y="2308860"/>
            <a:ext cx="4754880" cy="891540"/>
          </a:xfrm>
          <a:prstGeom prst="rect">
            <a:avLst/>
          </a:prstGeom>
          <a:noFill/>
          <a:ln/>
        </p:spPr>
        <p:txBody>
          <a:bodyPr wrap="square" lIns="0" tIns="0" rIns="0" bIns="0" rtlCol="0" anchor="ctr"/>
          <a:lstStyle/>
          <a:p>
            <a:pPr indent="0" marL="0">
              <a:buNone/>
            </a:pPr>
            <a:r>
              <a:rPr lang="en-US" sz="1800" dirty="0">
                <a:solidFill>
                  <a:srgbClr val="B71C1C"/>
                </a:solidFill>
                <a:latin typeface="Cambria" pitchFamily="34" charset="0"/>
                <a:ea typeface="Cambria" pitchFamily="34" charset="-122"/>
                <a:cs typeface="Cambria" pitchFamily="34" charset="-120"/>
              </a:rPr>
              <a:t>Q(i, j) = (n − 2)·d(i, j) − rᵢ − rⱼ</a:t>
            </a:r>
            <a:endParaRPr lang="en-US" sz="1800" dirty="0"/>
          </a:p>
        </p:txBody>
      </p:sp>
      <p:sp>
        <p:nvSpPr>
          <p:cNvPr id="10" name="Text 8"/>
          <p:cNvSpPr txBox="1"/>
          <p:nvPr/>
        </p:nvSpPr>
        <p:spPr>
          <a:xfrm>
            <a:off x="8412480" y="2308860"/>
            <a:ext cx="3047695" cy="891540"/>
          </a:xfrm>
          <a:prstGeom prst="rect">
            <a:avLst/>
          </a:prstGeom>
          <a:noFill/>
          <a:ln/>
        </p:spPr>
        <p:txBody>
          <a:bodyPr wrap="square" lIns="0" tIns="0" rIns="0" bIns="0" rtlCol="0" anchor="ctr"/>
          <a:lstStyle/>
          <a:p>
            <a:pPr indent="0" marL="0">
              <a:buNone/>
            </a:pPr>
            <a:r>
              <a:rPr lang="en-US" sz="1300" b="1" dirty="0">
                <a:solidFill>
                  <a:srgbClr val="546E7A"/>
                </a:solidFill>
                <a:latin typeface="Calibri" pitchFamily="34" charset="0"/>
                <a:ea typeface="Calibri" pitchFamily="34" charset="-122"/>
                <a:cs typeface="Calibri" pitchFamily="34" charset="-120"/>
              </a:rPr>
              <a:t>En küçük Q</a:t>
            </a:r>
            <a:r>
              <a:rPr lang="en-US" sz="1300" dirty="0">
                <a:solidFill>
                  <a:srgbClr val="546E7A"/>
                </a:solidFill>
                <a:latin typeface="Calibri" pitchFamily="34" charset="0"/>
                <a:ea typeface="Calibri" pitchFamily="34" charset="-122"/>
                <a:cs typeface="Calibri" pitchFamily="34" charset="-120"/>
              </a:rPr>
              <a:t> çifti birleştirilir (en küçük d değil!)</a:t>
            </a:r>
            <a:endParaRPr lang="en-US" sz="1300" dirty="0"/>
          </a:p>
        </p:txBody>
      </p:sp>
      <p:sp>
        <p:nvSpPr>
          <p:cNvPr id="11" name="Shape 9"/>
          <p:cNvSpPr/>
          <p:nvPr/>
        </p:nvSpPr>
        <p:spPr>
          <a:xfrm>
            <a:off x="548640" y="3383280"/>
            <a:ext cx="11094415" cy="891540"/>
          </a:xfrm>
          <a:prstGeom prst="roundRect">
            <a:avLst>
              <a:gd name="adj" fmla="val 8205"/>
            </a:avLst>
          </a:prstGeom>
          <a:solidFill>
            <a:srgbClr val="F7F9FA"/>
          </a:solidFill>
          <a:ln w="12700">
            <a:solidFill>
              <a:srgbClr val="B0BEC5"/>
            </a:solidFill>
            <a:prstDash val="solid"/>
          </a:ln>
        </p:spPr>
      </p:sp>
      <p:sp>
        <p:nvSpPr>
          <p:cNvPr id="12" name="Text 10"/>
          <p:cNvSpPr txBox="1"/>
          <p:nvPr/>
        </p:nvSpPr>
        <p:spPr>
          <a:xfrm>
            <a:off x="731520" y="338328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Dal uzunlukları</a:t>
            </a:r>
            <a:endParaRPr lang="en-US" sz="1600" dirty="0"/>
          </a:p>
        </p:txBody>
      </p:sp>
      <p:sp>
        <p:nvSpPr>
          <p:cNvPr id="13" name="Text 11"/>
          <p:cNvSpPr txBox="1"/>
          <p:nvPr/>
        </p:nvSpPr>
        <p:spPr>
          <a:xfrm>
            <a:off x="3474720" y="3383280"/>
            <a:ext cx="4754880" cy="8915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d(i, u) = d(i, j)/2 + (rᵢ − rⱼ) / (2(n − 2))</a:t>
            </a:r>
            <a:endParaRPr lang="en-US" sz="1500" dirty="0"/>
          </a:p>
        </p:txBody>
      </p:sp>
      <p:sp>
        <p:nvSpPr>
          <p:cNvPr id="14" name="Text 12"/>
          <p:cNvSpPr txBox="1"/>
          <p:nvPr/>
        </p:nvSpPr>
        <p:spPr>
          <a:xfrm>
            <a:off x="8412480" y="338328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d(j, u) = d(i, j) − d(i, u); hızlı evrilen yaprak daha uzun dal alır</a:t>
            </a:r>
            <a:endParaRPr lang="en-US" sz="1300" dirty="0"/>
          </a:p>
        </p:txBody>
      </p:sp>
      <p:sp>
        <p:nvSpPr>
          <p:cNvPr id="15" name="Shape 13"/>
          <p:cNvSpPr/>
          <p:nvPr/>
        </p:nvSpPr>
        <p:spPr>
          <a:xfrm>
            <a:off x="548640" y="4457700"/>
            <a:ext cx="11094415" cy="891540"/>
          </a:xfrm>
          <a:prstGeom prst="roundRect">
            <a:avLst>
              <a:gd name="adj" fmla="val 8205"/>
            </a:avLst>
          </a:prstGeom>
          <a:solidFill>
            <a:srgbClr val="F7F9FA"/>
          </a:solidFill>
          <a:ln w="12700">
            <a:solidFill>
              <a:srgbClr val="B0BEC5"/>
            </a:solidFill>
            <a:prstDash val="solid"/>
          </a:ln>
        </p:spPr>
      </p:sp>
      <p:sp>
        <p:nvSpPr>
          <p:cNvPr id="16" name="Text 14"/>
          <p:cNvSpPr txBox="1"/>
          <p:nvPr/>
        </p:nvSpPr>
        <p:spPr>
          <a:xfrm>
            <a:off x="731520" y="4457700"/>
            <a:ext cx="2651760" cy="891540"/>
          </a:xfrm>
          <a:prstGeom prst="rect">
            <a:avLst/>
          </a:prstGeom>
          <a:noFill/>
          <a:ln/>
        </p:spPr>
        <p:txBody>
          <a:bodyPr wrap="square" lIns="0" tIns="0" rIns="0" bIns="0" rtlCol="0" anchor="ctr"/>
          <a:lstStyle/>
          <a:p>
            <a:pPr indent="0" marL="0">
              <a:buNone/>
            </a:pPr>
            <a:r>
              <a:rPr lang="en-US" sz="1600" b="1" dirty="0">
                <a:solidFill>
                  <a:srgbClr val="263238"/>
                </a:solidFill>
              </a:rPr>
              <a:t>Yeni uzaklıklar</a:t>
            </a:r>
            <a:endParaRPr lang="en-US" sz="1600" dirty="0"/>
          </a:p>
        </p:txBody>
      </p:sp>
      <p:sp>
        <p:nvSpPr>
          <p:cNvPr id="17" name="Text 15"/>
          <p:cNvSpPr txBox="1"/>
          <p:nvPr/>
        </p:nvSpPr>
        <p:spPr>
          <a:xfrm>
            <a:off x="3474720" y="4457700"/>
            <a:ext cx="4754880" cy="891540"/>
          </a:xfrm>
          <a:prstGeom prst="rect">
            <a:avLst/>
          </a:prstGeom>
          <a:noFill/>
          <a:ln/>
        </p:spPr>
        <p:txBody>
          <a:bodyPr wrap="square" lIns="0" tIns="0" rIns="0" bIns="0" rtlCol="0" anchor="ctr"/>
          <a:lstStyle/>
          <a:p>
            <a:pPr indent="0" marL="0">
              <a:buNone/>
            </a:pPr>
            <a:r>
              <a:rPr lang="en-US" sz="1500" dirty="0">
                <a:solidFill>
                  <a:srgbClr val="B71C1C"/>
                </a:solidFill>
                <a:latin typeface="Cambria" pitchFamily="34" charset="0"/>
                <a:ea typeface="Cambria" pitchFamily="34" charset="-122"/>
                <a:cs typeface="Cambria" pitchFamily="34" charset="-120"/>
              </a:rPr>
              <a:t>d(u, k) = (d(i, k) + d(j, k) − d(i, j)) / 2</a:t>
            </a:r>
            <a:endParaRPr lang="en-US" sz="1500" dirty="0"/>
          </a:p>
        </p:txBody>
      </p:sp>
      <p:sp>
        <p:nvSpPr>
          <p:cNvPr id="18" name="Text 16"/>
          <p:cNvSpPr txBox="1"/>
          <p:nvPr/>
        </p:nvSpPr>
        <p:spPr>
          <a:xfrm>
            <a:off x="8412480" y="4457700"/>
            <a:ext cx="3047695" cy="891540"/>
          </a:xfrm>
          <a:prstGeom prst="rect">
            <a:avLst/>
          </a:prstGeom>
          <a:noFill/>
          <a:ln/>
        </p:spPr>
        <p:txBody>
          <a:bodyPr wrap="square" lIns="0" tIns="0" rIns="0" bIns="0" rtlCol="0" anchor="ctr"/>
          <a:lstStyle/>
          <a:p>
            <a:pPr indent="0" marL="0">
              <a:buNone/>
            </a:pPr>
            <a:r>
              <a:rPr lang="en-US" sz="1300" dirty="0">
                <a:solidFill>
                  <a:srgbClr val="546E7A"/>
                </a:solidFill>
                <a:latin typeface="Calibri" pitchFamily="34" charset="0"/>
                <a:ea typeface="Calibri" pitchFamily="34" charset="-122"/>
                <a:cs typeface="Calibri" pitchFamily="34" charset="-120"/>
              </a:rPr>
              <a:t>u: yeni iç düğüm; matris bir küçülür</a:t>
            </a:r>
            <a:endParaRPr lang="en-US" sz="1300" dirty="0"/>
          </a:p>
        </p:txBody>
      </p:sp>
      <p:sp>
        <p:nvSpPr>
          <p:cNvPr id="19" name="Shape 17"/>
          <p:cNvSpPr/>
          <p:nvPr/>
        </p:nvSpPr>
        <p:spPr>
          <a:xfrm>
            <a:off x="548640" y="5440680"/>
            <a:ext cx="11094415" cy="822960"/>
          </a:xfrm>
          <a:prstGeom prst="roundRect">
            <a:avLst>
              <a:gd name="adj" fmla="val 8889"/>
            </a:avLst>
          </a:prstGeom>
          <a:solidFill>
            <a:srgbClr val="FDECEA"/>
          </a:solidFill>
          <a:ln/>
        </p:spPr>
      </p:sp>
      <p:sp>
        <p:nvSpPr>
          <p:cNvPr id="20" name="Text 18"/>
          <p:cNvSpPr txBox="1"/>
          <p:nvPr/>
        </p:nvSpPr>
        <p:spPr>
          <a:xfrm>
            <a:off x="731520" y="5440680"/>
            <a:ext cx="10728655" cy="822960"/>
          </a:xfrm>
          <a:prstGeom prst="rect">
            <a:avLst/>
          </a:prstGeom>
          <a:noFill/>
          <a:ln/>
        </p:spPr>
        <p:txBody>
          <a:bodyPr wrap="square" lIns="0" tIns="0" rIns="0" bIns="0" rtlCol="0" anchor="ctr"/>
          <a:lstStyle/>
          <a:p>
            <a:pPr indent="0" marL="0">
              <a:buNone/>
            </a:pPr>
            <a:r>
              <a:rPr lang="en-US" sz="1600" dirty="0">
                <a:solidFill>
                  <a:srgbClr val="212121"/>
                </a:solidFill>
                <a:latin typeface="Calibri" pitchFamily="34" charset="0"/>
                <a:ea typeface="Calibri" pitchFamily="34" charset="-122"/>
                <a:cs typeface="Calibri" pitchFamily="34" charset="-120"/>
              </a:rPr>
              <a:t>Q, "i ve j birbirine yakın </a:t>
            </a:r>
            <a:r>
              <a:rPr lang="en-US" sz="1600" b="1" dirty="0">
                <a:solidFill>
                  <a:srgbClr val="212121"/>
                </a:solidFill>
                <a:latin typeface="Calibri" pitchFamily="34" charset="0"/>
                <a:ea typeface="Calibri" pitchFamily="34" charset="-122"/>
                <a:cs typeface="Calibri" pitchFamily="34" charset="-120"/>
              </a:rPr>
              <a:t>ve</a:t>
            </a:r>
            <a:r>
              <a:rPr lang="en-US" sz="1600" dirty="0">
                <a:solidFill>
                  <a:srgbClr val="212121"/>
                </a:solidFill>
                <a:latin typeface="Calibri" pitchFamily="34" charset="0"/>
                <a:ea typeface="Calibri" pitchFamily="34" charset="-122"/>
                <a:cs typeface="Calibri" pitchFamily="34" charset="-120"/>
              </a:rPr>
              <a:t> diğer herkesten uzak mı?" sorusunu sorar. Bu düzeltme sayesinde NJ, soylar farklı hızlarda evrilse de (moleküler saat yokken) </a:t>
            </a:r>
            <a:r>
              <a:rPr lang="en-US" sz="1600" b="1" dirty="0">
                <a:solidFill>
                  <a:srgbClr val="212121"/>
                </a:solidFill>
                <a:latin typeface="Calibri" pitchFamily="34" charset="0"/>
                <a:ea typeface="Calibri" pitchFamily="34" charset="-122"/>
                <a:cs typeface="Calibri" pitchFamily="34" charset="-120"/>
              </a:rPr>
              <a:t>toplamsal</a:t>
            </a:r>
            <a:r>
              <a:rPr lang="en-US" sz="1600" dirty="0">
                <a:solidFill>
                  <a:srgbClr val="212121"/>
                </a:solidFill>
                <a:latin typeface="Calibri" pitchFamily="34" charset="0"/>
                <a:ea typeface="Calibri" pitchFamily="34" charset="-122"/>
                <a:cs typeface="Calibri" pitchFamily="34" charset="-120"/>
              </a:rPr>
              <a:t> matriste doğru ağacı bulur.</a:t>
            </a:r>
            <a:endParaRPr lang="en-US" sz="1600" dirty="0"/>
          </a:p>
        </p:txBody>
      </p:sp>
      <p:sp>
        <p:nvSpPr>
          <p:cNvPr id="21" name="Text 19"/>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22" name="Text 20"/>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NJ — 1. adım: Q-matrisi</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(Python ile doğrulandı)</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5 yaprak (n = 5). d: AB 5, AC 9, AD 9, AE 8, BC 10, BD 10, BE 9, CD 8, CE 7, DE 3. Q-matrisini hesaplayıp birleştirilecek çifti bulun.</a:t>
            </a:r>
            <a:endParaRPr lang="en-US" sz="1800" dirty="0"/>
          </a:p>
        </p:txBody>
      </p:sp>
      <p:sp>
        <p:nvSpPr>
          <p:cNvPr id="6" name="Text 4"/>
          <p:cNvSpPr txBox="1"/>
          <p:nvPr/>
        </p:nvSpPr>
        <p:spPr>
          <a:xfrm>
            <a:off x="548640" y="2779776"/>
            <a:ext cx="554720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Satır toplamları: r_A = 5+9+9+8 = </a:t>
            </a:r>
            <a:r>
              <a:rPr lang="en-US" sz="1600" b="1" dirty="0">
                <a:solidFill>
                  <a:srgbClr val="212121"/>
                </a:solidFill>
                <a:latin typeface="Calibri" pitchFamily="34" charset="0"/>
                <a:ea typeface="Calibri" pitchFamily="34" charset="-122"/>
                <a:cs typeface="Calibri" pitchFamily="34" charset="-120"/>
              </a:rPr>
              <a:t>31</a:t>
            </a:r>
            <a:r>
              <a:rPr lang="en-US" sz="1600" dirty="0">
                <a:solidFill>
                  <a:srgbClr val="212121"/>
                </a:solidFill>
                <a:latin typeface="Calibri" pitchFamily="34" charset="0"/>
                <a:ea typeface="Calibri" pitchFamily="34" charset="-122"/>
                <a:cs typeface="Calibri" pitchFamily="34" charset="-120"/>
              </a:rPr>
              <a:t>, r_B = </a:t>
            </a:r>
            <a:r>
              <a:rPr lang="en-US" sz="1600" b="1" dirty="0">
                <a:solidFill>
                  <a:srgbClr val="212121"/>
                </a:solidFill>
                <a:latin typeface="Calibri" pitchFamily="34" charset="0"/>
                <a:ea typeface="Calibri" pitchFamily="34" charset="-122"/>
                <a:cs typeface="Calibri" pitchFamily="34" charset="-120"/>
              </a:rPr>
              <a:t>34</a:t>
            </a:r>
            <a:r>
              <a:rPr lang="en-US" sz="1600" dirty="0">
                <a:solidFill>
                  <a:srgbClr val="212121"/>
                </a:solidFill>
                <a:latin typeface="Calibri" pitchFamily="34" charset="0"/>
                <a:ea typeface="Calibri" pitchFamily="34" charset="-122"/>
                <a:cs typeface="Calibri" pitchFamily="34" charset="-120"/>
              </a:rPr>
              <a:t>, r_C = </a:t>
            </a:r>
            <a:r>
              <a:rPr lang="en-US" sz="1600" b="1" dirty="0">
                <a:solidFill>
                  <a:srgbClr val="212121"/>
                </a:solidFill>
                <a:latin typeface="Calibri" pitchFamily="34" charset="0"/>
                <a:ea typeface="Calibri" pitchFamily="34" charset="-122"/>
                <a:cs typeface="Calibri" pitchFamily="34" charset="-120"/>
              </a:rPr>
              <a:t>34</a:t>
            </a:r>
            <a:r>
              <a:rPr lang="en-US" sz="1600" dirty="0">
                <a:solidFill>
                  <a:srgbClr val="212121"/>
                </a:solidFill>
                <a:latin typeface="Calibri" pitchFamily="34" charset="0"/>
                <a:ea typeface="Calibri" pitchFamily="34" charset="-122"/>
                <a:cs typeface="Calibri" pitchFamily="34" charset="-120"/>
              </a:rPr>
              <a:t>, r_D = </a:t>
            </a:r>
            <a:r>
              <a:rPr lang="en-US" sz="1600" b="1" dirty="0">
                <a:solidFill>
                  <a:srgbClr val="212121"/>
                </a:solidFill>
                <a:latin typeface="Calibri" pitchFamily="34" charset="0"/>
                <a:ea typeface="Calibri" pitchFamily="34" charset="-122"/>
                <a:cs typeface="Calibri" pitchFamily="34" charset="-120"/>
              </a:rPr>
              <a:t>30</a:t>
            </a:r>
            <a:r>
              <a:rPr lang="en-US" sz="1600" dirty="0">
                <a:solidFill>
                  <a:srgbClr val="212121"/>
                </a:solidFill>
                <a:latin typeface="Calibri" pitchFamily="34" charset="0"/>
                <a:ea typeface="Calibri" pitchFamily="34" charset="-122"/>
                <a:cs typeface="Calibri" pitchFamily="34" charset="-120"/>
              </a:rPr>
              <a:t>, r_E = </a:t>
            </a:r>
            <a:r>
              <a:rPr lang="en-US" sz="1600" b="1" dirty="0">
                <a:solidFill>
                  <a:srgbClr val="212121"/>
                </a:solidFill>
                <a:latin typeface="Calibri" pitchFamily="34" charset="0"/>
                <a:ea typeface="Calibri" pitchFamily="34" charset="-122"/>
                <a:cs typeface="Calibri" pitchFamily="34" charset="-120"/>
              </a:rPr>
              <a:t>27</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Q(A,B) = 3·5 − 31 − 34 = </a:t>
            </a:r>
            <a:r>
              <a:rPr lang="en-US" sz="1600" b="1" dirty="0">
                <a:solidFill>
                  <a:srgbClr val="212121"/>
                </a:solidFill>
                <a:latin typeface="Calibri" pitchFamily="34" charset="0"/>
                <a:ea typeface="Calibri" pitchFamily="34" charset="-122"/>
                <a:cs typeface="Calibri" pitchFamily="34" charset="-120"/>
              </a:rPr>
              <a:t>−50</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Q(D,E) = 3·3 − 30 − 27 = −48;  Q(C,D) = 3·8 − 34 − 30 = −40</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Q(A,C) = 3·9 − 31 − 34 = −38;  Q(A,D) = 3·9 − 31 − 30 = −34</a:t>
            </a:r>
            <a:endParaRPr lang="en-US" sz="1600" dirty="0"/>
          </a:p>
          <a:p>
            <a:pPr marL="342900" indent="-342900">
              <a:spcAft>
                <a:spcPts val="600"/>
              </a:spcAft>
              <a:buSzPct val="100000"/>
              <a:buFont typeface="+mj-lt"/>
              <a:buAutoNum type="arabicPeriod" startAt="1"/>
            </a:pPr>
            <a:r>
              <a:rPr lang="en-US" sz="1600" dirty="0">
                <a:solidFill>
                  <a:srgbClr val="212121"/>
                </a:solidFill>
                <a:latin typeface="Calibri" pitchFamily="34" charset="0"/>
                <a:ea typeface="Calibri" pitchFamily="34" charset="-122"/>
                <a:cs typeface="Calibri" pitchFamily="34" charset="-120"/>
              </a:rPr>
              <a:t>En küçük Q: </a:t>
            </a:r>
            <a:r>
              <a:rPr lang="en-US" sz="1600" b="1" dirty="0">
                <a:solidFill>
                  <a:srgbClr val="212121"/>
                </a:solidFill>
                <a:latin typeface="Calibri" pitchFamily="34" charset="0"/>
                <a:ea typeface="Calibri" pitchFamily="34" charset="-122"/>
                <a:cs typeface="Calibri" pitchFamily="34" charset="-120"/>
              </a:rPr>
              <a:t>(A, B)</a:t>
            </a:r>
            <a:r>
              <a:rPr lang="en-US" sz="1600" dirty="0">
                <a:solidFill>
                  <a:srgbClr val="212121"/>
                </a:solidFill>
                <a:latin typeface="Calibri" pitchFamily="34" charset="0"/>
                <a:ea typeface="Calibri" pitchFamily="34" charset="-122"/>
                <a:cs typeface="Calibri" pitchFamily="34" charset="-120"/>
              </a:rPr>
              <a:t> — oysa en küçük d, d(D, E) = 3!</a:t>
            </a:r>
            <a:endParaRPr lang="en-US" sz="1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415888" y="2779776"/>
          <a:ext cx="5227168" cy="914400"/>
        </p:xfrm>
        <a:graphic>
          <a:graphicData uri="http://schemas.openxmlformats.org/drawingml/2006/table">
            <a:tbl>
              <a:tblPr/>
              <a:tblGrid>
                <a:gridCol w="871195"/>
                <a:gridCol w="871195"/>
                <a:gridCol w="871195"/>
                <a:gridCol w="871195"/>
                <a:gridCol w="871195"/>
                <a:gridCol w="871195"/>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Q</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B</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−50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−48</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r</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34</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30</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27</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Birleştirilecek çift </a:t>
            </a:r>
            <a:r>
              <a:rPr lang="en-US" sz="1700" b="1" dirty="0">
                <a:solidFill>
                  <a:srgbClr val="212121"/>
                </a:solidFill>
                <a:latin typeface="Calibri" pitchFamily="34" charset="0"/>
                <a:ea typeface="Calibri" pitchFamily="34" charset="-122"/>
                <a:cs typeface="Calibri" pitchFamily="34" charset="-120"/>
              </a:rPr>
              <a:t>(A, B)</a:t>
            </a:r>
            <a:r>
              <a:rPr lang="en-US" sz="1700" dirty="0">
                <a:solidFill>
                  <a:srgbClr val="212121"/>
                </a:solidFill>
                <a:latin typeface="Calibri" pitchFamily="34" charset="0"/>
                <a:ea typeface="Calibri" pitchFamily="34" charset="-122"/>
                <a:cs typeface="Calibri" pitchFamily="34" charset="-120"/>
              </a:rPr>
              <a:t>, Q = −50. UPGMA bu matriste önce (D, E)'yi birleştirirdi; NJ, A ve B'nin diğerlerinden de uzak olduğunu hesaba katar.</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NJ — dal uzunlukları ve yeni matris</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(devam)</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 ve B yeni iç düğüm </a:t>
            </a:r>
            <a:r>
              <a:rPr lang="en-US" sz="1800" b="1" dirty="0">
                <a:solidFill>
                  <a:srgbClr val="212121"/>
                </a:solidFill>
                <a:latin typeface="Calibri" pitchFamily="34" charset="0"/>
                <a:ea typeface="Calibri" pitchFamily="34" charset="-122"/>
                <a:cs typeface="Calibri" pitchFamily="34" charset="-120"/>
              </a:rPr>
              <a:t>u</a:t>
            </a:r>
            <a:r>
              <a:rPr lang="en-US" sz="1800" dirty="0">
                <a:solidFill>
                  <a:srgbClr val="212121"/>
                </a:solidFill>
                <a:latin typeface="Calibri" pitchFamily="34" charset="0"/>
                <a:ea typeface="Calibri" pitchFamily="34" charset="-122"/>
                <a:cs typeface="Calibri" pitchFamily="34" charset="-120"/>
              </a:rPr>
              <a:t>'ya bağlanıyor. Dal uzunluklarını ve u'nun C, D, E'ye uzaklıklarını bulun; algoritmayı sonuna kadar sürdürün.</a:t>
            </a:r>
            <a:endParaRPr lang="en-US" sz="1800" dirty="0"/>
          </a:p>
        </p:txBody>
      </p:sp>
      <p:sp>
        <p:nvSpPr>
          <p:cNvPr id="6" name="Text 4"/>
          <p:cNvSpPr txBox="1"/>
          <p:nvPr/>
        </p:nvSpPr>
        <p:spPr>
          <a:xfrm>
            <a:off x="548640" y="2779776"/>
            <a:ext cx="6878537"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d(A,u) = 5/2 + (31 − 34) / (2·3) = 2.5 − 0.5 = </a:t>
            </a:r>
            <a:r>
              <a:rPr lang="en-US" sz="1550" b="1" dirty="0">
                <a:solidFill>
                  <a:srgbClr val="212121"/>
                </a:solidFill>
                <a:latin typeface="Calibri" pitchFamily="34" charset="0"/>
                <a:ea typeface="Calibri" pitchFamily="34" charset="-122"/>
                <a:cs typeface="Calibri" pitchFamily="34" charset="-120"/>
              </a:rPr>
              <a:t>2</a:t>
            </a:r>
            <a:r>
              <a:rPr lang="en-US" sz="1550" dirty="0">
                <a:solidFill>
                  <a:srgbClr val="212121"/>
                </a:solidFill>
                <a:latin typeface="Calibri" pitchFamily="34" charset="0"/>
                <a:ea typeface="Calibri" pitchFamily="34" charset="-122"/>
                <a:cs typeface="Calibri" pitchFamily="34" charset="-120"/>
              </a:rPr>
              <a:t>;  d(B,u) = 5 − 2 = </a:t>
            </a:r>
            <a:r>
              <a:rPr lang="en-US" sz="1550" b="1" dirty="0">
                <a:solidFill>
                  <a:srgbClr val="212121"/>
                </a:solidFill>
                <a:latin typeface="Calibri" pitchFamily="34" charset="0"/>
                <a:ea typeface="Calibri" pitchFamily="34" charset="-122"/>
                <a:cs typeface="Calibri" pitchFamily="34" charset="-120"/>
              </a:rPr>
              <a:t>3</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d(u,C) = (9 + 10 − 5)/2 = </a:t>
            </a:r>
            <a:r>
              <a:rPr lang="en-US" sz="1550" b="1" dirty="0">
                <a:solidFill>
                  <a:srgbClr val="212121"/>
                </a:solidFill>
                <a:latin typeface="Calibri" pitchFamily="34" charset="0"/>
                <a:ea typeface="Calibri" pitchFamily="34" charset="-122"/>
                <a:cs typeface="Calibri" pitchFamily="34" charset="-120"/>
              </a:rPr>
              <a:t>7</a:t>
            </a:r>
            <a:r>
              <a:rPr lang="en-US" sz="1550" dirty="0">
                <a:solidFill>
                  <a:srgbClr val="212121"/>
                </a:solidFill>
                <a:latin typeface="Calibri" pitchFamily="34" charset="0"/>
                <a:ea typeface="Calibri" pitchFamily="34" charset="-122"/>
                <a:cs typeface="Calibri" pitchFamily="34" charset="-120"/>
              </a:rPr>
              <a:t>;  d(u,D) = (9 + 10 − 5)/2 = </a:t>
            </a:r>
            <a:r>
              <a:rPr lang="en-US" sz="1550" b="1" dirty="0">
                <a:solidFill>
                  <a:srgbClr val="212121"/>
                </a:solidFill>
                <a:latin typeface="Calibri" pitchFamily="34" charset="0"/>
                <a:ea typeface="Calibri" pitchFamily="34" charset="-122"/>
                <a:cs typeface="Calibri" pitchFamily="34" charset="-120"/>
              </a:rPr>
              <a:t>7</a:t>
            </a:r>
            <a:r>
              <a:rPr lang="en-US" sz="1550" dirty="0">
                <a:solidFill>
                  <a:srgbClr val="212121"/>
                </a:solidFill>
                <a:latin typeface="Calibri" pitchFamily="34" charset="0"/>
                <a:ea typeface="Calibri" pitchFamily="34" charset="-122"/>
                <a:cs typeface="Calibri" pitchFamily="34" charset="-120"/>
              </a:rPr>
              <a:t>;  d(u,E) = (8 + 9 − 5)/2 = </a:t>
            </a:r>
            <a:r>
              <a:rPr lang="en-US" sz="1550" b="1" dirty="0">
                <a:solidFill>
                  <a:srgbClr val="212121"/>
                </a:solidFill>
                <a:latin typeface="Calibri" pitchFamily="34" charset="0"/>
                <a:ea typeface="Calibri" pitchFamily="34" charset="-122"/>
                <a:cs typeface="Calibri" pitchFamily="34" charset="-120"/>
              </a:rPr>
              <a:t>6</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n = 4: r = C 22, D 18, E 16, u 20 → Q(C,u) = Q(D,E) = </a:t>
            </a:r>
            <a:r>
              <a:rPr lang="en-US" sz="1550" b="1" dirty="0">
                <a:solidFill>
                  <a:srgbClr val="212121"/>
                </a:solidFill>
                <a:latin typeface="Calibri" pitchFamily="34" charset="0"/>
                <a:ea typeface="Calibri" pitchFamily="34" charset="-122"/>
                <a:cs typeface="Calibri" pitchFamily="34" charset="-120"/>
              </a:rPr>
              <a:t>−28</a:t>
            </a:r>
            <a:r>
              <a:rPr lang="en-US" sz="1550" dirty="0">
                <a:solidFill>
                  <a:srgbClr val="212121"/>
                </a:solidFill>
                <a:latin typeface="Calibri" pitchFamily="34" charset="0"/>
                <a:ea typeface="Calibri" pitchFamily="34" charset="-122"/>
                <a:cs typeface="Calibri" pitchFamily="34" charset="-120"/>
              </a:rPr>
              <a:t> (eşitlik; ilk bulunan C–u seçilir)</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C–u → düğüm v: d(C,v) = 8/2 + (22 − 20)/4 = </a:t>
            </a:r>
            <a:r>
              <a:rPr lang="en-US" sz="1550" b="1" dirty="0">
                <a:solidFill>
                  <a:srgbClr val="212121"/>
                </a:solidFill>
                <a:latin typeface="Calibri" pitchFamily="34" charset="0"/>
                <a:ea typeface="Calibri" pitchFamily="34" charset="-122"/>
                <a:cs typeface="Calibri" pitchFamily="34" charset="-120"/>
              </a:rPr>
              <a:t>4</a:t>
            </a:r>
            <a:r>
              <a:rPr lang="en-US" sz="1550" dirty="0">
                <a:solidFill>
                  <a:srgbClr val="212121"/>
                </a:solidFill>
                <a:latin typeface="Calibri" pitchFamily="34" charset="0"/>
                <a:ea typeface="Calibri" pitchFamily="34" charset="-122"/>
                <a:cs typeface="Calibri" pitchFamily="34" charset="-120"/>
              </a:rPr>
              <a:t>;  d(u,v) = </a:t>
            </a:r>
            <a:r>
              <a:rPr lang="en-US" sz="1550" b="1" dirty="0">
                <a:solidFill>
                  <a:srgbClr val="212121"/>
                </a:solidFill>
                <a:latin typeface="Calibri" pitchFamily="34" charset="0"/>
                <a:ea typeface="Calibri" pitchFamily="34" charset="-122"/>
                <a:cs typeface="Calibri" pitchFamily="34" charset="-120"/>
              </a:rPr>
              <a:t>3</a:t>
            </a:r>
            <a:r>
              <a:rPr lang="en-US" sz="1550" dirty="0">
                <a:solidFill>
                  <a:srgbClr val="212121"/>
                </a:solidFill>
                <a:latin typeface="Calibri" pitchFamily="34" charset="0"/>
                <a:ea typeface="Calibri" pitchFamily="34" charset="-122"/>
                <a:cs typeface="Calibri" pitchFamily="34" charset="-120"/>
              </a:rPr>
              <a:t>;  d(v,D) = 4, d(v,E) = 3</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n = 3: D–E → düğüm w: d(D,w) = </a:t>
            </a:r>
            <a:r>
              <a:rPr lang="en-US" sz="1550" b="1" dirty="0">
                <a:solidFill>
                  <a:srgbClr val="212121"/>
                </a:solidFill>
                <a:latin typeface="Calibri" pitchFamily="34" charset="0"/>
                <a:ea typeface="Calibri" pitchFamily="34" charset="-122"/>
                <a:cs typeface="Calibri" pitchFamily="34" charset="-120"/>
              </a:rPr>
              <a:t>2</a:t>
            </a:r>
            <a:r>
              <a:rPr lang="en-US" sz="1550" dirty="0">
                <a:solidFill>
                  <a:srgbClr val="212121"/>
                </a:solidFill>
                <a:latin typeface="Calibri" pitchFamily="34" charset="0"/>
                <a:ea typeface="Calibri" pitchFamily="34" charset="-122"/>
                <a:cs typeface="Calibri" pitchFamily="34" charset="-120"/>
              </a:rPr>
              <a:t>, d(E,w) = </a:t>
            </a:r>
            <a:r>
              <a:rPr lang="en-US" sz="1550" b="1" dirty="0">
                <a:solidFill>
                  <a:srgbClr val="212121"/>
                </a:solidFill>
                <a:latin typeface="Calibri" pitchFamily="34" charset="0"/>
                <a:ea typeface="Calibri" pitchFamily="34" charset="-122"/>
                <a:cs typeface="Calibri" pitchFamily="34" charset="-120"/>
              </a:rPr>
              <a:t>1</a:t>
            </a:r>
            <a:r>
              <a:rPr lang="en-US" sz="1550" dirty="0">
                <a:solidFill>
                  <a:srgbClr val="212121"/>
                </a:solidFill>
                <a:latin typeface="Calibri" pitchFamily="34" charset="0"/>
                <a:ea typeface="Calibri" pitchFamily="34" charset="-122"/>
                <a:cs typeface="Calibri" pitchFamily="34" charset="-120"/>
              </a:rPr>
              <a:t>;  son dal d(v,w) = </a:t>
            </a:r>
            <a:r>
              <a:rPr lang="en-US" sz="1550" b="1" dirty="0">
                <a:solidFill>
                  <a:srgbClr val="212121"/>
                </a:solidFill>
                <a:latin typeface="Calibri" pitchFamily="34" charset="0"/>
                <a:ea typeface="Calibri" pitchFamily="34" charset="-122"/>
                <a:cs typeface="Calibri" pitchFamily="34" charset="-120"/>
              </a:rPr>
              <a:t>2</a:t>
            </a:r>
            <a:endParaRPr lang="en-US" sz="1550" dirty="0"/>
          </a:p>
        </p:txBody>
      </p:sp>
      <p:pic>
        <p:nvPicPr>
          <p:cNvPr id="7" name="Image 0" descr="p09_nj_ornek.png">    </p:cNvPr>
          <p:cNvPicPr>
            <a:picLocks noChangeAspect="1"/>
          </p:cNvPicPr>
          <p:nvPr/>
        </p:nvPicPr>
        <p:blipFill>
          <a:blip r:embed="rId1"/>
          <a:stretch>
            <a:fillRect/>
          </a:stretch>
        </p:blipFill>
        <p:spPr>
          <a:xfrm>
            <a:off x="8154173" y="2779776"/>
            <a:ext cx="3081927" cy="2615184"/>
          </a:xfrm>
          <a:prstGeom prst="rect">
            <a:avLst/>
          </a:prstGeom>
        </p:spPr>
      </p:pic>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Köksüz ağaç: </a:t>
            </a:r>
            <a:r>
              <a:rPr lang="en-US" sz="1700" dirty="0">
                <a:solidFill>
                  <a:srgbClr val="455A64"/>
                </a:solidFill>
                <a:latin typeface="Courier New" pitchFamily="34" charset="0"/>
                <a:ea typeface="Courier New" pitchFamily="34" charset="-122"/>
                <a:cs typeface="Courier New" pitchFamily="34" charset="-120"/>
              </a:rPr>
              <a:t>((A:2,B:3):3,C:4,(D:2,E:1):2);</a:t>
            </a:r>
            <a:r>
              <a:rPr lang="en-US" sz="1700" dirty="0">
                <a:solidFill>
                  <a:srgbClr val="212121"/>
                </a:solidFill>
                <a:latin typeface="Calibri" pitchFamily="34" charset="0"/>
                <a:ea typeface="Calibri" pitchFamily="34" charset="-122"/>
                <a:cs typeface="Calibri" pitchFamily="34" charset="-120"/>
              </a:rPr>
              <a:t>. Kontrol (toplamsallık): A→D = 2 + 3 + 2 + 2 = </a:t>
            </a:r>
            <a:r>
              <a:rPr lang="en-US" sz="1700" b="1" dirty="0">
                <a:solidFill>
                  <a:srgbClr val="212121"/>
                </a:solidFill>
                <a:latin typeface="Calibri" pitchFamily="34" charset="0"/>
                <a:ea typeface="Calibri" pitchFamily="34" charset="-122"/>
                <a:cs typeface="Calibri" pitchFamily="34" charset="-120"/>
              </a:rPr>
              <a:t>9</a:t>
            </a:r>
            <a:r>
              <a:rPr lang="en-US" sz="1700" dirty="0">
                <a:solidFill>
                  <a:srgbClr val="212121"/>
                </a:solidFill>
                <a:latin typeface="Calibri" pitchFamily="34" charset="0"/>
                <a:ea typeface="Calibri" pitchFamily="34" charset="-122"/>
                <a:cs typeface="Calibri" pitchFamily="34" charset="-120"/>
              </a:rPr>
              <a:t> = d(A,D) ✓; B→E = 3 + 3 + 2 + 1 = </a:t>
            </a:r>
            <a:r>
              <a:rPr lang="en-US" sz="1700" b="1" dirty="0">
                <a:solidFill>
                  <a:srgbClr val="212121"/>
                </a:solidFill>
                <a:latin typeface="Calibri" pitchFamily="34" charset="0"/>
                <a:ea typeface="Calibri" pitchFamily="34" charset="-122"/>
                <a:cs typeface="Calibri" pitchFamily="34" charset="-120"/>
              </a:rPr>
              <a:t>9</a:t>
            </a:r>
            <a:r>
              <a:rPr lang="en-US" sz="1700" dirty="0">
                <a:solidFill>
                  <a:srgbClr val="212121"/>
                </a:solidFill>
                <a:latin typeface="Calibri" pitchFamily="34" charset="0"/>
                <a:ea typeface="Calibri" pitchFamily="34" charset="-122"/>
                <a:cs typeface="Calibri" pitchFamily="34" charset="-120"/>
              </a:rPr>
              <a:t> ✓.</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NJ — 2. adım ayrıntılı: 4 × 4 matris ve Q</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(devam) — hücrelerde d / Q</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A ve B, u düğümünde birleşti. Kalan yapraklar C, D, E ve u (n = 4). Satır toplamlarını ve Q-matrisini hesaplayın; bir sonraki birleştirmeyi yapın.</a:t>
            </a:r>
            <a:endParaRPr lang="en-US" sz="1800" dirty="0"/>
          </a:p>
        </p:txBody>
      </p:sp>
      <p:sp>
        <p:nvSpPr>
          <p:cNvPr id="6" name="Text 4"/>
          <p:cNvSpPr txBox="1"/>
          <p:nvPr/>
        </p:nvSpPr>
        <p:spPr>
          <a:xfrm>
            <a:off x="548640" y="2779776"/>
            <a:ext cx="6101928"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r: C = 8+7+7 = </a:t>
            </a:r>
            <a:r>
              <a:rPr lang="en-US" sz="1800" b="1" dirty="0">
                <a:solidFill>
                  <a:srgbClr val="212121"/>
                </a:solidFill>
                <a:latin typeface="Calibri" pitchFamily="34" charset="0"/>
                <a:ea typeface="Calibri" pitchFamily="34" charset="-122"/>
                <a:cs typeface="Calibri" pitchFamily="34" charset="-120"/>
              </a:rPr>
              <a:t>22</a:t>
            </a:r>
            <a:r>
              <a:rPr lang="en-US" sz="1800" dirty="0">
                <a:solidFill>
                  <a:srgbClr val="212121"/>
                </a:solidFill>
                <a:latin typeface="Calibri" pitchFamily="34" charset="0"/>
                <a:ea typeface="Calibri" pitchFamily="34" charset="-122"/>
                <a:cs typeface="Calibri" pitchFamily="34" charset="-120"/>
              </a:rPr>
              <a:t>, D = </a:t>
            </a:r>
            <a:r>
              <a:rPr lang="en-US" sz="1800" b="1" dirty="0">
                <a:solidFill>
                  <a:srgbClr val="212121"/>
                </a:solidFill>
                <a:latin typeface="Calibri" pitchFamily="34" charset="0"/>
                <a:ea typeface="Calibri" pitchFamily="34" charset="-122"/>
                <a:cs typeface="Calibri" pitchFamily="34" charset="-120"/>
              </a:rPr>
              <a:t>18</a:t>
            </a:r>
            <a:r>
              <a:rPr lang="en-US" sz="1800" dirty="0">
                <a:solidFill>
                  <a:srgbClr val="212121"/>
                </a:solidFill>
                <a:latin typeface="Calibri" pitchFamily="34" charset="0"/>
                <a:ea typeface="Calibri" pitchFamily="34" charset="-122"/>
                <a:cs typeface="Calibri" pitchFamily="34" charset="-120"/>
              </a:rPr>
              <a:t>, E = </a:t>
            </a:r>
            <a:r>
              <a:rPr lang="en-US" sz="1800" b="1" dirty="0">
                <a:solidFill>
                  <a:srgbClr val="212121"/>
                </a:solidFill>
                <a:latin typeface="Calibri" pitchFamily="34" charset="0"/>
                <a:ea typeface="Calibri" pitchFamily="34" charset="-122"/>
                <a:cs typeface="Calibri" pitchFamily="34" charset="-120"/>
              </a:rPr>
              <a:t>16</a:t>
            </a:r>
            <a:r>
              <a:rPr lang="en-US" sz="1800" dirty="0">
                <a:solidFill>
                  <a:srgbClr val="212121"/>
                </a:solidFill>
                <a:latin typeface="Calibri" pitchFamily="34" charset="0"/>
                <a:ea typeface="Calibri" pitchFamily="34" charset="-122"/>
                <a:cs typeface="Calibri" pitchFamily="34" charset="-120"/>
              </a:rPr>
              <a:t>, u = </a:t>
            </a:r>
            <a:r>
              <a:rPr lang="en-US" sz="1800" b="1" dirty="0">
                <a:solidFill>
                  <a:srgbClr val="212121"/>
                </a:solidFill>
                <a:latin typeface="Calibri" pitchFamily="34" charset="0"/>
                <a:ea typeface="Calibri" pitchFamily="34" charset="-122"/>
                <a:cs typeface="Calibri" pitchFamily="34" charset="-120"/>
              </a:rPr>
              <a:t>20</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Q(C,u) = 2·7 − 22 − 20 = </a:t>
            </a:r>
            <a:r>
              <a:rPr lang="en-US" sz="1800" b="1" dirty="0">
                <a:solidFill>
                  <a:srgbClr val="212121"/>
                </a:solidFill>
                <a:latin typeface="Calibri" pitchFamily="34" charset="0"/>
                <a:ea typeface="Calibri" pitchFamily="34" charset="-122"/>
                <a:cs typeface="Calibri" pitchFamily="34" charset="-120"/>
              </a:rPr>
              <a:t>−28</a:t>
            </a:r>
            <a:r>
              <a:rPr lang="en-US" sz="1800" dirty="0">
                <a:solidFill>
                  <a:srgbClr val="212121"/>
                </a:solidFill>
                <a:latin typeface="Calibri" pitchFamily="34" charset="0"/>
                <a:ea typeface="Calibri" pitchFamily="34" charset="-122"/>
                <a:cs typeface="Calibri" pitchFamily="34" charset="-120"/>
              </a:rPr>
              <a:t>;  Q(D,E) = 2·3 − 18 − 16 = </a:t>
            </a:r>
            <a:r>
              <a:rPr lang="en-US" sz="1800" b="1" dirty="0">
                <a:solidFill>
                  <a:srgbClr val="212121"/>
                </a:solidFill>
                <a:latin typeface="Calibri" pitchFamily="34" charset="0"/>
                <a:ea typeface="Calibri" pitchFamily="34" charset="-122"/>
                <a:cs typeface="Calibri" pitchFamily="34" charset="-120"/>
              </a:rPr>
              <a:t>−28</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Eşitlik → C–u (v): d(C,v) = 7/2 + 2/4 = </a:t>
            </a:r>
            <a:r>
              <a:rPr lang="en-US" sz="1800" b="1" dirty="0">
                <a:solidFill>
                  <a:srgbClr val="212121"/>
                </a:solidFill>
                <a:latin typeface="Calibri" pitchFamily="34" charset="0"/>
                <a:ea typeface="Calibri" pitchFamily="34" charset="-122"/>
                <a:cs typeface="Calibri" pitchFamily="34" charset="-120"/>
              </a:rPr>
              <a:t>4</a:t>
            </a:r>
            <a:r>
              <a:rPr lang="en-US" sz="1800" dirty="0">
                <a:solidFill>
                  <a:srgbClr val="212121"/>
                </a:solidFill>
                <a:latin typeface="Calibri" pitchFamily="34" charset="0"/>
                <a:ea typeface="Calibri" pitchFamily="34" charset="-122"/>
                <a:cs typeface="Calibri" pitchFamily="34" charset="-120"/>
              </a:rPr>
              <a:t>, d(u,v) = </a:t>
            </a:r>
            <a:r>
              <a:rPr lang="en-US" sz="1800" b="1" dirty="0">
                <a:solidFill>
                  <a:srgbClr val="212121"/>
                </a:solidFill>
                <a:latin typeface="Calibri" pitchFamily="34" charset="0"/>
                <a:ea typeface="Calibri" pitchFamily="34" charset="-122"/>
                <a:cs typeface="Calibri" pitchFamily="34" charset="-120"/>
              </a:rPr>
              <a:t>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d(v,D) = (8+7−7)/2 = </a:t>
            </a:r>
            <a:r>
              <a:rPr lang="en-US" sz="1800" b="1" dirty="0">
                <a:solidFill>
                  <a:srgbClr val="212121"/>
                </a:solidFill>
                <a:latin typeface="Calibri" pitchFamily="34" charset="0"/>
                <a:ea typeface="Calibri" pitchFamily="34" charset="-122"/>
                <a:cs typeface="Calibri" pitchFamily="34" charset="-120"/>
              </a:rPr>
              <a:t>4</a:t>
            </a:r>
            <a:r>
              <a:rPr lang="en-US" sz="1800" dirty="0">
                <a:solidFill>
                  <a:srgbClr val="212121"/>
                </a:solidFill>
                <a:latin typeface="Calibri" pitchFamily="34" charset="0"/>
                <a:ea typeface="Calibri" pitchFamily="34" charset="-122"/>
                <a:cs typeface="Calibri" pitchFamily="34" charset="-120"/>
              </a:rPr>
              <a:t>;  d(v,E) = (7+6−7)/2 = </a:t>
            </a:r>
            <a:r>
              <a:rPr lang="en-US" sz="1800" b="1" dirty="0">
                <a:solidFill>
                  <a:srgbClr val="212121"/>
                </a:solidFill>
                <a:latin typeface="Calibri" pitchFamily="34" charset="0"/>
                <a:ea typeface="Calibri" pitchFamily="34" charset="-122"/>
                <a:cs typeface="Calibri" pitchFamily="34" charset="-120"/>
              </a:rPr>
              <a:t>3</a:t>
            </a:r>
            <a:endParaRPr lang="en-US" sz="1800" dirty="0"/>
          </a:p>
          <a:p>
            <a:pPr marL="342900" indent="-342900">
              <a:spcAft>
                <a:spcPts val="6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n = 3: D–E (w): d(D,w) = </a:t>
            </a:r>
            <a:r>
              <a:rPr lang="en-US" sz="1800" b="1" dirty="0">
                <a:solidFill>
                  <a:srgbClr val="212121"/>
                </a:solidFill>
                <a:latin typeface="Calibri" pitchFamily="34" charset="0"/>
                <a:ea typeface="Calibri" pitchFamily="34" charset="-122"/>
                <a:cs typeface="Calibri" pitchFamily="34" charset="-120"/>
              </a:rPr>
              <a:t>2</a:t>
            </a:r>
            <a:r>
              <a:rPr lang="en-US" sz="1800" dirty="0">
                <a:solidFill>
                  <a:srgbClr val="212121"/>
                </a:solidFill>
                <a:latin typeface="Calibri" pitchFamily="34" charset="0"/>
                <a:ea typeface="Calibri" pitchFamily="34" charset="-122"/>
                <a:cs typeface="Calibri" pitchFamily="34" charset="-120"/>
              </a:rPr>
              <a:t>, d(E,w) = </a:t>
            </a:r>
            <a:r>
              <a:rPr lang="en-US" sz="1800" b="1" dirty="0">
                <a:solidFill>
                  <a:srgbClr val="212121"/>
                </a:solidFill>
                <a:latin typeface="Calibri" pitchFamily="34" charset="0"/>
                <a:ea typeface="Calibri" pitchFamily="34" charset="-122"/>
                <a:cs typeface="Calibri" pitchFamily="34" charset="-120"/>
              </a:rPr>
              <a:t>1</a:t>
            </a:r>
            <a:r>
              <a:rPr lang="en-US" sz="1800" dirty="0">
                <a:solidFill>
                  <a:srgbClr val="212121"/>
                </a:solidFill>
                <a:latin typeface="Calibri" pitchFamily="34" charset="0"/>
                <a:ea typeface="Calibri" pitchFamily="34" charset="-122"/>
                <a:cs typeface="Calibri" pitchFamily="34" charset="-120"/>
              </a:rPr>
              <a:t>, d(v,w) = </a:t>
            </a:r>
            <a:r>
              <a:rPr lang="en-US" sz="1800" b="1" dirty="0">
                <a:solidFill>
                  <a:srgbClr val="212121"/>
                </a:solidFill>
                <a:latin typeface="Calibri" pitchFamily="34" charset="0"/>
                <a:ea typeface="Calibri" pitchFamily="34" charset="-122"/>
                <a:cs typeface="Calibri" pitchFamily="34" charset="-120"/>
              </a:rPr>
              <a:t>2</a:t>
            </a:r>
            <a:endParaRPr lang="en-US" sz="1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6970608" y="2779776"/>
          <a:ext cx="4672447" cy="914400"/>
        </p:xfrm>
        <a:graphic>
          <a:graphicData uri="http://schemas.openxmlformats.org/drawingml/2006/table">
            <a:tbl>
              <a:tblPr/>
              <a:tblGrid>
                <a:gridCol w="615903"/>
                <a:gridCol w="862265"/>
                <a:gridCol w="862265"/>
                <a:gridCol w="862265"/>
                <a:gridCol w="862265"/>
                <a:gridCol w="607484"/>
              </a:tblGrid>
              <a:tr h="0">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d / Q</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E</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u</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500" b="1" dirty="0">
                          <a:solidFill>
                            <a:srgbClr val="212121"/>
                          </a:solidFill>
                          <a:latin typeface="Calibri" pitchFamily="34" charset="0"/>
                          <a:ea typeface="Calibri" pitchFamily="34" charset="-122"/>
                          <a:cs typeface="Calibri" pitchFamily="34" charset="-120"/>
                        </a:rPr>
                        <a:t>r</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8 / −24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 / −24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 / </a:t>
                      </a:r>
                      <a:r>
                        <a:rPr lang="en-US" sz="1500" b="1" dirty="0">
                          <a:solidFill>
                            <a:srgbClr val="212121"/>
                          </a:solidFill>
                          <a:latin typeface="Calibri" pitchFamily="34" charset="0"/>
                          <a:ea typeface="Calibri" pitchFamily="34" charset="-122"/>
                          <a:cs typeface="Calibri" pitchFamily="34" charset="-120"/>
                        </a:rPr>
                        <a:t>−28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22</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8 / −24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3 / </a:t>
                      </a:r>
                      <a:r>
                        <a:rPr lang="en-US" sz="1500" b="1" dirty="0">
                          <a:solidFill>
                            <a:srgbClr val="212121"/>
                          </a:solidFill>
                          <a:latin typeface="Calibri" pitchFamily="34" charset="0"/>
                          <a:ea typeface="Calibri" pitchFamily="34" charset="-122"/>
                          <a:cs typeface="Calibri" pitchFamily="34" charset="-120"/>
                        </a:rPr>
                        <a:t>−28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 / −24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E</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 / −24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3 / </a:t>
                      </a:r>
                      <a:r>
                        <a:rPr lang="en-US" sz="1500" b="1" dirty="0">
                          <a:solidFill>
                            <a:srgbClr val="212121"/>
                          </a:solidFill>
                          <a:latin typeface="Calibri" pitchFamily="34" charset="0"/>
                          <a:ea typeface="Calibri" pitchFamily="34" charset="-122"/>
                          <a:cs typeface="Calibri" pitchFamily="34" charset="-120"/>
                        </a:rPr>
                        <a:t>−28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6 / −24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u</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 / </a:t>
                      </a:r>
                      <a:r>
                        <a:rPr lang="en-US" sz="1500" b="1" dirty="0">
                          <a:solidFill>
                            <a:srgbClr val="212121"/>
                          </a:solidFill>
                          <a:latin typeface="Calibri" pitchFamily="34" charset="0"/>
                          <a:ea typeface="Calibri" pitchFamily="34" charset="-122"/>
                          <a:cs typeface="Calibri" pitchFamily="34" charset="-120"/>
                        </a:rPr>
                        <a:t>−28</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7 / −24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6 / −24</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500" dirty="0">
                          <a:solidFill>
                            <a:srgbClr val="212121"/>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Q eşitliğinde hangi çift seçilirse seçilsin aynı köksüz ağaca varılır: </a:t>
            </a:r>
            <a:r>
              <a:rPr lang="en-US" sz="1700" dirty="0">
                <a:solidFill>
                  <a:srgbClr val="455A64"/>
                </a:solidFill>
                <a:latin typeface="Courier New" pitchFamily="34" charset="0"/>
                <a:ea typeface="Courier New" pitchFamily="34" charset="-122"/>
                <a:cs typeface="Courier New" pitchFamily="34" charset="-120"/>
              </a:rPr>
              <a:t>((A:2,B:3):3,C:4,(D:2,E:1):2);</a:t>
            </a:r>
            <a:r>
              <a:rPr lang="en-US" sz="1700" dirty="0">
                <a:solidFill>
                  <a:srgbClr val="212121"/>
                </a:solidFill>
                <a:latin typeface="Calibri" pitchFamily="34" charset="0"/>
                <a:ea typeface="Calibri" pitchFamily="34" charset="-122"/>
                <a:cs typeface="Calibri" pitchFamily="34" charset="-120"/>
              </a:rPr>
              <a:t> (alıştırma 4).</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CEFF1"/>
        </a:solidFill>
      </p:bgPr>
    </p:bg>
    <p:spTree>
      <p:nvGrpSpPr>
        <p:cNvPr id="1" name=""/>
        <p:cNvGrpSpPr/>
        <p:nvPr/>
      </p:nvGrpSpPr>
      <p:grpSpPr>
        <a:xfrm>
          <a:off x="0" y="0"/>
          <a:ext cx="0" cy="0"/>
          <a:chOff x="0" y="0"/>
          <a:chExt cx="0" cy="0"/>
        </a:xfrm>
      </p:grpSpPr>
      <p:sp>
        <p:nvSpPr>
          <p:cNvPr id="2" name="Text 0"/>
          <p:cNvSpPr txBox="1"/>
          <p:nvPr/>
        </p:nvSpPr>
        <p:spPr>
          <a:xfrm>
            <a:off x="548640" y="1920240"/>
            <a:ext cx="2011680" cy="2011680"/>
          </a:xfrm>
          <a:prstGeom prst="rect">
            <a:avLst/>
          </a:prstGeom>
          <a:noFill/>
          <a:ln/>
        </p:spPr>
        <p:txBody>
          <a:bodyPr wrap="square" lIns="0" tIns="0" rIns="0" bIns="0" rtlCol="0" anchor="ctr"/>
          <a:lstStyle/>
          <a:p>
            <a:pPr indent="0" marL="0">
              <a:buNone/>
            </a:pPr>
            <a:r>
              <a:rPr lang="en-US" sz="11000" b="1" dirty="0">
                <a:solidFill>
                  <a:srgbClr val="B71C1C"/>
                </a:solidFill>
                <a:latin typeface="Calibri" pitchFamily="34" charset="0"/>
                <a:ea typeface="Calibri" pitchFamily="34" charset="-122"/>
                <a:cs typeface="Calibri" pitchFamily="34" charset="-120"/>
              </a:rPr>
              <a:t>4</a:t>
            </a:r>
            <a:endParaRPr lang="en-US" sz="11000" dirty="0"/>
          </a:p>
        </p:txBody>
      </p:sp>
      <p:sp>
        <p:nvSpPr>
          <p:cNvPr id="3" name="Text 1"/>
          <p:cNvSpPr txBox="1"/>
          <p:nvPr/>
        </p:nvSpPr>
        <p:spPr>
          <a:xfrm>
            <a:off x="2834640" y="2103120"/>
            <a:ext cx="8808415" cy="1005840"/>
          </a:xfrm>
          <a:prstGeom prst="rect">
            <a:avLst/>
          </a:prstGeom>
          <a:noFill/>
          <a:ln/>
        </p:spPr>
        <p:txBody>
          <a:bodyPr wrap="square" lIns="0" tIns="0" rIns="0" bIns="0" rtlCol="0" anchor="b"/>
          <a:lstStyle/>
          <a:p>
            <a:pPr indent="0" marL="0">
              <a:buNone/>
            </a:pPr>
            <a:r>
              <a:rPr lang="en-US" sz="3400" b="1" dirty="0">
                <a:solidFill>
                  <a:srgbClr val="263238"/>
                </a:solidFill>
                <a:latin typeface="Calibri" pitchFamily="34" charset="0"/>
                <a:ea typeface="Calibri" pitchFamily="34" charset="-122"/>
                <a:cs typeface="Calibri" pitchFamily="34" charset="-120"/>
              </a:rPr>
              <a:t>Ağaçları değerlendirmek</a:t>
            </a:r>
            <a:endParaRPr lang="en-US" sz="3400" dirty="0"/>
          </a:p>
        </p:txBody>
      </p:sp>
      <p:sp>
        <p:nvSpPr>
          <p:cNvPr id="4" name="Text 2"/>
          <p:cNvSpPr txBox="1"/>
          <p:nvPr/>
        </p:nvSpPr>
        <p:spPr>
          <a:xfrm>
            <a:off x="2834640" y="3200400"/>
            <a:ext cx="8808415" cy="1097280"/>
          </a:xfrm>
          <a:prstGeom prst="rect">
            <a:avLst/>
          </a:prstGeom>
          <a:noFill/>
          <a:ln/>
        </p:spPr>
        <p:txBody>
          <a:bodyPr wrap="square" lIns="0" tIns="0" rIns="0" bIns="0" rtlCol="0" anchor="t"/>
          <a:lstStyle/>
          <a:p>
            <a:pPr indent="0" marL="0">
              <a:buNone/>
            </a:pPr>
            <a:r>
              <a:rPr lang="en-US" sz="1700" dirty="0">
                <a:solidFill>
                  <a:srgbClr val="546E7A"/>
                </a:solidFill>
                <a:latin typeface="Calibri" pitchFamily="34" charset="0"/>
                <a:ea typeface="Calibri" pitchFamily="34" charset="-122"/>
                <a:cs typeface="Calibri" pitchFamily="34" charset="-120"/>
              </a:rPr>
              <a:t>Bilinen ağaçla karşılaştırma (Robinson–Foulds), dal güvenilirliği (bootstrap), Biopython araçları</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Bio.Phylo ile ağaç kurmak ve çizmek</a:t>
            </a:r>
            <a:endParaRPr lang="en-US" sz="3000" dirty="0"/>
          </a:p>
        </p:txBody>
      </p:sp>
      <p:sp>
        <p:nvSpPr>
          <p:cNvPr id="3" name="Shape 1"/>
          <p:cNvSpPr/>
          <p:nvPr/>
        </p:nvSpPr>
        <p:spPr>
          <a:xfrm>
            <a:off x="548640" y="1234440"/>
            <a:ext cx="6878537" cy="5029200"/>
          </a:xfrm>
          <a:prstGeom prst="roundRect">
            <a:avLst>
              <a:gd name="adj" fmla="val 1455"/>
            </a:avLst>
          </a:prstGeom>
          <a:solidFill>
            <a:srgbClr val="F4F6F7"/>
          </a:solidFill>
          <a:ln w="12700">
            <a:solidFill>
              <a:srgbClr val="B0BEC5"/>
            </a:solidFill>
            <a:prstDash val="solid"/>
          </a:ln>
        </p:spPr>
      </p:sp>
      <p:sp>
        <p:nvSpPr>
          <p:cNvPr id="4" name="Text 2"/>
          <p:cNvSpPr txBox="1"/>
          <p:nvPr/>
        </p:nvSpPr>
        <p:spPr>
          <a:xfrm>
            <a:off x="658368" y="1307592"/>
            <a:ext cx="6659081" cy="4882896"/>
          </a:xfrm>
          <a:prstGeom prst="rect">
            <a:avLst/>
          </a:prstGeom>
          <a:noFill/>
          <a:ln/>
        </p:spPr>
        <p:txBody>
          <a:bodyPr wrap="square" lIns="0" tIns="0" rIns="0" bIns="0" rtlCol="0" anchor="t"/>
          <a:lstStyle/>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Bio import Phylo</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io import StringIO</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Bio.Phylo.TreeConstruction import (DistanceMatrix,</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DistanceTreeConstructor)</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def dm_olustur(D, isimler):        # alt üçgen matris ister</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alt = [[float(D[i, j]) for j in range(i + 1)]</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for i in range(len(isimler))]</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return DistanceMatrix(isimler, alt)</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dm = dm_olustur(D, isim)            # D: JC uzaklıkları (8 × 8)</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agac_nj = DistanceTreeConstructor().nj(dm)</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agac_upgma = Phylo.read(StringIO(upgma(D, isim)[0]), "newick")</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gercek_agac = Phylo.read("veri/gercek_agac.nwk", "newick")</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Phylo.draw_ascii(agac_nj)</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Phylo.draw(agac_nj)                 # matplotlib çizimi</a:t>
            </a:r>
            <a:endParaRPr lang="en-US" sz="1350" dirty="0"/>
          </a:p>
        </p:txBody>
      </p:sp>
      <p:sp>
        <p:nvSpPr>
          <p:cNvPr id="5" name="Text 3"/>
          <p:cNvSpPr txBox="1"/>
          <p:nvPr/>
        </p:nvSpPr>
        <p:spPr>
          <a:xfrm>
            <a:off x="7747217" y="1234440"/>
            <a:ext cx="3895838"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DistanceMatrix</a:t>
            </a:r>
            <a:r>
              <a:rPr lang="en-US" sz="1700" dirty="0">
                <a:solidFill>
                  <a:srgbClr val="212121"/>
                </a:solidFill>
                <a:latin typeface="Calibri" pitchFamily="34" charset="0"/>
                <a:ea typeface="Calibri" pitchFamily="34" charset="-122"/>
                <a:cs typeface="Calibri" pitchFamily="34" charset="-120"/>
              </a:rPr>
              <a:t>: </a:t>
            </a:r>
            <a:r>
              <a:rPr lang="en-US" sz="1700" b="1" dirty="0">
                <a:solidFill>
                  <a:srgbClr val="212121"/>
                </a:solidFill>
                <a:latin typeface="Calibri" pitchFamily="34" charset="0"/>
                <a:ea typeface="Calibri" pitchFamily="34" charset="-122"/>
                <a:cs typeface="Calibri" pitchFamily="34" charset="-120"/>
              </a:rPr>
              <a:t>alt üçgen</a:t>
            </a:r>
            <a:r>
              <a:rPr lang="en-US" sz="1700" dirty="0">
                <a:solidFill>
                  <a:srgbClr val="212121"/>
                </a:solidFill>
                <a:latin typeface="Calibri" pitchFamily="34" charset="0"/>
                <a:ea typeface="Calibri" pitchFamily="34" charset="-122"/>
                <a:cs typeface="Calibri" pitchFamily="34" charset="-120"/>
              </a:rPr>
              <a:t> liste (köşegen dahil)</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nj()</a:t>
            </a:r>
            <a:r>
              <a:rPr lang="en-US" sz="1700" dirty="0">
                <a:solidFill>
                  <a:srgbClr val="212121"/>
                </a:solidFill>
                <a:latin typeface="Calibri" pitchFamily="34" charset="0"/>
                <a:ea typeface="Calibri" pitchFamily="34" charset="-122"/>
                <a:cs typeface="Calibri" pitchFamily="34" charset="-120"/>
              </a:rPr>
              <a:t> köksüz ağacı keyfi bir iç düğümden köklenmiş gösterir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Phylo.read/write</a:t>
            </a:r>
            <a:r>
              <a:rPr lang="en-US" sz="1700" dirty="0">
                <a:solidFill>
                  <a:srgbClr val="212121"/>
                </a:solidFill>
                <a:latin typeface="Calibri" pitchFamily="34" charset="0"/>
                <a:ea typeface="Calibri" pitchFamily="34" charset="-122"/>
                <a:cs typeface="Calibri" pitchFamily="34" charset="-120"/>
              </a:rPr>
              <a:t>: Newick, Nexus, PhyloXML</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root_at_midpoint()</a:t>
            </a:r>
            <a:r>
              <a:rPr lang="en-US" sz="1700" dirty="0">
                <a:solidFill>
                  <a:srgbClr val="212121"/>
                </a:solidFill>
                <a:latin typeface="Calibri" pitchFamily="34" charset="0"/>
                <a:ea typeface="Calibri" pitchFamily="34" charset="-122"/>
                <a:cs typeface="Calibri" pitchFamily="34" charset="-120"/>
              </a:rPr>
              <a:t>: en uzun yolun ortasından köklendirme</a:t>
            </a:r>
            <a:endParaRPr lang="en-US" sz="1700" dirty="0"/>
          </a:p>
        </p:txBody>
      </p:sp>
      <p:sp>
        <p:nvSpPr>
          <p:cNvPr id="6" name="Text 4"/>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7" name="Text 5"/>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Simülasyon: gerçek ağaç, UPGMA ve NJ</a:t>
            </a:r>
            <a:endParaRPr lang="en-US" sz="3000" dirty="0"/>
          </a:p>
        </p:txBody>
      </p:sp>
      <p:pic>
        <p:nvPicPr>
          <p:cNvPr id="3" name="Image 0" descr="p09_agaclar.png">    </p:cNvPr>
          <p:cNvPicPr>
            <a:picLocks noChangeAspect="1"/>
          </p:cNvPicPr>
          <p:nvPr/>
        </p:nvPicPr>
        <p:blipFill>
          <a:blip r:embed="rId1"/>
          <a:stretch>
            <a:fillRect/>
          </a:stretch>
        </p:blipFill>
        <p:spPr>
          <a:xfrm>
            <a:off x="708508" y="1234440"/>
            <a:ext cx="10774680" cy="4617720"/>
          </a:xfrm>
          <a:prstGeom prst="rect">
            <a:avLst/>
          </a:prstGeom>
        </p:spPr>
      </p:pic>
      <p:sp>
        <p:nvSpPr>
          <p:cNvPr id="4" name="Text 1"/>
          <p:cNvSpPr txBox="1"/>
          <p:nvPr/>
        </p:nvSpPr>
        <p:spPr>
          <a:xfrm>
            <a:off x="548640" y="5925312"/>
            <a:ext cx="11094415" cy="320040"/>
          </a:xfrm>
          <a:prstGeom prst="rect">
            <a:avLst/>
          </a:prstGeom>
          <a:noFill/>
          <a:ln/>
        </p:spPr>
        <p:txBody>
          <a:bodyPr wrap="square" lIns="0" tIns="0" rIns="0" bIns="0" rtlCol="0" anchor="ctr"/>
          <a:lstStyle/>
          <a:p>
            <a:pPr algn="ctr" indent="0" marL="0">
              <a:buNone/>
            </a:pPr>
            <a:r>
              <a:rPr lang="en-US" sz="1200" i="1" dirty="0">
                <a:solidFill>
                  <a:srgbClr val="546E7A"/>
                </a:solidFill>
              </a:rPr>
              <a:t>Solda gerçek ağaç; ortada UPGMA, sağda NJ (her ikisi JC uzaklıklarıyla; NJ orta noktadan köklendirildi)</a:t>
            </a:r>
            <a:endParaRPr lang="en-US" sz="12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Sınav tipi soru: Robinson–Foulds uzaklığı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Çözümlü örnek (yeni)</a:t>
            </a:r>
            <a:endParaRPr lang="en-US" sz="1500" dirty="0"/>
          </a:p>
        </p:txBody>
      </p:sp>
      <p:sp>
        <p:nvSpPr>
          <p:cNvPr id="4" name="Shape 2"/>
          <p:cNvSpPr/>
          <p:nvPr/>
        </p:nvSpPr>
        <p:spPr>
          <a:xfrm>
            <a:off x="548640" y="1463040"/>
            <a:ext cx="11094415" cy="1088136"/>
          </a:xfrm>
          <a:prstGeom prst="roundRect">
            <a:avLst>
              <a:gd name="adj" fmla="val 6723"/>
            </a:avLst>
          </a:prstGeom>
          <a:solidFill>
            <a:srgbClr val="ECEFF1"/>
          </a:solidFill>
          <a:ln/>
        </p:spPr>
      </p:sp>
      <p:sp>
        <p:nvSpPr>
          <p:cNvPr id="5" name="Text 3"/>
          <p:cNvSpPr txBox="1"/>
          <p:nvPr/>
        </p:nvSpPr>
        <p:spPr>
          <a:xfrm>
            <a:off x="685800" y="1508760"/>
            <a:ext cx="10820095" cy="996696"/>
          </a:xfrm>
          <a:prstGeom prst="rect">
            <a:avLst/>
          </a:prstGeom>
          <a:noFill/>
          <a:ln/>
        </p:spPr>
        <p:txBody>
          <a:bodyPr wrap="square" lIns="0" tIns="0" rIns="0" bIns="0" rtlCol="0" anchor="ctr"/>
          <a:lstStyle/>
          <a:p>
            <a:pPr indent="0" marL="0">
              <a:buNone/>
            </a:pPr>
            <a:r>
              <a:rPr lang="en-US" sz="1800" b="1" dirty="0">
                <a:solidFill>
                  <a:srgbClr val="B71C1C"/>
                </a:solidFill>
                <a:latin typeface="Calibri" pitchFamily="34" charset="0"/>
                <a:ea typeface="Calibri" pitchFamily="34" charset="-122"/>
                <a:cs typeface="Calibri" pitchFamily="34" charset="-120"/>
              </a:rPr>
              <a:t>Soru  </a:t>
            </a:r>
            <a:r>
              <a:rPr lang="en-US" sz="1800" dirty="0">
                <a:solidFill>
                  <a:srgbClr val="212121"/>
                </a:solidFill>
                <a:latin typeface="Calibri" pitchFamily="34" charset="0"/>
                <a:ea typeface="Calibri" pitchFamily="34" charset="-122"/>
                <a:cs typeface="Calibri" pitchFamily="34" charset="-120"/>
              </a:rPr>
              <a:t>T1 = </a:t>
            </a:r>
            <a:r>
              <a:rPr lang="en-US" sz="1800" dirty="0">
                <a:solidFill>
                  <a:srgbClr val="455A64"/>
                </a:solidFill>
                <a:latin typeface="Courier New" pitchFamily="34" charset="0"/>
                <a:ea typeface="Courier New" pitchFamily="34" charset="-122"/>
                <a:cs typeface="Courier New" pitchFamily="34" charset="-120"/>
              </a:rPr>
              <a:t>((A,B),C,(D,E))</a:t>
            </a:r>
            <a:r>
              <a:rPr lang="en-US" sz="1800" dirty="0">
                <a:solidFill>
                  <a:srgbClr val="212121"/>
                </a:solidFill>
                <a:latin typeface="Calibri" pitchFamily="34" charset="0"/>
                <a:ea typeface="Calibri" pitchFamily="34" charset="-122"/>
                <a:cs typeface="Calibri" pitchFamily="34" charset="-120"/>
              </a:rPr>
              <a:t> ve T2 = </a:t>
            </a:r>
            <a:r>
              <a:rPr lang="en-US" sz="1800" dirty="0">
                <a:solidFill>
                  <a:srgbClr val="455A64"/>
                </a:solidFill>
                <a:latin typeface="Courier New" pitchFamily="34" charset="0"/>
                <a:ea typeface="Courier New" pitchFamily="34" charset="-122"/>
                <a:cs typeface="Courier New" pitchFamily="34" charset="-120"/>
              </a:rPr>
              <a:t>((A,C),B,(D,E))</a:t>
            </a:r>
            <a:r>
              <a:rPr lang="en-US" sz="1800" dirty="0">
                <a:solidFill>
                  <a:srgbClr val="212121"/>
                </a:solidFill>
                <a:latin typeface="Calibri" pitchFamily="34" charset="0"/>
                <a:ea typeface="Calibri" pitchFamily="34" charset="-122"/>
                <a:cs typeface="Calibri" pitchFamily="34" charset="-120"/>
              </a:rPr>
              <a:t> köksüz ağaçları arasındaki RF uzaklığını bulun. RF = yalnızca bir ağaçta bulunan </a:t>
            </a:r>
            <a:r>
              <a:rPr lang="en-US" sz="1800" b="1" dirty="0">
                <a:solidFill>
                  <a:srgbClr val="212121"/>
                </a:solidFill>
                <a:latin typeface="Calibri" pitchFamily="34" charset="0"/>
                <a:ea typeface="Calibri" pitchFamily="34" charset="-122"/>
                <a:cs typeface="Calibri" pitchFamily="34" charset="-120"/>
              </a:rPr>
              <a:t>bipartisyon</a:t>
            </a:r>
            <a:r>
              <a:rPr lang="en-US" sz="1800" dirty="0">
                <a:solidFill>
                  <a:srgbClr val="212121"/>
                </a:solidFill>
                <a:latin typeface="Calibri" pitchFamily="34" charset="0"/>
                <a:ea typeface="Calibri" pitchFamily="34" charset="-122"/>
                <a:cs typeface="Calibri" pitchFamily="34" charset="-120"/>
              </a:rPr>
              <a:t> sayısı.</a:t>
            </a:r>
            <a:endParaRPr lang="en-US" sz="1800" dirty="0"/>
          </a:p>
        </p:txBody>
      </p:sp>
      <p:sp>
        <p:nvSpPr>
          <p:cNvPr id="6" name="Text 4"/>
          <p:cNvSpPr txBox="1"/>
          <p:nvPr/>
        </p:nvSpPr>
        <p:spPr>
          <a:xfrm>
            <a:off x="548640" y="2779776"/>
            <a:ext cx="6656649" cy="2615184"/>
          </a:xfrm>
          <a:prstGeom prst="rect">
            <a:avLst/>
          </a:prstGeom>
          <a:noFill/>
          <a:ln/>
        </p:spPr>
        <p:txBody>
          <a:bodyPr wrap="square" lIns="25400" tIns="25400" rIns="50800" bIns="25400" rtlCol="0" anchor="t"/>
          <a:lstStyle/>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Her iç dal yaprakları ikiye böler; tek yapraklı (önemsiz) bölmeler sayılmaz</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n = 5 köksüz ikili ağaçta n − 3 = </a:t>
            </a:r>
            <a:r>
              <a:rPr lang="en-US" sz="1550" b="1" dirty="0">
                <a:solidFill>
                  <a:srgbClr val="212121"/>
                </a:solidFill>
                <a:latin typeface="Calibri" pitchFamily="34" charset="0"/>
                <a:ea typeface="Calibri" pitchFamily="34" charset="-122"/>
                <a:cs typeface="Calibri" pitchFamily="34" charset="-120"/>
              </a:rPr>
              <a:t>2</a:t>
            </a:r>
            <a:r>
              <a:rPr lang="en-US" sz="1550" dirty="0">
                <a:solidFill>
                  <a:srgbClr val="212121"/>
                </a:solidFill>
                <a:latin typeface="Calibri" pitchFamily="34" charset="0"/>
                <a:ea typeface="Calibri" pitchFamily="34" charset="-122"/>
                <a:cs typeface="Calibri" pitchFamily="34" charset="-120"/>
              </a:rPr>
              <a:t> önemsiz olmayan bipartisyon vardır</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T1: </a:t>
            </a:r>
            <a:r>
              <a:rPr lang="en-US" sz="1550" b="1" dirty="0">
                <a:solidFill>
                  <a:srgbClr val="212121"/>
                </a:solidFill>
                <a:latin typeface="Calibri" pitchFamily="34" charset="0"/>
                <a:ea typeface="Calibri" pitchFamily="34" charset="-122"/>
                <a:cs typeface="Calibri" pitchFamily="34" charset="-120"/>
              </a:rPr>
              <a:t>AB | CDE</a:t>
            </a:r>
            <a:r>
              <a:rPr lang="en-US" sz="1550" dirty="0">
                <a:solidFill>
                  <a:srgbClr val="212121"/>
                </a:solidFill>
                <a:latin typeface="Calibri" pitchFamily="34" charset="0"/>
                <a:ea typeface="Calibri" pitchFamily="34" charset="-122"/>
                <a:cs typeface="Calibri" pitchFamily="34" charset="-120"/>
              </a:rPr>
              <a:t> ve DE | ABC</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T2: </a:t>
            </a:r>
            <a:r>
              <a:rPr lang="en-US" sz="1550" b="1" dirty="0">
                <a:solidFill>
                  <a:srgbClr val="212121"/>
                </a:solidFill>
                <a:latin typeface="Calibri" pitchFamily="34" charset="0"/>
                <a:ea typeface="Calibri" pitchFamily="34" charset="-122"/>
                <a:cs typeface="Calibri" pitchFamily="34" charset="-120"/>
              </a:rPr>
              <a:t>AC | BDE</a:t>
            </a:r>
            <a:r>
              <a:rPr lang="en-US" sz="1550" dirty="0">
                <a:solidFill>
                  <a:srgbClr val="212121"/>
                </a:solidFill>
                <a:latin typeface="Calibri" pitchFamily="34" charset="0"/>
                <a:ea typeface="Calibri" pitchFamily="34" charset="-122"/>
                <a:cs typeface="Calibri" pitchFamily="34" charset="-120"/>
              </a:rPr>
              <a:t> ve DE | ABC</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Ortak: DE | ABC. Yalnızca birinde: AB | CDE (T1), AC | BDE (T2) → RF = </a:t>
            </a:r>
            <a:r>
              <a:rPr lang="en-US" sz="1550" b="1" dirty="0">
                <a:solidFill>
                  <a:srgbClr val="212121"/>
                </a:solidFill>
                <a:latin typeface="Calibri" pitchFamily="34" charset="0"/>
                <a:ea typeface="Calibri" pitchFamily="34" charset="-122"/>
                <a:cs typeface="Calibri" pitchFamily="34" charset="-120"/>
              </a:rPr>
              <a:t>2</a:t>
            </a:r>
            <a:endParaRPr lang="en-US" sz="1550" dirty="0"/>
          </a:p>
          <a:p>
            <a:pPr marL="342900" indent="-342900">
              <a:spcAft>
                <a:spcPts val="600"/>
              </a:spcAft>
              <a:buSzPct val="100000"/>
              <a:buFont typeface="+mj-lt"/>
              <a:buAutoNum type="arabicPeriod" startAt="1"/>
            </a:pPr>
            <a:r>
              <a:rPr lang="en-US" sz="1550" dirty="0">
                <a:solidFill>
                  <a:srgbClr val="212121"/>
                </a:solidFill>
                <a:latin typeface="Calibri" pitchFamily="34" charset="0"/>
                <a:ea typeface="Calibri" pitchFamily="34" charset="-122"/>
                <a:cs typeface="Calibri" pitchFamily="34" charset="-120"/>
              </a:rPr>
              <a:t>Normalize RF = RF / (2(n − 3)) = 2 / 4 = </a:t>
            </a:r>
            <a:r>
              <a:rPr lang="en-US" sz="1550" b="1" dirty="0">
                <a:solidFill>
                  <a:srgbClr val="212121"/>
                </a:solidFill>
                <a:latin typeface="Calibri" pitchFamily="34" charset="0"/>
                <a:ea typeface="Calibri" pitchFamily="34" charset="-122"/>
                <a:cs typeface="Calibri" pitchFamily="34" charset="-120"/>
              </a:rPr>
              <a:t>0.5</a:t>
            </a:r>
            <a:endParaRPr lang="en-US" sz="155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7525329" y="2779776"/>
          <a:ext cx="4117726" cy="914400"/>
        </p:xfrm>
        <a:graphic>
          <a:graphicData uri="http://schemas.openxmlformats.org/drawingml/2006/table">
            <a:tbl>
              <a:tblPr/>
              <a:tblGrid>
                <a:gridCol w="2664411"/>
                <a:gridCol w="726658"/>
                <a:gridCol w="726658"/>
              </a:tblGrid>
              <a:tr h="0">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Bipartisyon</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T1</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c>
                  <a:txBody>
                    <a:bodyPr/>
                    <a:lstStyle/>
                    <a:p>
                      <a:pPr algn="l" indent="0" marL="0">
                        <a:buNone/>
                      </a:pPr>
                      <a:r>
                        <a:rPr lang="en-US" sz="1600" b="1" dirty="0">
                          <a:solidFill>
                            <a:srgbClr val="212121"/>
                          </a:solidFill>
                          <a:latin typeface="Calibri" pitchFamily="34" charset="0"/>
                          <a:ea typeface="Calibri" pitchFamily="34" charset="-122"/>
                          <a:cs typeface="Calibri" pitchFamily="34" charset="-120"/>
                        </a:rPr>
                        <a:t>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DDE3E7"/>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AB | CDE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AC | BDE</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7F9FA"/>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DE | ABC</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FFFFF"/>
                    </a:solidFill>
                  </a:tcPr>
                </a:tc>
              </a:tr>
              <a:tr h="0">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RF</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pPr algn="l" indent="0" marL="0">
                        <a:buNone/>
                      </a:pPr>
                      <a:r>
                        <a:rPr lang="en-US" sz="1600" dirty="0">
                          <a:solidFill>
                            <a:srgbClr val="212121"/>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c>
                  <a:txBody>
                    <a:bodyPr/>
                    <a:lstStyle/>
                    <a:p>
                      <a:endParaRPr/>
                    </a:p>
                  </a:txBody>
                  <a:tcPr marL="63500" marR="63500" marT="38100" marB="38100" anchor="ctr">
                    <a:lnL w="9525" cap="flat" cmpd="sng" algn="ctr">
                      <a:solidFill>
                        <a:srgbClr val="B0BEC5"/>
                      </a:solidFill>
                      <a:prstDash val="solid"/>
                      <a:round/>
                      <a:headEnd type="none" w="med" len="med"/>
                      <a:tailEnd type="none" w="med" len="med"/>
                    </a:lnL>
                    <a:lnR w="9525" cap="flat" cmpd="sng" algn="ctr">
                      <a:solidFill>
                        <a:srgbClr val="B0BEC5"/>
                      </a:solidFill>
                      <a:prstDash val="solid"/>
                      <a:round/>
                      <a:headEnd type="none" w="med" len="med"/>
                      <a:tailEnd type="none" w="med" len="med"/>
                    </a:lnR>
                    <a:lnT w="9525" cap="flat" cmpd="sng" algn="ctr">
                      <a:solidFill>
                        <a:srgbClr val="B0BEC5"/>
                      </a:solidFill>
                      <a:prstDash val="solid"/>
                      <a:round/>
                      <a:headEnd type="none" w="med" len="med"/>
                      <a:tailEnd type="none" w="med" len="med"/>
                    </a:lnT>
                    <a:lnB w="9525" cap="flat" cmpd="sng" algn="ctr">
                      <a:solidFill>
                        <a:srgbClr val="B0BEC5"/>
                      </a:solidFill>
                      <a:prstDash val="solid"/>
                      <a:round/>
                      <a:headEnd type="none" w="med" len="med"/>
                      <a:tailEnd type="none" w="med" len="med"/>
                    </a:lnB>
                    <a:solidFill>
                      <a:srgbClr val="FDECEA"/>
                    </a:solidFill>
                  </a:tcPr>
                </a:tc>
              </a:tr>
            </a:tbl>
          </a:graphicData>
        </a:graphic>
      </p:graphicFrame>
      <p:sp>
        <p:nvSpPr>
          <p:cNvPr id="8" name="Shape 5"/>
          <p:cNvSpPr/>
          <p:nvPr/>
        </p:nvSpPr>
        <p:spPr>
          <a:xfrm>
            <a:off x="548640" y="5577840"/>
            <a:ext cx="11094415" cy="685800"/>
          </a:xfrm>
          <a:prstGeom prst="roundRect">
            <a:avLst>
              <a:gd name="adj" fmla="val 10667"/>
            </a:avLst>
          </a:prstGeom>
          <a:solidFill>
            <a:srgbClr val="FDECEA"/>
          </a:solidFill>
          <a:ln/>
        </p:spPr>
      </p:sp>
      <p:sp>
        <p:nvSpPr>
          <p:cNvPr id="9" name="Text 6"/>
          <p:cNvSpPr txBox="1"/>
          <p:nvPr/>
        </p:nvSpPr>
        <p:spPr>
          <a:xfrm>
            <a:off x="685800" y="5577840"/>
            <a:ext cx="10820095" cy="685800"/>
          </a:xfrm>
          <a:prstGeom prst="rect">
            <a:avLst/>
          </a:prstGeom>
          <a:noFill/>
          <a:ln/>
        </p:spPr>
        <p:txBody>
          <a:bodyPr wrap="square" lIns="0" tIns="0" rIns="0" bIns="0" rtlCol="0" anchor="ctr"/>
          <a:lstStyle/>
          <a:p>
            <a:pPr indent="0" marL="0">
              <a:buNone/>
            </a:pPr>
            <a:r>
              <a:rPr lang="en-US" sz="1700" b="1" dirty="0">
                <a:solidFill>
                  <a:srgbClr val="B71C1C"/>
                </a:solidFill>
                <a:latin typeface="Calibri" pitchFamily="34" charset="0"/>
                <a:ea typeface="Calibri" pitchFamily="34" charset="-122"/>
                <a:cs typeface="Calibri" pitchFamily="34" charset="-120"/>
              </a:rPr>
              <a:t>Sonuç  </a:t>
            </a:r>
            <a:r>
              <a:rPr lang="en-US" sz="1700" dirty="0">
                <a:solidFill>
                  <a:srgbClr val="212121"/>
                </a:solidFill>
                <a:latin typeface="Calibri" pitchFamily="34" charset="0"/>
                <a:ea typeface="Calibri" pitchFamily="34" charset="-122"/>
                <a:cs typeface="Calibri" pitchFamily="34" charset="-120"/>
              </a:rPr>
              <a:t>RF(T1, T2) = </a:t>
            </a:r>
            <a:r>
              <a:rPr lang="en-US" sz="1700" b="1" dirty="0">
                <a:solidFill>
                  <a:srgbClr val="212121"/>
                </a:solidFill>
                <a:latin typeface="Calibri" pitchFamily="34" charset="0"/>
                <a:ea typeface="Calibri" pitchFamily="34" charset="-122"/>
                <a:cs typeface="Calibri" pitchFamily="34" charset="-120"/>
              </a:rPr>
              <a:t>2</a:t>
            </a:r>
            <a:r>
              <a:rPr lang="en-US" sz="1700" dirty="0">
                <a:solidFill>
                  <a:srgbClr val="212121"/>
                </a:solidFill>
                <a:latin typeface="Calibri" pitchFamily="34" charset="0"/>
                <a:ea typeface="Calibri" pitchFamily="34" charset="-122"/>
                <a:cs typeface="Calibri" pitchFamily="34" charset="-120"/>
              </a:rPr>
              <a:t> (normalize 0.5). Notebook: RF(gerçek, UPGMA) = RF(gerçek, NJ) = </a:t>
            </a:r>
            <a:r>
              <a:rPr lang="en-US" sz="1700" b="1" dirty="0">
                <a:solidFill>
                  <a:srgbClr val="212121"/>
                </a:solidFill>
                <a:latin typeface="Calibri" pitchFamily="34" charset="0"/>
                <a:ea typeface="Calibri" pitchFamily="34" charset="-122"/>
                <a:cs typeface="Calibri" pitchFamily="34" charset="-120"/>
              </a:rPr>
              <a:t>0</a:t>
            </a:r>
            <a:r>
              <a:rPr lang="en-US" sz="1700" dirty="0">
                <a:solidFill>
                  <a:srgbClr val="212121"/>
                </a:solidFill>
                <a:latin typeface="Calibri" pitchFamily="34" charset="0"/>
                <a:ea typeface="Calibri" pitchFamily="34" charset="-122"/>
                <a:cs typeface="Calibri" pitchFamily="34" charset="-120"/>
              </a:rPr>
              <a:t> → iki yöntem de gerçek topolojiyi birebir buldu.</a:t>
            </a:r>
            <a:endParaRPr lang="en-US" sz="1700" dirty="0"/>
          </a:p>
        </p:txBody>
      </p:sp>
      <p:sp>
        <p:nvSpPr>
          <p:cNvPr id="10"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1"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RF uzaklığı ve bootstrap: kod</a:t>
            </a:r>
            <a:endParaRPr lang="en-US" sz="3000" dirty="0"/>
          </a:p>
        </p:txBody>
      </p:sp>
      <p:sp>
        <p:nvSpPr>
          <p:cNvPr id="3" name="Text 1"/>
          <p:cNvSpPr txBox="1"/>
          <p:nvPr/>
        </p:nvSpPr>
        <p:spPr>
          <a:xfrm>
            <a:off x="548640" y="5312664"/>
            <a:ext cx="1828800" cy="228600"/>
          </a:xfrm>
          <a:prstGeom prst="rect">
            <a:avLst/>
          </a:prstGeom>
          <a:noFill/>
          <a:ln/>
        </p:spPr>
        <p:txBody>
          <a:bodyPr wrap="square" lIns="0" tIns="0" rIns="0" bIns="0" rtlCol="0" anchor="ctr"/>
          <a:lstStyle/>
          <a:p>
            <a:pPr indent="0" marL="0">
              <a:buNone/>
            </a:pPr>
            <a:r>
              <a:rPr lang="en-US" sz="1100" b="1" dirty="0">
                <a:solidFill>
                  <a:srgbClr val="546E7A"/>
                </a:solidFill>
              </a:rPr>
              <a:t>Çıktı</a:t>
            </a:r>
            <a:endParaRPr lang="en-US" sz="1100" dirty="0"/>
          </a:p>
        </p:txBody>
      </p:sp>
      <p:sp>
        <p:nvSpPr>
          <p:cNvPr id="4" name="Shape 2"/>
          <p:cNvSpPr/>
          <p:nvPr/>
        </p:nvSpPr>
        <p:spPr>
          <a:xfrm>
            <a:off x="548640" y="5541264"/>
            <a:ext cx="7100426" cy="722376"/>
          </a:xfrm>
          <a:prstGeom prst="roundRect">
            <a:avLst>
              <a:gd name="adj" fmla="val 10127"/>
            </a:avLst>
          </a:prstGeom>
          <a:solidFill>
            <a:srgbClr val="FFFFFF"/>
          </a:solidFill>
          <a:ln w="12700">
            <a:solidFill>
              <a:srgbClr val="B0BEC5"/>
            </a:solidFill>
            <a:prstDash val="solid"/>
          </a:ln>
        </p:spPr>
      </p:sp>
      <p:sp>
        <p:nvSpPr>
          <p:cNvPr id="5" name="Text 3"/>
          <p:cNvSpPr txBox="1"/>
          <p:nvPr/>
        </p:nvSpPr>
        <p:spPr>
          <a:xfrm>
            <a:off x="658368" y="5614416"/>
            <a:ext cx="6880970" cy="576072"/>
          </a:xfrm>
          <a:prstGeom prst="rect">
            <a:avLst/>
          </a:prstGeom>
          <a:noFill/>
          <a:ln/>
        </p:spPr>
        <p:txBody>
          <a:bodyPr wrap="square" lIns="0" tIns="0" rIns="0" bIns="0" rtlCol="0" anchor="t"/>
          <a:lstStyle/>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RF(gerçek, UPGMA) = 0</a:t>
            </a:r>
            <a:endParaRPr lang="en-US" sz="1300" dirty="0"/>
          </a:p>
          <a:p>
            <a:pPr indent="0" marL="0">
              <a:lnSpc>
                <a:spcPct val="100000"/>
              </a:lnSpc>
              <a:buNone/>
            </a:pPr>
            <a:r>
              <a:rPr lang="en-US" sz="1300" dirty="0">
                <a:solidFill>
                  <a:srgbClr val="37474F"/>
                </a:solidFill>
                <a:latin typeface="Courier New" pitchFamily="34" charset="0"/>
                <a:ea typeface="Courier New" pitchFamily="34" charset="-122"/>
                <a:cs typeface="Courier New" pitchFamily="34" charset="-120"/>
              </a:rPr>
              <a:t>RF(gerçek, NJ)    = 0</a:t>
            </a:r>
            <a:endParaRPr lang="en-US" sz="1300" dirty="0"/>
          </a:p>
        </p:txBody>
      </p:sp>
      <p:sp>
        <p:nvSpPr>
          <p:cNvPr id="6" name="Shape 4"/>
          <p:cNvSpPr/>
          <p:nvPr/>
        </p:nvSpPr>
        <p:spPr>
          <a:xfrm>
            <a:off x="548640" y="1234440"/>
            <a:ext cx="7100426" cy="4032504"/>
          </a:xfrm>
          <a:prstGeom prst="roundRect">
            <a:avLst>
              <a:gd name="adj" fmla="val 1814"/>
            </a:avLst>
          </a:prstGeom>
          <a:solidFill>
            <a:srgbClr val="F4F6F7"/>
          </a:solidFill>
          <a:ln w="12700">
            <a:solidFill>
              <a:srgbClr val="B0BEC5"/>
            </a:solidFill>
            <a:prstDash val="solid"/>
          </a:ln>
        </p:spPr>
      </p:sp>
      <p:sp>
        <p:nvSpPr>
          <p:cNvPr id="7" name="Text 5"/>
          <p:cNvSpPr txBox="1"/>
          <p:nvPr/>
        </p:nvSpPr>
        <p:spPr>
          <a:xfrm>
            <a:off x="658368" y="1307592"/>
            <a:ext cx="6880970" cy="3886200"/>
          </a:xfrm>
          <a:prstGeom prst="rect">
            <a:avLst/>
          </a:prstGeom>
          <a:noFill/>
          <a:ln/>
        </p:spPr>
        <p:txBody>
          <a:bodyPr wrap="square" lIns="0" tIns="0" rIns="0" bIns="0" rtlCol="0" anchor="t"/>
          <a:lstStyle/>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def bipartisyonlar(agac):</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tum = frozenset(t.name for t in agac.get_terminals())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kume = set()</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for c in agac.find_clades():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yap = frozenset(t.name for t in c.get_terminals())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if 1 &lt; len(yap) &lt; len(tum) - 1:     # önemsizleri at</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kume.add(min(yap, tum - yap, key=lambda s: sorted(s)))</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return kume</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def rf(a1, a2):</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return len(bipartisyonlar(a1) ^ bipartisyonlar(a2))</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Bio.Phylo.TreeConstruction import DistanceCalculator</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from Bio.Phylo.Consensus import bootstrap_trees, get_support</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nj_kurucu = DistanceTreeConstructor(</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    DistanceCalculator("identity"), "nj")</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agaclar = list(bootstrap_trees(dna, 100, nj_kurucu))</a:t>
            </a:r>
            <a:endParaRPr lang="en-US" sz="1350" dirty="0"/>
          </a:p>
          <a:p>
            <a:pPr indent="0" marL="0">
              <a:lnSpc>
                <a:spcPct val="100000"/>
              </a:lnSpc>
              <a:buNone/>
            </a:pPr>
            <a:r>
              <a:rPr lang="en-US" sz="1350" dirty="0">
                <a:solidFill>
                  <a:srgbClr val="263238"/>
                </a:solidFill>
                <a:latin typeface="Courier New" pitchFamily="34" charset="0"/>
                <a:ea typeface="Courier New" pitchFamily="34" charset="-122"/>
                <a:cs typeface="Courier New" pitchFamily="34" charset="-120"/>
              </a:rPr>
              <a:t>destekli = get_support(nj_kurucu.build_tree(dna), agaclar)</a:t>
            </a:r>
            <a:endParaRPr lang="en-US" sz="1350" dirty="0"/>
          </a:p>
        </p:txBody>
      </p:sp>
      <p:sp>
        <p:nvSpPr>
          <p:cNvPr id="8" name="Text 6"/>
          <p:cNvSpPr txBox="1"/>
          <p:nvPr/>
        </p:nvSpPr>
        <p:spPr>
          <a:xfrm>
            <a:off x="7969106" y="1234440"/>
            <a:ext cx="3673949"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frozenset</a:t>
            </a:r>
            <a:r>
              <a:rPr lang="en-US" sz="1700" dirty="0">
                <a:solidFill>
                  <a:srgbClr val="212121"/>
                </a:solidFill>
                <a:latin typeface="Calibri" pitchFamily="34" charset="0"/>
                <a:ea typeface="Calibri" pitchFamily="34" charset="-122"/>
                <a:cs typeface="Calibri" pitchFamily="34" charset="-120"/>
              </a:rPr>
              <a:t>: kümeleri kümede saklamak için değişmez tür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Köksüz karşılaştırma: iki yarıdan </a:t>
            </a:r>
            <a:r>
              <a:rPr lang="en-US" sz="1700" b="1" dirty="0">
                <a:solidFill>
                  <a:srgbClr val="212121"/>
                </a:solidFill>
                <a:latin typeface="Calibri" pitchFamily="34" charset="0"/>
                <a:ea typeface="Calibri" pitchFamily="34" charset="-122"/>
                <a:cs typeface="Calibri" pitchFamily="34" charset="-120"/>
              </a:rPr>
              <a:t>tutarlı biçimde</a:t>
            </a:r>
            <a:r>
              <a:rPr lang="en-US" sz="1700" dirty="0">
                <a:solidFill>
                  <a:srgbClr val="212121"/>
                </a:solidFill>
                <a:latin typeface="Calibri" pitchFamily="34" charset="0"/>
                <a:ea typeface="Calibri" pitchFamily="34" charset="-122"/>
                <a:cs typeface="Calibri" pitchFamily="34" charset="-120"/>
              </a:rPr>
              <a:t> birini seç</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a:t>
            </a:r>
            <a:r>
              <a:rPr lang="en-US" sz="1700" dirty="0">
                <a:solidFill>
                  <a:srgbClr val="212121"/>
                </a:solidFill>
                <a:latin typeface="Calibri" pitchFamily="34" charset="0"/>
                <a:ea typeface="Calibri" pitchFamily="34" charset="-122"/>
                <a:cs typeface="Calibri" pitchFamily="34" charset="-120"/>
              </a:rPr>
              <a:t>: simetrik fark → yalnızca birinde olanlar</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identity</a:t>
            </a:r>
            <a:r>
              <a:rPr lang="en-US" sz="1700" dirty="0">
                <a:solidFill>
                  <a:srgbClr val="212121"/>
                </a:solidFill>
                <a:latin typeface="Calibri" pitchFamily="34" charset="0"/>
                <a:ea typeface="Calibri" pitchFamily="34" charset="-122"/>
                <a:cs typeface="Calibri" pitchFamily="34" charset="-120"/>
              </a:rPr>
              <a:t> uzaklığı = 1 − özdeşlik = p-uzaklığı</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a:t>
            </a:r>
            <a:r>
              <a:rPr lang="en-US" sz="1700" dirty="0">
                <a:solidFill>
                  <a:srgbClr val="455A64"/>
                </a:solidFill>
                <a:latin typeface="Courier New" pitchFamily="34" charset="0"/>
                <a:ea typeface="Courier New" pitchFamily="34" charset="-122"/>
                <a:cs typeface="Courier New" pitchFamily="34" charset="-120"/>
              </a:rPr>
              <a:t>get_support</a:t>
            </a:r>
            <a:r>
              <a:rPr lang="en-US" sz="1700" dirty="0">
                <a:solidFill>
                  <a:srgbClr val="212121"/>
                </a:solidFill>
                <a:latin typeface="Calibri" pitchFamily="34" charset="0"/>
                <a:ea typeface="Calibri" pitchFamily="34" charset="-122"/>
                <a:cs typeface="Calibri" pitchFamily="34" charset="-120"/>
              </a:rPr>
              <a:t>: her dalın 100 ağaçta kaç kez geçtiği</a:t>
            </a:r>
            <a:endParaRPr lang="en-US" sz="1700" dirty="0"/>
          </a:p>
        </p:txBody>
      </p:sp>
      <p:sp>
        <p:nvSpPr>
          <p:cNvPr id="9" name="Text 7"/>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10" name="Text 8"/>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Bootstrap: dallar ne kadar güvenilir?</a:t>
            </a:r>
            <a:endParaRPr lang="en-US" sz="3000" dirty="0"/>
          </a:p>
        </p:txBody>
      </p:sp>
      <p:pic>
        <p:nvPicPr>
          <p:cNvPr id="3" name="Image 0" descr="p09_bootstrap.png">    </p:cNvPr>
          <p:cNvPicPr>
            <a:picLocks noChangeAspect="1"/>
          </p:cNvPicPr>
          <p:nvPr/>
        </p:nvPicPr>
        <p:blipFill>
          <a:blip r:embed="rId1"/>
          <a:stretch>
            <a:fillRect/>
          </a:stretch>
        </p:blipFill>
        <p:spPr>
          <a:xfrm>
            <a:off x="548640" y="1623550"/>
            <a:ext cx="6656649" cy="4250981"/>
          </a:xfrm>
          <a:prstGeom prst="rect">
            <a:avLst/>
          </a:prstGeom>
        </p:spPr>
      </p:pic>
      <p:sp>
        <p:nvSpPr>
          <p:cNvPr id="4" name="Text 1"/>
          <p:cNvSpPr txBox="1"/>
          <p:nvPr/>
        </p:nvSpPr>
        <p:spPr>
          <a:xfrm>
            <a:off x="7525329" y="1234440"/>
            <a:ext cx="4117726"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Hizalamanın 800 sütunu </a:t>
            </a:r>
            <a:r>
              <a:rPr lang="en-US" sz="1700" b="1" dirty="0">
                <a:solidFill>
                  <a:srgbClr val="212121"/>
                </a:solidFill>
                <a:latin typeface="Calibri" pitchFamily="34" charset="0"/>
                <a:ea typeface="Calibri" pitchFamily="34" charset="-122"/>
                <a:cs typeface="Calibri" pitchFamily="34" charset="-120"/>
              </a:rPr>
              <a:t>iadeli</a:t>
            </a:r>
            <a:r>
              <a:rPr lang="en-US" sz="1700" dirty="0">
                <a:solidFill>
                  <a:srgbClr val="212121"/>
                </a:solidFill>
                <a:latin typeface="Calibri" pitchFamily="34" charset="0"/>
                <a:ea typeface="Calibri" pitchFamily="34" charset="-122"/>
                <a:cs typeface="Calibri" pitchFamily="34" charset="-120"/>
              </a:rPr>
              <a:t> yeniden örneklenir → 100 sahte hizalama → 100 ağaç</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Bir dalın desteği = o bipartisyonu içeren ağaçların yüzdesi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Bu veri: {T6,T7} ve {T4,T5} </a:t>
            </a:r>
            <a:r>
              <a:rPr lang="en-US" sz="1700" b="1" dirty="0">
                <a:solidFill>
                  <a:srgbClr val="212121"/>
                </a:solidFill>
                <a:latin typeface="Calibri" pitchFamily="34" charset="0"/>
                <a:ea typeface="Calibri" pitchFamily="34" charset="-122"/>
                <a:cs typeface="Calibri" pitchFamily="34" charset="-120"/>
              </a:rPr>
              <a:t>%100</a:t>
            </a:r>
            <a:r>
              <a:rPr lang="en-US" sz="1700" dirty="0">
                <a:solidFill>
                  <a:srgbClr val="212121"/>
                </a:solidFill>
                <a:latin typeface="Calibri" pitchFamily="34" charset="0"/>
                <a:ea typeface="Calibri" pitchFamily="34" charset="-122"/>
                <a:cs typeface="Calibri" pitchFamily="34" charset="-120"/>
              </a:rPr>
              <a:t>, {T1,T2} %92, {T6,T7,T8} %87, {T4–T8} </a:t>
            </a:r>
            <a:r>
              <a:rPr lang="en-US" sz="1700" b="1" dirty="0">
                <a:solidFill>
                  <a:srgbClr val="212121"/>
                </a:solidFill>
                <a:latin typeface="Calibri" pitchFamily="34" charset="0"/>
                <a:ea typeface="Calibri" pitchFamily="34" charset="-122"/>
                <a:cs typeface="Calibri" pitchFamily="34" charset="-120"/>
              </a:rPr>
              <a:t>%67</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Genel kural: ≥ %70 güvenilir; %67'lik dal zayıf destekli</a:t>
            </a:r>
            <a:endParaRPr lang="en-US" sz="1700" dirty="0"/>
          </a:p>
          <a:p>
            <a:pPr marL="228600" indent="-228600">
              <a:spcAft>
                <a:spcPts val="700"/>
              </a:spcAft>
              <a:buSzPct val="100000"/>
              <a:buChar char="•"/>
            </a:pPr>
            <a:r>
              <a:rPr lang="en-US" sz="1700" dirty="0">
                <a:solidFill>
                  <a:srgbClr val="212121"/>
                </a:solidFill>
                <a:latin typeface="Calibri" pitchFamily="34" charset="0"/>
                <a:ea typeface="Calibri" pitchFamily="34" charset="-122"/>
                <a:cs typeface="Calibri" pitchFamily="34" charset="-120"/>
              </a:rPr>
              <a:t>Yalnızca ilk 100 sütun: topoloji yine doğru (RF = 0) ama destekler </a:t>
            </a:r>
            <a:r>
              <a:rPr lang="en-US" sz="1700" b="1" dirty="0">
                <a:solidFill>
                  <a:srgbClr val="212121"/>
                </a:solidFill>
                <a:latin typeface="Calibri" pitchFamily="34" charset="0"/>
                <a:ea typeface="Calibri" pitchFamily="34" charset="-122"/>
                <a:cs typeface="Calibri" pitchFamily="34" charset="-120"/>
              </a:rPr>
              <a:t>%76–100</a:t>
            </a:r>
            <a:r>
              <a:rPr lang="en-US" sz="1700" dirty="0">
                <a:solidFill>
                  <a:srgbClr val="212121"/>
                </a:solidFill>
                <a:latin typeface="Calibri" pitchFamily="34" charset="0"/>
                <a:ea typeface="Calibri" pitchFamily="34" charset="-122"/>
                <a:cs typeface="Calibri" pitchFamily="34" charset="-120"/>
              </a:rPr>
              <a:t>'e düşer</a:t>
            </a:r>
            <a:endParaRPr lang="en-US" sz="1700" dirty="0"/>
          </a:p>
        </p:txBody>
      </p:sp>
      <p:sp>
        <p:nvSpPr>
          <p:cNvPr id="5"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6"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Sık yapılan hatalar</a:t>
            </a:r>
            <a:endParaRPr lang="en-US" sz="3000" dirty="0"/>
          </a:p>
        </p:txBody>
      </p:sp>
      <p:sp>
        <p:nvSpPr>
          <p:cNvPr id="3" name="Text 1"/>
          <p:cNvSpPr txBox="1"/>
          <p:nvPr/>
        </p:nvSpPr>
        <p:spPr>
          <a:xfrm>
            <a:off x="548640" y="1234440"/>
            <a:ext cx="11094415" cy="5029200"/>
          </a:xfrm>
          <a:prstGeom prst="rect">
            <a:avLst/>
          </a:prstGeom>
          <a:noFill/>
          <a:ln/>
        </p:spPr>
        <p:txBody>
          <a:bodyPr wrap="square" lIns="25400" tIns="25400" rIns="50800" bIns="25400" rtlCol="0" anchor="t"/>
          <a:lstStyle/>
          <a:p>
            <a:pPr marL="228600" indent="-228600">
              <a:spcAft>
                <a:spcPts val="700"/>
              </a:spcAft>
              <a:buSzPct val="100000"/>
              <a:buChar char="•"/>
            </a:pPr>
            <a:r>
              <a:rPr lang="en-US" sz="2150" b="1" dirty="0">
                <a:solidFill>
                  <a:srgbClr val="212121"/>
                </a:solidFill>
                <a:latin typeface="Calibri" pitchFamily="34" charset="0"/>
                <a:ea typeface="Calibri" pitchFamily="34" charset="-122"/>
                <a:cs typeface="Calibri" pitchFamily="34" charset="-120"/>
              </a:rPr>
              <a:t>Kılavuz ağacı filogenetik sonuç gibi yorumlamak</a:t>
            </a:r>
            <a:endParaRPr lang="en-US" sz="2150" dirty="0"/>
          </a:p>
          <a:p>
            <a:pPr lvl="1" marL="406400" indent="-203200">
              <a:spcAft>
                <a:spcPts val="300"/>
              </a:spcAft>
              <a:buSzPct val="100000"/>
              <a:buChar char="–"/>
            </a:pPr>
            <a:r>
              <a:rPr lang="en-US" sz="1950" dirty="0">
                <a:solidFill>
                  <a:srgbClr val="37474F"/>
                </a:solidFill>
                <a:latin typeface="Calibri" pitchFamily="34" charset="0"/>
                <a:ea typeface="Calibri" pitchFamily="34" charset="-122"/>
                <a:cs typeface="Calibri" pitchFamily="34" charset="-120"/>
              </a:rPr>
              <a:t>MSA araçlarının ürettiği guide tree kaba ve hızlıdır</a:t>
            </a:r>
            <a:endParaRPr lang="en-US" sz="2150" dirty="0"/>
          </a:p>
          <a:p>
            <a:pPr marL="228600" indent="-228600">
              <a:spcAft>
                <a:spcPts val="700"/>
              </a:spcAft>
              <a:buSzPct val="100000"/>
              <a:buChar char="•"/>
            </a:pPr>
            <a:r>
              <a:rPr lang="en-US" sz="2150" b="1" dirty="0">
                <a:solidFill>
                  <a:srgbClr val="212121"/>
                </a:solidFill>
                <a:latin typeface="Calibri" pitchFamily="34" charset="0"/>
                <a:ea typeface="Calibri" pitchFamily="34" charset="-122"/>
                <a:cs typeface="Calibri" pitchFamily="34" charset="-120"/>
              </a:rPr>
              <a:t>Doygun uzaklıklarla ağaç kurmak</a:t>
            </a:r>
            <a:r>
              <a:rPr lang="en-US" sz="2150" dirty="0">
                <a:solidFill>
                  <a:srgbClr val="212121"/>
                </a:solidFill>
                <a:latin typeface="Calibri" pitchFamily="34" charset="0"/>
                <a:ea typeface="Calibri" pitchFamily="34" charset="-122"/>
                <a:cs typeface="Calibri" pitchFamily="34" charset="-120"/>
              </a:rPr>
              <a:t> (p ≳ 0.6)</a:t>
            </a:r>
            <a:endParaRPr lang="en-US" sz="2150" dirty="0"/>
          </a:p>
          <a:p>
            <a:pPr lvl="1" marL="406400" indent="-203200">
              <a:spcAft>
                <a:spcPts val="300"/>
              </a:spcAft>
              <a:buSzPct val="100000"/>
              <a:buChar char="–"/>
            </a:pPr>
            <a:r>
              <a:rPr lang="en-US" sz="1950" dirty="0">
                <a:solidFill>
                  <a:srgbClr val="37474F"/>
                </a:solidFill>
                <a:latin typeface="Calibri" pitchFamily="34" charset="0"/>
                <a:ea typeface="Calibri" pitchFamily="34" charset="-122"/>
                <a:cs typeface="Calibri" pitchFamily="34" charset="-120"/>
              </a:rPr>
              <a:t>JC düzeltmesi bu bölgede çok gürültülü; daha yavaş evrilen bir gen ya da protein dizisi seçin</a:t>
            </a:r>
            <a:endParaRPr lang="en-US" sz="2150" dirty="0"/>
          </a:p>
          <a:p>
            <a:pPr marL="228600" indent="-228600">
              <a:spcAft>
                <a:spcPts val="700"/>
              </a:spcAft>
              <a:buSzPct val="100000"/>
              <a:buChar char="•"/>
            </a:pPr>
            <a:r>
              <a:rPr lang="en-US" sz="2150" b="1" dirty="0">
                <a:solidFill>
                  <a:srgbClr val="212121"/>
                </a:solidFill>
                <a:latin typeface="Calibri" pitchFamily="34" charset="0"/>
                <a:ea typeface="Calibri" pitchFamily="34" charset="-122"/>
                <a:cs typeface="Calibri" pitchFamily="34" charset="-120"/>
              </a:rPr>
              <a:t>UPGMA'yı hız sabitliği olmayan veride kullanmak</a:t>
            </a:r>
            <a:endParaRPr lang="en-US" sz="2150" dirty="0"/>
          </a:p>
          <a:p>
            <a:pPr lvl="1" marL="406400" indent="-203200">
              <a:spcAft>
                <a:spcPts val="300"/>
              </a:spcAft>
              <a:buSzPct val="100000"/>
              <a:buChar char="–"/>
            </a:pPr>
            <a:r>
              <a:rPr lang="en-US" sz="1950" dirty="0">
                <a:solidFill>
                  <a:srgbClr val="37474F"/>
                </a:solidFill>
                <a:latin typeface="Calibri" pitchFamily="34" charset="0"/>
                <a:ea typeface="Calibri" pitchFamily="34" charset="-122"/>
                <a:cs typeface="Calibri" pitchFamily="34" charset="-120"/>
              </a:rPr>
              <a:t>Farklı hızlı soylar yanlış gruplanır; NJ veya ML tercih edin</a:t>
            </a:r>
            <a:endParaRPr lang="en-US" sz="2150" dirty="0"/>
          </a:p>
          <a:p>
            <a:pPr marL="228600" indent="-228600">
              <a:spcAft>
                <a:spcPts val="700"/>
              </a:spcAft>
              <a:buSzPct val="100000"/>
              <a:buChar char="•"/>
            </a:pPr>
            <a:r>
              <a:rPr lang="en-US" sz="2150" b="1" dirty="0">
                <a:solidFill>
                  <a:srgbClr val="212121"/>
                </a:solidFill>
                <a:latin typeface="Calibri" pitchFamily="34" charset="0"/>
                <a:ea typeface="Calibri" pitchFamily="34" charset="-122"/>
                <a:cs typeface="Calibri" pitchFamily="34" charset="-120"/>
              </a:rPr>
              <a:t>NJ'de en küçük d'yi birleştirmek</a:t>
            </a:r>
            <a:r>
              <a:rPr lang="en-US" sz="2150" dirty="0">
                <a:solidFill>
                  <a:srgbClr val="212121"/>
                </a:solidFill>
                <a:latin typeface="Calibri" pitchFamily="34" charset="0"/>
                <a:ea typeface="Calibri" pitchFamily="34" charset="-122"/>
                <a:cs typeface="Calibri" pitchFamily="34" charset="-120"/>
              </a:rPr>
              <a:t> (Q yerine) → aslında UPGMA benzeri bir kümeleme yapılır</a:t>
            </a:r>
            <a:endParaRPr lang="en-US" sz="2150" dirty="0"/>
          </a:p>
          <a:p>
            <a:pPr marL="228600" indent="-228600">
              <a:spcAft>
                <a:spcPts val="700"/>
              </a:spcAft>
              <a:buSzPct val="100000"/>
              <a:buChar char="•"/>
            </a:pPr>
            <a:r>
              <a:rPr lang="en-US" sz="2150" b="1" dirty="0">
                <a:solidFill>
                  <a:srgbClr val="212121"/>
                </a:solidFill>
                <a:latin typeface="Calibri" pitchFamily="34" charset="0"/>
                <a:ea typeface="Calibri" pitchFamily="34" charset="-122"/>
                <a:cs typeface="Calibri" pitchFamily="34" charset="-120"/>
              </a:rPr>
              <a:t>NJ çizimindeki kökü biyolojik kök sanmak</a:t>
            </a:r>
            <a:r>
              <a:rPr lang="en-US" sz="2150" dirty="0">
                <a:solidFill>
                  <a:srgbClr val="212121"/>
                </a:solidFill>
                <a:latin typeface="Calibri" pitchFamily="34" charset="0"/>
                <a:ea typeface="Calibri" pitchFamily="34" charset="-122"/>
                <a:cs typeface="Calibri" pitchFamily="34" charset="-120"/>
              </a:rPr>
              <a:t> → dış grup (outgroup) ya da orta nokta ile köklendirin</a:t>
            </a:r>
            <a:endParaRPr lang="en-US" sz="2150" dirty="0"/>
          </a:p>
          <a:p>
            <a:pPr marL="228600" indent="-228600">
              <a:spcAft>
                <a:spcPts val="700"/>
              </a:spcAft>
              <a:buSzPct val="100000"/>
              <a:buChar char="•"/>
            </a:pPr>
            <a:r>
              <a:rPr lang="en-US" sz="2150" b="1" dirty="0">
                <a:solidFill>
                  <a:srgbClr val="212121"/>
                </a:solidFill>
                <a:latin typeface="Calibri" pitchFamily="34" charset="0"/>
                <a:ea typeface="Calibri" pitchFamily="34" charset="-122"/>
                <a:cs typeface="Calibri" pitchFamily="34" charset="-120"/>
              </a:rPr>
              <a:t>Bootstrap desteğini olasılık gibi okumak</a:t>
            </a:r>
            <a:r>
              <a:rPr lang="en-US" sz="2150" dirty="0">
                <a:solidFill>
                  <a:srgbClr val="212121"/>
                </a:solidFill>
                <a:latin typeface="Calibri" pitchFamily="34" charset="0"/>
                <a:ea typeface="Calibri" pitchFamily="34" charset="-122"/>
                <a:cs typeface="Calibri" pitchFamily="34" charset="-120"/>
              </a:rPr>
              <a:t>: %95 destek, dalın %95 olasılıkla doğru olduğu anlamına gelmez</a:t>
            </a:r>
            <a:endParaRPr lang="en-US" sz="2150" dirty="0"/>
          </a:p>
        </p:txBody>
      </p:sp>
      <p:sp>
        <p:nvSpPr>
          <p:cNvPr id="4" name="Text 2"/>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5" name="Text 3"/>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320040"/>
            <a:ext cx="11094415" cy="685800"/>
          </a:xfrm>
          <a:prstGeom prst="rect">
            <a:avLst/>
          </a:prstGeom>
          <a:noFill/>
          <a:ln/>
        </p:spPr>
        <p:txBody>
          <a:bodyPr wrap="square" lIns="0" tIns="0" rIns="0" bIns="0" rtlCol="0" anchor="ctr"/>
          <a:lstStyle/>
          <a:p>
            <a:pPr indent="0" marL="0">
              <a:buNone/>
            </a:pPr>
            <a:r>
              <a:rPr lang="en-US" sz="3000" b="1" dirty="0">
                <a:solidFill>
                  <a:srgbClr val="263238"/>
                </a:solidFill>
                <a:latin typeface="Calibri" pitchFamily="34" charset="0"/>
                <a:ea typeface="Calibri" pitchFamily="34" charset="-122"/>
                <a:cs typeface="Calibri" pitchFamily="34" charset="-120"/>
              </a:rPr>
              <a:t>Laboratuvar alıştırmaları</a:t>
            </a:r>
            <a:endParaRPr lang="en-US" sz="3000" dirty="0"/>
          </a:p>
        </p:txBody>
      </p:sp>
      <p:sp>
        <p:nvSpPr>
          <p:cNvPr id="3" name="Text 1"/>
          <p:cNvSpPr txBox="1"/>
          <p:nvPr/>
        </p:nvSpPr>
        <p:spPr>
          <a:xfrm>
            <a:off x="548640" y="987552"/>
            <a:ext cx="11094415" cy="365760"/>
          </a:xfrm>
          <a:prstGeom prst="rect">
            <a:avLst/>
          </a:prstGeom>
          <a:noFill/>
          <a:ln/>
        </p:spPr>
        <p:txBody>
          <a:bodyPr wrap="square" lIns="0" tIns="0" rIns="0" bIns="0" rtlCol="0" anchor="t"/>
          <a:lstStyle/>
          <a:p>
            <a:pPr indent="0" marL="0">
              <a:buNone/>
            </a:pPr>
            <a:r>
              <a:rPr lang="en-US" sz="1500" i="1" dirty="0">
                <a:solidFill>
                  <a:srgbClr val="546E7A"/>
                </a:solidFill>
                <a:latin typeface="Calibri" pitchFamily="34" charset="0"/>
                <a:ea typeface="Calibri" pitchFamily="34" charset="-122"/>
                <a:cs typeface="Calibri" pitchFamily="34" charset="-120"/>
              </a:rPr>
              <a:t>Notebook: hafta09_coklu_hizalama_filogenetik.ipynb  —  çözümler notebook'un sonunda</a:t>
            </a:r>
            <a:endParaRPr lang="en-US" sz="1500" dirty="0"/>
          </a:p>
        </p:txBody>
      </p:sp>
      <p:sp>
        <p:nvSpPr>
          <p:cNvPr id="4" name="Text 2"/>
          <p:cNvSpPr txBox="1"/>
          <p:nvPr/>
        </p:nvSpPr>
        <p:spPr>
          <a:xfrm>
            <a:off x="548640" y="1463040"/>
            <a:ext cx="11094415" cy="4754880"/>
          </a:xfrm>
          <a:prstGeom prst="rect">
            <a:avLst/>
          </a:prstGeom>
          <a:noFill/>
          <a:ln/>
        </p:spPr>
        <p:txBody>
          <a:bodyPr wrap="square" lIns="25400" tIns="25400" rIns="50800" bIns="25400" rtlCol="0" anchor="t"/>
          <a:lstStyle/>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a:t>
            </a:r>
            <a:r>
              <a:rPr lang="en-US" sz="1800" dirty="0">
                <a:solidFill>
                  <a:srgbClr val="455A64"/>
                </a:solidFill>
                <a:latin typeface="Courier New" pitchFamily="34" charset="0"/>
                <a:ea typeface="Courier New" pitchFamily="34" charset="-122"/>
                <a:cs typeface="Courier New" pitchFamily="34" charset="-120"/>
              </a:rPr>
              <a:t>ACGT-</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ACGTT</a:t>
            </a:r>
            <a:r>
              <a:rPr lang="en-US" sz="1800" dirty="0">
                <a:solidFill>
                  <a:srgbClr val="212121"/>
                </a:solidFill>
                <a:latin typeface="Calibri" pitchFamily="34" charset="0"/>
                <a:ea typeface="Calibri" pitchFamily="34" charset="-122"/>
                <a:cs typeface="Calibri" pitchFamily="34" charset="-120"/>
              </a:rPr>
              <a:t>, </a:t>
            </a:r>
            <a:r>
              <a:rPr lang="en-US" sz="1800" dirty="0">
                <a:solidFill>
                  <a:srgbClr val="455A64"/>
                </a:solidFill>
                <a:latin typeface="Courier New" pitchFamily="34" charset="0"/>
                <a:ea typeface="Courier New" pitchFamily="34" charset="-122"/>
                <a:cs typeface="Courier New" pitchFamily="34" charset="-120"/>
              </a:rPr>
              <a:t>ACCTT</a:t>
            </a:r>
            <a:r>
              <a:rPr lang="en-US" sz="1800" dirty="0">
                <a:solidFill>
                  <a:srgbClr val="212121"/>
                </a:solidFill>
                <a:latin typeface="Calibri" pitchFamily="34" charset="0"/>
                <a:ea typeface="Calibri" pitchFamily="34" charset="-122"/>
                <a:cs typeface="Calibri" pitchFamily="34" charset="-120"/>
              </a:rPr>
              <a:t> dizilerinin SP skorunu sütun sütun hesaplayın (+1/−1/−2/0). (Toplam </a:t>
            </a:r>
            <a:r>
              <a:rPr lang="en-US" sz="1800" b="1" dirty="0">
                <a:solidFill>
                  <a:srgbClr val="212121"/>
                </a:solidFill>
                <a:latin typeface="Calibri" pitchFamily="34" charset="0"/>
                <a:ea typeface="Calibri" pitchFamily="34" charset="-122"/>
                <a:cs typeface="Calibri" pitchFamily="34" charset="-120"/>
              </a:rPr>
              <a:t>5</a:t>
            </a:r>
            <a:r>
              <a:rPr lang="en-US" sz="1800" dirty="0">
                <a:solidFill>
                  <a:srgbClr val="212121"/>
                </a:solidFill>
                <a:latin typeface="Calibri" pitchFamily="34" charset="0"/>
                <a:ea typeface="Calibri" pitchFamily="34" charset="-122"/>
                <a:cs typeface="Calibri" pitchFamily="34" charset="-120"/>
              </a:rPr>
              <a:t>)</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1000 sitede 300 farklılık için p ve JC uzaklığını bulun (</a:t>
            </a:r>
            <a:r>
              <a:rPr lang="en-US" sz="1800" b="1" dirty="0">
                <a:solidFill>
                  <a:srgbClr val="212121"/>
                </a:solidFill>
                <a:latin typeface="Calibri" pitchFamily="34" charset="0"/>
                <a:ea typeface="Calibri" pitchFamily="34" charset="-122"/>
                <a:cs typeface="Calibri" pitchFamily="34" charset="-120"/>
              </a:rPr>
              <a:t>0.383</a:t>
            </a:r>
            <a:r>
              <a:rPr lang="en-US" sz="1800" dirty="0">
                <a:solidFill>
                  <a:srgbClr val="212121"/>
                </a:solidFill>
                <a:latin typeface="Calibri" pitchFamily="34" charset="0"/>
                <a:ea typeface="Calibri" pitchFamily="34" charset="-122"/>
                <a:cs typeface="Calibri" pitchFamily="34" charset="-120"/>
              </a:rPr>
              <a:t>). p = 0.74 olsaydı? (3.24 — güvenilmez)</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d(A,B) = 2, d(A,C) = d(B,C) = 6, d(A,D) = d(B,D) = 10, d(C,D) = 7 matrisini elle UPGMA ile çözün (</a:t>
            </a:r>
            <a:r>
              <a:rPr lang="en-US" sz="1800" dirty="0">
                <a:solidFill>
                  <a:srgbClr val="455A64"/>
                </a:solidFill>
                <a:latin typeface="Courier New" pitchFamily="34" charset="0"/>
                <a:ea typeface="Courier New" pitchFamily="34" charset="-122"/>
                <a:cs typeface="Courier New" pitchFamily="34" charset="-120"/>
              </a:rPr>
              <a:t>(D:4.5,(C:3,(A:1,B:1):2):1.5);</a:t>
            </a:r>
            <a:r>
              <a:rPr lang="en-US" sz="1800" dirty="0">
                <a:solidFill>
                  <a:srgbClr val="212121"/>
                </a:solidFill>
                <a:latin typeface="Calibri" pitchFamily="34" charset="0"/>
                <a:ea typeface="Calibri" pitchFamily="34" charset="-122"/>
                <a:cs typeface="Calibri" pitchFamily="34" charset="-120"/>
              </a:rPr>
              <a:t>); Biopython'un WPGMA sonucuyla karşılaştırın.</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5 yapraklı NJ örneğinde ikinci adımda C–u yerine D–E'yi seçerek devam edin. Aynı köksüz ağaca ulaştığınızı gösterin.</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Yalnızca ilk 100 sütunla NJ ağacı ve bootstrap desteklerini yeniden hesaplayın. RF ve destekler nasıl değişti? Neden?</a:t>
            </a:r>
            <a:endParaRPr lang="en-US" sz="1800" dirty="0"/>
          </a:p>
          <a:p>
            <a:pPr marL="342900" indent="-342900">
              <a:spcAft>
                <a:spcPts val="800"/>
              </a:spcAft>
              <a:buSzPct val="100000"/>
              <a:buFont typeface="+mj-lt"/>
              <a:buAutoNum type="arabicPeriod" startAt="1"/>
            </a:pPr>
            <a:r>
              <a:rPr lang="en-US" sz="1800" dirty="0">
                <a:solidFill>
                  <a:srgbClr val="212121"/>
                </a:solidFill>
                <a:latin typeface="Calibri" pitchFamily="34" charset="0"/>
                <a:ea typeface="Calibri" pitchFamily="34" charset="-122"/>
                <a:cs typeface="Calibri" pitchFamily="34" charset="-120"/>
              </a:rPr>
              <a:t>p-uzaklığı ve JC uzaklığıyla kurulan NJ ağaçlarının toplam dal uzunluklarını gerçek ağaçla karşılaştırın (p: 1.03, JC: 1.37, gerçek: 1.32).</a:t>
            </a:r>
            <a:endParaRPr lang="en-US" sz="1800" dirty="0"/>
          </a:p>
        </p:txBody>
      </p:sp>
      <p:sp>
        <p:nvSpPr>
          <p:cNvPr id="5" name="Text 3"/>
          <p:cNvSpPr txBox="1"/>
          <p:nvPr/>
        </p:nvSpPr>
        <p:spPr>
          <a:xfrm>
            <a:off x="548640" y="6473952"/>
            <a:ext cx="8229600" cy="274320"/>
          </a:xfrm>
          <a:prstGeom prst="rect">
            <a:avLst/>
          </a:prstGeom>
          <a:noFill/>
          <a:ln/>
        </p:spPr>
        <p:txBody>
          <a:bodyPr wrap="square" lIns="0" tIns="0" rIns="0" bIns="0" rtlCol="0" anchor="ctr"/>
          <a:lstStyle/>
          <a:p>
            <a:pPr indent="0" marL="0">
              <a:buNone/>
            </a:pPr>
            <a:r>
              <a:rPr lang="en-US" sz="900" dirty="0">
                <a:solidFill>
                  <a:srgbClr val="90A4AE"/>
                </a:solidFill>
                <a:latin typeface="Calibri" pitchFamily="34" charset="0"/>
                <a:ea typeface="Calibri" pitchFamily="34" charset="-122"/>
                <a:cs typeface="Calibri" pitchFamily="34" charset="-120"/>
              </a:rPr>
              <a:t>Biyoenformatiğe Giriş  ·  Hafta 9: MSA ve filogenetik ağaçlar</a:t>
            </a:r>
            <a:endParaRPr lang="en-US" sz="900" dirty="0"/>
          </a:p>
        </p:txBody>
      </p:sp>
      <p:sp>
        <p:nvSpPr>
          <p:cNvPr id="6" name="Text 4"/>
          <p:cNvSpPr txBox="1"/>
          <p:nvPr/>
        </p:nvSpPr>
        <p:spPr>
          <a:xfrm>
            <a:off x="10728655" y="6473952"/>
            <a:ext cx="914400" cy="274320"/>
          </a:xfrm>
          <a:prstGeom prst="rect">
            <a:avLst/>
          </a:prstGeom>
          <a:noFill/>
          <a:ln/>
        </p:spPr>
        <p:txBody>
          <a:bodyPr wrap="square" lIns="0" tIns="0" rIns="0" bIns="0" rtlCol="0" anchor="ctr"/>
          <a:lstStyle/>
          <a:p>
            <a:pPr algn="r" indent="0" marL="0">
              <a:buNone/>
            </a:pPr>
            <a:r>
              <a:rPr lang="en-US" sz="900" dirty="0">
                <a:solidFill>
                  <a:srgbClr val="90A4AE"/>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63238"/>
        </a:solidFill>
      </p:bgPr>
    </p:bg>
    <p:spTree>
      <p:nvGrpSpPr>
        <p:cNvPr id="1" name=""/>
        <p:cNvGrpSpPr/>
        <p:nvPr/>
      </p:nvGrpSpPr>
      <p:grpSpPr>
        <a:xfrm>
          <a:off x="0" y="0"/>
          <a:ext cx="0" cy="0"/>
          <a:chOff x="0" y="0"/>
          <a:chExt cx="0" cy="0"/>
        </a:xfrm>
      </p:grpSpPr>
      <p:sp>
        <p:nvSpPr>
          <p:cNvPr id="2" name="Text 0"/>
          <p:cNvSpPr txBox="1"/>
          <p:nvPr/>
        </p:nvSpPr>
        <p:spPr>
          <a:xfrm>
            <a:off x="548640" y="411480"/>
            <a:ext cx="11094415" cy="731520"/>
          </a:xfrm>
          <a:prstGeom prst="rect">
            <a:avLst/>
          </a:prstGeom>
          <a:noFill/>
          <a:ln/>
        </p:spPr>
        <p:txBody>
          <a:bodyPr wrap="square" lIns="0" tIns="0" rIns="0" bIns="0" rtlCol="0" anchor="ctr"/>
          <a:lstStyle/>
          <a:p>
            <a:pPr indent="0" marL="0">
              <a:buNone/>
            </a:pPr>
            <a:r>
              <a:rPr lang="en-US" sz="3000" b="1" dirty="0">
                <a:solidFill>
                  <a:srgbClr val="FFFFFF"/>
                </a:solidFill>
              </a:rPr>
              <a:t>Özet ve sonraki hafta</a:t>
            </a:r>
            <a:endParaRPr lang="en-US" sz="3000" dirty="0"/>
          </a:p>
        </p:txBody>
      </p:sp>
      <p:sp>
        <p:nvSpPr>
          <p:cNvPr id="3" name="Text 1"/>
          <p:cNvSpPr txBox="1"/>
          <p:nvPr/>
        </p:nvSpPr>
        <p:spPr>
          <a:xfrm>
            <a:off x="548640" y="1325880"/>
            <a:ext cx="11094415" cy="402336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Kesin MSA </a:t>
            </a:r>
            <a:r>
              <a:rPr lang="en-US" sz="2000" b="1" dirty="0">
                <a:solidFill>
                  <a:srgbClr val="ECEFF1"/>
                </a:solidFill>
                <a:latin typeface="Calibri" pitchFamily="34" charset="0"/>
                <a:ea typeface="Calibri" pitchFamily="34" charset="-122"/>
                <a:cs typeface="Calibri" pitchFamily="34" charset="-120"/>
              </a:rPr>
              <a:t>O(Lᴺ)</a:t>
            </a:r>
            <a:r>
              <a:rPr lang="en-US" sz="2000" dirty="0">
                <a:solidFill>
                  <a:srgbClr val="ECEFF1"/>
                </a:solidFill>
                <a:latin typeface="Calibri" pitchFamily="34" charset="0"/>
                <a:ea typeface="Calibri" pitchFamily="34" charset="-122"/>
                <a:cs typeface="Calibri" pitchFamily="34" charset="-120"/>
              </a:rPr>
              <a:t> ve NP-zor → ilerlemeli hizalama: ikili uzaklık → kılavuz ağaç → profil birleştirme</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SP skoru hizalamayı, </a:t>
            </a:r>
            <a:r>
              <a:rPr lang="en-US" sz="2000" b="1" dirty="0">
                <a:solidFill>
                  <a:srgbClr val="ECEFF1"/>
                </a:solidFill>
                <a:latin typeface="Calibri" pitchFamily="34" charset="0"/>
                <a:ea typeface="Calibri" pitchFamily="34" charset="-122"/>
                <a:cs typeface="Calibri" pitchFamily="34" charset="-120"/>
              </a:rPr>
              <a:t>Shannon entropisi</a:t>
            </a:r>
            <a:r>
              <a:rPr lang="en-US" sz="2000" dirty="0">
                <a:solidFill>
                  <a:srgbClr val="ECEFF1"/>
                </a:solidFill>
                <a:latin typeface="Calibri" pitchFamily="34" charset="0"/>
                <a:ea typeface="Calibri" pitchFamily="34" charset="-122"/>
                <a:cs typeface="Calibri" pitchFamily="34" charset="-120"/>
              </a:rPr>
              <a:t> sütun korunmuşluğunu ölçer (0 = tam korunmuş)</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p-uzaklığı çoklu yer değiştirmeyi görmez; </a:t>
            </a:r>
            <a:r>
              <a:rPr lang="en-US" sz="2000" b="1" dirty="0">
                <a:solidFill>
                  <a:srgbClr val="ECEFF1"/>
                </a:solidFill>
                <a:latin typeface="Calibri" pitchFamily="34" charset="0"/>
                <a:ea typeface="Calibri" pitchFamily="34" charset="-122"/>
                <a:cs typeface="Calibri" pitchFamily="34" charset="-120"/>
              </a:rPr>
              <a:t>JC: d = −¾ ln(1 − 4p/3)</a:t>
            </a:r>
            <a:r>
              <a:rPr lang="en-US" sz="2000" dirty="0">
                <a:solidFill>
                  <a:srgbClr val="ECEFF1"/>
                </a:solidFill>
                <a:latin typeface="Calibri" pitchFamily="34" charset="0"/>
                <a:ea typeface="Calibri" pitchFamily="34" charset="-122"/>
                <a:cs typeface="Calibri" pitchFamily="34" charset="-120"/>
              </a:rPr>
              <a:t>, p → 0.75'te doygunluk</a:t>
            </a:r>
            <a:endParaRPr lang="en-US" sz="2000" dirty="0"/>
          </a:p>
          <a:p>
            <a:pPr marL="228600" indent="-228600">
              <a:spcAft>
                <a:spcPts val="800"/>
              </a:spcAft>
              <a:buSzPct val="100000"/>
              <a:buChar char="•"/>
            </a:pPr>
            <a:r>
              <a:rPr lang="en-US" sz="2000" b="1" dirty="0">
                <a:solidFill>
                  <a:srgbClr val="ECEFF1"/>
                </a:solidFill>
                <a:latin typeface="Calibri" pitchFamily="34" charset="0"/>
                <a:ea typeface="Calibri" pitchFamily="34" charset="-122"/>
                <a:cs typeface="Calibri" pitchFamily="34" charset="-120"/>
              </a:rPr>
              <a:t>UPGMA:</a:t>
            </a:r>
            <a:r>
              <a:rPr lang="en-US" sz="2000" dirty="0">
                <a:solidFill>
                  <a:srgbClr val="ECEFF1"/>
                </a:solidFill>
                <a:latin typeface="Calibri" pitchFamily="34" charset="0"/>
                <a:ea typeface="Calibri" pitchFamily="34" charset="-122"/>
                <a:cs typeface="Calibri" pitchFamily="34" charset="-120"/>
              </a:rPr>
              <a:t> boyut ağırlıklı ortalama, köklü ultrametrik ağaç (Biopython upgma() = WPGMA). </a:t>
            </a:r>
            <a:r>
              <a:rPr lang="en-US" sz="2000" b="1" dirty="0">
                <a:solidFill>
                  <a:srgbClr val="ECEFF1"/>
                </a:solidFill>
                <a:latin typeface="Calibri" pitchFamily="34" charset="0"/>
                <a:ea typeface="Calibri" pitchFamily="34" charset="-122"/>
                <a:cs typeface="Calibri" pitchFamily="34" charset="-120"/>
              </a:rPr>
              <a:t>NJ:</a:t>
            </a:r>
            <a:r>
              <a:rPr lang="en-US" sz="2000" dirty="0">
                <a:solidFill>
                  <a:srgbClr val="ECEFF1"/>
                </a:solidFill>
                <a:latin typeface="Calibri" pitchFamily="34" charset="0"/>
                <a:ea typeface="Calibri" pitchFamily="34" charset="-122"/>
                <a:cs typeface="Calibri" pitchFamily="34" charset="-120"/>
              </a:rPr>
              <a:t> Q-matrisi, köksüz, hız sabitliği gerekmez</a:t>
            </a:r>
            <a:endParaRPr lang="en-US" sz="2000" dirty="0"/>
          </a:p>
          <a:p>
            <a:pPr marL="228600" indent="-228600">
              <a:spcAft>
                <a:spcPts val="800"/>
              </a:spcAft>
              <a:buSzPct val="100000"/>
              <a:buChar char="•"/>
            </a:pPr>
            <a:r>
              <a:rPr lang="en-US" sz="2000" dirty="0">
                <a:solidFill>
                  <a:srgbClr val="ECEFF1"/>
                </a:solidFill>
                <a:latin typeface="Calibri" pitchFamily="34" charset="0"/>
                <a:ea typeface="Calibri" pitchFamily="34" charset="-122"/>
                <a:cs typeface="Calibri" pitchFamily="34" charset="-120"/>
              </a:rPr>
              <a:t>Değerlendirme: </a:t>
            </a:r>
            <a:r>
              <a:rPr lang="en-US" sz="2000" b="1" dirty="0">
                <a:solidFill>
                  <a:srgbClr val="ECEFF1"/>
                </a:solidFill>
                <a:latin typeface="Calibri" pitchFamily="34" charset="0"/>
                <a:ea typeface="Calibri" pitchFamily="34" charset="-122"/>
                <a:cs typeface="Calibri" pitchFamily="34" charset="-120"/>
              </a:rPr>
              <a:t>RF uzaklığı</a:t>
            </a:r>
            <a:r>
              <a:rPr lang="en-US" sz="2000" dirty="0">
                <a:solidFill>
                  <a:srgbClr val="ECEFF1"/>
                </a:solidFill>
                <a:latin typeface="Calibri" pitchFamily="34" charset="0"/>
                <a:ea typeface="Calibri" pitchFamily="34" charset="-122"/>
                <a:cs typeface="Calibri" pitchFamily="34" charset="-120"/>
              </a:rPr>
              <a:t> (topoloji karşılaştırma), </a:t>
            </a:r>
            <a:r>
              <a:rPr lang="en-US" sz="2000" b="1" dirty="0">
                <a:solidFill>
                  <a:srgbClr val="ECEFF1"/>
                </a:solidFill>
                <a:latin typeface="Calibri" pitchFamily="34" charset="0"/>
                <a:ea typeface="Calibri" pitchFamily="34" charset="-122"/>
                <a:cs typeface="Calibri" pitchFamily="34" charset="-120"/>
              </a:rPr>
              <a:t>bootstrap</a:t>
            </a:r>
            <a:r>
              <a:rPr lang="en-US" sz="2000" dirty="0">
                <a:solidFill>
                  <a:srgbClr val="ECEFF1"/>
                </a:solidFill>
                <a:latin typeface="Calibri" pitchFamily="34" charset="0"/>
                <a:ea typeface="Calibri" pitchFamily="34" charset="-122"/>
                <a:cs typeface="Calibri" pitchFamily="34" charset="-120"/>
              </a:rPr>
              <a:t> (dal desteği, ≥ %70)</a:t>
            </a:r>
            <a:endParaRPr lang="en-US" sz="2000" dirty="0"/>
          </a:p>
        </p:txBody>
      </p:sp>
      <p:sp>
        <p:nvSpPr>
          <p:cNvPr id="4" name="Shape 2"/>
          <p:cNvSpPr/>
          <p:nvPr/>
        </p:nvSpPr>
        <p:spPr>
          <a:xfrm>
            <a:off x="548640" y="5532120"/>
            <a:ext cx="11094415" cy="777240"/>
          </a:xfrm>
          <a:prstGeom prst="roundRect">
            <a:avLst>
              <a:gd name="adj" fmla="val 9412"/>
            </a:avLst>
          </a:prstGeom>
          <a:solidFill>
            <a:srgbClr val="37474F"/>
          </a:solidFill>
          <a:ln/>
        </p:spPr>
      </p:sp>
      <p:sp>
        <p:nvSpPr>
          <p:cNvPr id="5" name="Text 3"/>
          <p:cNvSpPr txBox="1"/>
          <p:nvPr/>
        </p:nvSpPr>
        <p:spPr>
          <a:xfrm>
            <a:off x="731520" y="5532120"/>
            <a:ext cx="10728655" cy="777240"/>
          </a:xfrm>
          <a:prstGeom prst="rect">
            <a:avLst/>
          </a:prstGeom>
          <a:noFill/>
          <a:ln/>
        </p:spPr>
        <p:txBody>
          <a:bodyPr wrap="square" lIns="0" tIns="0" rIns="0" bIns="0" rtlCol="0" anchor="ctr"/>
          <a:lstStyle/>
          <a:p>
            <a:pPr indent="0" marL="0">
              <a:buNone/>
            </a:pPr>
            <a:r>
              <a:rPr lang="en-US" sz="1600" b="1" dirty="0">
                <a:solidFill>
                  <a:srgbClr val="FFCDD2"/>
                </a:solidFill>
              </a:rPr>
              <a:t>Sonraki hafta  </a:t>
            </a:r>
            <a:r>
              <a:rPr lang="en-US" sz="1600" dirty="0">
                <a:solidFill>
                  <a:srgbClr val="FFFFFF"/>
                </a:solidFill>
              </a:rPr>
              <a:t>Protein yapısı: yapı düzeyleri, PDB formatı, Bio.PDB (SMCRA), uzaklık/açı/dihedral, Ramachandran grafiği, RMSD ve Kabsch hizalama</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Hafta 9: Çoklu Dizi Hizalama ve Filogenetik Ağaçlar</dc:title>
  <dc:subject>PptxGenJS Presentation</dc:subject>
  <dc:creator>Biyoenformatiğe Giriş</dc:creator>
  <cp:lastModifiedBy>Biyoenformatiğe Giriş</cp:lastModifiedBy>
  <cp:revision>1</cp:revision>
  <dcterms:created xsi:type="dcterms:W3CDTF">2026-09-23T18:55:41Z</dcterms:created>
  <dcterms:modified xsi:type="dcterms:W3CDTF">2026-09-23T18:55:41Z</dcterms:modified>
</cp:coreProperties>
</file>