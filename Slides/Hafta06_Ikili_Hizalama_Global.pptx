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Karşılaştırmalı analiz bloğunun ilk haftası. Bu hafta dönemin en önemli algoritmasını, dinamik programlama ile global hizalamayı işliyoruz.
Birinci saat kavram ve elle matris doldurma, ikinci saat Python uygulaması, üçüncü saat Biopython, parametre etkisi ve karmaşıklık.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Öğrenciler algoritma dersinden dinamik programlamayı (en uzun ortak alt dizi, düzenleme uzaklığı) biliyor olmalı. Derse 'düzenleme uzaklığını kim hatırlıyor?' sorusuyla başlayın; NW, puanları genelleştirilmiş bir düzenleme uzaklığıdır.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Birinci saat. Önce hizalamanın neyi modellediğini ve neden kaba kuvvetle çözülemeyeceğini göstereceğiz; puanlama şemasını bugünkü tüm örneklerde +1 / −1 / −2 olarak sabit tutacağız.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Homoloji yüzdesi hatası makalelerde bile görülür; bu slaytta net durun. İndel'in yönünü (insersiyon mu delesyon mu) yalnızca iki diziden çıkaramayız; bu yüzden ikisine birden 'indel' diyoruz. Dış grup (üçüncü bir dizi) olmadan yön belirlenemez: 9. haftadaki filogenetiğe köprü.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 satır için somut bir örnek verin: insan ve fare hemoglobini (global), bir kinaz domeni (yerel), 150 bp'lik okumanın 5 kb'lık gende yeri (yarı-global). Yarı-global örneğini bu hafta Biopython ile yapacağız.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Sayılar Python'da math.comb ile hesaplandı. Delannoy sayısı tüm sağ/aşağı/çapraz yolları sayar; C(2n,n) yaklaşımı ise ardışık boşluk çiftlerini tek sayan sınıflamaya karşılık gelir. Ayrıntıya girmeyin; mesaj: üstel ile polinom arasındaki uçurum.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Neden boşluk uyumsuzluktan daha ağır cezalı? Nokta mutasyonları indellerden çok daha sık. Parametreler keyfî değil; log-odds yorumunu 7. haftada göreceğiz. Bugünkü tüm örnekler +1/−1/−2.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Öğrencilere önce kendilerinin iki aday yazmasını isteyin; genellikle 1 veya 3 skorlu adaylar bulurlar. Skor = e·(eşleşme) + u·(uyumsuzluk) + g·(boşluk) formülünü tahtaya yazın; her satır bu formülle kontrol edilebilir.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bölüm dersin çekirdeği; tahtada 7 × 6'lık matrisi öğrencilerle birlikte dolduracağız. Öğrencilere kâğıt ve kalem hazırlatın, her adımı önce kendileri denesin.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Tahtada küçük bir 2×2 kare çizip üç oku gösterin. Özyinelemeyi doğrudan (memo'suz) yazarsak aynı alt problemler tekrar tekrar çözülür: üstel. Tabloyu soldan sağa, yukarıdan aşağıya doldurmak (bottom-up) her alt problemi bir kez çözer.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İlk satırın neden 0, −2, −4, … olduğunu sorun: y'nin ilk j harfini x'in boş önekiyle hizalamanın tek yolu j boşluk açmak. Bu, yarı-globalde değişecek (uç boşlukları ücretsiz → ilk satır/sütun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Tahtada aynı tabloyu boş çizin ve öğrencilerle birlikte doldurun. Her hücre için üç sayıyı yüksek sesle söyleyin: çapraz, yukarı, sol. Satır satır doldurma sırası önemli: F(i,j) için sol komşu aynı satırda daha önce hesaplanmış olmalı.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Ders notundaki örnek hücre F(3,2). Eşitlik durumunda hangi adayın seçileceği bir kurala bağlıdır ve sonucu değiştirebilir; bunu bölüm 3'te göreceğiz. Öğrencilerin en sık hatası: sol ve yukarı komşuları karıştırmak ya da s(xᵢ, yⱼ) yerine s(xᵢ₋₁, yⱼ₋₁) kullanmak (dizin kayması: F'nin i. satırı x'in i. harfi, yani Python'da x[i−1]).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Öğrencilere T satırındaki en büyük değerin 1 olduğunu ve bunun çapraz uyumsuzluktan (T/G) geldiğini gösterin. G satırında F(4,3) = 1: G/G eşleşmesi, önceki hücre F(3,2) = 0 olduğu için 0 + 1. Tahtada ara durumu fotoğraflatın; sonraki slaytta tamamlanıyor.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Oklar geri izleme yönüdür: ↖ çapraz, ↑ yukarı. Notebook çıktısındaki DataFrame ile birebir aynı. Öğrencilerden son iki satırı kendilerinin doldurmasını isteyip sonra bu slaytı gösterin.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Geri izleme O(m + n) adım sürer; doldurmaya göre ihmal edilebilir. Vurgulanan kutu tek boşluk adımı. Öğrencilere sorun: ok matrisi saklamasaydık ne yapardık? Cevap: her hücrede üç adayı yeniden hesaplayıp F(i,j)'yi verenini seçmek; 7. haftadaki SW kodu bu yolu izliyor.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tablo, ok matrisi saklamadan geri izlemenin nasıl yapılacağını gösterir: her hücrede üç adayı yeniden hesaplayıp F değerine eşit olanı seçiyoruz. Öğrencilere 4. adımı özellikle sorun: çapraz aday −2, yukarı aday 0; F(3,2) = 0 olduğundan yukarı seçilir ve T harfi boşlukla eşleşir. Eşitlik olsaydı (ör. GAATTC/GATTA örneğinde (3,2) hücresi) iki yol da geçerli olurdu; bunu bölüm 3'te göreceğiz.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şekli notebook'taki dp_ciz fonksiyonu da üretiyor. Yolun geometrisini anlamak, 7. haftadaki nokta grafiğini yorumlamak için temel: nokta grafiğindeki köşegen çizgiler burada gördüğümüz eşleşme koşularıdır.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Eşitlik kuralını vurgulayın: argmax sırası [çapraz, yukarı, sol] olduğundan kodumuz eşitlikte çaprazı seçer. CATGCA örneğinde eşit hücreler var (ör. (5,1), (6,2)) ama hiçbiri optimal yolda değil; bu yüzden tek optimal hizalama çıkıyor.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Öğrencilere or yerine and yazılırsa ne olacağını sorun: ilk satıra ulaşıldığında döngü biter ve baştaki boşluklar kaybolur (ör. -CAGCA gibi hizalamalarda). Bu, sık yapılan bir hatadır.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Üçüncü saat. Elle yaptığımız hesabı Biopython ile doğrulayacak, ardından sonucun eşitliklere ve parametrelere ne kadar duyarlı olduğunu göreceğiz.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print(hizalayici) tüm parametreleri listeler (iç/sol/sağ, insersiyon/delesyon ayrı ayrı); notebook'ta görülebilir. Bu ayrıntı yarı-global hizalamada end_gap_score ile işe yarayacak.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Biopython bu örnekte len(al) = 2 veriyor. Tekrarlı bölgelerde (AA, ATAT…) çok sayıda eşdeğer hizalama olur; araçlar sabit bir kuralla birini seçer (ör. boşluğu sola kaydır). Varyant çağırmada bu 'sola hizalama' (left-normalization) standart bir adımdır.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Grafik Python ile üretildi; oklar tüm eşitlikleri gösteriyor. Optimal yol sayısını DP ile saymak: N(i,j) = Σ N(önceki) (yalnızca maksimum üreten oklar üzerinden). Bu küçük problem ileri öğrenciler için iyi bir ödev.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Notebook'taki döngü g = −0.5, −1, −2, −4 için bu sonucu doğruluyor (6, 5, 4, 4). g = −1.5'te Biopython 3 optimal hizalama buluyor: boşluksuz aday ve iki boşluklu aday türü. Sorun: biyolojik olarak hangisi daha olası? GC ↔ CG bir transpozisyon; ne iki nokta mutasyonu ne de iki indel tam olarak doğru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a.counts() özdeş/farklı/boşluk sayılarını verir; notebook bu hücrede %72.7 buluyor. BLAST 'Identities' değerini hizalama uzunluğuna göre verir (boşluklar dahil). Sınavda % özdeşlik sorulduğunda paydayı açıkça yazmalarını isteyin.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İlgisiz proteinle bile %10–20 özdeşlik çıkması önemli bir uyarı: iki rastgele protein dizisinde aynı harflerin bir sütunda denk gelme olasılığı ≈ %6, ama hizalama algoritması boşluklarla bu eşleşmeleri maksimize eder. Alıştırma 4'teki karıştırma testi: protA1–ilgisiz1 skoru −102, karıştırılmış ortalama −104.9 ± 6.5, z = 0.45 → anlamsız.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Biopython çıktısı: ----ACGTGA---- satırı. Yarı-global, genom birleştirmede örtüşen okumaları (suffix–prefix) bulmak için de kullanılır. 7. haftadaki yerel hizalamadan farkı: yerel hizalama okumanın da uçlarını kırpabilir, yarı-global okumanın tamamını hizalar.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 bir bölüm: algoritmanın gerçek genom boyutlarında neden tek başına yetmediğini sayılarla gösterip bellek sorununa zarif bir çözüm (Hirschberg) sunacağız.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Son satır: 248 × 10⁶ × 195 × 10⁶ × 8 bayt ≈ 3.9 × 10¹⁷ bayt ≈ 387 PB. Bu yüzden genom hizalayıcıları (minimap2, LASTZ) önce tohum eşleşmeleri bulur, DP'yi yalnızca küçük bantlarda çalıştırır. Bant (banded) DP: yalnızca köşegen çevresinde k genişliğinde şerit → O(kn).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Grafik bu sunum için aynı kodla yeniden ölçüldü (perf_counter); süreler makineye göre değişir, notebook'taki grafik de aynı eğilimi gösterir. L'yi 2 katına çıkarmak süreyi 4 katına çıkarır: 200 → 400'de 0.10 s → 0.45 s. Numba veya anti-köşegen boyunca NumPy vektörleştirmesi Python sürümünü hızlandırabilir; ileri alıştırma.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Şemayı soldan anlatın: tüm matrisi tutmak yerine üst yarıyı ileri, alt yarıyı ters çevrilmiş dizilerle geri doldururuz; ikisi orta satırda buluşur. Sayısal örnek bir sonraki slaytta. Bu 'ortada buluşma' fikri çift yönlü aramada (bidirectional search) da kullanılır.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Sayılar Python ile iki satırlık DP fonksiyonuyla doğrulandı. Toplam zaman: m·n + m·n/2 + m·n/4 + … ≈ 2mn. Hirschberg'in fikri (1975) başlangıçta en uzun ortak alt dizi problemi içindi; Myers &amp; Miller (1988) hizalamaya uyguladı.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Dördüncü kartı (vurgulu) özellikle anlatın: argmax kullanan kod tek hizalama döndürür ve öğrenciler bunu 'tek doğru cevap' sanar. Son kart 7–8. haftaya köprü: normalize skorlar, bit skoru, E-değeri.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Sınavda genellikle 4–6 harflik diziler sorulur; matrisin tamamını ve okları yazmalarını isteyin. F(2,2) = 0'ın A/G değil C/G uyumsuzluğundan geldiğini (çapraz 1 − 1) kontrol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İkinci alıştırma Hirschberg'in ilk adımı. Dördüncü alıştırma gelecek haftanın anlamlılık konusuna hazırlık: z = 0.45, yani ilgisiz proteinle skor rastgele karıştırılmış dizilerden ayırt edilemiyor.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Öğrencilere gelecek hafta için soru: iki uzun proteinin yalnızca ortadaki 12 amino asitlik bölgesi benzerse global hizalama bunu bulur mu? Notebook 7'de göreceğiz: bulamıyor, yerel hizalama gerekiyor.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63238"/>
        </a:solidFill>
      </p:bgPr>
    </p:bg>
    <p:spTree>
      <p:nvGrpSpPr>
        <p:cNvPr id="1" name=""/>
        <p:cNvGrpSpPr/>
        <p:nvPr/>
      </p:nvGrpSpPr>
      <p:grpSpPr>
        <a:xfrm>
          <a:off x="0" y="0"/>
          <a:ext cx="0" cy="0"/>
          <a:chOff x="0" y="0"/>
          <a:chExt cx="0" cy="0"/>
        </a:xfrm>
      </p:grpSpPr>
      <p:sp>
        <p:nvSpPr>
          <p:cNvPr id="2" name="Shape 0"/>
          <p:cNvSpPr/>
          <p:nvPr/>
        </p:nvSpPr>
        <p:spPr>
          <a:xfrm>
            <a:off x="548640" y="1188720"/>
            <a:ext cx="1143000" cy="1143000"/>
          </a:xfrm>
          <a:prstGeom prst="roundRect">
            <a:avLst>
              <a:gd name="adj" fmla="val 9600"/>
            </a:avLst>
          </a:prstGeom>
          <a:solidFill>
            <a:srgbClr val="B71C1C"/>
          </a:solidFill>
          <a:ln/>
        </p:spPr>
      </p:sp>
      <p:sp>
        <p:nvSpPr>
          <p:cNvPr id="3" name="Text 1"/>
          <p:cNvSpPr txBox="1"/>
          <p:nvPr/>
        </p:nvSpPr>
        <p:spPr>
          <a:xfrm>
            <a:off x="548640" y="1188720"/>
            <a:ext cx="1143000" cy="11430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HAFTA</a:t>
            </a:r>
            <a:endParaRPr lang="en-US" sz="1200" dirty="0"/>
          </a:p>
          <a:p>
            <a:pPr algn="ctr" indent="0" marL="0">
              <a:buNone/>
            </a:pPr>
            <a:r>
              <a:rPr lang="en-US" sz="4000" b="1" dirty="0">
                <a:solidFill>
                  <a:srgbClr val="FFFFFF"/>
                </a:solidFill>
                <a:latin typeface="Calibri" pitchFamily="34" charset="0"/>
                <a:ea typeface="Calibri" pitchFamily="34" charset="-122"/>
                <a:cs typeface="Calibri" pitchFamily="34" charset="-120"/>
              </a:rPr>
              <a:t>6</a:t>
            </a:r>
            <a:endParaRPr lang="en-US" sz="1200" dirty="0"/>
          </a:p>
        </p:txBody>
      </p:sp>
      <p:sp>
        <p:nvSpPr>
          <p:cNvPr id="4" name="Text 2"/>
          <p:cNvSpPr txBox="1"/>
          <p:nvPr/>
        </p:nvSpPr>
        <p:spPr>
          <a:xfrm>
            <a:off x="548640" y="2606040"/>
            <a:ext cx="11094415" cy="1371600"/>
          </a:xfrm>
          <a:prstGeom prst="rect">
            <a:avLst/>
          </a:prstGeom>
          <a:noFill/>
          <a:ln/>
        </p:spPr>
        <p:txBody>
          <a:bodyPr wrap="square" lIns="0" tIns="0" rIns="0" bIns="0" rtlCol="0" anchor="t"/>
          <a:lstStyle/>
          <a:p>
            <a:pPr indent="0" marL="0">
              <a:buNone/>
            </a:pPr>
            <a:r>
              <a:rPr lang="en-US" sz="3600" b="1" dirty="0">
                <a:solidFill>
                  <a:srgbClr val="FFFFFF"/>
                </a:solidFill>
                <a:latin typeface="Calibri" pitchFamily="34" charset="0"/>
                <a:ea typeface="Calibri" pitchFamily="34" charset="-122"/>
                <a:cs typeface="Calibri" pitchFamily="34" charset="-120"/>
              </a:rPr>
              <a:t>İkili Dizi Hizalama I: Dinamik Programlama ve Needleman–Wunsch</a:t>
            </a:r>
            <a:endParaRPr lang="en-US" sz="3600" dirty="0"/>
          </a:p>
        </p:txBody>
      </p:sp>
      <p:sp>
        <p:nvSpPr>
          <p:cNvPr id="5" name="Text 3"/>
          <p:cNvSpPr txBox="1"/>
          <p:nvPr/>
        </p:nvSpPr>
        <p:spPr>
          <a:xfrm>
            <a:off x="548640" y="4023360"/>
            <a:ext cx="11094415" cy="731520"/>
          </a:xfrm>
          <a:prstGeom prst="rect">
            <a:avLst/>
          </a:prstGeom>
          <a:noFill/>
          <a:ln/>
        </p:spPr>
        <p:txBody>
          <a:bodyPr wrap="square" lIns="0" tIns="0" rIns="0" bIns="0" rtlCol="0" anchor="t"/>
          <a:lstStyle/>
          <a:p>
            <a:pPr indent="0" marL="0">
              <a:buNone/>
            </a:pPr>
            <a:r>
              <a:rPr lang="en-US" sz="1800" dirty="0">
                <a:solidFill>
                  <a:srgbClr val="CFD8DC"/>
                </a:solidFill>
                <a:latin typeface="Calibri" pitchFamily="34" charset="0"/>
                <a:ea typeface="Calibri" pitchFamily="34" charset="-122"/>
                <a:cs typeface="Calibri" pitchFamily="34" charset="-120"/>
              </a:rPr>
              <a:t>Üstel sayıda olası hizalama arasından en iyisini O(mn) zamanda kesin olarak bulmak</a:t>
            </a:r>
            <a:endParaRPr lang="en-US" sz="1800" dirty="0"/>
          </a:p>
        </p:txBody>
      </p:sp>
      <p:sp>
        <p:nvSpPr>
          <p:cNvPr id="6" name="Text 4"/>
          <p:cNvSpPr txBox="1"/>
          <p:nvPr/>
        </p:nvSpPr>
        <p:spPr>
          <a:xfrm>
            <a:off x="548640" y="5760720"/>
            <a:ext cx="8229600" cy="365760"/>
          </a:xfrm>
          <a:prstGeom prst="rect">
            <a:avLst/>
          </a:prstGeom>
          <a:noFill/>
          <a:ln/>
        </p:spPr>
        <p:txBody>
          <a:bodyPr wrap="square" lIns="0" tIns="0" rIns="0" bIns="0" rtlCol="0" anchor="ctr"/>
          <a:lstStyle/>
          <a:p>
            <a:pPr indent="0" marL="0">
              <a:buNone/>
            </a:pPr>
            <a:r>
              <a:rPr lang="en-US" sz="1300" dirty="0">
                <a:solidFill>
                  <a:srgbClr val="90A4AE"/>
                </a:solidFill>
                <a:latin typeface="Calibri" pitchFamily="34" charset="0"/>
                <a:ea typeface="Calibri" pitchFamily="34" charset="-122"/>
                <a:cs typeface="Calibri" pitchFamily="34" charset="-120"/>
              </a:rPr>
              <a:t>Biyoenformatiğe Giriş  ·  Python ve Biopython ile uygulamalı ders</a:t>
            </a:r>
            <a:endParaRPr lang="en-US" sz="1300" dirty="0"/>
          </a:p>
        </p:txBody>
      </p:sp>
      <p:sp>
        <p:nvSpPr>
          <p:cNvPr id="7" name="Text 5"/>
          <p:cNvSpPr txBox="1"/>
          <p:nvPr/>
        </p:nvSpPr>
        <p:spPr>
          <a:xfrm>
            <a:off x="548640" y="6126480"/>
            <a:ext cx="10058400" cy="320040"/>
          </a:xfrm>
          <a:prstGeom prst="rect">
            <a:avLst/>
          </a:prstGeom>
          <a:noFill/>
          <a:ln/>
        </p:spPr>
        <p:txBody>
          <a:bodyPr wrap="square" lIns="0" tIns="0" rIns="0" bIns="0" rtlCol="0" anchor="ctr"/>
          <a:lstStyle/>
          <a:p>
            <a:pPr indent="0" marL="0">
              <a:buNone/>
            </a:pPr>
            <a:r>
              <a:rPr lang="en-US" sz="1100" dirty="0">
                <a:solidFill>
                  <a:srgbClr val="90A4AE"/>
                </a:solidFill>
                <a:latin typeface="Courier New" pitchFamily="34" charset="0"/>
                <a:ea typeface="Courier New" pitchFamily="34" charset="-122"/>
                <a:cs typeface="Courier New" pitchFamily="34" charset="-120"/>
              </a:rPr>
              <a:t>Colab: hafta06_ikili_hizalama_global.ipynb</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Bu haftanın hedefleri</a:t>
            </a:r>
            <a:endParaRPr lang="en-US" sz="3000" dirty="0"/>
          </a:p>
        </p:txBody>
      </p:sp>
      <p:sp>
        <p:nvSpPr>
          <p:cNvPr id="3" name="Text 1"/>
          <p:cNvSpPr txBox="1"/>
          <p:nvPr/>
        </p:nvSpPr>
        <p:spPr>
          <a:xfrm>
            <a:off x="548640" y="1234440"/>
            <a:ext cx="5486400" cy="4983480"/>
          </a:xfrm>
          <a:prstGeom prst="rect">
            <a:avLst/>
          </a:prstGeom>
          <a:noFill/>
          <a:ln/>
        </p:spPr>
        <p:txBody>
          <a:bodyPr wrap="square" lIns="25400" tIns="25400" rIns="50800" bIns="25400" rtlCol="0" anchor="t"/>
          <a:lstStyle/>
          <a:p>
            <a:pPr marL="228600" indent="-228600">
              <a:spcAft>
                <a:spcPts val="700"/>
              </a:spcAft>
              <a:buSzPct val="100000"/>
              <a:buChar char="•"/>
            </a:pPr>
            <a:r>
              <a:rPr lang="en-US" sz="1800" b="1" dirty="0">
                <a:solidFill>
                  <a:srgbClr val="212121"/>
                </a:solidFill>
                <a:latin typeface="Calibri" pitchFamily="34" charset="0"/>
                <a:ea typeface="Calibri" pitchFamily="34" charset="-122"/>
                <a:cs typeface="Calibri" pitchFamily="34" charset="-120"/>
              </a:rPr>
              <a:t>Homoloji</a:t>
            </a:r>
            <a:r>
              <a:rPr lang="en-US" sz="1800" dirty="0">
                <a:solidFill>
                  <a:srgbClr val="212121"/>
                </a:solidFill>
                <a:latin typeface="Calibri" pitchFamily="34" charset="0"/>
                <a:ea typeface="Calibri" pitchFamily="34" charset="-122"/>
                <a:cs typeface="Calibri" pitchFamily="34" charset="-120"/>
              </a:rPr>
              <a:t>, benzerlik ve özdeşlik kavramlarını ayırt etmek</a:t>
            </a:r>
            <a:endParaRPr lang="en-US" sz="1800" dirty="0"/>
          </a:p>
          <a:p>
            <a:pPr marL="228600" indent="-228600">
              <a:spcAft>
                <a:spcPts val="700"/>
              </a:spcAft>
              <a:buSzPct val="100000"/>
              <a:buChar char="•"/>
            </a:pPr>
            <a:r>
              <a:rPr lang="en-US" sz="1800" dirty="0">
                <a:solidFill>
                  <a:srgbClr val="212121"/>
                </a:solidFill>
                <a:latin typeface="Calibri" pitchFamily="34" charset="0"/>
                <a:ea typeface="Calibri" pitchFamily="34" charset="-122"/>
                <a:cs typeface="Calibri" pitchFamily="34" charset="-120"/>
              </a:rPr>
              <a:t>Puanlama şemasını (eşleşme, uyumsuzluk, boşluk) tanımlamak ve bir hizalamayı skorlamak</a:t>
            </a:r>
            <a:endParaRPr lang="en-US" sz="1800" dirty="0"/>
          </a:p>
          <a:p>
            <a:pPr marL="228600" indent="-228600">
              <a:spcAft>
                <a:spcPts val="700"/>
              </a:spcAft>
              <a:buSzPct val="100000"/>
              <a:buChar char="•"/>
            </a:pPr>
            <a:r>
              <a:rPr lang="en-US" sz="1800" dirty="0">
                <a:solidFill>
                  <a:srgbClr val="212121"/>
                </a:solidFill>
                <a:latin typeface="Calibri" pitchFamily="34" charset="0"/>
                <a:ea typeface="Calibri" pitchFamily="34" charset="-122"/>
                <a:cs typeface="Calibri" pitchFamily="34" charset="-120"/>
              </a:rPr>
              <a:t>Needleman–Wunsch matrisini </a:t>
            </a:r>
            <a:r>
              <a:rPr lang="en-US" sz="1800" b="1" dirty="0">
                <a:solidFill>
                  <a:srgbClr val="212121"/>
                </a:solidFill>
                <a:latin typeface="Calibri" pitchFamily="34" charset="0"/>
                <a:ea typeface="Calibri" pitchFamily="34" charset="-122"/>
                <a:cs typeface="Calibri" pitchFamily="34" charset="-120"/>
              </a:rPr>
              <a:t>elle doldurmak</a:t>
            </a:r>
            <a:r>
              <a:rPr lang="en-US" sz="1800" dirty="0">
                <a:solidFill>
                  <a:srgbClr val="212121"/>
                </a:solidFill>
                <a:latin typeface="Calibri" pitchFamily="34" charset="0"/>
                <a:ea typeface="Calibri" pitchFamily="34" charset="-122"/>
                <a:cs typeface="Calibri" pitchFamily="34" charset="-120"/>
              </a:rPr>
              <a:t> ve </a:t>
            </a:r>
            <a:r>
              <a:rPr lang="en-US" sz="1800" b="1" dirty="0">
                <a:solidFill>
                  <a:srgbClr val="212121"/>
                </a:solidFill>
                <a:latin typeface="Calibri" pitchFamily="34" charset="0"/>
                <a:ea typeface="Calibri" pitchFamily="34" charset="-122"/>
                <a:cs typeface="Calibri" pitchFamily="34" charset="-120"/>
              </a:rPr>
              <a:t>geri izlemek</a:t>
            </a:r>
            <a:endParaRPr lang="en-US" sz="1800" dirty="0"/>
          </a:p>
          <a:p>
            <a:pPr marL="228600" indent="-228600">
              <a:spcAft>
                <a:spcPts val="700"/>
              </a:spcAft>
              <a:buSzPct val="100000"/>
              <a:buChar char="•"/>
            </a:pPr>
            <a:r>
              <a:rPr lang="en-US" sz="1800" dirty="0">
                <a:solidFill>
                  <a:srgbClr val="212121"/>
                </a:solidFill>
                <a:latin typeface="Calibri" pitchFamily="34" charset="0"/>
                <a:ea typeface="Calibri" pitchFamily="34" charset="-122"/>
                <a:cs typeface="Calibri" pitchFamily="34" charset="-120"/>
              </a:rPr>
              <a:t>NW'yi Python'da yazmak; </a:t>
            </a:r>
            <a:r>
              <a:rPr lang="en-US" sz="1800" dirty="0">
                <a:solidFill>
                  <a:srgbClr val="455A64"/>
                </a:solidFill>
                <a:latin typeface="Courier New" pitchFamily="34" charset="0"/>
                <a:ea typeface="Courier New" pitchFamily="34" charset="-122"/>
                <a:cs typeface="Courier New" pitchFamily="34" charset="-120"/>
              </a:rPr>
              <a:t>PairwiseAligner</a:t>
            </a:r>
            <a:r>
              <a:rPr lang="en-US" sz="1800" dirty="0">
                <a:solidFill>
                  <a:srgbClr val="212121"/>
                </a:solidFill>
                <a:latin typeface="Calibri" pitchFamily="34" charset="0"/>
                <a:ea typeface="Calibri" pitchFamily="34" charset="-122"/>
                <a:cs typeface="Calibri" pitchFamily="34" charset="-120"/>
              </a:rPr>
              <a:t> ile doğrulamak</a:t>
            </a:r>
            <a:endParaRPr lang="en-US" sz="1800" dirty="0"/>
          </a:p>
          <a:p>
            <a:pPr marL="228600" indent="-228600">
              <a:spcAft>
                <a:spcPts val="700"/>
              </a:spcAft>
              <a:buSzPct val="100000"/>
              <a:buChar char="•"/>
            </a:pPr>
            <a:r>
              <a:rPr lang="en-US" sz="1800" dirty="0">
                <a:solidFill>
                  <a:srgbClr val="212121"/>
                </a:solidFill>
                <a:latin typeface="Calibri" pitchFamily="34" charset="0"/>
                <a:ea typeface="Calibri" pitchFamily="34" charset="-122"/>
                <a:cs typeface="Calibri" pitchFamily="34" charset="-120"/>
              </a:rPr>
              <a:t>Çoklu optimal hizalamaları ve </a:t>
            </a:r>
            <a:r>
              <a:rPr lang="en-US" sz="1800" b="1" dirty="0">
                <a:solidFill>
                  <a:srgbClr val="212121"/>
                </a:solidFill>
                <a:latin typeface="Calibri" pitchFamily="34" charset="0"/>
                <a:ea typeface="Calibri" pitchFamily="34" charset="-122"/>
                <a:cs typeface="Calibri" pitchFamily="34" charset="-120"/>
              </a:rPr>
              <a:t>boşluk cezası eşiğini</a:t>
            </a:r>
            <a:r>
              <a:rPr lang="en-US" sz="1800" dirty="0">
                <a:solidFill>
                  <a:srgbClr val="212121"/>
                </a:solidFill>
                <a:latin typeface="Calibri" pitchFamily="34" charset="0"/>
                <a:ea typeface="Calibri" pitchFamily="34" charset="-122"/>
                <a:cs typeface="Calibri" pitchFamily="34" charset="-120"/>
              </a:rPr>
              <a:t> yorumlamak</a:t>
            </a:r>
            <a:endParaRPr lang="en-US" sz="1800" dirty="0"/>
          </a:p>
          <a:p>
            <a:pPr marL="228600" indent="-228600">
              <a:spcAft>
                <a:spcPts val="700"/>
              </a:spcAft>
              <a:buSzPct val="100000"/>
              <a:buChar char="•"/>
            </a:pPr>
            <a:r>
              <a:rPr lang="en-US" sz="1800" dirty="0">
                <a:solidFill>
                  <a:srgbClr val="212121"/>
                </a:solidFill>
                <a:latin typeface="Calibri" pitchFamily="34" charset="0"/>
                <a:ea typeface="Calibri" pitchFamily="34" charset="-122"/>
                <a:cs typeface="Calibri" pitchFamily="34" charset="-120"/>
              </a:rPr>
              <a:t>Zaman/bellek karmaşıklığını ölçmek; Hirschberg fikrini kavramak</a:t>
            </a:r>
            <a:endParaRPr lang="en-US" sz="1800" dirty="0"/>
          </a:p>
        </p:txBody>
      </p:sp>
      <p:sp>
        <p:nvSpPr>
          <p:cNvPr id="4" name="Text 2"/>
          <p:cNvSpPr txBox="1"/>
          <p:nvPr/>
        </p:nvSpPr>
        <p:spPr>
          <a:xfrm>
            <a:off x="6400800" y="1234440"/>
            <a:ext cx="5242255" cy="365760"/>
          </a:xfrm>
          <a:prstGeom prst="rect">
            <a:avLst/>
          </a:prstGeom>
          <a:noFill/>
          <a:ln/>
        </p:spPr>
        <p:txBody>
          <a:bodyPr wrap="square" lIns="0" tIns="0" rIns="0" bIns="0" rtlCol="0" anchor="ctr"/>
          <a:lstStyle/>
          <a:p>
            <a:pPr indent="0" marL="0">
              <a:buNone/>
            </a:pPr>
            <a:r>
              <a:rPr lang="en-US" sz="1600" b="1" dirty="0">
                <a:solidFill>
                  <a:srgbClr val="263238"/>
                </a:solidFill>
              </a:rPr>
              <a:t>Ders akışı (3 saat)</a:t>
            </a:r>
            <a:endParaRPr lang="en-US" sz="1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6400800" y="1691640"/>
          <a:ext cx="5242255" cy="914400"/>
        </p:xfrm>
        <a:graphic>
          <a:graphicData uri="http://schemas.openxmlformats.org/drawingml/2006/table">
            <a:tbl>
              <a:tblPr/>
              <a:tblGrid>
                <a:gridCol w="1048451"/>
                <a:gridCol w="4193804"/>
              </a:tblGrid>
              <a:tr h="0">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Saat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İçerik</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 saat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Hizalama problemi, puanlama, DP yinelemesi; tahtada 7 × 6'lık NW matrisi</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2. saat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NW'nin Python uygulaması, geri izleme, görselleştirme (Notebook 6: bölüm 2–3)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3. saat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a:t>
                      </a:r>
                      <a:r>
                        <a:rPr lang="en-US" sz="1600" dirty="0">
                          <a:solidFill>
                            <a:srgbClr val="455A64"/>
                          </a:solidFill>
                          <a:latin typeface="Courier New" pitchFamily="34" charset="0"/>
                          <a:ea typeface="Courier New" pitchFamily="34" charset="-122"/>
                          <a:cs typeface="Courier New" pitchFamily="34" charset="-120"/>
                        </a:rPr>
                        <a:t>PairwiseAligner</a:t>
                      </a:r>
                      <a:r>
                        <a:rPr lang="en-US" sz="1600" dirty="0">
                          <a:solidFill>
                            <a:srgbClr val="212121"/>
                          </a:solidFill>
                          <a:latin typeface="Calibri" pitchFamily="34" charset="0"/>
                          <a:ea typeface="Calibri" pitchFamily="34" charset="-122"/>
                          <a:cs typeface="Calibri" pitchFamily="34" charset="-120"/>
                        </a:rPr>
                        <a:t>, boşluk cezası, % özdeşlik, karmaşıklık (Notebook 6: bölüm 4–7)</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6: Global hizalama (NW)</a:t>
            </a:r>
            <a:endParaRPr lang="en-US" sz="900" dirty="0"/>
          </a:p>
        </p:txBody>
      </p:sp>
      <p:sp>
        <p:nvSpPr>
          <p:cNvPr id="7" name="Text 4"/>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CEFF1"/>
        </a:solidFill>
      </p:bgPr>
    </p:bg>
    <p:spTree>
      <p:nvGrpSpPr>
        <p:cNvPr id="1" name=""/>
        <p:cNvGrpSpPr/>
        <p:nvPr/>
      </p:nvGrpSpPr>
      <p:grpSpPr>
        <a:xfrm>
          <a:off x="0" y="0"/>
          <a:ext cx="0" cy="0"/>
          <a:chOff x="0" y="0"/>
          <a:chExt cx="0" cy="0"/>
        </a:xfrm>
      </p:grpSpPr>
      <p:sp>
        <p:nvSpPr>
          <p:cNvPr id="2" name="Text 0"/>
          <p:cNvSpPr txBox="1"/>
          <p:nvPr/>
        </p:nvSpPr>
        <p:spPr>
          <a:xfrm>
            <a:off x="548640" y="1920240"/>
            <a:ext cx="2011680" cy="2011680"/>
          </a:xfrm>
          <a:prstGeom prst="rect">
            <a:avLst/>
          </a:prstGeom>
          <a:noFill/>
          <a:ln/>
        </p:spPr>
        <p:txBody>
          <a:bodyPr wrap="square" lIns="0" tIns="0" rIns="0" bIns="0" rtlCol="0" anchor="ctr"/>
          <a:lstStyle/>
          <a:p>
            <a:pPr indent="0" marL="0">
              <a:buNone/>
            </a:pPr>
            <a:r>
              <a:rPr lang="en-US" sz="11000" b="1" dirty="0">
                <a:solidFill>
                  <a:srgbClr val="B71C1C"/>
                </a:solidFill>
                <a:latin typeface="Calibri" pitchFamily="34" charset="0"/>
                <a:ea typeface="Calibri" pitchFamily="34" charset="-122"/>
                <a:cs typeface="Calibri" pitchFamily="34" charset="-120"/>
              </a:rPr>
              <a:t>1</a:t>
            </a:r>
            <a:endParaRPr lang="en-US" sz="11000" dirty="0"/>
          </a:p>
        </p:txBody>
      </p:sp>
      <p:sp>
        <p:nvSpPr>
          <p:cNvPr id="3" name="Text 1"/>
          <p:cNvSpPr txBox="1"/>
          <p:nvPr/>
        </p:nvSpPr>
        <p:spPr>
          <a:xfrm>
            <a:off x="2834640" y="2103120"/>
            <a:ext cx="8808415" cy="1005840"/>
          </a:xfrm>
          <a:prstGeom prst="rect">
            <a:avLst/>
          </a:prstGeom>
          <a:noFill/>
          <a:ln/>
        </p:spPr>
        <p:txBody>
          <a:bodyPr wrap="square" lIns="0" tIns="0" rIns="0" bIns="0" rtlCol="0" anchor="b"/>
          <a:lstStyle/>
          <a:p>
            <a:pPr indent="0" marL="0">
              <a:buNone/>
            </a:pPr>
            <a:r>
              <a:rPr lang="en-US" sz="3400" b="1" dirty="0">
                <a:solidFill>
                  <a:srgbClr val="263238"/>
                </a:solidFill>
                <a:latin typeface="Calibri" pitchFamily="34" charset="0"/>
                <a:ea typeface="Calibri" pitchFamily="34" charset="-122"/>
                <a:cs typeface="Calibri" pitchFamily="34" charset="-120"/>
              </a:rPr>
              <a:t>Hizalama problemi</a:t>
            </a:r>
            <a:endParaRPr lang="en-US" sz="3400" dirty="0"/>
          </a:p>
        </p:txBody>
      </p:sp>
      <p:sp>
        <p:nvSpPr>
          <p:cNvPr id="4" name="Text 2"/>
          <p:cNvSpPr txBox="1"/>
          <p:nvPr/>
        </p:nvSpPr>
        <p:spPr>
          <a:xfrm>
            <a:off x="2834640" y="3200400"/>
            <a:ext cx="8808415" cy="1097280"/>
          </a:xfrm>
          <a:prstGeom prst="rect">
            <a:avLst/>
          </a:prstGeom>
          <a:noFill/>
          <a:ln/>
        </p:spPr>
        <p:txBody>
          <a:bodyPr wrap="square" lIns="0" tIns="0" rIns="0" bIns="0" rtlCol="0" anchor="t"/>
          <a:lstStyle/>
          <a:p>
            <a:pPr indent="0" marL="0">
              <a:buNone/>
            </a:pPr>
            <a:r>
              <a:rPr lang="en-US" sz="1700" dirty="0">
                <a:solidFill>
                  <a:srgbClr val="546E7A"/>
                </a:solidFill>
                <a:latin typeface="Calibri" pitchFamily="34" charset="0"/>
                <a:ea typeface="Calibri" pitchFamily="34" charset="-122"/>
                <a:cs typeface="Calibri" pitchFamily="34" charset="-120"/>
              </a:rPr>
              <a:t>Evrimsel olayları en iyi açıklayan üst üste koyma</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Hizalama neyi modeller?</a:t>
            </a:r>
            <a:endParaRPr lang="en-US" sz="3000" dirty="0"/>
          </a:p>
        </p:txBody>
      </p:sp>
      <p:sp>
        <p:nvSpPr>
          <p:cNvPr id="3" name="Shape 1"/>
          <p:cNvSpPr/>
          <p:nvPr/>
        </p:nvSpPr>
        <p:spPr>
          <a:xfrm>
            <a:off x="548640" y="1234440"/>
            <a:ext cx="5364328" cy="5029200"/>
          </a:xfrm>
          <a:prstGeom prst="roundRect">
            <a:avLst>
              <a:gd name="adj" fmla="val 1455"/>
            </a:avLst>
          </a:prstGeom>
          <a:solidFill>
            <a:srgbClr val="F7F9FA"/>
          </a:solidFill>
          <a:ln w="12700">
            <a:solidFill>
              <a:srgbClr val="B0BEC5"/>
            </a:solidFill>
            <a:prstDash val="solid"/>
          </a:ln>
        </p:spPr>
      </p:sp>
      <p:sp>
        <p:nvSpPr>
          <p:cNvPr id="4" name="Text 2"/>
          <p:cNvSpPr txBox="1"/>
          <p:nvPr/>
        </p:nvSpPr>
        <p:spPr>
          <a:xfrm>
            <a:off x="731520" y="1344168"/>
            <a:ext cx="4998568" cy="411480"/>
          </a:xfrm>
          <a:prstGeom prst="rect">
            <a:avLst/>
          </a:prstGeom>
          <a:noFill/>
          <a:ln/>
        </p:spPr>
        <p:txBody>
          <a:bodyPr wrap="square" lIns="0" tIns="0" rIns="0" bIns="0" rtlCol="0" anchor="ctr"/>
          <a:lstStyle/>
          <a:p>
            <a:pPr indent="0" marL="0">
              <a:buNone/>
            </a:pPr>
            <a:r>
              <a:rPr lang="en-US" sz="1800" b="1" dirty="0">
                <a:solidFill>
                  <a:srgbClr val="263238"/>
                </a:solidFill>
              </a:rPr>
              <a:t>Kavramlar</a:t>
            </a:r>
            <a:endParaRPr lang="en-US" sz="1800" dirty="0"/>
          </a:p>
        </p:txBody>
      </p:sp>
      <p:sp>
        <p:nvSpPr>
          <p:cNvPr id="5" name="Text 3"/>
          <p:cNvSpPr txBox="1"/>
          <p:nvPr/>
        </p:nvSpPr>
        <p:spPr>
          <a:xfrm>
            <a:off x="685800" y="1828800"/>
            <a:ext cx="5090008" cy="4297680"/>
          </a:xfrm>
          <a:prstGeom prst="rect">
            <a:avLst/>
          </a:prstGeom>
          <a:noFill/>
          <a:ln/>
        </p:spPr>
        <p:txBody>
          <a:bodyPr wrap="square" lIns="25400" tIns="25400" rIns="50800" bIns="25400" rtlCol="0" anchor="t"/>
          <a:lstStyle/>
          <a:p>
            <a:pPr marL="228600" indent="-228600">
              <a:spcAft>
                <a:spcPts val="700"/>
              </a:spcAft>
              <a:buSzPct val="100000"/>
              <a:buChar char="•"/>
            </a:pPr>
            <a:r>
              <a:rPr lang="en-US" sz="1700" b="1" dirty="0">
                <a:solidFill>
                  <a:srgbClr val="212121"/>
                </a:solidFill>
                <a:latin typeface="Calibri" pitchFamily="34" charset="0"/>
                <a:ea typeface="Calibri" pitchFamily="34" charset="-122"/>
                <a:cs typeface="Calibri" pitchFamily="34" charset="-120"/>
              </a:rPr>
              <a:t>Yer değiştirme</a:t>
            </a:r>
            <a:r>
              <a:rPr lang="en-US" sz="1700" dirty="0">
                <a:solidFill>
                  <a:srgbClr val="212121"/>
                </a:solidFill>
                <a:latin typeface="Calibri" pitchFamily="34" charset="0"/>
                <a:ea typeface="Calibri" pitchFamily="34" charset="-122"/>
                <a:cs typeface="Calibri" pitchFamily="34" charset="-120"/>
              </a:rPr>
              <a:t> (mutasyon): sütunda farklı iki harf</a:t>
            </a:r>
            <a:endParaRPr lang="en-US" sz="1700" dirty="0"/>
          </a:p>
          <a:p>
            <a:pPr marL="228600" indent="-228600">
              <a:spcAft>
                <a:spcPts val="700"/>
              </a:spcAft>
              <a:buSzPct val="100000"/>
              <a:buChar char="•"/>
            </a:pPr>
            <a:r>
              <a:rPr lang="en-US" sz="1700" b="1" dirty="0">
                <a:solidFill>
                  <a:srgbClr val="212121"/>
                </a:solidFill>
                <a:latin typeface="Calibri" pitchFamily="34" charset="0"/>
                <a:ea typeface="Calibri" pitchFamily="34" charset="-122"/>
                <a:cs typeface="Calibri" pitchFamily="34" charset="-120"/>
              </a:rPr>
              <a:t>İnsersiyon / delesyon</a:t>
            </a:r>
            <a:r>
              <a:rPr lang="en-US" sz="1700" dirty="0">
                <a:solidFill>
                  <a:srgbClr val="212121"/>
                </a:solidFill>
                <a:latin typeface="Calibri" pitchFamily="34" charset="0"/>
                <a:ea typeface="Calibri" pitchFamily="34" charset="-122"/>
                <a:cs typeface="Calibri" pitchFamily="34" charset="-120"/>
              </a:rPr>
              <a:t> (indel): bir dizide boşluk </a:t>
            </a:r>
            <a:r>
              <a:rPr lang="en-US" sz="1700" dirty="0">
                <a:solidFill>
                  <a:srgbClr val="455A64"/>
                </a:solidFill>
                <a:latin typeface="Courier New" pitchFamily="34" charset="0"/>
                <a:ea typeface="Courier New" pitchFamily="34" charset="-122"/>
                <a:cs typeface="Courier New" pitchFamily="34" charset="-120"/>
              </a:rPr>
              <a:t>-</a:t>
            </a:r>
            <a:endParaRPr lang="en-US" sz="1700" dirty="0"/>
          </a:p>
          <a:p>
            <a:pPr marL="228600" indent="-228600">
              <a:spcAft>
                <a:spcPts val="700"/>
              </a:spcAft>
              <a:buSzPct val="100000"/>
              <a:buChar char="•"/>
            </a:pPr>
            <a:r>
              <a:rPr lang="en-US" sz="1700" b="1" dirty="0">
                <a:solidFill>
                  <a:srgbClr val="212121"/>
                </a:solidFill>
                <a:latin typeface="Calibri" pitchFamily="34" charset="0"/>
                <a:ea typeface="Calibri" pitchFamily="34" charset="-122"/>
                <a:cs typeface="Calibri" pitchFamily="34" charset="-120"/>
              </a:rPr>
              <a:t>Homoloji:</a:t>
            </a:r>
            <a:r>
              <a:rPr lang="en-US" sz="1700" dirty="0">
                <a:solidFill>
                  <a:srgbClr val="212121"/>
                </a:solidFill>
                <a:latin typeface="Calibri" pitchFamily="34" charset="0"/>
                <a:ea typeface="Calibri" pitchFamily="34" charset="-122"/>
                <a:cs typeface="Calibri" pitchFamily="34" charset="-120"/>
              </a:rPr>
              <a:t> ortak atadan gelmek — evet/hayır; </a:t>
            </a:r>
            <a:r>
              <a:rPr lang="en-US" sz="1700" i="1" dirty="0">
                <a:solidFill>
                  <a:srgbClr val="212121"/>
                </a:solidFill>
                <a:latin typeface="Calibri" pitchFamily="34" charset="0"/>
                <a:ea typeface="Calibri" pitchFamily="34" charset="-122"/>
                <a:cs typeface="Calibri" pitchFamily="34" charset="-120"/>
              </a:rPr>
              <a:t>"%80 homolog" yanlış</a:t>
            </a:r>
            <a:endParaRPr lang="en-US" sz="1700" dirty="0"/>
          </a:p>
          <a:p>
            <a:pPr marL="228600" indent="-228600">
              <a:spcAft>
                <a:spcPts val="700"/>
              </a:spcAft>
              <a:buSzPct val="100000"/>
              <a:buChar char="•"/>
            </a:pPr>
            <a:r>
              <a:rPr lang="en-US" sz="1700" b="1" dirty="0">
                <a:solidFill>
                  <a:srgbClr val="212121"/>
                </a:solidFill>
                <a:latin typeface="Calibri" pitchFamily="34" charset="0"/>
                <a:ea typeface="Calibri" pitchFamily="34" charset="-122"/>
                <a:cs typeface="Calibri" pitchFamily="34" charset="-120"/>
              </a:rPr>
              <a:t>Özdeşlik:</a:t>
            </a:r>
            <a:r>
              <a:rPr lang="en-US" sz="1700" dirty="0">
                <a:solidFill>
                  <a:srgbClr val="212121"/>
                </a:solidFill>
                <a:latin typeface="Calibri" pitchFamily="34" charset="0"/>
                <a:ea typeface="Calibri" pitchFamily="34" charset="-122"/>
                <a:cs typeface="Calibri" pitchFamily="34" charset="-120"/>
              </a:rPr>
              <a:t> aynı harfli sütunların oranı (ölçülebilir)</a:t>
            </a:r>
            <a:endParaRPr lang="en-US" sz="1700" dirty="0"/>
          </a:p>
          <a:p>
            <a:pPr marL="228600" indent="-228600">
              <a:spcAft>
                <a:spcPts val="700"/>
              </a:spcAft>
              <a:buSzPct val="100000"/>
              <a:buChar char="•"/>
            </a:pPr>
            <a:r>
              <a:rPr lang="en-US" sz="1700" b="1" dirty="0">
                <a:solidFill>
                  <a:srgbClr val="212121"/>
                </a:solidFill>
                <a:latin typeface="Calibri" pitchFamily="34" charset="0"/>
                <a:ea typeface="Calibri" pitchFamily="34" charset="-122"/>
                <a:cs typeface="Calibri" pitchFamily="34" charset="-120"/>
              </a:rPr>
              <a:t>Benzerlik:</a:t>
            </a:r>
            <a:r>
              <a:rPr lang="en-US" sz="1700" dirty="0">
                <a:solidFill>
                  <a:srgbClr val="212121"/>
                </a:solidFill>
                <a:latin typeface="Calibri" pitchFamily="34" charset="0"/>
                <a:ea typeface="Calibri" pitchFamily="34" charset="-122"/>
                <a:cs typeface="Calibri" pitchFamily="34" charset="-120"/>
              </a:rPr>
              <a:t> skor matrisine göre pozitif sütunlar (proteinlerde, 7. hafta)</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Yüksek benzerlik homolojinin </a:t>
            </a:r>
            <a:r>
              <a:rPr lang="en-US" sz="1700" b="1" dirty="0">
                <a:solidFill>
                  <a:srgbClr val="212121"/>
                </a:solidFill>
                <a:latin typeface="Calibri" pitchFamily="34" charset="0"/>
                <a:ea typeface="Calibri" pitchFamily="34" charset="-122"/>
                <a:cs typeface="Calibri" pitchFamily="34" charset="-120"/>
              </a:rPr>
              <a:t>kanıtıdır</a:t>
            </a:r>
            <a:r>
              <a:rPr lang="en-US" sz="1700" dirty="0">
                <a:solidFill>
                  <a:srgbClr val="212121"/>
                </a:solidFill>
                <a:latin typeface="Calibri" pitchFamily="34" charset="0"/>
                <a:ea typeface="Calibri" pitchFamily="34" charset="-122"/>
                <a:cs typeface="Calibri" pitchFamily="34" charset="-120"/>
              </a:rPr>
              <a:t>, kendisi değildir</a:t>
            </a:r>
            <a:endParaRPr lang="en-US" sz="1700" dirty="0"/>
          </a:p>
        </p:txBody>
      </p:sp>
      <p:sp>
        <p:nvSpPr>
          <p:cNvPr id="6" name="Shape 4"/>
          <p:cNvSpPr/>
          <p:nvPr/>
        </p:nvSpPr>
        <p:spPr>
          <a:xfrm>
            <a:off x="6278728" y="1234440"/>
            <a:ext cx="5364328" cy="5029200"/>
          </a:xfrm>
          <a:prstGeom prst="roundRect">
            <a:avLst>
              <a:gd name="adj" fmla="val 1455"/>
            </a:avLst>
          </a:prstGeom>
          <a:solidFill>
            <a:srgbClr val="F7F9FA"/>
          </a:solidFill>
          <a:ln w="12700">
            <a:solidFill>
              <a:srgbClr val="B0BEC5"/>
            </a:solidFill>
            <a:prstDash val="solid"/>
          </a:ln>
        </p:spPr>
      </p:sp>
      <p:sp>
        <p:nvSpPr>
          <p:cNvPr id="7" name="Text 5"/>
          <p:cNvSpPr txBox="1"/>
          <p:nvPr/>
        </p:nvSpPr>
        <p:spPr>
          <a:xfrm>
            <a:off x="6461608" y="1344168"/>
            <a:ext cx="4998568" cy="411480"/>
          </a:xfrm>
          <a:prstGeom prst="rect">
            <a:avLst/>
          </a:prstGeom>
          <a:noFill/>
          <a:ln/>
        </p:spPr>
        <p:txBody>
          <a:bodyPr wrap="square" lIns="0" tIns="0" rIns="0" bIns="0" rtlCol="0" anchor="ctr"/>
          <a:lstStyle/>
          <a:p>
            <a:pPr indent="0" marL="0">
              <a:buNone/>
            </a:pPr>
            <a:r>
              <a:rPr lang="en-US" sz="1800" b="1" dirty="0">
                <a:solidFill>
                  <a:srgbClr val="263238"/>
                </a:solidFill>
              </a:rPr>
              <a:t>Örnek</a:t>
            </a:r>
            <a:endParaRPr lang="en-US" sz="1800" dirty="0"/>
          </a:p>
        </p:txBody>
      </p:sp>
      <p:sp>
        <p:nvSpPr>
          <p:cNvPr id="8" name="Shape 6"/>
          <p:cNvSpPr/>
          <p:nvPr/>
        </p:nvSpPr>
        <p:spPr>
          <a:xfrm>
            <a:off x="6461608" y="1828800"/>
            <a:ext cx="4998568" cy="4297680"/>
          </a:xfrm>
          <a:prstGeom prst="roundRect">
            <a:avLst>
              <a:gd name="adj" fmla="val 1702"/>
            </a:avLst>
          </a:prstGeom>
          <a:solidFill>
            <a:srgbClr val="F4F6F7"/>
          </a:solidFill>
          <a:ln w="12700">
            <a:solidFill>
              <a:srgbClr val="B0BEC5"/>
            </a:solidFill>
            <a:prstDash val="solid"/>
          </a:ln>
        </p:spPr>
      </p:sp>
      <p:sp>
        <p:nvSpPr>
          <p:cNvPr id="9" name="Text 7"/>
          <p:cNvSpPr txBox="1"/>
          <p:nvPr/>
        </p:nvSpPr>
        <p:spPr>
          <a:xfrm>
            <a:off x="6571336" y="1901952"/>
            <a:ext cx="4779112" cy="4151376"/>
          </a:xfrm>
          <a:prstGeom prst="rect">
            <a:avLst/>
          </a:prstGeom>
          <a:noFill/>
          <a:ln/>
        </p:spPr>
        <p:txBody>
          <a:bodyPr wrap="square" lIns="0" tIns="0" rIns="0" bIns="0" rtlCol="0" anchor="t"/>
          <a:lstStyle/>
          <a:p>
            <a:pPr indent="0" marL="0">
              <a:lnSpc>
                <a:spcPct val="100000"/>
              </a:lnSpc>
              <a:buNone/>
            </a:pPr>
            <a:r>
              <a:rPr lang="en-US" sz="1500" dirty="0">
                <a:solidFill>
                  <a:srgbClr val="263238"/>
                </a:solidFill>
                <a:latin typeface="Courier New" pitchFamily="34" charset="0"/>
                <a:ea typeface="Courier New" pitchFamily="34" charset="-122"/>
                <a:cs typeface="Courier New" pitchFamily="34" charset="-120"/>
              </a:rPr>
              <a:t>x:  C A T G C A</a:t>
            </a:r>
            <a:endParaRPr lang="en-US" sz="1500" dirty="0"/>
          </a:p>
          <a:p>
            <a:pPr indent="0" marL="0">
              <a:lnSpc>
                <a:spcPct val="100000"/>
              </a:lnSpc>
              <a:buNone/>
            </a:pPr>
            <a:r>
              <a:rPr lang="en-US" sz="1500" dirty="0">
                <a:solidFill>
                  <a:srgbClr val="263238"/>
                </a:solidFill>
                <a:latin typeface="Courier New" pitchFamily="34" charset="0"/>
                <a:ea typeface="Courier New" pitchFamily="34" charset="-122"/>
                <a:cs typeface="Courier New" pitchFamily="34" charset="-120"/>
              </a:rPr>
              <a:t>    | |   | | |</a:t>
            </a:r>
            <a:endParaRPr lang="en-US" sz="1500" dirty="0"/>
          </a:p>
          <a:p>
            <a:pPr indent="0" marL="0">
              <a:lnSpc>
                <a:spcPct val="100000"/>
              </a:lnSpc>
              <a:buNone/>
            </a:pPr>
            <a:r>
              <a:rPr lang="en-US" sz="1500" dirty="0">
                <a:solidFill>
                  <a:srgbClr val="263238"/>
                </a:solidFill>
                <a:latin typeface="Courier New" pitchFamily="34" charset="0"/>
                <a:ea typeface="Courier New" pitchFamily="34" charset="-122"/>
                <a:cs typeface="Courier New" pitchFamily="34" charset="-120"/>
              </a:rPr>
              <a:t>y:  C A - G C A</a:t>
            </a:r>
            <a:endParaRPr lang="en-US" sz="1500" dirty="0"/>
          </a:p>
          <a:p>
            <a:pPr indent="0" marL="0">
              <a:lnSpc>
                <a:spcPct val="100000"/>
              </a:lnSpc>
              <a:buNone/>
            </a:pPr>
            <a:r>
              <a:rPr lang="en-US" sz="1500" dirty="0">
                <a:solidFill>
                  <a:srgbClr val="263238"/>
                </a:solidFill>
                <a:latin typeface="Courier New" pitchFamily="34" charset="0"/>
                <a:ea typeface="Courier New" pitchFamily="34" charset="-122"/>
                <a:cs typeface="Courier New" pitchFamily="34" charset="-120"/>
              </a:rPr>
              <a:t> </a:t>
            </a:r>
            <a:endParaRPr lang="en-US" sz="1500" dirty="0"/>
          </a:p>
          <a:p>
            <a:pPr indent="0" marL="0">
              <a:lnSpc>
                <a:spcPct val="100000"/>
              </a:lnSpc>
              <a:buNone/>
            </a:pPr>
            <a:r>
              <a:rPr lang="en-US" sz="1500" dirty="0">
                <a:solidFill>
                  <a:srgbClr val="263238"/>
                </a:solidFill>
                <a:latin typeface="Courier New" pitchFamily="34" charset="0"/>
                <a:ea typeface="Courier New" pitchFamily="34" charset="-122"/>
                <a:cs typeface="Courier New" pitchFamily="34" charset="-120"/>
              </a:rPr>
              <a:t>5 eşleşme, 0 uyumsuzluk, 1 boşluk</a:t>
            </a:r>
            <a:endParaRPr lang="en-US" sz="1500" dirty="0"/>
          </a:p>
          <a:p>
            <a:pPr indent="0" marL="0">
              <a:lnSpc>
                <a:spcPct val="100000"/>
              </a:lnSpc>
              <a:buNone/>
            </a:pPr>
            <a:r>
              <a:rPr lang="en-US" sz="1500" dirty="0">
                <a:solidFill>
                  <a:srgbClr val="263238"/>
                </a:solidFill>
                <a:latin typeface="Courier New" pitchFamily="34" charset="0"/>
                <a:ea typeface="Courier New" pitchFamily="34" charset="-122"/>
                <a:cs typeface="Courier New" pitchFamily="34" charset="-120"/>
              </a:rPr>
              <a:t>Yorum: x'te T eklendi (insersiyon)</a:t>
            </a:r>
            <a:endParaRPr lang="en-US" sz="1500" dirty="0"/>
          </a:p>
          <a:p>
            <a:pPr indent="0" marL="0">
              <a:lnSpc>
                <a:spcPct val="100000"/>
              </a:lnSpc>
              <a:buNone/>
            </a:pPr>
            <a:r>
              <a:rPr lang="en-US" sz="1500" dirty="0">
                <a:solidFill>
                  <a:srgbClr val="263238"/>
                </a:solidFill>
                <a:latin typeface="Courier New" pitchFamily="34" charset="0"/>
                <a:ea typeface="Courier New" pitchFamily="34" charset="-122"/>
                <a:cs typeface="Courier New" pitchFamily="34" charset="-120"/>
              </a:rPr>
              <a:t>   ya da y'de T silindi (delesyon)</a:t>
            </a:r>
            <a:endParaRPr lang="en-US" sz="1500" dirty="0"/>
          </a:p>
          <a:p>
            <a:pPr indent="0" marL="0">
              <a:lnSpc>
                <a:spcPct val="100000"/>
              </a:lnSpc>
              <a:buNone/>
            </a:pPr>
            <a:r>
              <a:rPr lang="en-US" sz="1500" dirty="0">
                <a:solidFill>
                  <a:srgbClr val="263238"/>
                </a:solidFill>
                <a:latin typeface="Courier New" pitchFamily="34" charset="0"/>
                <a:ea typeface="Courier New" pitchFamily="34" charset="-122"/>
                <a:cs typeface="Courier New" pitchFamily="34" charset="-120"/>
              </a:rPr>
              <a:t>-&gt; tek bir hizalama iki evrimsel</a:t>
            </a:r>
            <a:endParaRPr lang="en-US" sz="1500" dirty="0"/>
          </a:p>
          <a:p>
            <a:pPr indent="0" marL="0">
              <a:lnSpc>
                <a:spcPct val="100000"/>
              </a:lnSpc>
              <a:buNone/>
            </a:pPr>
            <a:r>
              <a:rPr lang="en-US" sz="1500" dirty="0">
                <a:solidFill>
                  <a:srgbClr val="263238"/>
                </a:solidFill>
                <a:latin typeface="Courier New" pitchFamily="34" charset="0"/>
                <a:ea typeface="Courier New" pitchFamily="34" charset="-122"/>
                <a:cs typeface="Courier New" pitchFamily="34" charset="-120"/>
              </a:rPr>
              <a:t>   senaryoya karşılık gelebilir</a:t>
            </a:r>
            <a:endParaRPr lang="en-US" sz="1500" dirty="0"/>
          </a:p>
        </p:txBody>
      </p:sp>
      <p:sp>
        <p:nvSpPr>
          <p:cNvPr id="10" name="Text 8"/>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6: Global hizalama (NW)</a:t>
            </a:r>
            <a:endParaRPr lang="en-US" sz="900" dirty="0"/>
          </a:p>
        </p:txBody>
      </p:sp>
      <p:sp>
        <p:nvSpPr>
          <p:cNvPr id="11" name="Text 9"/>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Üç hizalama türü</a:t>
            </a:r>
            <a:endParaRPr lang="en-US" sz="3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094415" cy="914400"/>
        </p:xfrm>
        <a:graphic>
          <a:graphicData uri="http://schemas.openxmlformats.org/drawingml/2006/table">
            <a:tbl>
              <a:tblPr/>
              <a:tblGrid>
                <a:gridCol w="1386802"/>
                <a:gridCol w="2403790"/>
                <a:gridCol w="1386802"/>
                <a:gridCol w="2588697"/>
                <a:gridCol w="3328325"/>
              </a:tblGrid>
              <a:tr h="0">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Tür</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Amaç</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Uç boşlukları</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Algoritma</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Tipik kullanım</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r>
              <a:tr h="0">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Global</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İki dizinin </a:t>
                      </a:r>
                      <a:r>
                        <a:rPr lang="en-US" sz="1600" b="1" dirty="0">
                          <a:solidFill>
                            <a:srgbClr val="212121"/>
                          </a:solidFill>
                          <a:latin typeface="Calibri" pitchFamily="34" charset="0"/>
                          <a:ea typeface="Calibri" pitchFamily="34" charset="-122"/>
                          <a:cs typeface="Calibri" pitchFamily="34" charset="-120"/>
                        </a:rPr>
                        <a:t>tamamını</a:t>
                      </a:r>
                      <a:r>
                        <a:rPr lang="en-US" sz="1600" dirty="0">
                          <a:solidFill>
                            <a:srgbClr val="212121"/>
                          </a:solidFill>
                          <a:latin typeface="Calibri" pitchFamily="34" charset="0"/>
                          <a:ea typeface="Calibri" pitchFamily="34" charset="-122"/>
                          <a:cs typeface="Calibri" pitchFamily="34" charset="-120"/>
                        </a:rPr>
                        <a:t> hizala</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Cezalı</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Needleman–Wunsch (1970)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Benzer uzunlukta homolog genler / proteinler</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r>
              <a:tr h="0">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Yerel</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En benzer </a:t>
                      </a:r>
                      <a:r>
                        <a:rPr lang="en-US" sz="1600" b="1" dirty="0">
                          <a:solidFill>
                            <a:srgbClr val="212121"/>
                          </a:solidFill>
                          <a:latin typeface="Calibri" pitchFamily="34" charset="0"/>
                          <a:ea typeface="Calibri" pitchFamily="34" charset="-122"/>
                          <a:cs typeface="Calibri" pitchFamily="34" charset="-120"/>
                        </a:rPr>
                        <a:t>alt bölgeleri</a:t>
                      </a:r>
                      <a:r>
                        <a:rPr lang="en-US" sz="1600" dirty="0">
                          <a:solidFill>
                            <a:srgbClr val="212121"/>
                          </a:solidFill>
                          <a:latin typeface="Calibri" pitchFamily="34" charset="0"/>
                          <a:ea typeface="Calibri" pitchFamily="34" charset="-122"/>
                          <a:cs typeface="Calibri" pitchFamily="34" charset="-120"/>
                        </a:rPr>
                        <a:t> bul</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Yok sayılır</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Smith–Waterman (1981) — 7. hafta</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Domen arama, veritabanı arama (BLAST)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Yarı-global</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Kısa diziyi uzunun </a:t>
                      </a:r>
                      <a:r>
                        <a:rPr lang="en-US" sz="1600" b="1" dirty="0">
                          <a:solidFill>
                            <a:srgbClr val="212121"/>
                          </a:solidFill>
                          <a:latin typeface="Calibri" pitchFamily="34" charset="0"/>
                          <a:ea typeface="Calibri" pitchFamily="34" charset="-122"/>
                          <a:cs typeface="Calibri" pitchFamily="34" charset="-120"/>
                        </a:rPr>
                        <a:t>içine</a:t>
                      </a:r>
                      <a:r>
                        <a:rPr lang="en-US" sz="1600" dirty="0">
                          <a:solidFill>
                            <a:srgbClr val="212121"/>
                          </a:solidFill>
                          <a:latin typeface="Calibri" pitchFamily="34" charset="0"/>
                          <a:ea typeface="Calibri" pitchFamily="34" charset="-122"/>
                          <a:cs typeface="Calibri" pitchFamily="34" charset="-120"/>
                        </a:rPr>
                        <a:t> yerleştir</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Ücretsiz</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NW varyantı</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Okuma haritalama, primer yerleştirme, örtüşen okumalar</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bl>
          </a:graphicData>
        </a:graphic>
      </p:graphicFrame>
      <p:sp>
        <p:nvSpPr>
          <p:cNvPr id="4" name="Shape 1"/>
          <p:cNvSpPr/>
          <p:nvPr/>
        </p:nvSpPr>
        <p:spPr>
          <a:xfrm>
            <a:off x="548640" y="3852672"/>
            <a:ext cx="11094415" cy="822960"/>
          </a:xfrm>
          <a:prstGeom prst="roundRect">
            <a:avLst>
              <a:gd name="adj" fmla="val 8889"/>
            </a:avLst>
          </a:prstGeom>
          <a:solidFill>
            <a:srgbClr val="FDECEA"/>
          </a:solidFill>
          <a:ln/>
        </p:spPr>
      </p:sp>
      <p:sp>
        <p:nvSpPr>
          <p:cNvPr id="5" name="Text 2"/>
          <p:cNvSpPr txBox="1"/>
          <p:nvPr/>
        </p:nvSpPr>
        <p:spPr>
          <a:xfrm>
            <a:off x="731520" y="3852672"/>
            <a:ext cx="10728655" cy="822960"/>
          </a:xfrm>
          <a:prstGeom prst="rect">
            <a:avLst/>
          </a:prstGeom>
          <a:noFill/>
          <a:ln/>
        </p:spPr>
        <p:txBody>
          <a:bodyPr wrap="square" lIns="0" tIns="0" rIns="0" bIns="0" rtlCol="0" anchor="ctr"/>
          <a:lstStyle/>
          <a:p>
            <a:pPr indent="0" marL="0">
              <a:buNone/>
            </a:pPr>
            <a:r>
              <a:rPr lang="en-US" sz="1600" dirty="0">
                <a:solidFill>
                  <a:srgbClr val="212121"/>
                </a:solidFill>
                <a:latin typeface="Calibri" pitchFamily="34" charset="0"/>
                <a:ea typeface="Calibri" pitchFamily="34" charset="-122"/>
                <a:cs typeface="Calibri" pitchFamily="34" charset="-120"/>
              </a:rPr>
              <a:t>Seçim </a:t>
            </a:r>
            <a:r>
              <a:rPr lang="en-US" sz="1600" b="1" dirty="0">
                <a:solidFill>
                  <a:srgbClr val="212121"/>
                </a:solidFill>
                <a:latin typeface="Calibri" pitchFamily="34" charset="0"/>
                <a:ea typeface="Calibri" pitchFamily="34" charset="-122"/>
                <a:cs typeface="Calibri" pitchFamily="34" charset="-120"/>
              </a:rPr>
              <a:t>biyolojik soruya</a:t>
            </a:r>
            <a:r>
              <a:rPr lang="en-US" sz="1600" dirty="0">
                <a:solidFill>
                  <a:srgbClr val="212121"/>
                </a:solidFill>
                <a:latin typeface="Calibri" pitchFamily="34" charset="0"/>
                <a:ea typeface="Calibri" pitchFamily="34" charset="-122"/>
                <a:cs typeface="Calibri" pitchFamily="34" charset="-120"/>
              </a:rPr>
              <a:t> bağlıdır: iki ortolog enzimi karşılaştırıyorsanız global; uzun bir proteinde bilinen bir domeni arıyorsanız yerel hizalama. Bu hafta: global.</a:t>
            </a:r>
            <a:endParaRPr lang="en-US" sz="1600" dirty="0"/>
          </a:p>
        </p:txBody>
      </p:sp>
      <p:sp>
        <p:nvSpPr>
          <p:cNvPr id="6" name="Text 3"/>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6: Global hizalama (NW)</a:t>
            </a:r>
            <a:endParaRPr lang="en-US" sz="900" dirty="0"/>
          </a:p>
        </p:txBody>
      </p:sp>
      <p:sp>
        <p:nvSpPr>
          <p:cNvPr id="7" name="Text 4"/>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Neden kaba kuvvet işe yaramaz?</a:t>
            </a:r>
            <a:endParaRPr lang="en-US" sz="3000" dirty="0"/>
          </a:p>
        </p:txBody>
      </p:sp>
      <p:sp>
        <p:nvSpPr>
          <p:cNvPr id="3" name="Text 1"/>
          <p:cNvSpPr txBox="1"/>
          <p:nvPr/>
        </p:nvSpPr>
        <p:spPr>
          <a:xfrm>
            <a:off x="548640" y="987552"/>
            <a:ext cx="11094415" cy="365760"/>
          </a:xfrm>
          <a:prstGeom prst="rect">
            <a:avLst/>
          </a:prstGeom>
          <a:noFill/>
          <a:ln/>
        </p:spPr>
        <p:txBody>
          <a:bodyPr wrap="square" lIns="0" tIns="0" rIns="0" bIns="0" rtlCol="0" anchor="t"/>
          <a:lstStyle/>
          <a:p>
            <a:pPr indent="0" marL="0">
              <a:buNone/>
            </a:pPr>
            <a:r>
              <a:rPr lang="en-US" sz="1500" i="1" dirty="0">
                <a:solidFill>
                  <a:srgbClr val="546E7A"/>
                </a:solidFill>
                <a:latin typeface="Calibri" pitchFamily="34" charset="0"/>
                <a:ea typeface="Calibri" pitchFamily="34" charset="-122"/>
                <a:cs typeface="Calibri" pitchFamily="34" charset="-120"/>
              </a:rPr>
              <a:t>Çözümlü örnek</a:t>
            </a:r>
            <a:endParaRPr lang="en-US" sz="1500" dirty="0"/>
          </a:p>
        </p:txBody>
      </p:sp>
      <p:sp>
        <p:nvSpPr>
          <p:cNvPr id="4" name="Shape 2"/>
          <p:cNvSpPr/>
          <p:nvPr/>
        </p:nvSpPr>
        <p:spPr>
          <a:xfrm>
            <a:off x="548640" y="1463040"/>
            <a:ext cx="11094415" cy="1088136"/>
          </a:xfrm>
          <a:prstGeom prst="roundRect">
            <a:avLst>
              <a:gd name="adj" fmla="val 6723"/>
            </a:avLst>
          </a:prstGeom>
          <a:solidFill>
            <a:srgbClr val="ECEFF1"/>
          </a:solidFill>
          <a:ln/>
        </p:spPr>
      </p:sp>
      <p:sp>
        <p:nvSpPr>
          <p:cNvPr id="5" name="Text 3"/>
          <p:cNvSpPr txBox="1"/>
          <p:nvPr/>
        </p:nvSpPr>
        <p:spPr>
          <a:xfrm>
            <a:off x="685800" y="1508760"/>
            <a:ext cx="10820095" cy="996696"/>
          </a:xfrm>
          <a:prstGeom prst="rect">
            <a:avLst/>
          </a:prstGeom>
          <a:noFill/>
          <a:ln/>
        </p:spPr>
        <p:txBody>
          <a:bodyPr wrap="square" lIns="0" tIns="0" rIns="0" bIns="0" rtlCol="0" anchor="ctr"/>
          <a:lstStyle/>
          <a:p>
            <a:pPr indent="0" marL="0">
              <a:buNone/>
            </a:pPr>
            <a:r>
              <a:rPr lang="en-US" sz="1800" b="1" dirty="0">
                <a:solidFill>
                  <a:srgbClr val="B71C1C"/>
                </a:solidFill>
                <a:latin typeface="Calibri" pitchFamily="34" charset="0"/>
                <a:ea typeface="Calibri" pitchFamily="34" charset="-122"/>
                <a:cs typeface="Calibri" pitchFamily="34" charset="-120"/>
              </a:rPr>
              <a:t>Soru  </a:t>
            </a:r>
            <a:r>
              <a:rPr lang="en-US" sz="1800" dirty="0">
                <a:solidFill>
                  <a:srgbClr val="212121"/>
                </a:solidFill>
                <a:latin typeface="Calibri" pitchFamily="34" charset="0"/>
                <a:ea typeface="Calibri" pitchFamily="34" charset="-122"/>
                <a:cs typeface="Calibri" pitchFamily="34" charset="-120"/>
              </a:rPr>
              <a:t>İki dizinin kaç farklı global hizalaması vardır? Klasik yaklaşık sayım C(2n, n) ile n = 3, 10, 100, 1000 için hesaplayın.</a:t>
            </a:r>
            <a:endParaRPr lang="en-US" sz="1800" dirty="0"/>
          </a:p>
        </p:txBody>
      </p:sp>
      <p:sp>
        <p:nvSpPr>
          <p:cNvPr id="6" name="Text 4"/>
          <p:cNvSpPr txBox="1"/>
          <p:nvPr/>
        </p:nvSpPr>
        <p:spPr>
          <a:xfrm>
            <a:off x="548640" y="2779776"/>
            <a:ext cx="6434761" cy="2615184"/>
          </a:xfrm>
          <a:prstGeom prst="rect">
            <a:avLst/>
          </a:prstGeom>
          <a:noFill/>
          <a:ln/>
        </p:spPr>
        <p:txBody>
          <a:bodyPr wrap="square" lIns="25400" tIns="25400" rIns="50800" bIns="25400" rtlCol="0" anchor="t"/>
          <a:lstStyle/>
          <a:p>
            <a:pPr marL="342900" indent="-342900">
              <a:spcAft>
                <a:spcPts val="600"/>
              </a:spcAft>
              <a:buSzPct val="100000"/>
              <a:buFont typeface="+mj-lt"/>
              <a:buAutoNum type="arabicPeriod" startAt="1"/>
            </a:pPr>
            <a:r>
              <a:rPr lang="en-US" sz="1550" dirty="0">
                <a:solidFill>
                  <a:srgbClr val="212121"/>
                </a:solidFill>
                <a:latin typeface="Calibri" pitchFamily="34" charset="0"/>
                <a:ea typeface="Calibri" pitchFamily="34" charset="-122"/>
                <a:cs typeface="Calibri" pitchFamily="34" charset="-120"/>
              </a:rPr>
              <a:t>Her hizalama, m × n ızgarada (0,0)'dan (m,n)'ye giden bir </a:t>
            </a:r>
            <a:r>
              <a:rPr lang="en-US" sz="1550" b="1" dirty="0">
                <a:solidFill>
                  <a:srgbClr val="212121"/>
                </a:solidFill>
                <a:latin typeface="Calibri" pitchFamily="34" charset="0"/>
                <a:ea typeface="Calibri" pitchFamily="34" charset="-122"/>
                <a:cs typeface="Calibri" pitchFamily="34" charset="-120"/>
              </a:rPr>
              <a:t>yol</a:t>
            </a:r>
            <a:r>
              <a:rPr lang="en-US" sz="1550" dirty="0">
                <a:solidFill>
                  <a:srgbClr val="212121"/>
                </a:solidFill>
                <a:latin typeface="Calibri" pitchFamily="34" charset="0"/>
                <a:ea typeface="Calibri" pitchFamily="34" charset="-122"/>
                <a:cs typeface="Calibri" pitchFamily="34" charset="-120"/>
              </a:rPr>
              <a:t>dur (sağ, aşağı, çapraz)</a:t>
            </a:r>
            <a:endParaRPr lang="en-US" sz="1550" dirty="0"/>
          </a:p>
          <a:p>
            <a:pPr marL="342900" indent="-342900">
              <a:spcAft>
                <a:spcPts val="600"/>
              </a:spcAft>
              <a:buSzPct val="100000"/>
              <a:buFont typeface="+mj-lt"/>
              <a:buAutoNum type="arabicPeriod" startAt="1"/>
            </a:pPr>
            <a:r>
              <a:rPr lang="en-US" sz="1550" dirty="0">
                <a:solidFill>
                  <a:srgbClr val="212121"/>
                </a:solidFill>
                <a:latin typeface="Calibri" pitchFamily="34" charset="0"/>
                <a:ea typeface="Calibri" pitchFamily="34" charset="-122"/>
                <a:cs typeface="Calibri" pitchFamily="34" charset="-120"/>
              </a:rPr>
              <a:t>Standart yaklaşım: n = m için ≈ C(2n, n) = (2n)! / (n!)² ≈ 2^(2n) / √(πn)</a:t>
            </a:r>
            <a:endParaRPr lang="en-US" sz="1550" dirty="0"/>
          </a:p>
          <a:p>
            <a:pPr marL="342900" indent="-342900">
              <a:spcAft>
                <a:spcPts val="600"/>
              </a:spcAft>
              <a:buSzPct val="100000"/>
              <a:buFont typeface="+mj-lt"/>
              <a:buAutoNum type="arabicPeriod" startAt="1"/>
            </a:pPr>
            <a:r>
              <a:rPr lang="en-US" sz="1550" dirty="0">
                <a:solidFill>
                  <a:srgbClr val="212121"/>
                </a:solidFill>
                <a:latin typeface="Calibri" pitchFamily="34" charset="0"/>
                <a:ea typeface="Calibri" pitchFamily="34" charset="-122"/>
                <a:cs typeface="Calibri" pitchFamily="34" charset="-120"/>
              </a:rPr>
              <a:t>n = 3: C(6, 3) = </a:t>
            </a:r>
            <a:r>
              <a:rPr lang="en-US" sz="1550" b="1" dirty="0">
                <a:solidFill>
                  <a:srgbClr val="212121"/>
                </a:solidFill>
                <a:latin typeface="Calibri" pitchFamily="34" charset="0"/>
                <a:ea typeface="Calibri" pitchFamily="34" charset="-122"/>
                <a:cs typeface="Calibri" pitchFamily="34" charset="-120"/>
              </a:rPr>
              <a:t>20</a:t>
            </a:r>
            <a:r>
              <a:rPr lang="en-US" sz="1550" dirty="0">
                <a:solidFill>
                  <a:srgbClr val="212121"/>
                </a:solidFill>
                <a:latin typeface="Calibri" pitchFamily="34" charset="0"/>
                <a:ea typeface="Calibri" pitchFamily="34" charset="-122"/>
                <a:cs typeface="Calibri" pitchFamily="34" charset="-120"/>
              </a:rPr>
              <a:t>;  n = 10: C(20, 10) = </a:t>
            </a:r>
            <a:r>
              <a:rPr lang="en-US" sz="1550" b="1" dirty="0">
                <a:solidFill>
                  <a:srgbClr val="212121"/>
                </a:solidFill>
                <a:latin typeface="Calibri" pitchFamily="34" charset="0"/>
                <a:ea typeface="Calibri" pitchFamily="34" charset="-122"/>
                <a:cs typeface="Calibri" pitchFamily="34" charset="-120"/>
              </a:rPr>
              <a:t>184 756</a:t>
            </a:r>
            <a:endParaRPr lang="en-US" sz="1550" dirty="0"/>
          </a:p>
          <a:p>
            <a:pPr marL="342900" indent="-342900">
              <a:spcAft>
                <a:spcPts val="600"/>
              </a:spcAft>
              <a:buSzPct val="100000"/>
              <a:buFont typeface="+mj-lt"/>
              <a:buAutoNum type="arabicPeriod" startAt="1"/>
            </a:pPr>
            <a:r>
              <a:rPr lang="en-US" sz="1550" dirty="0">
                <a:solidFill>
                  <a:srgbClr val="212121"/>
                </a:solidFill>
                <a:latin typeface="Calibri" pitchFamily="34" charset="0"/>
                <a:ea typeface="Calibri" pitchFamily="34" charset="-122"/>
                <a:cs typeface="Calibri" pitchFamily="34" charset="-120"/>
              </a:rPr>
              <a:t>n = 100: C(200, 100) ≈ </a:t>
            </a:r>
            <a:r>
              <a:rPr lang="en-US" sz="1550" b="1" dirty="0">
                <a:solidFill>
                  <a:srgbClr val="212121"/>
                </a:solidFill>
                <a:latin typeface="Calibri" pitchFamily="34" charset="0"/>
                <a:ea typeface="Calibri" pitchFamily="34" charset="-122"/>
                <a:cs typeface="Calibri" pitchFamily="34" charset="-120"/>
              </a:rPr>
              <a:t>9.05 × 10⁵⁸</a:t>
            </a:r>
            <a:r>
              <a:rPr lang="en-US" sz="1550" dirty="0">
                <a:solidFill>
                  <a:srgbClr val="212121"/>
                </a:solidFill>
                <a:latin typeface="Calibri" pitchFamily="34" charset="0"/>
                <a:ea typeface="Calibri" pitchFamily="34" charset="-122"/>
                <a:cs typeface="Calibri" pitchFamily="34" charset="-120"/>
              </a:rPr>
              <a:t> (≈ 10⁵⁹)</a:t>
            </a:r>
            <a:endParaRPr lang="en-US" sz="1550" dirty="0"/>
          </a:p>
          <a:p>
            <a:pPr marL="342900" indent="-342900">
              <a:spcAft>
                <a:spcPts val="600"/>
              </a:spcAft>
              <a:buSzPct val="100000"/>
              <a:buFont typeface="+mj-lt"/>
              <a:buAutoNum type="arabicPeriod" startAt="1"/>
            </a:pPr>
            <a:r>
              <a:rPr lang="en-US" sz="1550" dirty="0">
                <a:solidFill>
                  <a:srgbClr val="212121"/>
                </a:solidFill>
                <a:latin typeface="Calibri" pitchFamily="34" charset="0"/>
                <a:ea typeface="Calibri" pitchFamily="34" charset="-122"/>
                <a:cs typeface="Calibri" pitchFamily="34" charset="-120"/>
              </a:rPr>
              <a:t>n = 1000: ≈ </a:t>
            </a:r>
            <a:r>
              <a:rPr lang="en-US" sz="1550" b="1" dirty="0">
                <a:solidFill>
                  <a:srgbClr val="212121"/>
                </a:solidFill>
                <a:latin typeface="Calibri" pitchFamily="34" charset="0"/>
                <a:ea typeface="Calibri" pitchFamily="34" charset="-122"/>
                <a:cs typeface="Calibri" pitchFamily="34" charset="-120"/>
              </a:rPr>
              <a:t>10⁶⁰⁰</a:t>
            </a:r>
            <a:r>
              <a:rPr lang="en-US" sz="1550" dirty="0">
                <a:solidFill>
                  <a:srgbClr val="212121"/>
                </a:solidFill>
                <a:latin typeface="Calibri" pitchFamily="34" charset="0"/>
                <a:ea typeface="Calibri" pitchFamily="34" charset="-122"/>
                <a:cs typeface="Calibri" pitchFamily="34" charset="-120"/>
              </a:rPr>
              <a:t> — evrendeki atom sayısı ≈ 10⁸⁰</a:t>
            </a:r>
            <a:endParaRPr lang="en-US" sz="1550" dirty="0"/>
          </a:p>
          <a:p>
            <a:pPr marL="342900" indent="-342900">
              <a:spcAft>
                <a:spcPts val="600"/>
              </a:spcAft>
              <a:buSzPct val="100000"/>
              <a:buFont typeface="+mj-lt"/>
              <a:buAutoNum type="arabicPeriod" startAt="1"/>
            </a:pPr>
            <a:r>
              <a:rPr lang="en-US" sz="1550" dirty="0">
                <a:solidFill>
                  <a:srgbClr val="212121"/>
                </a:solidFill>
                <a:latin typeface="Calibri" pitchFamily="34" charset="0"/>
                <a:ea typeface="Calibri" pitchFamily="34" charset="-122"/>
                <a:cs typeface="Calibri" pitchFamily="34" charset="-120"/>
              </a:rPr>
              <a:t>Tüm yolları (çapraz dahil) sayarsak daha da fazla: 3 × 3 ızgarada </a:t>
            </a:r>
            <a:r>
              <a:rPr lang="en-US" sz="1550" b="1" dirty="0">
                <a:solidFill>
                  <a:srgbClr val="212121"/>
                </a:solidFill>
                <a:latin typeface="Calibri" pitchFamily="34" charset="0"/>
                <a:ea typeface="Calibri" pitchFamily="34" charset="-122"/>
                <a:cs typeface="Calibri" pitchFamily="34" charset="-120"/>
              </a:rPr>
              <a:t>63</a:t>
            </a:r>
            <a:r>
              <a:rPr lang="en-US" sz="1550" dirty="0">
                <a:solidFill>
                  <a:srgbClr val="212121"/>
                </a:solidFill>
                <a:latin typeface="Calibri" pitchFamily="34" charset="0"/>
                <a:ea typeface="Calibri" pitchFamily="34" charset="-122"/>
                <a:cs typeface="Calibri" pitchFamily="34" charset="-120"/>
              </a:rPr>
              <a:t> yol (Delannoy sayısı)</a:t>
            </a:r>
            <a:endParaRPr lang="en-US" sz="15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303441" y="2779776"/>
          <a:ext cx="4339614" cy="914400"/>
        </p:xfrm>
        <a:graphic>
          <a:graphicData uri="http://schemas.openxmlformats.org/drawingml/2006/table">
            <a:tbl>
              <a:tblPr/>
              <a:tblGrid>
                <a:gridCol w="826593"/>
                <a:gridCol w="2479780"/>
                <a:gridCol w="1033242"/>
              </a:tblGrid>
              <a:tr h="0">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n</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C(2n, n)</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log₁₀</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20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184 756</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5.3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100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9.05 × 10⁵⁸</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59.0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1000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2.05 × 10⁶⁰⁰</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600.3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bl>
          </a:graphicData>
        </a:graphic>
      </p:graphicFrame>
      <p:sp>
        <p:nvSpPr>
          <p:cNvPr id="8" name="Shape 5"/>
          <p:cNvSpPr/>
          <p:nvPr/>
        </p:nvSpPr>
        <p:spPr>
          <a:xfrm>
            <a:off x="548640" y="5577840"/>
            <a:ext cx="11094415" cy="685800"/>
          </a:xfrm>
          <a:prstGeom prst="roundRect">
            <a:avLst>
              <a:gd name="adj" fmla="val 10667"/>
            </a:avLst>
          </a:prstGeom>
          <a:solidFill>
            <a:srgbClr val="FDECEA"/>
          </a:solidFill>
          <a:ln/>
        </p:spPr>
      </p:sp>
      <p:sp>
        <p:nvSpPr>
          <p:cNvPr id="9" name="Text 6"/>
          <p:cNvSpPr txBox="1"/>
          <p:nvPr/>
        </p:nvSpPr>
        <p:spPr>
          <a:xfrm>
            <a:off x="685800" y="5577840"/>
            <a:ext cx="10820095" cy="685800"/>
          </a:xfrm>
          <a:prstGeom prst="rect">
            <a:avLst/>
          </a:prstGeom>
          <a:noFill/>
          <a:ln/>
        </p:spPr>
        <p:txBody>
          <a:bodyPr wrap="square" lIns="0" tIns="0" rIns="0" bIns="0" rtlCol="0" anchor="ctr"/>
          <a:lstStyle/>
          <a:p>
            <a:pPr indent="0" marL="0">
              <a:buNone/>
            </a:pPr>
            <a:r>
              <a:rPr lang="en-US" sz="1700" b="1" dirty="0">
                <a:solidFill>
                  <a:srgbClr val="B71C1C"/>
                </a:solidFill>
                <a:latin typeface="Calibri" pitchFamily="34" charset="0"/>
                <a:ea typeface="Calibri" pitchFamily="34" charset="-122"/>
                <a:cs typeface="Calibri" pitchFamily="34" charset="-120"/>
              </a:rPr>
              <a:t>Sonuç  </a:t>
            </a:r>
            <a:r>
              <a:rPr lang="en-US" sz="1700" dirty="0">
                <a:solidFill>
                  <a:srgbClr val="212121"/>
                </a:solidFill>
                <a:latin typeface="Calibri" pitchFamily="34" charset="0"/>
                <a:ea typeface="Calibri" pitchFamily="34" charset="-122"/>
                <a:cs typeface="Calibri" pitchFamily="34" charset="-120"/>
              </a:rPr>
              <a:t>Üstel arama uzayı → kaba kuvvet imkânsız. Dinamik programlama aynı optimumu </a:t>
            </a:r>
            <a:r>
              <a:rPr lang="en-US" sz="1700" b="1" dirty="0">
                <a:solidFill>
                  <a:srgbClr val="212121"/>
                </a:solidFill>
                <a:latin typeface="Calibri" pitchFamily="34" charset="0"/>
                <a:ea typeface="Calibri" pitchFamily="34" charset="-122"/>
                <a:cs typeface="Calibri" pitchFamily="34" charset="-120"/>
              </a:rPr>
              <a:t>(m+1)(n+1)</a:t>
            </a:r>
            <a:r>
              <a:rPr lang="en-US" sz="1700" dirty="0">
                <a:solidFill>
                  <a:srgbClr val="212121"/>
                </a:solidFill>
                <a:latin typeface="Calibri" pitchFamily="34" charset="0"/>
                <a:ea typeface="Calibri" pitchFamily="34" charset="-122"/>
                <a:cs typeface="Calibri" pitchFamily="34" charset="-120"/>
              </a:rPr>
              <a:t> hücreyle bulur: n = 100 için yalnızca 10 201 hücre.</a:t>
            </a:r>
            <a:endParaRPr lang="en-US" sz="1700" dirty="0"/>
          </a:p>
        </p:txBody>
      </p:sp>
      <p:sp>
        <p:nvSpPr>
          <p:cNvPr id="10" name="Text 7"/>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6: Global hizalama (NW)</a:t>
            </a:r>
            <a:endParaRPr lang="en-US" sz="900" dirty="0"/>
          </a:p>
        </p:txBody>
      </p:sp>
      <p:sp>
        <p:nvSpPr>
          <p:cNvPr id="11" name="Text 8"/>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Puanlama şeması</a:t>
            </a:r>
            <a:endParaRPr lang="en-US" sz="3000" dirty="0"/>
          </a:p>
        </p:txBody>
      </p:sp>
      <p:sp>
        <p:nvSpPr>
          <p:cNvPr id="3" name="Shape 1"/>
          <p:cNvSpPr/>
          <p:nvPr/>
        </p:nvSpPr>
        <p:spPr>
          <a:xfrm>
            <a:off x="548640" y="1234440"/>
            <a:ext cx="11094415" cy="891540"/>
          </a:xfrm>
          <a:prstGeom prst="roundRect">
            <a:avLst>
              <a:gd name="adj" fmla="val 8205"/>
            </a:avLst>
          </a:prstGeom>
          <a:solidFill>
            <a:srgbClr val="F7F9FA"/>
          </a:solidFill>
          <a:ln w="12700">
            <a:solidFill>
              <a:srgbClr val="B0BEC5"/>
            </a:solidFill>
            <a:prstDash val="solid"/>
          </a:ln>
        </p:spPr>
      </p:sp>
      <p:sp>
        <p:nvSpPr>
          <p:cNvPr id="4" name="Text 2"/>
          <p:cNvSpPr txBox="1"/>
          <p:nvPr/>
        </p:nvSpPr>
        <p:spPr>
          <a:xfrm>
            <a:off x="731520" y="1234440"/>
            <a:ext cx="2651760" cy="891540"/>
          </a:xfrm>
          <a:prstGeom prst="rect">
            <a:avLst/>
          </a:prstGeom>
          <a:noFill/>
          <a:ln/>
        </p:spPr>
        <p:txBody>
          <a:bodyPr wrap="square" lIns="0" tIns="0" rIns="0" bIns="0" rtlCol="0" anchor="ctr"/>
          <a:lstStyle/>
          <a:p>
            <a:pPr indent="0" marL="0">
              <a:buNone/>
            </a:pPr>
            <a:r>
              <a:rPr lang="en-US" sz="1600" b="1" dirty="0">
                <a:solidFill>
                  <a:srgbClr val="263238"/>
                </a:solidFill>
              </a:rPr>
              <a:t>Eşleşme</a:t>
            </a:r>
            <a:endParaRPr lang="en-US" sz="1600" dirty="0"/>
          </a:p>
        </p:txBody>
      </p:sp>
      <p:sp>
        <p:nvSpPr>
          <p:cNvPr id="5" name="Text 3"/>
          <p:cNvSpPr txBox="1"/>
          <p:nvPr/>
        </p:nvSpPr>
        <p:spPr>
          <a:xfrm>
            <a:off x="3474720" y="1234440"/>
            <a:ext cx="4754880" cy="891540"/>
          </a:xfrm>
          <a:prstGeom prst="rect">
            <a:avLst/>
          </a:prstGeom>
          <a:noFill/>
          <a:ln/>
        </p:spPr>
        <p:txBody>
          <a:bodyPr wrap="square" lIns="0" tIns="0" rIns="0" bIns="0" rtlCol="0" anchor="ctr"/>
          <a:lstStyle/>
          <a:p>
            <a:pPr indent="0" marL="0">
              <a:buNone/>
            </a:pPr>
            <a:r>
              <a:rPr lang="en-US" sz="1800" dirty="0">
                <a:solidFill>
                  <a:srgbClr val="B71C1C"/>
                </a:solidFill>
                <a:latin typeface="Cambria" pitchFamily="34" charset="0"/>
                <a:ea typeface="Cambria" pitchFamily="34" charset="-122"/>
                <a:cs typeface="Cambria" pitchFamily="34" charset="-120"/>
              </a:rPr>
              <a:t>s(a, a) = +1</a:t>
            </a:r>
            <a:endParaRPr lang="en-US" sz="1800" dirty="0"/>
          </a:p>
        </p:txBody>
      </p:sp>
      <p:sp>
        <p:nvSpPr>
          <p:cNvPr id="6" name="Text 4"/>
          <p:cNvSpPr txBox="1"/>
          <p:nvPr/>
        </p:nvSpPr>
        <p:spPr>
          <a:xfrm>
            <a:off x="8412480" y="1234440"/>
            <a:ext cx="3047695" cy="891540"/>
          </a:xfrm>
          <a:prstGeom prst="rect">
            <a:avLst/>
          </a:prstGeom>
          <a:noFill/>
          <a:ln/>
        </p:spPr>
        <p:txBody>
          <a:bodyPr wrap="square" lIns="0" tIns="0" rIns="0" bIns="0" rtlCol="0" anchor="ctr"/>
          <a:lstStyle/>
          <a:p>
            <a:pPr indent="0" marL="0">
              <a:buNone/>
            </a:pPr>
            <a:r>
              <a:rPr lang="en-US" sz="1300" dirty="0">
                <a:solidFill>
                  <a:srgbClr val="546E7A"/>
                </a:solidFill>
                <a:latin typeface="Calibri" pitchFamily="34" charset="0"/>
                <a:ea typeface="Calibri" pitchFamily="34" charset="-122"/>
                <a:cs typeface="Calibri" pitchFamily="34" charset="-120"/>
              </a:rPr>
              <a:t>Aynı harf; proteinlerde matristen gelir (BLOSUM, 7. hafta)</a:t>
            </a:r>
            <a:endParaRPr lang="en-US" sz="1300" dirty="0"/>
          </a:p>
        </p:txBody>
      </p:sp>
      <p:sp>
        <p:nvSpPr>
          <p:cNvPr id="7" name="Shape 5"/>
          <p:cNvSpPr/>
          <p:nvPr/>
        </p:nvSpPr>
        <p:spPr>
          <a:xfrm>
            <a:off x="548640" y="2308860"/>
            <a:ext cx="11094415" cy="891540"/>
          </a:xfrm>
          <a:prstGeom prst="roundRect">
            <a:avLst>
              <a:gd name="adj" fmla="val 8205"/>
            </a:avLst>
          </a:prstGeom>
          <a:solidFill>
            <a:srgbClr val="F7F9FA"/>
          </a:solidFill>
          <a:ln w="12700">
            <a:solidFill>
              <a:srgbClr val="B0BEC5"/>
            </a:solidFill>
            <a:prstDash val="solid"/>
          </a:ln>
        </p:spPr>
      </p:sp>
      <p:sp>
        <p:nvSpPr>
          <p:cNvPr id="8" name="Text 6"/>
          <p:cNvSpPr txBox="1"/>
          <p:nvPr/>
        </p:nvSpPr>
        <p:spPr>
          <a:xfrm>
            <a:off x="731520" y="2308860"/>
            <a:ext cx="2651760" cy="891540"/>
          </a:xfrm>
          <a:prstGeom prst="rect">
            <a:avLst/>
          </a:prstGeom>
          <a:noFill/>
          <a:ln/>
        </p:spPr>
        <p:txBody>
          <a:bodyPr wrap="square" lIns="0" tIns="0" rIns="0" bIns="0" rtlCol="0" anchor="ctr"/>
          <a:lstStyle/>
          <a:p>
            <a:pPr indent="0" marL="0">
              <a:buNone/>
            </a:pPr>
            <a:r>
              <a:rPr lang="en-US" sz="1600" b="1" dirty="0">
                <a:solidFill>
                  <a:srgbClr val="263238"/>
                </a:solidFill>
              </a:rPr>
              <a:t>Uyumsuzluk</a:t>
            </a:r>
            <a:endParaRPr lang="en-US" sz="1600" dirty="0"/>
          </a:p>
        </p:txBody>
      </p:sp>
      <p:sp>
        <p:nvSpPr>
          <p:cNvPr id="9" name="Text 7"/>
          <p:cNvSpPr txBox="1"/>
          <p:nvPr/>
        </p:nvSpPr>
        <p:spPr>
          <a:xfrm>
            <a:off x="3474720" y="2308860"/>
            <a:ext cx="4754880" cy="891540"/>
          </a:xfrm>
          <a:prstGeom prst="rect">
            <a:avLst/>
          </a:prstGeom>
          <a:noFill/>
          <a:ln/>
        </p:spPr>
        <p:txBody>
          <a:bodyPr wrap="square" lIns="0" tIns="0" rIns="0" bIns="0" rtlCol="0" anchor="ctr"/>
          <a:lstStyle/>
          <a:p>
            <a:pPr indent="0" marL="0">
              <a:buNone/>
            </a:pPr>
            <a:r>
              <a:rPr lang="en-US" sz="1800" dirty="0">
                <a:solidFill>
                  <a:srgbClr val="B71C1C"/>
                </a:solidFill>
                <a:latin typeface="Cambria" pitchFamily="34" charset="0"/>
                <a:ea typeface="Cambria" pitchFamily="34" charset="-122"/>
                <a:cs typeface="Cambria" pitchFamily="34" charset="-120"/>
              </a:rPr>
              <a:t>s(a, b) = −1   (a ≠ b)</a:t>
            </a:r>
            <a:endParaRPr lang="en-US" sz="1800" dirty="0"/>
          </a:p>
        </p:txBody>
      </p:sp>
      <p:sp>
        <p:nvSpPr>
          <p:cNvPr id="10" name="Text 8"/>
          <p:cNvSpPr txBox="1"/>
          <p:nvPr/>
        </p:nvSpPr>
        <p:spPr>
          <a:xfrm>
            <a:off x="8412480" y="2308860"/>
            <a:ext cx="3047695" cy="891540"/>
          </a:xfrm>
          <a:prstGeom prst="rect">
            <a:avLst/>
          </a:prstGeom>
          <a:noFill/>
          <a:ln/>
        </p:spPr>
        <p:txBody>
          <a:bodyPr wrap="square" lIns="0" tIns="0" rIns="0" bIns="0" rtlCol="0" anchor="ctr"/>
          <a:lstStyle/>
          <a:p>
            <a:pPr indent="0" marL="0">
              <a:buNone/>
            </a:pPr>
            <a:r>
              <a:rPr lang="en-US" sz="1300" dirty="0">
                <a:solidFill>
                  <a:srgbClr val="546E7A"/>
                </a:solidFill>
                <a:latin typeface="Calibri" pitchFamily="34" charset="0"/>
                <a:ea typeface="Calibri" pitchFamily="34" charset="-122"/>
                <a:cs typeface="Calibri" pitchFamily="34" charset="-120"/>
              </a:rPr>
              <a:t>Yer değiştirme</a:t>
            </a:r>
            <a:endParaRPr lang="en-US" sz="1300" dirty="0"/>
          </a:p>
        </p:txBody>
      </p:sp>
      <p:sp>
        <p:nvSpPr>
          <p:cNvPr id="11" name="Shape 9"/>
          <p:cNvSpPr/>
          <p:nvPr/>
        </p:nvSpPr>
        <p:spPr>
          <a:xfrm>
            <a:off x="548640" y="3383280"/>
            <a:ext cx="11094415" cy="891540"/>
          </a:xfrm>
          <a:prstGeom prst="roundRect">
            <a:avLst>
              <a:gd name="adj" fmla="val 8205"/>
            </a:avLst>
          </a:prstGeom>
          <a:solidFill>
            <a:srgbClr val="F7F9FA"/>
          </a:solidFill>
          <a:ln w="12700">
            <a:solidFill>
              <a:srgbClr val="B0BEC5"/>
            </a:solidFill>
            <a:prstDash val="solid"/>
          </a:ln>
        </p:spPr>
      </p:sp>
      <p:sp>
        <p:nvSpPr>
          <p:cNvPr id="12" name="Text 10"/>
          <p:cNvSpPr txBox="1"/>
          <p:nvPr/>
        </p:nvSpPr>
        <p:spPr>
          <a:xfrm>
            <a:off x="731520" y="3383280"/>
            <a:ext cx="2651760" cy="891540"/>
          </a:xfrm>
          <a:prstGeom prst="rect">
            <a:avLst/>
          </a:prstGeom>
          <a:noFill/>
          <a:ln/>
        </p:spPr>
        <p:txBody>
          <a:bodyPr wrap="square" lIns="0" tIns="0" rIns="0" bIns="0" rtlCol="0" anchor="ctr"/>
          <a:lstStyle/>
          <a:p>
            <a:pPr indent="0" marL="0">
              <a:buNone/>
            </a:pPr>
            <a:r>
              <a:rPr lang="en-US" sz="1600" b="1" dirty="0">
                <a:solidFill>
                  <a:srgbClr val="263238"/>
                </a:solidFill>
              </a:rPr>
              <a:t>Doğrusal boşluk</a:t>
            </a:r>
            <a:endParaRPr lang="en-US" sz="1600" dirty="0"/>
          </a:p>
        </p:txBody>
      </p:sp>
      <p:sp>
        <p:nvSpPr>
          <p:cNvPr id="13" name="Text 11"/>
          <p:cNvSpPr txBox="1"/>
          <p:nvPr/>
        </p:nvSpPr>
        <p:spPr>
          <a:xfrm>
            <a:off x="3474720" y="3383280"/>
            <a:ext cx="4754880" cy="891540"/>
          </a:xfrm>
          <a:prstGeom prst="rect">
            <a:avLst/>
          </a:prstGeom>
          <a:noFill/>
          <a:ln/>
        </p:spPr>
        <p:txBody>
          <a:bodyPr wrap="square" lIns="0" tIns="0" rIns="0" bIns="0" rtlCol="0" anchor="ctr"/>
          <a:lstStyle/>
          <a:p>
            <a:pPr indent="0" marL="0">
              <a:buNone/>
            </a:pPr>
            <a:r>
              <a:rPr lang="en-US" sz="1800" dirty="0">
                <a:solidFill>
                  <a:srgbClr val="B71C1C"/>
                </a:solidFill>
                <a:latin typeface="Cambria" pitchFamily="34" charset="0"/>
                <a:ea typeface="Cambria" pitchFamily="34" charset="-122"/>
                <a:cs typeface="Cambria" pitchFamily="34" charset="-120"/>
              </a:rPr>
              <a:t>w(k) = k · g,   g = −2</a:t>
            </a:r>
            <a:endParaRPr lang="en-US" sz="1800" dirty="0"/>
          </a:p>
        </p:txBody>
      </p:sp>
      <p:sp>
        <p:nvSpPr>
          <p:cNvPr id="14" name="Text 12"/>
          <p:cNvSpPr txBox="1"/>
          <p:nvPr/>
        </p:nvSpPr>
        <p:spPr>
          <a:xfrm>
            <a:off x="8412480" y="3383280"/>
            <a:ext cx="3047695" cy="891540"/>
          </a:xfrm>
          <a:prstGeom prst="rect">
            <a:avLst/>
          </a:prstGeom>
          <a:noFill/>
          <a:ln/>
        </p:spPr>
        <p:txBody>
          <a:bodyPr wrap="square" lIns="0" tIns="0" rIns="0" bIns="0" rtlCol="0" anchor="ctr"/>
          <a:lstStyle/>
          <a:p>
            <a:pPr indent="0" marL="0">
              <a:buNone/>
            </a:pPr>
            <a:r>
              <a:rPr lang="en-US" sz="1300" dirty="0">
                <a:solidFill>
                  <a:srgbClr val="546E7A"/>
                </a:solidFill>
                <a:latin typeface="Calibri" pitchFamily="34" charset="0"/>
                <a:ea typeface="Calibri" pitchFamily="34" charset="-122"/>
                <a:cs typeface="Calibri" pitchFamily="34" charset="-120"/>
              </a:rPr>
              <a:t>k uzunluklu boşluk; afin ceza 7. haftada</a:t>
            </a:r>
            <a:endParaRPr lang="en-US" sz="1300" dirty="0"/>
          </a:p>
        </p:txBody>
      </p:sp>
      <p:sp>
        <p:nvSpPr>
          <p:cNvPr id="15" name="Shape 13"/>
          <p:cNvSpPr/>
          <p:nvPr/>
        </p:nvSpPr>
        <p:spPr>
          <a:xfrm>
            <a:off x="548640" y="4457700"/>
            <a:ext cx="11094415" cy="891540"/>
          </a:xfrm>
          <a:prstGeom prst="roundRect">
            <a:avLst>
              <a:gd name="adj" fmla="val 8205"/>
            </a:avLst>
          </a:prstGeom>
          <a:solidFill>
            <a:srgbClr val="F7F9FA"/>
          </a:solidFill>
          <a:ln w="12700">
            <a:solidFill>
              <a:srgbClr val="B0BEC5"/>
            </a:solidFill>
            <a:prstDash val="solid"/>
          </a:ln>
        </p:spPr>
      </p:sp>
      <p:sp>
        <p:nvSpPr>
          <p:cNvPr id="16" name="Text 14"/>
          <p:cNvSpPr txBox="1"/>
          <p:nvPr/>
        </p:nvSpPr>
        <p:spPr>
          <a:xfrm>
            <a:off x="731520" y="4457700"/>
            <a:ext cx="2651760" cy="891540"/>
          </a:xfrm>
          <a:prstGeom prst="rect">
            <a:avLst/>
          </a:prstGeom>
          <a:noFill/>
          <a:ln/>
        </p:spPr>
        <p:txBody>
          <a:bodyPr wrap="square" lIns="0" tIns="0" rIns="0" bIns="0" rtlCol="0" anchor="ctr"/>
          <a:lstStyle/>
          <a:p>
            <a:pPr indent="0" marL="0">
              <a:buNone/>
            </a:pPr>
            <a:r>
              <a:rPr lang="en-US" sz="1600" b="1" dirty="0">
                <a:solidFill>
                  <a:srgbClr val="263238"/>
                </a:solidFill>
              </a:rPr>
              <a:t>Hizalama skoru</a:t>
            </a:r>
            <a:endParaRPr lang="en-US" sz="1600" dirty="0"/>
          </a:p>
        </p:txBody>
      </p:sp>
      <p:sp>
        <p:nvSpPr>
          <p:cNvPr id="17" name="Text 15"/>
          <p:cNvSpPr txBox="1"/>
          <p:nvPr/>
        </p:nvSpPr>
        <p:spPr>
          <a:xfrm>
            <a:off x="3474720" y="4457700"/>
            <a:ext cx="4754880" cy="891540"/>
          </a:xfrm>
          <a:prstGeom prst="rect">
            <a:avLst/>
          </a:prstGeom>
          <a:noFill/>
          <a:ln/>
        </p:spPr>
        <p:txBody>
          <a:bodyPr wrap="square" lIns="0" tIns="0" rIns="0" bIns="0" rtlCol="0" anchor="ctr"/>
          <a:lstStyle/>
          <a:p>
            <a:pPr indent="0" marL="0">
              <a:buNone/>
            </a:pPr>
            <a:r>
              <a:rPr lang="en-US" sz="1800" dirty="0">
                <a:solidFill>
                  <a:srgbClr val="B71C1C"/>
                </a:solidFill>
                <a:latin typeface="Cambria" pitchFamily="34" charset="0"/>
                <a:ea typeface="Cambria" pitchFamily="34" charset="-122"/>
                <a:cs typeface="Cambria" pitchFamily="34" charset="-120"/>
              </a:rPr>
              <a:t>S = Σ sütun skorları</a:t>
            </a:r>
            <a:endParaRPr lang="en-US" sz="1800" dirty="0"/>
          </a:p>
        </p:txBody>
      </p:sp>
      <p:sp>
        <p:nvSpPr>
          <p:cNvPr id="18" name="Text 16"/>
          <p:cNvSpPr txBox="1"/>
          <p:nvPr/>
        </p:nvSpPr>
        <p:spPr>
          <a:xfrm>
            <a:off x="8412480" y="4457700"/>
            <a:ext cx="3047695" cy="891540"/>
          </a:xfrm>
          <a:prstGeom prst="rect">
            <a:avLst/>
          </a:prstGeom>
          <a:noFill/>
          <a:ln/>
        </p:spPr>
        <p:txBody>
          <a:bodyPr wrap="square" lIns="0" tIns="0" rIns="0" bIns="0" rtlCol="0" anchor="ctr"/>
          <a:lstStyle/>
          <a:p>
            <a:pPr indent="0" marL="0">
              <a:buNone/>
            </a:pPr>
            <a:r>
              <a:rPr lang="en-US" sz="1300" dirty="0">
                <a:solidFill>
                  <a:srgbClr val="546E7A"/>
                </a:solidFill>
                <a:latin typeface="Calibri" pitchFamily="34" charset="0"/>
                <a:ea typeface="Calibri" pitchFamily="34" charset="-122"/>
                <a:cs typeface="Calibri" pitchFamily="34" charset="-120"/>
              </a:rPr>
              <a:t>Sütunlar bağımsız kabul edilir → toplam ayrıştırılabilir (DP'nin ön koşulu)</a:t>
            </a:r>
            <a:endParaRPr lang="en-US" sz="1300" dirty="0"/>
          </a:p>
        </p:txBody>
      </p:sp>
      <p:sp>
        <p:nvSpPr>
          <p:cNvPr id="19" name="Shape 17"/>
          <p:cNvSpPr/>
          <p:nvPr/>
        </p:nvSpPr>
        <p:spPr>
          <a:xfrm>
            <a:off x="548640" y="5440680"/>
            <a:ext cx="11094415" cy="822960"/>
          </a:xfrm>
          <a:prstGeom prst="roundRect">
            <a:avLst>
              <a:gd name="adj" fmla="val 8889"/>
            </a:avLst>
          </a:prstGeom>
          <a:solidFill>
            <a:srgbClr val="FDECEA"/>
          </a:solidFill>
          <a:ln/>
        </p:spPr>
      </p:sp>
      <p:sp>
        <p:nvSpPr>
          <p:cNvPr id="20" name="Text 18"/>
          <p:cNvSpPr txBox="1"/>
          <p:nvPr/>
        </p:nvSpPr>
        <p:spPr>
          <a:xfrm>
            <a:off x="731520" y="5440680"/>
            <a:ext cx="10728655" cy="822960"/>
          </a:xfrm>
          <a:prstGeom prst="rect">
            <a:avLst/>
          </a:prstGeom>
          <a:noFill/>
          <a:ln/>
        </p:spPr>
        <p:txBody>
          <a:bodyPr wrap="square" lIns="0" tIns="0" rIns="0" bIns="0" rtlCol="0" anchor="ctr"/>
          <a:lstStyle/>
          <a:p>
            <a:pPr indent="0" marL="0">
              <a:buNone/>
            </a:pPr>
            <a:r>
              <a:rPr lang="en-US" sz="1600" dirty="0">
                <a:solidFill>
                  <a:srgbClr val="212121"/>
                </a:solidFill>
                <a:latin typeface="Calibri" pitchFamily="34" charset="0"/>
                <a:ea typeface="Calibri" pitchFamily="34" charset="-122"/>
                <a:cs typeface="Calibri" pitchFamily="34" charset="-120"/>
              </a:rPr>
              <a:t>Skorun sütunlar üzerinden </a:t>
            </a:r>
            <a:r>
              <a:rPr lang="en-US" sz="1600" b="1" dirty="0">
                <a:solidFill>
                  <a:srgbClr val="212121"/>
                </a:solidFill>
                <a:latin typeface="Calibri" pitchFamily="34" charset="0"/>
                <a:ea typeface="Calibri" pitchFamily="34" charset="-122"/>
                <a:cs typeface="Calibri" pitchFamily="34" charset="-120"/>
              </a:rPr>
              <a:t>toplanabilir</a:t>
            </a:r>
            <a:r>
              <a:rPr lang="en-US" sz="1600" dirty="0">
                <a:solidFill>
                  <a:srgbClr val="212121"/>
                </a:solidFill>
                <a:latin typeface="Calibri" pitchFamily="34" charset="0"/>
                <a:ea typeface="Calibri" pitchFamily="34" charset="-122"/>
                <a:cs typeface="Calibri" pitchFamily="34" charset="-120"/>
              </a:rPr>
              <a:t> olması kritik: son sütunu çıkarınca kalan hizalamanın skoru da optimal olmalıdır (</a:t>
            </a:r>
            <a:r>
              <a:rPr lang="en-US" sz="1600" b="1" dirty="0">
                <a:solidFill>
                  <a:srgbClr val="212121"/>
                </a:solidFill>
                <a:latin typeface="Calibri" pitchFamily="34" charset="0"/>
                <a:ea typeface="Calibri" pitchFamily="34" charset="-122"/>
                <a:cs typeface="Calibri" pitchFamily="34" charset="-120"/>
              </a:rPr>
              <a:t>optimal alt yapı</a:t>
            </a:r>
            <a:r>
              <a:rPr lang="en-US" sz="1600" dirty="0">
                <a:solidFill>
                  <a:srgbClr val="212121"/>
                </a:solidFill>
                <a:latin typeface="Calibri" pitchFamily="34" charset="0"/>
                <a:ea typeface="Calibri" pitchFamily="34" charset="-122"/>
                <a:cs typeface="Calibri" pitchFamily="34" charset="-120"/>
              </a:rPr>
              <a:t>). DP bu özelliğe dayanır.</a:t>
            </a:r>
            <a:endParaRPr lang="en-US" sz="1600" dirty="0"/>
          </a:p>
        </p:txBody>
      </p:sp>
      <p:sp>
        <p:nvSpPr>
          <p:cNvPr id="21" name="Text 19"/>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6: Global hizalama (NW)</a:t>
            </a:r>
            <a:endParaRPr lang="en-US" sz="900" dirty="0"/>
          </a:p>
        </p:txBody>
      </p:sp>
      <p:sp>
        <p:nvSpPr>
          <p:cNvPr id="22" name="Text 20"/>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Aday hizalamaları elle skorlamak</a:t>
            </a:r>
            <a:endParaRPr lang="en-US" sz="3000" dirty="0"/>
          </a:p>
        </p:txBody>
      </p:sp>
      <p:sp>
        <p:nvSpPr>
          <p:cNvPr id="3" name="Text 1"/>
          <p:cNvSpPr txBox="1"/>
          <p:nvPr/>
        </p:nvSpPr>
        <p:spPr>
          <a:xfrm>
            <a:off x="548640" y="987552"/>
            <a:ext cx="11094415" cy="365760"/>
          </a:xfrm>
          <a:prstGeom prst="rect">
            <a:avLst/>
          </a:prstGeom>
          <a:noFill/>
          <a:ln/>
        </p:spPr>
        <p:txBody>
          <a:bodyPr wrap="square" lIns="0" tIns="0" rIns="0" bIns="0" rtlCol="0" anchor="t"/>
          <a:lstStyle/>
          <a:p>
            <a:pPr indent="0" marL="0">
              <a:buNone/>
            </a:pPr>
            <a:r>
              <a:rPr lang="en-US" sz="1500" i="1" dirty="0">
                <a:solidFill>
                  <a:srgbClr val="546E7A"/>
                </a:solidFill>
                <a:latin typeface="Calibri" pitchFamily="34" charset="0"/>
                <a:ea typeface="Calibri" pitchFamily="34" charset="-122"/>
                <a:cs typeface="Calibri" pitchFamily="34" charset="-120"/>
              </a:rPr>
              <a:t>Çözümlü örnek — yeni</a:t>
            </a:r>
            <a:endParaRPr lang="en-US" sz="1500" dirty="0"/>
          </a:p>
        </p:txBody>
      </p:sp>
      <p:sp>
        <p:nvSpPr>
          <p:cNvPr id="4" name="Shape 2"/>
          <p:cNvSpPr/>
          <p:nvPr/>
        </p:nvSpPr>
        <p:spPr>
          <a:xfrm>
            <a:off x="548640" y="1463040"/>
            <a:ext cx="11094415" cy="1088136"/>
          </a:xfrm>
          <a:prstGeom prst="roundRect">
            <a:avLst>
              <a:gd name="adj" fmla="val 6723"/>
            </a:avLst>
          </a:prstGeom>
          <a:solidFill>
            <a:srgbClr val="ECEFF1"/>
          </a:solidFill>
          <a:ln/>
        </p:spPr>
      </p:sp>
      <p:sp>
        <p:nvSpPr>
          <p:cNvPr id="5" name="Text 3"/>
          <p:cNvSpPr txBox="1"/>
          <p:nvPr/>
        </p:nvSpPr>
        <p:spPr>
          <a:xfrm>
            <a:off x="685800" y="1508760"/>
            <a:ext cx="10820095" cy="996696"/>
          </a:xfrm>
          <a:prstGeom prst="rect">
            <a:avLst/>
          </a:prstGeom>
          <a:noFill/>
          <a:ln/>
        </p:spPr>
        <p:txBody>
          <a:bodyPr wrap="square" lIns="0" tIns="0" rIns="0" bIns="0" rtlCol="0" anchor="ctr"/>
          <a:lstStyle/>
          <a:p>
            <a:pPr indent="0" marL="0">
              <a:buNone/>
            </a:pPr>
            <a:r>
              <a:rPr lang="en-US" sz="1800" b="1" dirty="0">
                <a:solidFill>
                  <a:srgbClr val="B71C1C"/>
                </a:solidFill>
                <a:latin typeface="Calibri" pitchFamily="34" charset="0"/>
                <a:ea typeface="Calibri" pitchFamily="34" charset="-122"/>
                <a:cs typeface="Calibri" pitchFamily="34" charset="-120"/>
              </a:rPr>
              <a:t>Soru  </a:t>
            </a:r>
            <a:r>
              <a:rPr lang="en-US" sz="1800" dirty="0">
                <a:solidFill>
                  <a:srgbClr val="212121"/>
                </a:solidFill>
                <a:latin typeface="Calibri" pitchFamily="34" charset="0"/>
                <a:ea typeface="Calibri" pitchFamily="34" charset="-122"/>
                <a:cs typeface="Calibri" pitchFamily="34" charset="-120"/>
              </a:rPr>
              <a:t>x = </a:t>
            </a:r>
            <a:r>
              <a:rPr lang="en-US" sz="1800" dirty="0">
                <a:solidFill>
                  <a:srgbClr val="455A64"/>
                </a:solidFill>
                <a:latin typeface="Courier New" pitchFamily="34" charset="0"/>
                <a:ea typeface="Courier New" pitchFamily="34" charset="-122"/>
                <a:cs typeface="Courier New" pitchFamily="34" charset="-120"/>
              </a:rPr>
              <a:t>CATGCA</a:t>
            </a:r>
            <a:r>
              <a:rPr lang="en-US" sz="1800" dirty="0">
                <a:solidFill>
                  <a:srgbClr val="212121"/>
                </a:solidFill>
                <a:latin typeface="Calibri" pitchFamily="34" charset="0"/>
                <a:ea typeface="Calibri" pitchFamily="34" charset="-122"/>
                <a:cs typeface="Calibri" pitchFamily="34" charset="-120"/>
              </a:rPr>
              <a:t>, y = </a:t>
            </a:r>
            <a:r>
              <a:rPr lang="en-US" sz="1800" dirty="0">
                <a:solidFill>
                  <a:srgbClr val="455A64"/>
                </a:solidFill>
                <a:latin typeface="Courier New" pitchFamily="34" charset="0"/>
                <a:ea typeface="Courier New" pitchFamily="34" charset="-122"/>
                <a:cs typeface="Courier New" pitchFamily="34" charset="-120"/>
              </a:rPr>
              <a:t>CAGCA</a:t>
            </a:r>
            <a:r>
              <a:rPr lang="en-US" sz="1800" dirty="0">
                <a:solidFill>
                  <a:srgbClr val="212121"/>
                </a:solidFill>
                <a:latin typeface="Calibri" pitchFamily="34" charset="0"/>
                <a:ea typeface="Calibri" pitchFamily="34" charset="-122"/>
                <a:cs typeface="Calibri" pitchFamily="34" charset="-120"/>
              </a:rPr>
              <a:t> için dört aday hizalamayı +1/−1/−2 ile skorlayın. En iyisi hangisi? Tüm adayları denemek neden ölçeklenmez?</a:t>
            </a:r>
            <a:endParaRPr lang="en-US" sz="1800" dirty="0"/>
          </a:p>
        </p:txBody>
      </p:sp>
      <p:sp>
        <p:nvSpPr>
          <p:cNvPr id="6" name="Text 4"/>
          <p:cNvSpPr txBox="1"/>
          <p:nvPr/>
        </p:nvSpPr>
        <p:spPr>
          <a:xfrm>
            <a:off x="548640" y="2779776"/>
            <a:ext cx="6101928" cy="2615184"/>
          </a:xfrm>
          <a:prstGeom prst="rect">
            <a:avLst/>
          </a:prstGeom>
          <a:noFill/>
          <a:ln/>
        </p:spPr>
        <p:txBody>
          <a:bodyPr wrap="square" lIns="25400" tIns="25400" rIns="50800" bIns="25400" rtlCol="0" anchor="t"/>
          <a:lstStyle/>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a:t>
            </a:r>
            <a:r>
              <a:rPr lang="en-US" sz="1800" dirty="0">
                <a:solidFill>
                  <a:srgbClr val="455A64"/>
                </a:solidFill>
                <a:latin typeface="Courier New" pitchFamily="34" charset="0"/>
                <a:ea typeface="Courier New" pitchFamily="34" charset="-122"/>
                <a:cs typeface="Courier New" pitchFamily="34" charset="-120"/>
              </a:rPr>
              <a:t>CATGCA</a:t>
            </a:r>
            <a:r>
              <a:rPr lang="en-US" sz="1800" dirty="0">
                <a:solidFill>
                  <a:srgbClr val="212121"/>
                </a:solidFill>
                <a:latin typeface="Calibri" pitchFamily="34" charset="0"/>
                <a:ea typeface="Calibri" pitchFamily="34" charset="-122"/>
                <a:cs typeface="Calibri" pitchFamily="34" charset="-120"/>
              </a:rPr>
              <a:t>/</a:t>
            </a:r>
            <a:r>
              <a:rPr lang="en-US" sz="1800" dirty="0">
                <a:solidFill>
                  <a:srgbClr val="455A64"/>
                </a:solidFill>
                <a:latin typeface="Courier New" pitchFamily="34" charset="0"/>
                <a:ea typeface="Courier New" pitchFamily="34" charset="-122"/>
                <a:cs typeface="Courier New" pitchFamily="34" charset="-120"/>
              </a:rPr>
              <a:t>CA-GCA</a:t>
            </a:r>
            <a:r>
              <a:rPr lang="en-US" sz="1800" dirty="0">
                <a:solidFill>
                  <a:srgbClr val="212121"/>
                </a:solidFill>
                <a:latin typeface="Calibri" pitchFamily="34" charset="0"/>
                <a:ea typeface="Calibri" pitchFamily="34" charset="-122"/>
                <a:cs typeface="Calibri" pitchFamily="34" charset="-120"/>
              </a:rPr>
              <a:t>: 5 eşleşme (+5) + 1 boşluk (−2) = </a:t>
            </a:r>
            <a:r>
              <a:rPr lang="en-US" sz="1800" b="1" dirty="0">
                <a:solidFill>
                  <a:srgbClr val="212121"/>
                </a:solidFill>
                <a:latin typeface="Calibri" pitchFamily="34" charset="0"/>
                <a:ea typeface="Calibri" pitchFamily="34" charset="-122"/>
                <a:cs typeface="Calibri" pitchFamily="34" charset="-120"/>
              </a:rPr>
              <a:t>3</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a:t>
            </a:r>
            <a:r>
              <a:rPr lang="en-US" sz="1800" dirty="0">
                <a:solidFill>
                  <a:srgbClr val="455A64"/>
                </a:solidFill>
                <a:latin typeface="Courier New" pitchFamily="34" charset="0"/>
                <a:ea typeface="Courier New" pitchFamily="34" charset="-122"/>
                <a:cs typeface="Courier New" pitchFamily="34" charset="-120"/>
              </a:rPr>
              <a:t>CATGCA</a:t>
            </a:r>
            <a:r>
              <a:rPr lang="en-US" sz="1800" dirty="0">
                <a:solidFill>
                  <a:srgbClr val="212121"/>
                </a:solidFill>
                <a:latin typeface="Calibri" pitchFamily="34" charset="0"/>
                <a:ea typeface="Calibri" pitchFamily="34" charset="-122"/>
                <a:cs typeface="Calibri" pitchFamily="34" charset="-120"/>
              </a:rPr>
              <a:t>/</a:t>
            </a:r>
            <a:r>
              <a:rPr lang="en-US" sz="1800" dirty="0">
                <a:solidFill>
                  <a:srgbClr val="455A64"/>
                </a:solidFill>
                <a:latin typeface="Courier New" pitchFamily="34" charset="0"/>
                <a:ea typeface="Courier New" pitchFamily="34" charset="-122"/>
                <a:cs typeface="Courier New" pitchFamily="34" charset="-120"/>
              </a:rPr>
              <a:t>C-AGCA</a:t>
            </a:r>
            <a:r>
              <a:rPr lang="en-US" sz="1800" dirty="0">
                <a:solidFill>
                  <a:srgbClr val="212121"/>
                </a:solidFill>
                <a:latin typeface="Calibri" pitchFamily="34" charset="0"/>
                <a:ea typeface="Calibri" pitchFamily="34" charset="-122"/>
                <a:cs typeface="Calibri" pitchFamily="34" charset="-120"/>
              </a:rPr>
              <a:t>: C +1, A/− −2, T/A −1, G, C, A +3 → </a:t>
            </a:r>
            <a:r>
              <a:rPr lang="en-US" sz="1800" b="1" dirty="0">
                <a:solidFill>
                  <a:srgbClr val="212121"/>
                </a:solidFill>
                <a:latin typeface="Calibri" pitchFamily="34" charset="0"/>
                <a:ea typeface="Calibri" pitchFamily="34" charset="-122"/>
                <a:cs typeface="Calibri" pitchFamily="34" charset="-120"/>
              </a:rPr>
              <a:t>1</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a:t>
            </a:r>
            <a:r>
              <a:rPr lang="en-US" sz="1800" dirty="0">
                <a:solidFill>
                  <a:srgbClr val="455A64"/>
                </a:solidFill>
                <a:latin typeface="Courier New" pitchFamily="34" charset="0"/>
                <a:ea typeface="Courier New" pitchFamily="34" charset="-122"/>
                <a:cs typeface="Courier New" pitchFamily="34" charset="-120"/>
              </a:rPr>
              <a:t>CATGCA</a:t>
            </a:r>
            <a:r>
              <a:rPr lang="en-US" sz="1800" dirty="0">
                <a:solidFill>
                  <a:srgbClr val="212121"/>
                </a:solidFill>
                <a:latin typeface="Calibri" pitchFamily="34" charset="0"/>
                <a:ea typeface="Calibri" pitchFamily="34" charset="-122"/>
                <a:cs typeface="Calibri" pitchFamily="34" charset="-120"/>
              </a:rPr>
              <a:t>/</a:t>
            </a:r>
            <a:r>
              <a:rPr lang="en-US" sz="1800" dirty="0">
                <a:solidFill>
                  <a:srgbClr val="455A64"/>
                </a:solidFill>
                <a:latin typeface="Courier New" pitchFamily="34" charset="0"/>
                <a:ea typeface="Courier New" pitchFamily="34" charset="-122"/>
                <a:cs typeface="Courier New" pitchFamily="34" charset="-120"/>
              </a:rPr>
              <a:t>CAG-CA</a:t>
            </a:r>
            <a:r>
              <a:rPr lang="en-US" sz="1800" dirty="0">
                <a:solidFill>
                  <a:srgbClr val="212121"/>
                </a:solidFill>
                <a:latin typeface="Calibri" pitchFamily="34" charset="0"/>
                <a:ea typeface="Calibri" pitchFamily="34" charset="-122"/>
                <a:cs typeface="Calibri" pitchFamily="34" charset="-120"/>
              </a:rPr>
              <a:t>: CA +2, T/G −1, G/− −2, CA +2 → </a:t>
            </a:r>
            <a:r>
              <a:rPr lang="en-US" sz="1800" b="1" dirty="0">
                <a:solidFill>
                  <a:srgbClr val="212121"/>
                </a:solidFill>
                <a:latin typeface="Calibri" pitchFamily="34" charset="0"/>
                <a:ea typeface="Calibri" pitchFamily="34" charset="-122"/>
                <a:cs typeface="Calibri" pitchFamily="34" charset="-120"/>
              </a:rPr>
              <a:t>1</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a:t>
            </a:r>
            <a:r>
              <a:rPr lang="en-US" sz="1800" dirty="0">
                <a:solidFill>
                  <a:srgbClr val="455A64"/>
                </a:solidFill>
                <a:latin typeface="Courier New" pitchFamily="34" charset="0"/>
                <a:ea typeface="Courier New" pitchFamily="34" charset="-122"/>
                <a:cs typeface="Courier New" pitchFamily="34" charset="-120"/>
              </a:rPr>
              <a:t>CATGCA</a:t>
            </a:r>
            <a:r>
              <a:rPr lang="en-US" sz="1800" dirty="0">
                <a:solidFill>
                  <a:srgbClr val="212121"/>
                </a:solidFill>
                <a:latin typeface="Calibri" pitchFamily="34" charset="0"/>
                <a:ea typeface="Calibri" pitchFamily="34" charset="-122"/>
                <a:cs typeface="Calibri" pitchFamily="34" charset="-120"/>
              </a:rPr>
              <a:t>/</a:t>
            </a:r>
            <a:r>
              <a:rPr lang="en-US" sz="1800" dirty="0">
                <a:solidFill>
                  <a:srgbClr val="455A64"/>
                </a:solidFill>
                <a:latin typeface="Courier New" pitchFamily="34" charset="0"/>
                <a:ea typeface="Courier New" pitchFamily="34" charset="-122"/>
                <a:cs typeface="Courier New" pitchFamily="34" charset="-120"/>
              </a:rPr>
              <a:t>-CAGCA</a:t>
            </a:r>
            <a:r>
              <a:rPr lang="en-US" sz="1800" dirty="0">
                <a:solidFill>
                  <a:srgbClr val="212121"/>
                </a:solidFill>
                <a:latin typeface="Calibri" pitchFamily="34" charset="0"/>
                <a:ea typeface="Calibri" pitchFamily="34" charset="-122"/>
                <a:cs typeface="Calibri" pitchFamily="34" charset="-120"/>
              </a:rPr>
              <a:t>: C/− −2, A/C −1, T/A −1, GCA +3 → </a:t>
            </a:r>
            <a:r>
              <a:rPr lang="en-US" sz="1800" b="1" dirty="0">
                <a:solidFill>
                  <a:srgbClr val="212121"/>
                </a:solidFill>
                <a:latin typeface="Calibri" pitchFamily="34" charset="0"/>
                <a:ea typeface="Calibri" pitchFamily="34" charset="-122"/>
                <a:cs typeface="Calibri" pitchFamily="34" charset="-120"/>
              </a:rPr>
              <a:t>−1</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Boşluk sayısı en az |m − n| = 1; fazladan her boşluk çifti en az −4 getirir</a:t>
            </a:r>
            <a:endParaRPr lang="en-US" sz="1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970608" y="2779776"/>
          <a:ext cx="4672447" cy="914400"/>
        </p:xfrm>
        <a:graphic>
          <a:graphicData uri="http://schemas.openxmlformats.org/drawingml/2006/table">
            <a:tbl>
              <a:tblPr/>
              <a:tblGrid>
                <a:gridCol w="2058869"/>
                <a:gridCol w="620499"/>
                <a:gridCol w="686290"/>
                <a:gridCol w="686290"/>
                <a:gridCol w="620499"/>
              </a:tblGrid>
              <a:tr h="0">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Aday (y satırı)</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Eşl.</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Uyum.</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Boşl.</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Skor</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a:t>
                      </a:r>
                      <a:r>
                        <a:rPr lang="en-US" sz="1600" dirty="0">
                          <a:solidFill>
                            <a:srgbClr val="455A64"/>
                          </a:solidFill>
                          <a:latin typeface="Courier New" pitchFamily="34" charset="0"/>
                          <a:ea typeface="Courier New" pitchFamily="34" charset="-122"/>
                          <a:cs typeface="Courier New" pitchFamily="34" charset="-120"/>
                        </a:rPr>
                        <a:t>CA-GCA</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5</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a:t>
                      </a:r>
                      <a:r>
                        <a:rPr lang="en-US" sz="1600" dirty="0">
                          <a:solidFill>
                            <a:srgbClr val="455A64"/>
                          </a:solidFill>
                          <a:latin typeface="Courier New" pitchFamily="34" charset="0"/>
                          <a:ea typeface="Courier New" pitchFamily="34" charset="-122"/>
                          <a:cs typeface="Courier New" pitchFamily="34" charset="-120"/>
                        </a:rPr>
                        <a:t>C-AGCA</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a:t>
                      </a:r>
                      <a:r>
                        <a:rPr lang="en-US" sz="1600" dirty="0">
                          <a:solidFill>
                            <a:srgbClr val="455A64"/>
                          </a:solidFill>
                          <a:latin typeface="Courier New" pitchFamily="34" charset="0"/>
                          <a:ea typeface="Courier New" pitchFamily="34" charset="-122"/>
                          <a:cs typeface="Courier New" pitchFamily="34" charset="-120"/>
                        </a:rPr>
                        <a:t>CAG-CA</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a:t>
                      </a:r>
                      <a:r>
                        <a:rPr lang="en-US" sz="1600" dirty="0">
                          <a:solidFill>
                            <a:srgbClr val="455A64"/>
                          </a:solidFill>
                          <a:latin typeface="Courier New" pitchFamily="34" charset="0"/>
                          <a:ea typeface="Courier New" pitchFamily="34" charset="-122"/>
                          <a:cs typeface="Courier New" pitchFamily="34" charset="-120"/>
                        </a:rPr>
                        <a:t>-CAGCA</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bl>
          </a:graphicData>
        </a:graphic>
      </p:graphicFrame>
      <p:sp>
        <p:nvSpPr>
          <p:cNvPr id="8" name="Shape 5"/>
          <p:cNvSpPr/>
          <p:nvPr/>
        </p:nvSpPr>
        <p:spPr>
          <a:xfrm>
            <a:off x="548640" y="5577840"/>
            <a:ext cx="11094415" cy="685800"/>
          </a:xfrm>
          <a:prstGeom prst="roundRect">
            <a:avLst>
              <a:gd name="adj" fmla="val 10667"/>
            </a:avLst>
          </a:prstGeom>
          <a:solidFill>
            <a:srgbClr val="FDECEA"/>
          </a:solidFill>
          <a:ln/>
        </p:spPr>
      </p:sp>
      <p:sp>
        <p:nvSpPr>
          <p:cNvPr id="9" name="Text 6"/>
          <p:cNvSpPr txBox="1"/>
          <p:nvPr/>
        </p:nvSpPr>
        <p:spPr>
          <a:xfrm>
            <a:off x="685800" y="5577840"/>
            <a:ext cx="10820095" cy="685800"/>
          </a:xfrm>
          <a:prstGeom prst="rect">
            <a:avLst/>
          </a:prstGeom>
          <a:noFill/>
          <a:ln/>
        </p:spPr>
        <p:txBody>
          <a:bodyPr wrap="square" lIns="0" tIns="0" rIns="0" bIns="0" rtlCol="0" anchor="ctr"/>
          <a:lstStyle/>
          <a:p>
            <a:pPr indent="0" marL="0">
              <a:buNone/>
            </a:pPr>
            <a:r>
              <a:rPr lang="en-US" sz="1700" b="1" dirty="0">
                <a:solidFill>
                  <a:srgbClr val="B71C1C"/>
                </a:solidFill>
                <a:latin typeface="Calibri" pitchFamily="34" charset="0"/>
                <a:ea typeface="Calibri" pitchFamily="34" charset="-122"/>
                <a:cs typeface="Calibri" pitchFamily="34" charset="-120"/>
              </a:rPr>
              <a:t>Sonuç  </a:t>
            </a:r>
            <a:r>
              <a:rPr lang="en-US" sz="1700" dirty="0">
                <a:solidFill>
                  <a:srgbClr val="212121"/>
                </a:solidFill>
                <a:latin typeface="Calibri" pitchFamily="34" charset="0"/>
                <a:ea typeface="Calibri" pitchFamily="34" charset="-122"/>
                <a:cs typeface="Calibri" pitchFamily="34" charset="-120"/>
              </a:rPr>
              <a:t>En iyi aday skor </a:t>
            </a:r>
            <a:r>
              <a:rPr lang="en-US" sz="1700" b="1" dirty="0">
                <a:solidFill>
                  <a:srgbClr val="212121"/>
                </a:solidFill>
                <a:latin typeface="Calibri" pitchFamily="34" charset="0"/>
                <a:ea typeface="Calibri" pitchFamily="34" charset="-122"/>
                <a:cs typeface="Calibri" pitchFamily="34" charset="-120"/>
              </a:rPr>
              <a:t>3</a:t>
            </a:r>
            <a:r>
              <a:rPr lang="en-US" sz="1700" dirty="0">
                <a:solidFill>
                  <a:srgbClr val="212121"/>
                </a:solidFill>
                <a:latin typeface="Calibri" pitchFamily="34" charset="0"/>
                <a:ea typeface="Calibri" pitchFamily="34" charset="-122"/>
                <a:cs typeface="Calibri" pitchFamily="34" charset="-120"/>
              </a:rPr>
              <a:t> ile </a:t>
            </a:r>
            <a:r>
              <a:rPr lang="en-US" sz="1700" dirty="0">
                <a:solidFill>
                  <a:srgbClr val="455A64"/>
                </a:solidFill>
                <a:latin typeface="Courier New" pitchFamily="34" charset="0"/>
                <a:ea typeface="Courier New" pitchFamily="34" charset="-122"/>
                <a:cs typeface="Courier New" pitchFamily="34" charset="-120"/>
              </a:rPr>
              <a:t>CA-GCA</a:t>
            </a:r>
            <a:r>
              <a:rPr lang="en-US" sz="1700" dirty="0">
                <a:solidFill>
                  <a:srgbClr val="212121"/>
                </a:solidFill>
                <a:latin typeface="Calibri" pitchFamily="34" charset="0"/>
                <a:ea typeface="Calibri" pitchFamily="34" charset="-122"/>
                <a:cs typeface="Calibri" pitchFamily="34" charset="-120"/>
              </a:rPr>
              <a:t>. Doğru ama kör: 6 × 5'lik bir problemde bile tüm adayları yazmak zahmetli. DP aynı cevabı sistematik olarak verir.</a:t>
            </a:r>
            <a:endParaRPr lang="en-US" sz="1700" dirty="0"/>
          </a:p>
        </p:txBody>
      </p:sp>
      <p:sp>
        <p:nvSpPr>
          <p:cNvPr id="10" name="Text 7"/>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6: Global hizalama (NW)</a:t>
            </a:r>
            <a:endParaRPr lang="en-US" sz="900" dirty="0"/>
          </a:p>
        </p:txBody>
      </p:sp>
      <p:sp>
        <p:nvSpPr>
          <p:cNvPr id="11" name="Text 8"/>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CEFF1"/>
        </a:solidFill>
      </p:bgPr>
    </p:bg>
    <p:spTree>
      <p:nvGrpSpPr>
        <p:cNvPr id="1" name=""/>
        <p:cNvGrpSpPr/>
        <p:nvPr/>
      </p:nvGrpSpPr>
      <p:grpSpPr>
        <a:xfrm>
          <a:off x="0" y="0"/>
          <a:ext cx="0" cy="0"/>
          <a:chOff x="0" y="0"/>
          <a:chExt cx="0" cy="0"/>
        </a:xfrm>
      </p:grpSpPr>
      <p:sp>
        <p:nvSpPr>
          <p:cNvPr id="2" name="Text 0"/>
          <p:cNvSpPr txBox="1"/>
          <p:nvPr/>
        </p:nvSpPr>
        <p:spPr>
          <a:xfrm>
            <a:off x="548640" y="1920240"/>
            <a:ext cx="2011680" cy="2011680"/>
          </a:xfrm>
          <a:prstGeom prst="rect">
            <a:avLst/>
          </a:prstGeom>
          <a:noFill/>
          <a:ln/>
        </p:spPr>
        <p:txBody>
          <a:bodyPr wrap="square" lIns="0" tIns="0" rIns="0" bIns="0" rtlCol="0" anchor="ctr"/>
          <a:lstStyle/>
          <a:p>
            <a:pPr indent="0" marL="0">
              <a:buNone/>
            </a:pPr>
            <a:r>
              <a:rPr lang="en-US" sz="11000" b="1" dirty="0">
                <a:solidFill>
                  <a:srgbClr val="B71C1C"/>
                </a:solidFill>
                <a:latin typeface="Calibri" pitchFamily="34" charset="0"/>
                <a:ea typeface="Calibri" pitchFamily="34" charset="-122"/>
                <a:cs typeface="Calibri" pitchFamily="34" charset="-120"/>
              </a:rPr>
              <a:t>2</a:t>
            </a:r>
            <a:endParaRPr lang="en-US" sz="11000" dirty="0"/>
          </a:p>
        </p:txBody>
      </p:sp>
      <p:sp>
        <p:nvSpPr>
          <p:cNvPr id="3" name="Text 1"/>
          <p:cNvSpPr txBox="1"/>
          <p:nvPr/>
        </p:nvSpPr>
        <p:spPr>
          <a:xfrm>
            <a:off x="2834640" y="2103120"/>
            <a:ext cx="8808415" cy="1005840"/>
          </a:xfrm>
          <a:prstGeom prst="rect">
            <a:avLst/>
          </a:prstGeom>
          <a:noFill/>
          <a:ln/>
        </p:spPr>
        <p:txBody>
          <a:bodyPr wrap="square" lIns="0" tIns="0" rIns="0" bIns="0" rtlCol="0" anchor="b"/>
          <a:lstStyle/>
          <a:p>
            <a:pPr indent="0" marL="0">
              <a:buNone/>
            </a:pPr>
            <a:r>
              <a:rPr lang="en-US" sz="3400" b="1" dirty="0">
                <a:solidFill>
                  <a:srgbClr val="263238"/>
                </a:solidFill>
                <a:latin typeface="Calibri" pitchFamily="34" charset="0"/>
                <a:ea typeface="Calibri" pitchFamily="34" charset="-122"/>
                <a:cs typeface="Calibri" pitchFamily="34" charset="-120"/>
              </a:rPr>
              <a:t>Needleman–Wunsch: dinamik programlama</a:t>
            </a:r>
            <a:endParaRPr lang="en-US" sz="3400" dirty="0"/>
          </a:p>
        </p:txBody>
      </p:sp>
      <p:sp>
        <p:nvSpPr>
          <p:cNvPr id="4" name="Text 2"/>
          <p:cNvSpPr txBox="1"/>
          <p:nvPr/>
        </p:nvSpPr>
        <p:spPr>
          <a:xfrm>
            <a:off x="2834640" y="3200400"/>
            <a:ext cx="8808415" cy="1097280"/>
          </a:xfrm>
          <a:prstGeom prst="rect">
            <a:avLst/>
          </a:prstGeom>
          <a:noFill/>
          <a:ln/>
        </p:spPr>
        <p:txBody>
          <a:bodyPr wrap="square" lIns="0" tIns="0" rIns="0" bIns="0" rtlCol="0" anchor="t"/>
          <a:lstStyle/>
          <a:p>
            <a:pPr indent="0" marL="0">
              <a:buNone/>
            </a:pPr>
            <a:r>
              <a:rPr lang="en-US" sz="1700" dirty="0">
                <a:solidFill>
                  <a:srgbClr val="546E7A"/>
                </a:solidFill>
                <a:latin typeface="Calibri" pitchFamily="34" charset="0"/>
                <a:ea typeface="Calibri" pitchFamily="34" charset="-122"/>
                <a:cs typeface="Calibri" pitchFamily="34" charset="-120"/>
              </a:rPr>
              <a:t>Yineleme → matris doldurma (3 aşama) → geri izleme</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Temel fikir: son sütun üç şeyden biridir</a:t>
            </a:r>
            <a:endParaRPr lang="en-US" sz="3000" dirty="0"/>
          </a:p>
        </p:txBody>
      </p:sp>
      <p:pic>
        <p:nvPicPr>
          <p:cNvPr id="3" name="Image 0" descr="p06_yineleme.png">    </p:cNvPr>
          <p:cNvPicPr>
            <a:picLocks noChangeAspect="1"/>
          </p:cNvPicPr>
          <p:nvPr/>
        </p:nvPicPr>
        <p:blipFill>
          <a:blip r:embed="rId1"/>
          <a:stretch>
            <a:fillRect/>
          </a:stretch>
        </p:blipFill>
        <p:spPr>
          <a:xfrm>
            <a:off x="548640" y="1754143"/>
            <a:ext cx="4992487" cy="3989794"/>
          </a:xfrm>
          <a:prstGeom prst="rect">
            <a:avLst/>
          </a:prstGeom>
        </p:spPr>
      </p:pic>
      <p:sp>
        <p:nvSpPr>
          <p:cNvPr id="4" name="Text 1"/>
          <p:cNvSpPr txBox="1"/>
          <p:nvPr/>
        </p:nvSpPr>
        <p:spPr>
          <a:xfrm>
            <a:off x="5861167" y="1234440"/>
            <a:ext cx="5781888" cy="5029200"/>
          </a:xfrm>
          <a:prstGeom prst="rect">
            <a:avLst/>
          </a:prstGeom>
          <a:noFill/>
          <a:ln/>
        </p:spPr>
        <p:txBody>
          <a:bodyPr wrap="square" lIns="25400" tIns="25400" rIns="50800" bIns="25400" rtlCol="0" anchor="t"/>
          <a:lstStyle/>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x[1..i] ile y[1..j]'nin optimal hizalamasının </a:t>
            </a:r>
            <a:r>
              <a:rPr lang="en-US" sz="1700" b="1" dirty="0">
                <a:solidFill>
                  <a:srgbClr val="212121"/>
                </a:solidFill>
                <a:latin typeface="Calibri" pitchFamily="34" charset="0"/>
                <a:ea typeface="Calibri" pitchFamily="34" charset="-122"/>
                <a:cs typeface="Calibri" pitchFamily="34" charset="-120"/>
              </a:rPr>
              <a:t>son sütunu</a:t>
            </a:r>
            <a:r>
              <a:rPr lang="en-US" sz="1700" dirty="0">
                <a:solidFill>
                  <a:srgbClr val="212121"/>
                </a:solidFill>
                <a:latin typeface="Calibri" pitchFamily="34" charset="0"/>
                <a:ea typeface="Calibri" pitchFamily="34" charset="-122"/>
                <a:cs typeface="Calibri" pitchFamily="34" charset="-120"/>
              </a:rPr>
              <a:t>:</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(1) xᵢ ↔ yⱼ → F(i−1, j−1) + s(xᵢ, yⱼ)  </a:t>
            </a:r>
            <a:r>
              <a:rPr lang="en-US" sz="1700" b="1" dirty="0">
                <a:solidFill>
                  <a:srgbClr val="212121"/>
                </a:solidFill>
                <a:latin typeface="Calibri" pitchFamily="34" charset="0"/>
                <a:ea typeface="Calibri" pitchFamily="34" charset="-122"/>
                <a:cs typeface="Calibri" pitchFamily="34" charset="-120"/>
              </a:rPr>
              <a:t>çapraz</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(2) xᵢ ↔ </a:t>
            </a:r>
            <a:r>
              <a:rPr lang="en-US" sz="1700" dirty="0">
                <a:solidFill>
                  <a:srgbClr val="455A64"/>
                </a:solidFill>
                <a:latin typeface="Courier New" pitchFamily="34" charset="0"/>
                <a:ea typeface="Courier New" pitchFamily="34" charset="-122"/>
                <a:cs typeface="Courier New" pitchFamily="34" charset="-120"/>
              </a:rPr>
              <a:t>-</a:t>
            </a:r>
            <a:r>
              <a:rPr lang="en-US" sz="1700" dirty="0">
                <a:solidFill>
                  <a:srgbClr val="212121"/>
                </a:solidFill>
                <a:latin typeface="Calibri" pitchFamily="34" charset="0"/>
                <a:ea typeface="Calibri" pitchFamily="34" charset="-122"/>
                <a:cs typeface="Calibri" pitchFamily="34" charset="-120"/>
              </a:rPr>
              <a:t> → F(i−1, j) + g  </a:t>
            </a:r>
            <a:r>
              <a:rPr lang="en-US" sz="1700" b="1" dirty="0">
                <a:solidFill>
                  <a:srgbClr val="212121"/>
                </a:solidFill>
                <a:latin typeface="Calibri" pitchFamily="34" charset="0"/>
                <a:ea typeface="Calibri" pitchFamily="34" charset="-122"/>
                <a:cs typeface="Calibri" pitchFamily="34" charset="-120"/>
              </a:rPr>
              <a:t>yukarıdan</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(3) </a:t>
            </a:r>
            <a:r>
              <a:rPr lang="en-US" sz="1700" dirty="0">
                <a:solidFill>
                  <a:srgbClr val="455A64"/>
                </a:solidFill>
                <a:latin typeface="Courier New" pitchFamily="34" charset="0"/>
                <a:ea typeface="Courier New" pitchFamily="34" charset="-122"/>
                <a:cs typeface="Courier New" pitchFamily="34" charset="-120"/>
              </a:rPr>
              <a:t>-</a:t>
            </a:r>
            <a:r>
              <a:rPr lang="en-US" sz="1700" dirty="0">
                <a:solidFill>
                  <a:srgbClr val="212121"/>
                </a:solidFill>
                <a:latin typeface="Calibri" pitchFamily="34" charset="0"/>
                <a:ea typeface="Calibri" pitchFamily="34" charset="-122"/>
                <a:cs typeface="Calibri" pitchFamily="34" charset="-120"/>
              </a:rPr>
              <a:t> ↔ yⱼ → F(i, j−1) + g  </a:t>
            </a:r>
            <a:r>
              <a:rPr lang="en-US" sz="1700" b="1" dirty="0">
                <a:solidFill>
                  <a:srgbClr val="212121"/>
                </a:solidFill>
                <a:latin typeface="Calibri" pitchFamily="34" charset="0"/>
                <a:ea typeface="Calibri" pitchFamily="34" charset="-122"/>
                <a:cs typeface="Calibri" pitchFamily="34" charset="-120"/>
              </a:rPr>
              <a:t>soldan</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Üçünün </a:t>
            </a:r>
            <a:r>
              <a:rPr lang="en-US" sz="1700" b="1" dirty="0">
                <a:solidFill>
                  <a:srgbClr val="212121"/>
                </a:solidFill>
                <a:latin typeface="Calibri" pitchFamily="34" charset="0"/>
                <a:ea typeface="Calibri" pitchFamily="34" charset="-122"/>
                <a:cs typeface="Calibri" pitchFamily="34" charset="-120"/>
              </a:rPr>
              <a:t>en büyüğü</a:t>
            </a:r>
            <a:r>
              <a:rPr lang="en-US" sz="1700" dirty="0">
                <a:solidFill>
                  <a:srgbClr val="212121"/>
                </a:solidFill>
                <a:latin typeface="Calibri" pitchFamily="34" charset="0"/>
                <a:ea typeface="Calibri" pitchFamily="34" charset="-122"/>
                <a:cs typeface="Calibri" pitchFamily="34" charset="-120"/>
              </a:rPr>
              <a:t> F(i, j)'dir; hangisinden geldiğini </a:t>
            </a:r>
            <a:r>
              <a:rPr lang="en-US" sz="1700" b="1" dirty="0">
                <a:solidFill>
                  <a:srgbClr val="212121"/>
                </a:solidFill>
                <a:latin typeface="Calibri" pitchFamily="34" charset="0"/>
                <a:ea typeface="Calibri" pitchFamily="34" charset="-122"/>
                <a:cs typeface="Calibri" pitchFamily="34" charset="-120"/>
              </a:rPr>
              <a:t>ok</a:t>
            </a:r>
            <a:r>
              <a:rPr lang="en-US" sz="1700" dirty="0">
                <a:solidFill>
                  <a:srgbClr val="212121"/>
                </a:solidFill>
                <a:latin typeface="Calibri" pitchFamily="34" charset="0"/>
                <a:ea typeface="Calibri" pitchFamily="34" charset="-122"/>
                <a:cs typeface="Calibri" pitchFamily="34" charset="-120"/>
              </a:rPr>
              <a:t> olarak sakla</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Her hücre O(1) → toplam </a:t>
            </a:r>
            <a:r>
              <a:rPr lang="en-US" sz="1700" b="1" dirty="0">
                <a:solidFill>
                  <a:srgbClr val="212121"/>
                </a:solidFill>
                <a:latin typeface="Calibri" pitchFamily="34" charset="0"/>
                <a:ea typeface="Calibri" pitchFamily="34" charset="-122"/>
                <a:cs typeface="Calibri" pitchFamily="34" charset="-120"/>
              </a:rPr>
              <a:t>O(mn)</a:t>
            </a:r>
            <a:endParaRPr lang="en-US" sz="1700" dirty="0"/>
          </a:p>
        </p:txBody>
      </p:sp>
      <p:sp>
        <p:nvSpPr>
          <p:cNvPr id="5" name="Text 2"/>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6: Global hizalama (NW)</a:t>
            </a:r>
            <a:endParaRPr lang="en-US" sz="900" dirty="0"/>
          </a:p>
        </p:txBody>
      </p:sp>
      <p:sp>
        <p:nvSpPr>
          <p:cNvPr id="6" name="Text 3"/>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Needleman–Wunsch yinelemesi</a:t>
            </a:r>
            <a:endParaRPr lang="en-US" sz="3000" dirty="0"/>
          </a:p>
        </p:txBody>
      </p:sp>
      <p:sp>
        <p:nvSpPr>
          <p:cNvPr id="3" name="Shape 1"/>
          <p:cNvSpPr/>
          <p:nvPr/>
        </p:nvSpPr>
        <p:spPr>
          <a:xfrm>
            <a:off x="548640" y="1234440"/>
            <a:ext cx="11094415" cy="891540"/>
          </a:xfrm>
          <a:prstGeom prst="roundRect">
            <a:avLst>
              <a:gd name="adj" fmla="val 8205"/>
            </a:avLst>
          </a:prstGeom>
          <a:solidFill>
            <a:srgbClr val="F7F9FA"/>
          </a:solidFill>
          <a:ln w="12700">
            <a:solidFill>
              <a:srgbClr val="B0BEC5"/>
            </a:solidFill>
            <a:prstDash val="solid"/>
          </a:ln>
        </p:spPr>
      </p:sp>
      <p:sp>
        <p:nvSpPr>
          <p:cNvPr id="4" name="Text 2"/>
          <p:cNvSpPr txBox="1"/>
          <p:nvPr/>
        </p:nvSpPr>
        <p:spPr>
          <a:xfrm>
            <a:off x="731520" y="1234440"/>
            <a:ext cx="2651760" cy="891540"/>
          </a:xfrm>
          <a:prstGeom prst="rect">
            <a:avLst/>
          </a:prstGeom>
          <a:noFill/>
          <a:ln/>
        </p:spPr>
        <p:txBody>
          <a:bodyPr wrap="square" lIns="0" tIns="0" rIns="0" bIns="0" rtlCol="0" anchor="ctr"/>
          <a:lstStyle/>
          <a:p>
            <a:pPr indent="0" marL="0">
              <a:buNone/>
            </a:pPr>
            <a:r>
              <a:rPr lang="en-US" sz="1600" b="1" dirty="0">
                <a:solidFill>
                  <a:srgbClr val="263238"/>
                </a:solidFill>
              </a:rPr>
              <a:t>Başlangıç</a:t>
            </a:r>
            <a:endParaRPr lang="en-US" sz="1600" dirty="0"/>
          </a:p>
        </p:txBody>
      </p:sp>
      <p:sp>
        <p:nvSpPr>
          <p:cNvPr id="5" name="Text 3"/>
          <p:cNvSpPr txBox="1"/>
          <p:nvPr/>
        </p:nvSpPr>
        <p:spPr>
          <a:xfrm>
            <a:off x="3474720" y="1234440"/>
            <a:ext cx="4754880" cy="891540"/>
          </a:xfrm>
          <a:prstGeom prst="rect">
            <a:avLst/>
          </a:prstGeom>
          <a:noFill/>
          <a:ln/>
        </p:spPr>
        <p:txBody>
          <a:bodyPr wrap="square" lIns="0" tIns="0" rIns="0" bIns="0" rtlCol="0" anchor="ctr"/>
          <a:lstStyle/>
          <a:p>
            <a:pPr indent="0" marL="0">
              <a:buNone/>
            </a:pPr>
            <a:r>
              <a:rPr lang="en-US" sz="1800" dirty="0">
                <a:solidFill>
                  <a:srgbClr val="B71C1C"/>
                </a:solidFill>
                <a:latin typeface="Cambria" pitchFamily="34" charset="0"/>
                <a:ea typeface="Cambria" pitchFamily="34" charset="-122"/>
                <a:cs typeface="Cambria" pitchFamily="34" charset="-120"/>
              </a:rPr>
              <a:t>F(0,0) = 0,  F(i,0) = i·g,  F(0,j) = j·g</a:t>
            </a:r>
            <a:endParaRPr lang="en-US" sz="1800" dirty="0"/>
          </a:p>
        </p:txBody>
      </p:sp>
      <p:sp>
        <p:nvSpPr>
          <p:cNvPr id="6" name="Text 4"/>
          <p:cNvSpPr txBox="1"/>
          <p:nvPr/>
        </p:nvSpPr>
        <p:spPr>
          <a:xfrm>
            <a:off x="8412480" y="1234440"/>
            <a:ext cx="3047695" cy="891540"/>
          </a:xfrm>
          <a:prstGeom prst="rect">
            <a:avLst/>
          </a:prstGeom>
          <a:noFill/>
          <a:ln/>
        </p:spPr>
        <p:txBody>
          <a:bodyPr wrap="square" lIns="0" tIns="0" rIns="0" bIns="0" rtlCol="0" anchor="ctr"/>
          <a:lstStyle/>
          <a:p>
            <a:pPr indent="0" marL="0">
              <a:buNone/>
            </a:pPr>
            <a:r>
              <a:rPr lang="en-US" sz="1300" dirty="0">
                <a:solidFill>
                  <a:srgbClr val="546E7A"/>
                </a:solidFill>
                <a:latin typeface="Calibri" pitchFamily="34" charset="0"/>
                <a:ea typeface="Calibri" pitchFamily="34" charset="-122"/>
                <a:cs typeface="Calibri" pitchFamily="34" charset="-120"/>
              </a:rPr>
              <a:t>İlk satır/sütun: diğer dizinin önekini tamamen boşlukla hizalamak</a:t>
            </a:r>
            <a:endParaRPr lang="en-US" sz="1300" dirty="0"/>
          </a:p>
        </p:txBody>
      </p:sp>
      <p:sp>
        <p:nvSpPr>
          <p:cNvPr id="7" name="Shape 5"/>
          <p:cNvSpPr/>
          <p:nvPr/>
        </p:nvSpPr>
        <p:spPr>
          <a:xfrm>
            <a:off x="548640" y="2308860"/>
            <a:ext cx="11094415" cy="891540"/>
          </a:xfrm>
          <a:prstGeom prst="roundRect">
            <a:avLst>
              <a:gd name="adj" fmla="val 8205"/>
            </a:avLst>
          </a:prstGeom>
          <a:solidFill>
            <a:srgbClr val="F7F9FA"/>
          </a:solidFill>
          <a:ln w="12700">
            <a:solidFill>
              <a:srgbClr val="B0BEC5"/>
            </a:solidFill>
            <a:prstDash val="solid"/>
          </a:ln>
        </p:spPr>
      </p:sp>
      <p:sp>
        <p:nvSpPr>
          <p:cNvPr id="8" name="Text 6"/>
          <p:cNvSpPr txBox="1"/>
          <p:nvPr/>
        </p:nvSpPr>
        <p:spPr>
          <a:xfrm>
            <a:off x="731520" y="2308860"/>
            <a:ext cx="2651760" cy="891540"/>
          </a:xfrm>
          <a:prstGeom prst="rect">
            <a:avLst/>
          </a:prstGeom>
          <a:noFill/>
          <a:ln/>
        </p:spPr>
        <p:txBody>
          <a:bodyPr wrap="square" lIns="0" tIns="0" rIns="0" bIns="0" rtlCol="0" anchor="ctr"/>
          <a:lstStyle/>
          <a:p>
            <a:pPr indent="0" marL="0">
              <a:buNone/>
            </a:pPr>
            <a:r>
              <a:rPr lang="en-US" sz="1600" b="1" dirty="0">
                <a:solidFill>
                  <a:srgbClr val="263238"/>
                </a:solidFill>
              </a:rPr>
              <a:t>Yineleme</a:t>
            </a:r>
            <a:endParaRPr lang="en-US" sz="1600" dirty="0"/>
          </a:p>
        </p:txBody>
      </p:sp>
      <p:sp>
        <p:nvSpPr>
          <p:cNvPr id="9" name="Text 7"/>
          <p:cNvSpPr txBox="1"/>
          <p:nvPr/>
        </p:nvSpPr>
        <p:spPr>
          <a:xfrm>
            <a:off x="3474720" y="2308860"/>
            <a:ext cx="4754880" cy="891540"/>
          </a:xfrm>
          <a:prstGeom prst="rect">
            <a:avLst/>
          </a:prstGeom>
          <a:noFill/>
          <a:ln/>
        </p:spPr>
        <p:txBody>
          <a:bodyPr wrap="square" lIns="0" tIns="0" rIns="0" bIns="0" rtlCol="0" anchor="ctr"/>
          <a:lstStyle/>
          <a:p>
            <a:pPr indent="0" marL="0">
              <a:buNone/>
            </a:pPr>
            <a:r>
              <a:rPr lang="en-US" sz="1500" dirty="0">
                <a:solidFill>
                  <a:srgbClr val="B71C1C"/>
                </a:solidFill>
                <a:latin typeface="Cambria" pitchFamily="34" charset="0"/>
                <a:ea typeface="Cambria" pitchFamily="34" charset="-122"/>
                <a:cs typeface="Cambria" pitchFamily="34" charset="-120"/>
              </a:rPr>
              <a:t>F(i,j) = max{ F(i−1,j−1)+s(xᵢ,yⱼ),  F(i−1,j)+g,  F(i,j−1)+g }</a:t>
            </a:r>
            <a:endParaRPr lang="en-US" sz="1500" dirty="0"/>
          </a:p>
        </p:txBody>
      </p:sp>
      <p:sp>
        <p:nvSpPr>
          <p:cNvPr id="10" name="Text 8"/>
          <p:cNvSpPr txBox="1"/>
          <p:nvPr/>
        </p:nvSpPr>
        <p:spPr>
          <a:xfrm>
            <a:off x="8412480" y="2308860"/>
            <a:ext cx="3047695" cy="891540"/>
          </a:xfrm>
          <a:prstGeom prst="rect">
            <a:avLst/>
          </a:prstGeom>
          <a:noFill/>
          <a:ln/>
        </p:spPr>
        <p:txBody>
          <a:bodyPr wrap="square" lIns="0" tIns="0" rIns="0" bIns="0" rtlCol="0" anchor="ctr"/>
          <a:lstStyle/>
          <a:p>
            <a:pPr indent="0" marL="0">
              <a:buNone/>
            </a:pPr>
            <a:r>
              <a:rPr lang="en-US" sz="1300" dirty="0">
                <a:solidFill>
                  <a:srgbClr val="546E7A"/>
                </a:solidFill>
                <a:latin typeface="Calibri" pitchFamily="34" charset="0"/>
                <a:ea typeface="Calibri" pitchFamily="34" charset="-122"/>
                <a:cs typeface="Calibri" pitchFamily="34" charset="-120"/>
              </a:rPr>
              <a:t>Çapraz / yukarı / sol</a:t>
            </a:r>
            <a:endParaRPr lang="en-US" sz="1300" dirty="0"/>
          </a:p>
        </p:txBody>
      </p:sp>
      <p:sp>
        <p:nvSpPr>
          <p:cNvPr id="11" name="Shape 9"/>
          <p:cNvSpPr/>
          <p:nvPr/>
        </p:nvSpPr>
        <p:spPr>
          <a:xfrm>
            <a:off x="548640" y="3383280"/>
            <a:ext cx="11094415" cy="891540"/>
          </a:xfrm>
          <a:prstGeom prst="roundRect">
            <a:avLst>
              <a:gd name="adj" fmla="val 8205"/>
            </a:avLst>
          </a:prstGeom>
          <a:solidFill>
            <a:srgbClr val="F7F9FA"/>
          </a:solidFill>
          <a:ln w="12700">
            <a:solidFill>
              <a:srgbClr val="B0BEC5"/>
            </a:solidFill>
            <a:prstDash val="solid"/>
          </a:ln>
        </p:spPr>
      </p:sp>
      <p:sp>
        <p:nvSpPr>
          <p:cNvPr id="12" name="Text 10"/>
          <p:cNvSpPr txBox="1"/>
          <p:nvPr/>
        </p:nvSpPr>
        <p:spPr>
          <a:xfrm>
            <a:off x="731520" y="3383280"/>
            <a:ext cx="2651760" cy="891540"/>
          </a:xfrm>
          <a:prstGeom prst="rect">
            <a:avLst/>
          </a:prstGeom>
          <a:noFill/>
          <a:ln/>
        </p:spPr>
        <p:txBody>
          <a:bodyPr wrap="square" lIns="0" tIns="0" rIns="0" bIns="0" rtlCol="0" anchor="ctr"/>
          <a:lstStyle/>
          <a:p>
            <a:pPr indent="0" marL="0">
              <a:buNone/>
            </a:pPr>
            <a:r>
              <a:rPr lang="en-US" sz="1600" b="1" dirty="0">
                <a:solidFill>
                  <a:srgbClr val="263238"/>
                </a:solidFill>
              </a:rPr>
              <a:t>Sonuç</a:t>
            </a:r>
            <a:endParaRPr lang="en-US" sz="1600" dirty="0"/>
          </a:p>
        </p:txBody>
      </p:sp>
      <p:sp>
        <p:nvSpPr>
          <p:cNvPr id="13" name="Text 11"/>
          <p:cNvSpPr txBox="1"/>
          <p:nvPr/>
        </p:nvSpPr>
        <p:spPr>
          <a:xfrm>
            <a:off x="3474720" y="3383280"/>
            <a:ext cx="4754880" cy="891540"/>
          </a:xfrm>
          <a:prstGeom prst="rect">
            <a:avLst/>
          </a:prstGeom>
          <a:noFill/>
          <a:ln/>
        </p:spPr>
        <p:txBody>
          <a:bodyPr wrap="square" lIns="0" tIns="0" rIns="0" bIns="0" rtlCol="0" anchor="ctr"/>
          <a:lstStyle/>
          <a:p>
            <a:pPr indent="0" marL="0">
              <a:buNone/>
            </a:pPr>
            <a:r>
              <a:rPr lang="en-US" sz="1800" dirty="0">
                <a:solidFill>
                  <a:srgbClr val="B71C1C"/>
                </a:solidFill>
                <a:latin typeface="Cambria" pitchFamily="34" charset="0"/>
                <a:ea typeface="Cambria" pitchFamily="34" charset="-122"/>
                <a:cs typeface="Cambria" pitchFamily="34" charset="-120"/>
              </a:rPr>
              <a:t>S* = F(m, n)</a:t>
            </a:r>
            <a:endParaRPr lang="en-US" sz="1800" dirty="0"/>
          </a:p>
        </p:txBody>
      </p:sp>
      <p:sp>
        <p:nvSpPr>
          <p:cNvPr id="14" name="Text 12"/>
          <p:cNvSpPr txBox="1"/>
          <p:nvPr/>
        </p:nvSpPr>
        <p:spPr>
          <a:xfrm>
            <a:off x="8412480" y="3383280"/>
            <a:ext cx="3047695" cy="891540"/>
          </a:xfrm>
          <a:prstGeom prst="rect">
            <a:avLst/>
          </a:prstGeom>
          <a:noFill/>
          <a:ln/>
        </p:spPr>
        <p:txBody>
          <a:bodyPr wrap="square" lIns="0" tIns="0" rIns="0" bIns="0" rtlCol="0" anchor="ctr"/>
          <a:lstStyle/>
          <a:p>
            <a:pPr indent="0" marL="0">
              <a:buNone/>
            </a:pPr>
            <a:r>
              <a:rPr lang="en-US" sz="1300" dirty="0">
                <a:solidFill>
                  <a:srgbClr val="546E7A"/>
                </a:solidFill>
                <a:latin typeface="Calibri" pitchFamily="34" charset="0"/>
                <a:ea typeface="Calibri" pitchFamily="34" charset="-122"/>
                <a:cs typeface="Calibri" pitchFamily="34" charset="-120"/>
              </a:rPr>
              <a:t>Sağ alt köşe; hizalama geri izleme ile</a:t>
            </a:r>
            <a:endParaRPr lang="en-US" sz="1300" dirty="0"/>
          </a:p>
        </p:txBody>
      </p:sp>
      <p:sp>
        <p:nvSpPr>
          <p:cNvPr id="15" name="Shape 13"/>
          <p:cNvSpPr/>
          <p:nvPr/>
        </p:nvSpPr>
        <p:spPr>
          <a:xfrm>
            <a:off x="548640" y="4457700"/>
            <a:ext cx="11094415" cy="891540"/>
          </a:xfrm>
          <a:prstGeom prst="roundRect">
            <a:avLst>
              <a:gd name="adj" fmla="val 8205"/>
            </a:avLst>
          </a:prstGeom>
          <a:solidFill>
            <a:srgbClr val="F7F9FA"/>
          </a:solidFill>
          <a:ln w="12700">
            <a:solidFill>
              <a:srgbClr val="B0BEC5"/>
            </a:solidFill>
            <a:prstDash val="solid"/>
          </a:ln>
        </p:spPr>
      </p:sp>
      <p:sp>
        <p:nvSpPr>
          <p:cNvPr id="16" name="Text 14"/>
          <p:cNvSpPr txBox="1"/>
          <p:nvPr/>
        </p:nvSpPr>
        <p:spPr>
          <a:xfrm>
            <a:off x="731520" y="4457700"/>
            <a:ext cx="2651760" cy="891540"/>
          </a:xfrm>
          <a:prstGeom prst="rect">
            <a:avLst/>
          </a:prstGeom>
          <a:noFill/>
          <a:ln/>
        </p:spPr>
        <p:txBody>
          <a:bodyPr wrap="square" lIns="0" tIns="0" rIns="0" bIns="0" rtlCol="0" anchor="ctr"/>
          <a:lstStyle/>
          <a:p>
            <a:pPr indent="0" marL="0">
              <a:buNone/>
            </a:pPr>
            <a:r>
              <a:rPr lang="en-US" sz="1600" b="1" dirty="0">
                <a:solidFill>
                  <a:srgbClr val="263238"/>
                </a:solidFill>
              </a:rPr>
              <a:t>Karmaşıklık</a:t>
            </a:r>
            <a:endParaRPr lang="en-US" sz="1600" dirty="0"/>
          </a:p>
        </p:txBody>
      </p:sp>
      <p:sp>
        <p:nvSpPr>
          <p:cNvPr id="17" name="Text 15"/>
          <p:cNvSpPr txBox="1"/>
          <p:nvPr/>
        </p:nvSpPr>
        <p:spPr>
          <a:xfrm>
            <a:off x="3474720" y="4457700"/>
            <a:ext cx="4754880" cy="891540"/>
          </a:xfrm>
          <a:prstGeom prst="rect">
            <a:avLst/>
          </a:prstGeom>
          <a:noFill/>
          <a:ln/>
        </p:spPr>
        <p:txBody>
          <a:bodyPr wrap="square" lIns="0" tIns="0" rIns="0" bIns="0" rtlCol="0" anchor="ctr"/>
          <a:lstStyle/>
          <a:p>
            <a:pPr indent="0" marL="0">
              <a:buNone/>
            </a:pPr>
            <a:r>
              <a:rPr lang="en-US" sz="1800" dirty="0">
                <a:solidFill>
                  <a:srgbClr val="B71C1C"/>
                </a:solidFill>
                <a:latin typeface="Cambria" pitchFamily="34" charset="0"/>
                <a:ea typeface="Cambria" pitchFamily="34" charset="-122"/>
                <a:cs typeface="Cambria" pitchFamily="34" charset="-120"/>
              </a:rPr>
              <a:t>Zaman O(mn),  bellek O(mn)</a:t>
            </a:r>
            <a:endParaRPr lang="en-US" sz="1800" dirty="0"/>
          </a:p>
        </p:txBody>
      </p:sp>
      <p:sp>
        <p:nvSpPr>
          <p:cNvPr id="18" name="Text 16"/>
          <p:cNvSpPr txBox="1"/>
          <p:nvPr/>
        </p:nvSpPr>
        <p:spPr>
          <a:xfrm>
            <a:off x="8412480" y="4457700"/>
            <a:ext cx="3047695" cy="891540"/>
          </a:xfrm>
          <a:prstGeom prst="rect">
            <a:avLst/>
          </a:prstGeom>
          <a:noFill/>
          <a:ln/>
        </p:spPr>
        <p:txBody>
          <a:bodyPr wrap="square" lIns="0" tIns="0" rIns="0" bIns="0" rtlCol="0" anchor="ctr"/>
          <a:lstStyle/>
          <a:p>
            <a:pPr indent="0" marL="0">
              <a:buNone/>
            </a:pPr>
            <a:r>
              <a:rPr lang="en-US" sz="1300" dirty="0">
                <a:solidFill>
                  <a:srgbClr val="546E7A"/>
                </a:solidFill>
                <a:latin typeface="Calibri" pitchFamily="34" charset="0"/>
                <a:ea typeface="Calibri" pitchFamily="34" charset="-122"/>
                <a:cs typeface="Calibri" pitchFamily="34" charset="-120"/>
              </a:rPr>
              <a:t>Yalnızca skor için bellek O(n) (iki satır)</a:t>
            </a:r>
            <a:endParaRPr lang="en-US" sz="1300" dirty="0"/>
          </a:p>
        </p:txBody>
      </p:sp>
      <p:sp>
        <p:nvSpPr>
          <p:cNvPr id="19" name="Shape 17"/>
          <p:cNvSpPr/>
          <p:nvPr/>
        </p:nvSpPr>
        <p:spPr>
          <a:xfrm>
            <a:off x="548640" y="5440680"/>
            <a:ext cx="11094415" cy="822960"/>
          </a:xfrm>
          <a:prstGeom prst="roundRect">
            <a:avLst>
              <a:gd name="adj" fmla="val 8889"/>
            </a:avLst>
          </a:prstGeom>
          <a:solidFill>
            <a:srgbClr val="FDECEA"/>
          </a:solidFill>
          <a:ln/>
        </p:spPr>
      </p:sp>
      <p:sp>
        <p:nvSpPr>
          <p:cNvPr id="20" name="Text 18"/>
          <p:cNvSpPr txBox="1"/>
          <p:nvPr/>
        </p:nvSpPr>
        <p:spPr>
          <a:xfrm>
            <a:off x="731520" y="5440680"/>
            <a:ext cx="10728655" cy="822960"/>
          </a:xfrm>
          <a:prstGeom prst="rect">
            <a:avLst/>
          </a:prstGeom>
          <a:noFill/>
          <a:ln/>
        </p:spPr>
        <p:txBody>
          <a:bodyPr wrap="square" lIns="0" tIns="0" rIns="0" bIns="0" rtlCol="0" anchor="ctr"/>
          <a:lstStyle/>
          <a:p>
            <a:pPr indent="0" marL="0">
              <a:buNone/>
            </a:pPr>
            <a:r>
              <a:rPr lang="en-US" sz="1600" dirty="0">
                <a:solidFill>
                  <a:srgbClr val="212121"/>
                </a:solidFill>
                <a:latin typeface="Calibri" pitchFamily="34" charset="0"/>
                <a:ea typeface="Calibri" pitchFamily="34" charset="-122"/>
                <a:cs typeface="Calibri" pitchFamily="34" charset="-120"/>
              </a:rPr>
              <a:t>Matris boyutu </a:t>
            </a:r>
            <a:r>
              <a:rPr lang="en-US" sz="1600" b="1" dirty="0">
                <a:solidFill>
                  <a:srgbClr val="212121"/>
                </a:solidFill>
                <a:latin typeface="Calibri" pitchFamily="34" charset="0"/>
                <a:ea typeface="Calibri" pitchFamily="34" charset="-122"/>
                <a:cs typeface="Calibri" pitchFamily="34" charset="-120"/>
              </a:rPr>
              <a:t>(m+1) × (n+1)</a:t>
            </a:r>
            <a:r>
              <a:rPr lang="en-US" sz="1600" dirty="0">
                <a:solidFill>
                  <a:srgbClr val="212121"/>
                </a:solidFill>
                <a:latin typeface="Calibri" pitchFamily="34" charset="0"/>
                <a:ea typeface="Calibri" pitchFamily="34" charset="-122"/>
                <a:cs typeface="Calibri" pitchFamily="34" charset="-120"/>
              </a:rPr>
              <a:t>: 0. satır/sütun boş önekleri temsil eder. </a:t>
            </a:r>
            <a:r>
              <a:rPr lang="en-US" sz="1600" dirty="0">
                <a:solidFill>
                  <a:srgbClr val="455A64"/>
                </a:solidFill>
                <a:latin typeface="Courier New" pitchFamily="34" charset="0"/>
                <a:ea typeface="Courier New" pitchFamily="34" charset="-122"/>
                <a:cs typeface="Courier New" pitchFamily="34" charset="-120"/>
              </a:rPr>
              <a:t>CATGCA</a:t>
            </a:r>
            <a:r>
              <a:rPr lang="en-US" sz="1600" dirty="0">
                <a:solidFill>
                  <a:srgbClr val="212121"/>
                </a:solidFill>
                <a:latin typeface="Calibri" pitchFamily="34" charset="0"/>
                <a:ea typeface="Calibri" pitchFamily="34" charset="-122"/>
                <a:cs typeface="Calibri" pitchFamily="34" charset="-120"/>
              </a:rPr>
              <a:t> (m = 6) × </a:t>
            </a:r>
            <a:r>
              <a:rPr lang="en-US" sz="1600" dirty="0">
                <a:solidFill>
                  <a:srgbClr val="455A64"/>
                </a:solidFill>
                <a:latin typeface="Courier New" pitchFamily="34" charset="0"/>
                <a:ea typeface="Courier New" pitchFamily="34" charset="-122"/>
                <a:cs typeface="Courier New" pitchFamily="34" charset="-120"/>
              </a:rPr>
              <a:t>CAGCA</a:t>
            </a:r>
            <a:r>
              <a:rPr lang="en-US" sz="1600" dirty="0">
                <a:solidFill>
                  <a:srgbClr val="212121"/>
                </a:solidFill>
                <a:latin typeface="Calibri" pitchFamily="34" charset="0"/>
                <a:ea typeface="Calibri" pitchFamily="34" charset="-122"/>
                <a:cs typeface="Calibri" pitchFamily="34" charset="-120"/>
              </a:rPr>
              <a:t> (n = 5) → 7 × 6 = </a:t>
            </a:r>
            <a:r>
              <a:rPr lang="en-US" sz="1600" b="1" dirty="0">
                <a:solidFill>
                  <a:srgbClr val="212121"/>
                </a:solidFill>
                <a:latin typeface="Calibri" pitchFamily="34" charset="0"/>
                <a:ea typeface="Calibri" pitchFamily="34" charset="-122"/>
                <a:cs typeface="Calibri" pitchFamily="34" charset="-120"/>
              </a:rPr>
              <a:t>42 hücre</a:t>
            </a:r>
            <a:r>
              <a:rPr lang="en-US" sz="1600" dirty="0">
                <a:solidFill>
                  <a:srgbClr val="212121"/>
                </a:solidFill>
                <a:latin typeface="Calibri" pitchFamily="34" charset="0"/>
                <a:ea typeface="Calibri" pitchFamily="34" charset="-122"/>
                <a:cs typeface="Calibri" pitchFamily="34" charset="-120"/>
              </a:rPr>
              <a:t>.</a:t>
            </a:r>
            <a:endParaRPr lang="en-US" sz="1600" dirty="0"/>
          </a:p>
        </p:txBody>
      </p:sp>
      <p:sp>
        <p:nvSpPr>
          <p:cNvPr id="21" name="Text 19"/>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6: Global hizalama (NW)</a:t>
            </a:r>
            <a:endParaRPr lang="en-US" sz="900" dirty="0"/>
          </a:p>
        </p:txBody>
      </p:sp>
      <p:sp>
        <p:nvSpPr>
          <p:cNvPr id="22" name="Text 20"/>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Adım 1: başlangıç + C ve A satırları</a:t>
            </a:r>
            <a:endParaRPr lang="en-US" sz="3000" dirty="0"/>
          </a:p>
        </p:txBody>
      </p:sp>
      <p:sp>
        <p:nvSpPr>
          <p:cNvPr id="3" name="Text 1"/>
          <p:cNvSpPr txBox="1"/>
          <p:nvPr/>
        </p:nvSpPr>
        <p:spPr>
          <a:xfrm>
            <a:off x="548640" y="987552"/>
            <a:ext cx="11094415" cy="365760"/>
          </a:xfrm>
          <a:prstGeom prst="rect">
            <a:avLst/>
          </a:prstGeom>
          <a:noFill/>
          <a:ln/>
        </p:spPr>
        <p:txBody>
          <a:bodyPr wrap="square" lIns="0" tIns="0" rIns="0" bIns="0" rtlCol="0" anchor="t"/>
          <a:lstStyle/>
          <a:p>
            <a:pPr indent="0" marL="0">
              <a:buNone/>
            </a:pPr>
            <a:r>
              <a:rPr lang="en-US" sz="1500" i="1" dirty="0">
                <a:solidFill>
                  <a:srgbClr val="546E7A"/>
                </a:solidFill>
                <a:latin typeface="Calibri" pitchFamily="34" charset="0"/>
                <a:ea typeface="Calibri" pitchFamily="34" charset="-122"/>
                <a:cs typeface="Calibri" pitchFamily="34" charset="-120"/>
              </a:rPr>
              <a:t>x = CATGCA (satırlar), y = CAGCA (sütunlar); +1 / −1 / −2</a:t>
            </a:r>
            <a:endParaRPr lang="en-US" sz="15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1584916"/>
                <a:gridCol w="1584916"/>
                <a:gridCol w="1584916"/>
                <a:gridCol w="1584916"/>
                <a:gridCol w="1584916"/>
                <a:gridCol w="1584916"/>
                <a:gridCol w="1584916"/>
              </a:tblGrid>
              <a:tr h="0">
                <a:tc>
                  <a:txBody>
                    <a:bodyPr/>
                    <a:lstStyle/>
                    <a:p>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ctr" indent="0" marL="0">
                        <a:buNone/>
                      </a:pPr>
                      <a:r>
                        <a:rPr lang="en-US" sz="1700" b="1" dirty="0">
                          <a:solidFill>
                            <a:srgbClr val="212121"/>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ctr" indent="0" marL="0">
                        <a:buNone/>
                      </a:pPr>
                      <a:r>
                        <a:rPr lang="en-US" sz="1700" b="1" dirty="0">
                          <a:solidFill>
                            <a:srgbClr val="212121"/>
                          </a:solidFill>
                          <a:latin typeface="Calibri" pitchFamily="34" charset="0"/>
                          <a:ea typeface="Calibri" pitchFamily="34" charset="-122"/>
                          <a:cs typeface="Calibri" pitchFamily="34" charset="-120"/>
                        </a:rPr>
                        <a:t>C</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ctr" indent="0" marL="0">
                        <a:buNone/>
                      </a:pPr>
                      <a:r>
                        <a:rPr lang="en-US" sz="1700" b="1" dirty="0">
                          <a:solidFill>
                            <a:srgbClr val="212121"/>
                          </a:solidFill>
                          <a:latin typeface="Calibri" pitchFamily="34" charset="0"/>
                          <a:ea typeface="Calibri" pitchFamily="34" charset="-122"/>
                          <a:cs typeface="Calibri" pitchFamily="34" charset="-120"/>
                        </a:rPr>
                        <a:t>A</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ctr" indent="0" marL="0">
                        <a:buNone/>
                      </a:pPr>
                      <a:r>
                        <a:rPr lang="en-US" sz="1700" b="1" dirty="0">
                          <a:solidFill>
                            <a:srgbClr val="212121"/>
                          </a:solidFill>
                          <a:latin typeface="Calibri" pitchFamily="34" charset="0"/>
                          <a:ea typeface="Calibri" pitchFamily="34" charset="-122"/>
                          <a:cs typeface="Calibri" pitchFamily="34" charset="-120"/>
                        </a:rPr>
                        <a:t>G</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ctr" indent="0" marL="0">
                        <a:buNone/>
                      </a:pPr>
                      <a:r>
                        <a:rPr lang="en-US" sz="1700" b="1" dirty="0">
                          <a:solidFill>
                            <a:srgbClr val="212121"/>
                          </a:solidFill>
                          <a:latin typeface="Calibri" pitchFamily="34" charset="0"/>
                          <a:ea typeface="Calibri" pitchFamily="34" charset="-122"/>
                          <a:cs typeface="Calibri" pitchFamily="34" charset="-120"/>
                        </a:rPr>
                        <a:t>C</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ctr" indent="0" marL="0">
                        <a:buNone/>
                      </a:pPr>
                      <a:r>
                        <a:rPr lang="en-US" sz="1700" b="1" dirty="0">
                          <a:solidFill>
                            <a:srgbClr val="212121"/>
                          </a:solidFill>
                          <a:latin typeface="Calibri" pitchFamily="34" charset="0"/>
                          <a:ea typeface="Calibri" pitchFamily="34" charset="-122"/>
                          <a:cs typeface="Calibri" pitchFamily="34" charset="-120"/>
                        </a:rPr>
                        <a:t>A</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r>
              <a:tr h="0">
                <a:tc>
                  <a:txBody>
                    <a:bodyPr/>
                    <a:lstStyle/>
                    <a:p>
                      <a:pPr algn="ctr" indent="0" marL="0">
                        <a:buNone/>
                      </a:pPr>
                      <a:r>
                        <a:rPr lang="en-US" sz="1700" dirty="0">
                          <a:solidFill>
                            <a:srgbClr val="212121"/>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212121"/>
                          </a:solidFill>
                          <a:latin typeface="Calibri" pitchFamily="34" charset="0"/>
                          <a:ea typeface="Calibri" pitchFamily="34" charset="-122"/>
                          <a:cs typeface="Calibri" pitchFamily="34" charset="-120"/>
                        </a:rPr>
                        <a:t>0</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212121"/>
                          </a:solidFill>
                          <a:latin typeface="Calibri" pitchFamily="34" charset="0"/>
                          <a:ea typeface="Calibri" pitchFamily="34" charset="-122"/>
                          <a:cs typeface="Calibri" pitchFamily="34" charset="-120"/>
                        </a:rPr>
                        <a:t>−2</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212121"/>
                          </a:solidFill>
                          <a:latin typeface="Calibri" pitchFamily="34" charset="0"/>
                          <a:ea typeface="Calibri" pitchFamily="34" charset="-122"/>
                          <a:cs typeface="Calibri" pitchFamily="34" charset="-120"/>
                        </a:rPr>
                        <a:t>−4</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212121"/>
                          </a:solidFill>
                          <a:latin typeface="Calibri" pitchFamily="34" charset="0"/>
                          <a:ea typeface="Calibri" pitchFamily="34" charset="-122"/>
                          <a:cs typeface="Calibri" pitchFamily="34" charset="-120"/>
                        </a:rPr>
                        <a:t>−6</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212121"/>
                          </a:solidFill>
                          <a:latin typeface="Calibri" pitchFamily="34" charset="0"/>
                          <a:ea typeface="Calibri" pitchFamily="34" charset="-122"/>
                          <a:cs typeface="Calibri" pitchFamily="34" charset="-120"/>
                        </a:rPr>
                        <a:t>−8</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212121"/>
                          </a:solidFill>
                          <a:latin typeface="Calibri" pitchFamily="34" charset="0"/>
                          <a:ea typeface="Calibri" pitchFamily="34" charset="-122"/>
                          <a:cs typeface="Calibri" pitchFamily="34" charset="-120"/>
                        </a:rPr>
                        <a:t>−10</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ctr" indent="0" marL="0">
                        <a:buNone/>
                      </a:pPr>
                      <a:r>
                        <a:rPr lang="en-US" sz="1700" dirty="0">
                          <a:solidFill>
                            <a:srgbClr val="212121"/>
                          </a:solidFill>
                          <a:latin typeface="Calibri" pitchFamily="34" charset="0"/>
                          <a:ea typeface="Calibri" pitchFamily="34" charset="-122"/>
                          <a:cs typeface="Calibri" pitchFamily="34" charset="-120"/>
                        </a:rPr>
                        <a:t>C</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ctr" indent="0" marL="0">
                        <a:buNone/>
                      </a:pPr>
                      <a:r>
                        <a:rPr lang="en-US" sz="1700" dirty="0">
                          <a:solidFill>
                            <a:srgbClr val="212121"/>
                          </a:solidFill>
                          <a:latin typeface="Calibri" pitchFamily="34" charset="0"/>
                          <a:ea typeface="Calibri" pitchFamily="34" charset="-122"/>
                          <a:cs typeface="Calibri" pitchFamily="34" charset="-120"/>
                        </a:rPr>
                        <a:t>−2</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ctr" indent="0" marL="0">
                        <a:buNone/>
                      </a:pPr>
                      <a:r>
                        <a:rPr lang="en-US" sz="1700" b="1" dirty="0">
                          <a:solidFill>
                            <a:srgbClr val="212121"/>
                          </a:solidFill>
                          <a:latin typeface="Calibri" pitchFamily="34" charset="0"/>
                          <a:ea typeface="Calibri" pitchFamily="34" charset="-122"/>
                          <a:cs typeface="Calibri" pitchFamily="34" charset="-120"/>
                        </a:rPr>
                        <a:t>1</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ctr" indent="0" marL="0">
                        <a:buNone/>
                      </a:pPr>
                      <a:r>
                        <a:rPr lang="en-US" sz="1700" b="1" dirty="0">
                          <a:solidFill>
                            <a:srgbClr val="212121"/>
                          </a:solidFill>
                          <a:latin typeface="Calibri" pitchFamily="34" charset="0"/>
                          <a:ea typeface="Calibri" pitchFamily="34" charset="-122"/>
                          <a:cs typeface="Calibri" pitchFamily="34" charset="-120"/>
                        </a:rPr>
                        <a:t>−1</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ctr" indent="0" marL="0">
                        <a:buNone/>
                      </a:pPr>
                      <a:r>
                        <a:rPr lang="en-US" sz="1700" b="1" dirty="0">
                          <a:solidFill>
                            <a:srgbClr val="212121"/>
                          </a:solidFill>
                          <a:latin typeface="Calibri" pitchFamily="34" charset="0"/>
                          <a:ea typeface="Calibri" pitchFamily="34" charset="-122"/>
                          <a:cs typeface="Calibri" pitchFamily="34" charset="-120"/>
                        </a:rPr>
                        <a:t>−3</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ctr" indent="0" marL="0">
                        <a:buNone/>
                      </a:pPr>
                      <a:r>
                        <a:rPr lang="en-US" sz="1700" b="1" dirty="0">
                          <a:solidFill>
                            <a:srgbClr val="212121"/>
                          </a:solidFill>
                          <a:latin typeface="Calibri" pitchFamily="34" charset="0"/>
                          <a:ea typeface="Calibri" pitchFamily="34" charset="-122"/>
                          <a:cs typeface="Calibri" pitchFamily="34" charset="-120"/>
                        </a:rPr>
                        <a:t>−5</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ctr" indent="0" marL="0">
                        <a:buNone/>
                      </a:pPr>
                      <a:r>
                        <a:rPr lang="en-US" sz="1700" b="1" dirty="0">
                          <a:solidFill>
                            <a:srgbClr val="212121"/>
                          </a:solidFill>
                          <a:latin typeface="Calibri" pitchFamily="34" charset="0"/>
                          <a:ea typeface="Calibri" pitchFamily="34" charset="-122"/>
                          <a:cs typeface="Calibri" pitchFamily="34" charset="-120"/>
                        </a:rPr>
                        <a:t>−7</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r>
              <a:tr h="0">
                <a:tc>
                  <a:txBody>
                    <a:bodyPr/>
                    <a:lstStyle/>
                    <a:p>
                      <a:pPr algn="ctr" indent="0" marL="0">
                        <a:buNone/>
                      </a:pPr>
                      <a:r>
                        <a:rPr lang="en-US" sz="1700" dirty="0">
                          <a:solidFill>
                            <a:srgbClr val="212121"/>
                          </a:solidFill>
                          <a:latin typeface="Calibri" pitchFamily="34" charset="0"/>
                          <a:ea typeface="Calibri" pitchFamily="34" charset="-122"/>
                          <a:cs typeface="Calibri" pitchFamily="34" charset="-120"/>
                        </a:rPr>
                        <a:t>A</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ctr" indent="0" marL="0">
                        <a:buNone/>
                      </a:pPr>
                      <a:r>
                        <a:rPr lang="en-US" sz="1700" dirty="0">
                          <a:solidFill>
                            <a:srgbClr val="212121"/>
                          </a:solidFill>
                          <a:latin typeface="Calibri" pitchFamily="34" charset="0"/>
                          <a:ea typeface="Calibri" pitchFamily="34" charset="-122"/>
                          <a:cs typeface="Calibri" pitchFamily="34" charset="-120"/>
                        </a:rPr>
                        <a:t>−4</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ctr" indent="0" marL="0">
                        <a:buNone/>
                      </a:pPr>
                      <a:r>
                        <a:rPr lang="en-US" sz="1700" b="1" dirty="0">
                          <a:solidFill>
                            <a:srgbClr val="212121"/>
                          </a:solidFill>
                          <a:latin typeface="Calibri" pitchFamily="34" charset="0"/>
                          <a:ea typeface="Calibri" pitchFamily="34" charset="-122"/>
                          <a:cs typeface="Calibri" pitchFamily="34" charset="-120"/>
                        </a:rPr>
                        <a:t>−1</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ctr" indent="0" marL="0">
                        <a:buNone/>
                      </a:pPr>
                      <a:r>
                        <a:rPr lang="en-US" sz="1700" b="1" dirty="0">
                          <a:solidFill>
                            <a:srgbClr val="212121"/>
                          </a:solidFill>
                          <a:latin typeface="Calibri" pitchFamily="34" charset="0"/>
                          <a:ea typeface="Calibri" pitchFamily="34" charset="-122"/>
                          <a:cs typeface="Calibri" pitchFamily="34" charset="-120"/>
                        </a:rPr>
                        <a:t>2</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ctr" indent="0" marL="0">
                        <a:buNone/>
                      </a:pPr>
                      <a:r>
                        <a:rPr lang="en-US" sz="1700" b="1" dirty="0">
                          <a:solidFill>
                            <a:srgbClr val="212121"/>
                          </a:solidFill>
                          <a:latin typeface="Calibri" pitchFamily="34" charset="0"/>
                          <a:ea typeface="Calibri" pitchFamily="34" charset="-122"/>
                          <a:cs typeface="Calibri" pitchFamily="34" charset="-120"/>
                        </a:rPr>
                        <a:t>0</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ctr" indent="0" marL="0">
                        <a:buNone/>
                      </a:pPr>
                      <a:r>
                        <a:rPr lang="en-US" sz="1700" b="1" dirty="0">
                          <a:solidFill>
                            <a:srgbClr val="212121"/>
                          </a:solidFill>
                          <a:latin typeface="Calibri" pitchFamily="34" charset="0"/>
                          <a:ea typeface="Calibri" pitchFamily="34" charset="-122"/>
                          <a:cs typeface="Calibri" pitchFamily="34" charset="-120"/>
                        </a:rPr>
                        <a:t>−2</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ctr" indent="0" marL="0">
                        <a:buNone/>
                      </a:pPr>
                      <a:r>
                        <a:rPr lang="en-US" sz="1700" b="1" dirty="0">
                          <a:solidFill>
                            <a:srgbClr val="212121"/>
                          </a:solidFill>
                          <a:latin typeface="Calibri" pitchFamily="34" charset="0"/>
                          <a:ea typeface="Calibri" pitchFamily="34" charset="-122"/>
                          <a:cs typeface="Calibri" pitchFamily="34" charset="-120"/>
                        </a:rPr>
                        <a:t>−4</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r>
              <a:tr h="0">
                <a:tc>
                  <a:txBody>
                    <a:bodyPr/>
                    <a:lstStyle/>
                    <a:p>
                      <a:pPr algn="ctr" indent="0" marL="0">
                        <a:buNone/>
                      </a:pPr>
                      <a:r>
                        <a:rPr lang="en-US" sz="1700" dirty="0">
                          <a:solidFill>
                            <a:srgbClr val="212121"/>
                          </a:solidFill>
                          <a:latin typeface="Calibri" pitchFamily="34" charset="0"/>
                          <a:ea typeface="Calibri" pitchFamily="34" charset="-122"/>
                          <a:cs typeface="Calibri" pitchFamily="34" charset="-120"/>
                        </a:rPr>
                        <a:t>T</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700" dirty="0">
                          <a:solidFill>
                            <a:srgbClr val="212121"/>
                          </a:solidFill>
                          <a:latin typeface="Calibri" pitchFamily="34" charset="0"/>
                          <a:ea typeface="Calibri" pitchFamily="34" charset="-122"/>
                          <a:cs typeface="Calibri" pitchFamily="34" charset="-120"/>
                        </a:rPr>
                        <a:t>−6</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700" dirty="0">
                          <a:solidFill>
                            <a:srgbClr val="212121"/>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700" dirty="0">
                          <a:solidFill>
                            <a:srgbClr val="212121"/>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700" dirty="0">
                          <a:solidFill>
                            <a:srgbClr val="212121"/>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700" dirty="0">
                          <a:solidFill>
                            <a:srgbClr val="212121"/>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700" dirty="0">
                          <a:solidFill>
                            <a:srgbClr val="212121"/>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ctr" indent="0" marL="0">
                        <a:buNone/>
                      </a:pPr>
                      <a:r>
                        <a:rPr lang="en-US" sz="1700" dirty="0">
                          <a:solidFill>
                            <a:srgbClr val="212121"/>
                          </a:solidFill>
                          <a:latin typeface="Calibri" pitchFamily="34" charset="0"/>
                          <a:ea typeface="Calibri" pitchFamily="34" charset="-122"/>
                          <a:cs typeface="Calibri" pitchFamily="34" charset="-120"/>
                        </a:rPr>
                        <a:t>G</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212121"/>
                          </a:solidFill>
                          <a:latin typeface="Calibri" pitchFamily="34" charset="0"/>
                          <a:ea typeface="Calibri" pitchFamily="34" charset="-122"/>
                          <a:cs typeface="Calibri" pitchFamily="34" charset="-120"/>
                        </a:rPr>
                        <a:t>−8</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212121"/>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212121"/>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212121"/>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212121"/>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212121"/>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ctr" indent="0" marL="0">
                        <a:buNone/>
                      </a:pPr>
                      <a:r>
                        <a:rPr lang="en-US" sz="1700" dirty="0">
                          <a:solidFill>
                            <a:srgbClr val="212121"/>
                          </a:solidFill>
                          <a:latin typeface="Calibri" pitchFamily="34" charset="0"/>
                          <a:ea typeface="Calibri" pitchFamily="34" charset="-122"/>
                          <a:cs typeface="Calibri" pitchFamily="34" charset="-120"/>
                        </a:rPr>
                        <a:t>C</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700" dirty="0">
                          <a:solidFill>
                            <a:srgbClr val="212121"/>
                          </a:solidFill>
                          <a:latin typeface="Calibri" pitchFamily="34" charset="0"/>
                          <a:ea typeface="Calibri" pitchFamily="34" charset="-122"/>
                          <a:cs typeface="Calibri" pitchFamily="34" charset="-120"/>
                        </a:rPr>
                        <a:t>−10</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700" dirty="0">
                          <a:solidFill>
                            <a:srgbClr val="212121"/>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700" dirty="0">
                          <a:solidFill>
                            <a:srgbClr val="212121"/>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700" dirty="0">
                          <a:solidFill>
                            <a:srgbClr val="212121"/>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700" dirty="0">
                          <a:solidFill>
                            <a:srgbClr val="212121"/>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700" dirty="0">
                          <a:solidFill>
                            <a:srgbClr val="212121"/>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ctr" indent="0" marL="0">
                        <a:buNone/>
                      </a:pPr>
                      <a:r>
                        <a:rPr lang="en-US" sz="1700" dirty="0">
                          <a:solidFill>
                            <a:srgbClr val="212121"/>
                          </a:solidFill>
                          <a:latin typeface="Calibri" pitchFamily="34" charset="0"/>
                          <a:ea typeface="Calibri" pitchFamily="34" charset="-122"/>
                          <a:cs typeface="Calibri" pitchFamily="34" charset="-120"/>
                        </a:rPr>
                        <a:t>A</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212121"/>
                          </a:solidFill>
                          <a:latin typeface="Calibri" pitchFamily="34" charset="0"/>
                          <a:ea typeface="Calibri" pitchFamily="34" charset="-122"/>
                          <a:cs typeface="Calibri" pitchFamily="34" charset="-120"/>
                        </a:rPr>
                        <a:t>−12</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212121"/>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212121"/>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212121"/>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212121"/>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212121"/>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bl>
          </a:graphicData>
        </a:graphic>
      </p:graphicFrame>
      <p:sp>
        <p:nvSpPr>
          <p:cNvPr id="5" name="Shape 2"/>
          <p:cNvSpPr/>
          <p:nvPr/>
        </p:nvSpPr>
        <p:spPr>
          <a:xfrm>
            <a:off x="548640" y="4642104"/>
            <a:ext cx="11094415" cy="822960"/>
          </a:xfrm>
          <a:prstGeom prst="roundRect">
            <a:avLst>
              <a:gd name="adj" fmla="val 8889"/>
            </a:avLst>
          </a:prstGeom>
          <a:solidFill>
            <a:srgbClr val="FDECEA"/>
          </a:solidFill>
          <a:ln/>
        </p:spPr>
      </p:sp>
      <p:sp>
        <p:nvSpPr>
          <p:cNvPr id="6" name="Text 3"/>
          <p:cNvSpPr txBox="1"/>
          <p:nvPr/>
        </p:nvSpPr>
        <p:spPr>
          <a:xfrm>
            <a:off x="731520" y="4642104"/>
            <a:ext cx="10728655" cy="822960"/>
          </a:xfrm>
          <a:prstGeom prst="rect">
            <a:avLst/>
          </a:prstGeom>
          <a:noFill/>
          <a:ln/>
        </p:spPr>
        <p:txBody>
          <a:bodyPr wrap="square" lIns="0" tIns="0" rIns="0" bIns="0" rtlCol="0" anchor="ctr"/>
          <a:lstStyle/>
          <a:p>
            <a:pPr indent="0" marL="0">
              <a:buNone/>
            </a:pPr>
            <a:r>
              <a:rPr lang="en-US" sz="1600" dirty="0">
                <a:solidFill>
                  <a:srgbClr val="212121"/>
                </a:solidFill>
                <a:latin typeface="Calibri" pitchFamily="34" charset="0"/>
                <a:ea typeface="Calibri" pitchFamily="34" charset="-122"/>
                <a:cs typeface="Calibri" pitchFamily="34" charset="-120"/>
              </a:rPr>
              <a:t>F(1,1): max(0 + 1, −2 − 2, −2 − 2) = </a:t>
            </a:r>
            <a:r>
              <a:rPr lang="en-US" sz="1600" b="1" dirty="0">
                <a:solidFill>
                  <a:srgbClr val="212121"/>
                </a:solidFill>
                <a:latin typeface="Calibri" pitchFamily="34" charset="0"/>
                <a:ea typeface="Calibri" pitchFamily="34" charset="-122"/>
                <a:cs typeface="Calibri" pitchFamily="34" charset="-120"/>
              </a:rPr>
              <a:t>1</a:t>
            </a:r>
            <a:r>
              <a:rPr lang="en-US" sz="1600" dirty="0">
                <a:solidFill>
                  <a:srgbClr val="212121"/>
                </a:solidFill>
                <a:latin typeface="Calibri" pitchFamily="34" charset="0"/>
                <a:ea typeface="Calibri" pitchFamily="34" charset="-122"/>
                <a:cs typeface="Calibri" pitchFamily="34" charset="-120"/>
              </a:rPr>
              <a:t> (C = C, çapraz).  F(1,2): max(−2 − 1, −4 − 2, 1 − 2) = </a:t>
            </a:r>
            <a:r>
              <a:rPr lang="en-US" sz="1600" b="1" dirty="0">
                <a:solidFill>
                  <a:srgbClr val="212121"/>
                </a:solidFill>
                <a:latin typeface="Calibri" pitchFamily="34" charset="0"/>
                <a:ea typeface="Calibri" pitchFamily="34" charset="-122"/>
                <a:cs typeface="Calibri" pitchFamily="34" charset="-120"/>
              </a:rPr>
              <a:t>−1</a:t>
            </a:r>
            <a:r>
              <a:rPr lang="en-US" sz="1600" dirty="0">
                <a:solidFill>
                  <a:srgbClr val="212121"/>
                </a:solidFill>
                <a:latin typeface="Calibri" pitchFamily="34" charset="0"/>
                <a:ea typeface="Calibri" pitchFamily="34" charset="-122"/>
                <a:cs typeface="Calibri" pitchFamily="34" charset="-120"/>
              </a:rPr>
              <a:t> (soldan).  F(2,1): max(−2 − 1, 1 − 2, −4 − 2) = </a:t>
            </a:r>
            <a:r>
              <a:rPr lang="en-US" sz="1600" b="1" dirty="0">
                <a:solidFill>
                  <a:srgbClr val="212121"/>
                </a:solidFill>
                <a:latin typeface="Calibri" pitchFamily="34" charset="0"/>
                <a:ea typeface="Calibri" pitchFamily="34" charset="-122"/>
                <a:cs typeface="Calibri" pitchFamily="34" charset="-120"/>
              </a:rPr>
              <a:t>−1</a:t>
            </a:r>
            <a:r>
              <a:rPr lang="en-US" sz="1600" dirty="0">
                <a:solidFill>
                  <a:srgbClr val="212121"/>
                </a:solidFill>
                <a:latin typeface="Calibri" pitchFamily="34" charset="0"/>
                <a:ea typeface="Calibri" pitchFamily="34" charset="-122"/>
                <a:cs typeface="Calibri" pitchFamily="34" charset="-120"/>
              </a:rPr>
              <a:t> (yukarıdan).  F(2,2): max(1 + 1, −1 − 2, −1 − 2) = </a:t>
            </a:r>
            <a:r>
              <a:rPr lang="en-US" sz="1600" b="1" dirty="0">
                <a:solidFill>
                  <a:srgbClr val="212121"/>
                </a:solidFill>
                <a:latin typeface="Calibri" pitchFamily="34" charset="0"/>
                <a:ea typeface="Calibri" pitchFamily="34" charset="-122"/>
                <a:cs typeface="Calibri" pitchFamily="34" charset="-120"/>
              </a:rPr>
              <a:t>2</a:t>
            </a:r>
            <a:r>
              <a:rPr lang="en-US" sz="1600" dirty="0">
                <a:solidFill>
                  <a:srgbClr val="212121"/>
                </a:solidFill>
                <a:latin typeface="Calibri" pitchFamily="34" charset="0"/>
                <a:ea typeface="Calibri" pitchFamily="34" charset="-122"/>
                <a:cs typeface="Calibri" pitchFamily="34" charset="-120"/>
              </a:rPr>
              <a:t>.</a:t>
            </a:r>
            <a:endParaRPr lang="en-US" sz="1600" dirty="0"/>
          </a:p>
        </p:txBody>
      </p:sp>
      <p:sp>
        <p:nvSpPr>
          <p:cNvPr id="7" name="Text 4"/>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6: Global hizalama (NW)</a:t>
            </a:r>
            <a:endParaRPr lang="en-US" sz="900" dirty="0"/>
          </a:p>
        </p:txBody>
      </p:sp>
      <p:sp>
        <p:nvSpPr>
          <p:cNvPr id="8" name="Text 5"/>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Hücre hesabı yakından: dört hücre</a:t>
            </a:r>
            <a:endParaRPr lang="en-US" sz="3000" dirty="0"/>
          </a:p>
        </p:txBody>
      </p:sp>
      <p:sp>
        <p:nvSpPr>
          <p:cNvPr id="3" name="Text 1"/>
          <p:cNvSpPr txBox="1"/>
          <p:nvPr/>
        </p:nvSpPr>
        <p:spPr>
          <a:xfrm>
            <a:off x="548640" y="987552"/>
            <a:ext cx="11094415" cy="365760"/>
          </a:xfrm>
          <a:prstGeom prst="rect">
            <a:avLst/>
          </a:prstGeom>
          <a:noFill/>
          <a:ln/>
        </p:spPr>
        <p:txBody>
          <a:bodyPr wrap="square" lIns="0" tIns="0" rIns="0" bIns="0" rtlCol="0" anchor="t"/>
          <a:lstStyle/>
          <a:p>
            <a:pPr indent="0" marL="0">
              <a:buNone/>
            </a:pPr>
            <a:r>
              <a:rPr lang="en-US" sz="1500" i="1" dirty="0">
                <a:solidFill>
                  <a:srgbClr val="546E7A"/>
                </a:solidFill>
                <a:latin typeface="Calibri" pitchFamily="34" charset="0"/>
                <a:ea typeface="Calibri" pitchFamily="34" charset="-122"/>
                <a:cs typeface="Calibri" pitchFamily="34" charset="-120"/>
              </a:rPr>
              <a:t>Çözümlü örnek — her hücrede üç aday: ↖ çapraz, ↑ yukarı, ← sol</a:t>
            </a:r>
            <a:endParaRPr lang="en-US" sz="1500" dirty="0"/>
          </a:p>
        </p:txBody>
      </p:sp>
      <p:sp>
        <p:nvSpPr>
          <p:cNvPr id="4" name="Shape 2"/>
          <p:cNvSpPr/>
          <p:nvPr/>
        </p:nvSpPr>
        <p:spPr>
          <a:xfrm>
            <a:off x="548640" y="1463040"/>
            <a:ext cx="11094415" cy="1088136"/>
          </a:xfrm>
          <a:prstGeom prst="roundRect">
            <a:avLst>
              <a:gd name="adj" fmla="val 6723"/>
            </a:avLst>
          </a:prstGeom>
          <a:solidFill>
            <a:srgbClr val="ECEFF1"/>
          </a:solidFill>
          <a:ln/>
        </p:spPr>
      </p:sp>
      <p:sp>
        <p:nvSpPr>
          <p:cNvPr id="5" name="Text 3"/>
          <p:cNvSpPr txBox="1"/>
          <p:nvPr/>
        </p:nvSpPr>
        <p:spPr>
          <a:xfrm>
            <a:off x="685800" y="1508760"/>
            <a:ext cx="10820095" cy="996696"/>
          </a:xfrm>
          <a:prstGeom prst="rect">
            <a:avLst/>
          </a:prstGeom>
          <a:noFill/>
          <a:ln/>
        </p:spPr>
        <p:txBody>
          <a:bodyPr wrap="square" lIns="0" tIns="0" rIns="0" bIns="0" rtlCol="0" anchor="ctr"/>
          <a:lstStyle/>
          <a:p>
            <a:pPr indent="0" marL="0">
              <a:buNone/>
            </a:pPr>
            <a:r>
              <a:rPr lang="en-US" sz="1800" b="1" dirty="0">
                <a:solidFill>
                  <a:srgbClr val="B71C1C"/>
                </a:solidFill>
                <a:latin typeface="Calibri" pitchFamily="34" charset="0"/>
                <a:ea typeface="Calibri" pitchFamily="34" charset="-122"/>
                <a:cs typeface="Calibri" pitchFamily="34" charset="-120"/>
              </a:rPr>
              <a:t>Soru  </a:t>
            </a:r>
            <a:r>
              <a:rPr lang="en-US" sz="1800" dirty="0">
                <a:solidFill>
                  <a:srgbClr val="212121"/>
                </a:solidFill>
                <a:latin typeface="Calibri" pitchFamily="34" charset="0"/>
                <a:ea typeface="Calibri" pitchFamily="34" charset="-122"/>
                <a:cs typeface="Calibri" pitchFamily="34" charset="-120"/>
              </a:rPr>
              <a:t>F(2,3), F(3,2), F(3,3) ve F(4,3) hücrelerini üç adayıyla hesaplayın. Hangi yönden gelirler? (x₃ = T, x₄ = G; y₂ = A, y₃ = G)</a:t>
            </a:r>
            <a:endParaRPr lang="en-US" sz="1800" dirty="0"/>
          </a:p>
        </p:txBody>
      </p:sp>
      <p:sp>
        <p:nvSpPr>
          <p:cNvPr id="6" name="Text 4"/>
          <p:cNvSpPr txBox="1"/>
          <p:nvPr/>
        </p:nvSpPr>
        <p:spPr>
          <a:xfrm>
            <a:off x="548640" y="2779776"/>
            <a:ext cx="6434761" cy="2615184"/>
          </a:xfrm>
          <a:prstGeom prst="rect">
            <a:avLst/>
          </a:prstGeom>
          <a:noFill/>
          <a:ln/>
        </p:spPr>
        <p:txBody>
          <a:bodyPr wrap="square" lIns="25400" tIns="25400" rIns="50800" bIns="25400" rtlCol="0" anchor="t"/>
          <a:lstStyle/>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F(2,3) [A/G]: ↖ −1 − 1 = −2;  ↑ −3 − 2 = −5;  ← 2 − 2 = </a:t>
            </a:r>
            <a:r>
              <a:rPr lang="en-US" sz="1800" b="1" dirty="0">
                <a:solidFill>
                  <a:srgbClr val="212121"/>
                </a:solidFill>
                <a:latin typeface="Calibri" pitchFamily="34" charset="0"/>
                <a:ea typeface="Calibri" pitchFamily="34" charset="-122"/>
                <a:cs typeface="Calibri" pitchFamily="34" charset="-120"/>
              </a:rPr>
              <a:t>0</a:t>
            </a:r>
            <a:r>
              <a:rPr lang="en-US" sz="1800" dirty="0">
                <a:solidFill>
                  <a:srgbClr val="212121"/>
                </a:solidFill>
                <a:latin typeface="Calibri" pitchFamily="34" charset="0"/>
                <a:ea typeface="Calibri" pitchFamily="34" charset="-122"/>
                <a:cs typeface="Calibri" pitchFamily="34" charset="-120"/>
              </a:rPr>
              <a:t> → </a:t>
            </a:r>
            <a:r>
              <a:rPr lang="en-US" sz="1800" b="1" dirty="0">
                <a:solidFill>
                  <a:srgbClr val="212121"/>
                </a:solidFill>
                <a:latin typeface="Calibri" pitchFamily="34" charset="0"/>
                <a:ea typeface="Calibri" pitchFamily="34" charset="-122"/>
                <a:cs typeface="Calibri" pitchFamily="34" charset="-120"/>
              </a:rPr>
              <a:t>0 (sol)</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F(3,2) [T/A]: ↖ −1 − 1 = −2;  ↑ 2 − 2 = </a:t>
            </a:r>
            <a:r>
              <a:rPr lang="en-US" sz="1800" b="1" dirty="0">
                <a:solidFill>
                  <a:srgbClr val="212121"/>
                </a:solidFill>
                <a:latin typeface="Calibri" pitchFamily="34" charset="0"/>
                <a:ea typeface="Calibri" pitchFamily="34" charset="-122"/>
                <a:cs typeface="Calibri" pitchFamily="34" charset="-120"/>
              </a:rPr>
              <a:t>0</a:t>
            </a:r>
            <a:r>
              <a:rPr lang="en-US" sz="1800" dirty="0">
                <a:solidFill>
                  <a:srgbClr val="212121"/>
                </a:solidFill>
                <a:latin typeface="Calibri" pitchFamily="34" charset="0"/>
                <a:ea typeface="Calibri" pitchFamily="34" charset="-122"/>
                <a:cs typeface="Calibri" pitchFamily="34" charset="-120"/>
              </a:rPr>
              <a:t>;  ← −3 − 2 = −5 → </a:t>
            </a:r>
            <a:r>
              <a:rPr lang="en-US" sz="1800" b="1" dirty="0">
                <a:solidFill>
                  <a:srgbClr val="212121"/>
                </a:solidFill>
                <a:latin typeface="Calibri" pitchFamily="34" charset="0"/>
                <a:ea typeface="Calibri" pitchFamily="34" charset="-122"/>
                <a:cs typeface="Calibri" pitchFamily="34" charset="-120"/>
              </a:rPr>
              <a:t>0 (yukarı)</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F(3,3) [T/G]: ↖ 2 − 1 = </a:t>
            </a:r>
            <a:r>
              <a:rPr lang="en-US" sz="1800" b="1" dirty="0">
                <a:solidFill>
                  <a:srgbClr val="212121"/>
                </a:solidFill>
                <a:latin typeface="Calibri" pitchFamily="34" charset="0"/>
                <a:ea typeface="Calibri" pitchFamily="34" charset="-122"/>
                <a:cs typeface="Calibri" pitchFamily="34" charset="-120"/>
              </a:rPr>
              <a:t>1</a:t>
            </a:r>
            <a:r>
              <a:rPr lang="en-US" sz="1800" dirty="0">
                <a:solidFill>
                  <a:srgbClr val="212121"/>
                </a:solidFill>
                <a:latin typeface="Calibri" pitchFamily="34" charset="0"/>
                <a:ea typeface="Calibri" pitchFamily="34" charset="-122"/>
                <a:cs typeface="Calibri" pitchFamily="34" charset="-120"/>
              </a:rPr>
              <a:t>;  ↑ 0 − 2 = −2;  ← 0 − 2 = −2 → </a:t>
            </a:r>
            <a:r>
              <a:rPr lang="en-US" sz="1800" b="1" dirty="0">
                <a:solidFill>
                  <a:srgbClr val="212121"/>
                </a:solidFill>
                <a:latin typeface="Calibri" pitchFamily="34" charset="0"/>
                <a:ea typeface="Calibri" pitchFamily="34" charset="-122"/>
                <a:cs typeface="Calibri" pitchFamily="34" charset="-120"/>
              </a:rPr>
              <a:t>1 (çapraz)</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F(4,3) [G/G]: ↖ 0 + 1 = </a:t>
            </a:r>
            <a:r>
              <a:rPr lang="en-US" sz="1800" b="1" dirty="0">
                <a:solidFill>
                  <a:srgbClr val="212121"/>
                </a:solidFill>
                <a:latin typeface="Calibri" pitchFamily="34" charset="0"/>
                <a:ea typeface="Calibri" pitchFamily="34" charset="-122"/>
                <a:cs typeface="Calibri" pitchFamily="34" charset="-120"/>
              </a:rPr>
              <a:t>1</a:t>
            </a:r>
            <a:r>
              <a:rPr lang="en-US" sz="1800" dirty="0">
                <a:solidFill>
                  <a:srgbClr val="212121"/>
                </a:solidFill>
                <a:latin typeface="Calibri" pitchFamily="34" charset="0"/>
                <a:ea typeface="Calibri" pitchFamily="34" charset="-122"/>
                <a:cs typeface="Calibri" pitchFamily="34" charset="-120"/>
              </a:rPr>
              <a:t>;  ↑ 1 − 2 = −1;  ← −2 − 2 = −4 → </a:t>
            </a:r>
            <a:r>
              <a:rPr lang="en-US" sz="1800" b="1" dirty="0">
                <a:solidFill>
                  <a:srgbClr val="212121"/>
                </a:solidFill>
                <a:latin typeface="Calibri" pitchFamily="34" charset="0"/>
                <a:ea typeface="Calibri" pitchFamily="34" charset="-122"/>
                <a:cs typeface="Calibri" pitchFamily="34" charset="-120"/>
              </a:rPr>
              <a:t>1 (çapraz)</a:t>
            </a:r>
            <a:endParaRPr lang="en-US" sz="18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7303441" y="2779776"/>
          <a:ext cx="4339614" cy="914400"/>
        </p:xfrm>
        <a:graphic>
          <a:graphicData uri="http://schemas.openxmlformats.org/drawingml/2006/table">
            <a:tbl>
              <a:tblPr/>
              <a:tblGrid>
                <a:gridCol w="761209"/>
                <a:gridCol w="913450"/>
                <a:gridCol w="913450"/>
                <a:gridCol w="583835"/>
                <a:gridCol w="583835"/>
                <a:gridCol w="583835"/>
              </a:tblGrid>
              <a:tr h="0">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Hücre</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Çapraz</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Yukarı</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Sol</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F</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Yön</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(2,3)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−5</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(3,2)</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−5</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(3,3)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(4,3)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bl>
          </a:graphicData>
        </a:graphic>
      </p:graphicFrame>
      <p:sp>
        <p:nvSpPr>
          <p:cNvPr id="8" name="Shape 5"/>
          <p:cNvSpPr/>
          <p:nvPr/>
        </p:nvSpPr>
        <p:spPr>
          <a:xfrm>
            <a:off x="548640" y="5577840"/>
            <a:ext cx="11094415" cy="685800"/>
          </a:xfrm>
          <a:prstGeom prst="roundRect">
            <a:avLst>
              <a:gd name="adj" fmla="val 10667"/>
            </a:avLst>
          </a:prstGeom>
          <a:solidFill>
            <a:srgbClr val="FDECEA"/>
          </a:solidFill>
          <a:ln/>
        </p:spPr>
      </p:sp>
      <p:sp>
        <p:nvSpPr>
          <p:cNvPr id="9" name="Text 6"/>
          <p:cNvSpPr txBox="1"/>
          <p:nvPr/>
        </p:nvSpPr>
        <p:spPr>
          <a:xfrm>
            <a:off x="685800" y="5577840"/>
            <a:ext cx="10820095" cy="685800"/>
          </a:xfrm>
          <a:prstGeom prst="rect">
            <a:avLst/>
          </a:prstGeom>
          <a:noFill/>
          <a:ln/>
        </p:spPr>
        <p:txBody>
          <a:bodyPr wrap="square" lIns="0" tIns="0" rIns="0" bIns="0" rtlCol="0" anchor="ctr"/>
          <a:lstStyle/>
          <a:p>
            <a:pPr indent="0" marL="0">
              <a:buNone/>
            </a:pPr>
            <a:r>
              <a:rPr lang="en-US" sz="1700" b="1" dirty="0">
                <a:solidFill>
                  <a:srgbClr val="B71C1C"/>
                </a:solidFill>
                <a:latin typeface="Calibri" pitchFamily="34" charset="0"/>
                <a:ea typeface="Calibri" pitchFamily="34" charset="-122"/>
                <a:cs typeface="Calibri" pitchFamily="34" charset="-120"/>
              </a:rPr>
              <a:t>Sonuç  </a:t>
            </a:r>
            <a:r>
              <a:rPr lang="en-US" sz="1700" dirty="0">
                <a:solidFill>
                  <a:srgbClr val="212121"/>
                </a:solidFill>
                <a:latin typeface="Calibri" pitchFamily="34" charset="0"/>
                <a:ea typeface="Calibri" pitchFamily="34" charset="-122"/>
                <a:cs typeface="Calibri" pitchFamily="34" charset="-120"/>
              </a:rPr>
              <a:t>F(3,2) = 0 </a:t>
            </a:r>
            <a:r>
              <a:rPr lang="en-US" sz="1700" b="1" dirty="0">
                <a:solidFill>
                  <a:srgbClr val="212121"/>
                </a:solidFill>
                <a:latin typeface="Calibri" pitchFamily="34" charset="0"/>
                <a:ea typeface="Calibri" pitchFamily="34" charset="-122"/>
                <a:cs typeface="Calibri" pitchFamily="34" charset="-120"/>
              </a:rPr>
              <a:t>yukarıdan</a:t>
            </a:r>
            <a:r>
              <a:rPr lang="en-US" sz="1700" dirty="0">
                <a:solidFill>
                  <a:srgbClr val="212121"/>
                </a:solidFill>
                <a:latin typeface="Calibri" pitchFamily="34" charset="0"/>
                <a:ea typeface="Calibri" pitchFamily="34" charset="-122"/>
                <a:cs typeface="Calibri" pitchFamily="34" charset="-120"/>
              </a:rPr>
              <a:t> gelir: T harfi boşlukla eşleşir. Bu hücre optimal yolun üzerindedir ve </a:t>
            </a:r>
            <a:r>
              <a:rPr lang="en-US" sz="1700" dirty="0">
                <a:solidFill>
                  <a:srgbClr val="455A64"/>
                </a:solidFill>
                <a:latin typeface="Courier New" pitchFamily="34" charset="0"/>
                <a:ea typeface="Courier New" pitchFamily="34" charset="-122"/>
                <a:cs typeface="Courier New" pitchFamily="34" charset="-120"/>
              </a:rPr>
              <a:t>CA-GCA</a:t>
            </a:r>
            <a:r>
              <a:rPr lang="en-US" sz="1700" dirty="0">
                <a:solidFill>
                  <a:srgbClr val="212121"/>
                </a:solidFill>
                <a:latin typeface="Calibri" pitchFamily="34" charset="0"/>
                <a:ea typeface="Calibri" pitchFamily="34" charset="-122"/>
                <a:cs typeface="Calibri" pitchFamily="34" charset="-120"/>
              </a:rPr>
              <a:t> hizalamasındaki boşluğu üretir.</a:t>
            </a:r>
            <a:endParaRPr lang="en-US" sz="1700" dirty="0"/>
          </a:p>
        </p:txBody>
      </p:sp>
      <p:sp>
        <p:nvSpPr>
          <p:cNvPr id="10" name="Text 7"/>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6: Global hizalama (NW)</a:t>
            </a:r>
            <a:endParaRPr lang="en-US" sz="900" dirty="0"/>
          </a:p>
        </p:txBody>
      </p:sp>
      <p:sp>
        <p:nvSpPr>
          <p:cNvPr id="11" name="Text 8"/>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Adım 2: T ve G satırları</a:t>
            </a:r>
            <a:endParaRPr lang="en-US" sz="3000" dirty="0"/>
          </a:p>
        </p:txBody>
      </p:sp>
      <p:sp>
        <p:nvSpPr>
          <p:cNvPr id="3" name="Text 1"/>
          <p:cNvSpPr txBox="1"/>
          <p:nvPr/>
        </p:nvSpPr>
        <p:spPr>
          <a:xfrm>
            <a:off x="548640" y="987552"/>
            <a:ext cx="11094415" cy="365760"/>
          </a:xfrm>
          <a:prstGeom prst="rect">
            <a:avLst/>
          </a:prstGeom>
          <a:noFill/>
          <a:ln/>
        </p:spPr>
        <p:txBody>
          <a:bodyPr wrap="square" lIns="0" tIns="0" rIns="0" bIns="0" rtlCol="0" anchor="t"/>
          <a:lstStyle/>
          <a:p>
            <a:pPr indent="0" marL="0">
              <a:buNone/>
            </a:pPr>
            <a:r>
              <a:rPr lang="en-US" sz="1500" i="1" dirty="0">
                <a:solidFill>
                  <a:srgbClr val="546E7A"/>
                </a:solidFill>
                <a:latin typeface="Calibri" pitchFamily="34" charset="0"/>
                <a:ea typeface="Calibri" pitchFamily="34" charset="-122"/>
                <a:cs typeface="Calibri" pitchFamily="34" charset="-120"/>
              </a:rPr>
              <a:t>Yeni doldurulan hücreler kalın</a:t>
            </a:r>
            <a:endParaRPr lang="en-US" sz="15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1584916"/>
                <a:gridCol w="1584916"/>
                <a:gridCol w="1584916"/>
                <a:gridCol w="1584916"/>
                <a:gridCol w="1584916"/>
                <a:gridCol w="1584916"/>
                <a:gridCol w="1584916"/>
              </a:tblGrid>
              <a:tr h="0">
                <a:tc>
                  <a:txBody>
                    <a:bodyPr/>
                    <a:lstStyle/>
                    <a:p>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ctr" indent="0" marL="0">
                        <a:buNone/>
                      </a:pPr>
                      <a:r>
                        <a:rPr lang="en-US" sz="1700" b="1" dirty="0">
                          <a:solidFill>
                            <a:srgbClr val="212121"/>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ctr" indent="0" marL="0">
                        <a:buNone/>
                      </a:pPr>
                      <a:r>
                        <a:rPr lang="en-US" sz="1700" b="1" dirty="0">
                          <a:solidFill>
                            <a:srgbClr val="212121"/>
                          </a:solidFill>
                          <a:latin typeface="Calibri" pitchFamily="34" charset="0"/>
                          <a:ea typeface="Calibri" pitchFamily="34" charset="-122"/>
                          <a:cs typeface="Calibri" pitchFamily="34" charset="-120"/>
                        </a:rPr>
                        <a:t>C</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ctr" indent="0" marL="0">
                        <a:buNone/>
                      </a:pPr>
                      <a:r>
                        <a:rPr lang="en-US" sz="1700" b="1" dirty="0">
                          <a:solidFill>
                            <a:srgbClr val="212121"/>
                          </a:solidFill>
                          <a:latin typeface="Calibri" pitchFamily="34" charset="0"/>
                          <a:ea typeface="Calibri" pitchFamily="34" charset="-122"/>
                          <a:cs typeface="Calibri" pitchFamily="34" charset="-120"/>
                        </a:rPr>
                        <a:t>A</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ctr" indent="0" marL="0">
                        <a:buNone/>
                      </a:pPr>
                      <a:r>
                        <a:rPr lang="en-US" sz="1700" b="1" dirty="0">
                          <a:solidFill>
                            <a:srgbClr val="212121"/>
                          </a:solidFill>
                          <a:latin typeface="Calibri" pitchFamily="34" charset="0"/>
                          <a:ea typeface="Calibri" pitchFamily="34" charset="-122"/>
                          <a:cs typeface="Calibri" pitchFamily="34" charset="-120"/>
                        </a:rPr>
                        <a:t>G</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ctr" indent="0" marL="0">
                        <a:buNone/>
                      </a:pPr>
                      <a:r>
                        <a:rPr lang="en-US" sz="1700" b="1" dirty="0">
                          <a:solidFill>
                            <a:srgbClr val="212121"/>
                          </a:solidFill>
                          <a:latin typeface="Calibri" pitchFamily="34" charset="0"/>
                          <a:ea typeface="Calibri" pitchFamily="34" charset="-122"/>
                          <a:cs typeface="Calibri" pitchFamily="34" charset="-120"/>
                        </a:rPr>
                        <a:t>C</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ctr" indent="0" marL="0">
                        <a:buNone/>
                      </a:pPr>
                      <a:r>
                        <a:rPr lang="en-US" sz="1700" b="1" dirty="0">
                          <a:solidFill>
                            <a:srgbClr val="212121"/>
                          </a:solidFill>
                          <a:latin typeface="Calibri" pitchFamily="34" charset="0"/>
                          <a:ea typeface="Calibri" pitchFamily="34" charset="-122"/>
                          <a:cs typeface="Calibri" pitchFamily="34" charset="-120"/>
                        </a:rPr>
                        <a:t>A</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r>
              <a:tr h="0">
                <a:tc>
                  <a:txBody>
                    <a:bodyPr/>
                    <a:lstStyle/>
                    <a:p>
                      <a:pPr algn="ctr" indent="0" marL="0">
                        <a:buNone/>
                      </a:pPr>
                      <a:r>
                        <a:rPr lang="en-US" sz="1700" dirty="0">
                          <a:solidFill>
                            <a:srgbClr val="212121"/>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212121"/>
                          </a:solidFill>
                          <a:latin typeface="Calibri" pitchFamily="34" charset="0"/>
                          <a:ea typeface="Calibri" pitchFamily="34" charset="-122"/>
                          <a:cs typeface="Calibri" pitchFamily="34" charset="-120"/>
                        </a:rPr>
                        <a:t>0</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212121"/>
                          </a:solidFill>
                          <a:latin typeface="Calibri" pitchFamily="34" charset="0"/>
                          <a:ea typeface="Calibri" pitchFamily="34" charset="-122"/>
                          <a:cs typeface="Calibri" pitchFamily="34" charset="-120"/>
                        </a:rPr>
                        <a:t>−2</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212121"/>
                          </a:solidFill>
                          <a:latin typeface="Calibri" pitchFamily="34" charset="0"/>
                          <a:ea typeface="Calibri" pitchFamily="34" charset="-122"/>
                          <a:cs typeface="Calibri" pitchFamily="34" charset="-120"/>
                        </a:rPr>
                        <a:t>−4</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212121"/>
                          </a:solidFill>
                          <a:latin typeface="Calibri" pitchFamily="34" charset="0"/>
                          <a:ea typeface="Calibri" pitchFamily="34" charset="-122"/>
                          <a:cs typeface="Calibri" pitchFamily="34" charset="-120"/>
                        </a:rPr>
                        <a:t>−6</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212121"/>
                          </a:solidFill>
                          <a:latin typeface="Calibri" pitchFamily="34" charset="0"/>
                          <a:ea typeface="Calibri" pitchFamily="34" charset="-122"/>
                          <a:cs typeface="Calibri" pitchFamily="34" charset="-120"/>
                        </a:rPr>
                        <a:t>−8</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212121"/>
                          </a:solidFill>
                          <a:latin typeface="Calibri" pitchFamily="34" charset="0"/>
                          <a:ea typeface="Calibri" pitchFamily="34" charset="-122"/>
                          <a:cs typeface="Calibri" pitchFamily="34" charset="-120"/>
                        </a:rPr>
                        <a:t>−10</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ctr" indent="0" marL="0">
                        <a:buNone/>
                      </a:pPr>
                      <a:r>
                        <a:rPr lang="en-US" sz="1700" dirty="0">
                          <a:solidFill>
                            <a:srgbClr val="212121"/>
                          </a:solidFill>
                          <a:latin typeface="Calibri" pitchFamily="34" charset="0"/>
                          <a:ea typeface="Calibri" pitchFamily="34" charset="-122"/>
                          <a:cs typeface="Calibri" pitchFamily="34" charset="-120"/>
                        </a:rPr>
                        <a:t>C</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700" dirty="0">
                          <a:solidFill>
                            <a:srgbClr val="212121"/>
                          </a:solidFill>
                          <a:latin typeface="Calibri" pitchFamily="34" charset="0"/>
                          <a:ea typeface="Calibri" pitchFamily="34" charset="-122"/>
                          <a:cs typeface="Calibri" pitchFamily="34" charset="-120"/>
                        </a:rPr>
                        <a:t>−2</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700" dirty="0">
                          <a:solidFill>
                            <a:srgbClr val="212121"/>
                          </a:solidFill>
                          <a:latin typeface="Calibri" pitchFamily="34" charset="0"/>
                          <a:ea typeface="Calibri" pitchFamily="34" charset="-122"/>
                          <a:cs typeface="Calibri" pitchFamily="34" charset="-120"/>
                        </a:rPr>
                        <a:t>1</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700" dirty="0">
                          <a:solidFill>
                            <a:srgbClr val="212121"/>
                          </a:solidFill>
                          <a:latin typeface="Calibri" pitchFamily="34" charset="0"/>
                          <a:ea typeface="Calibri" pitchFamily="34" charset="-122"/>
                          <a:cs typeface="Calibri" pitchFamily="34" charset="-120"/>
                        </a:rPr>
                        <a:t>−1</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700" dirty="0">
                          <a:solidFill>
                            <a:srgbClr val="212121"/>
                          </a:solidFill>
                          <a:latin typeface="Calibri" pitchFamily="34" charset="0"/>
                          <a:ea typeface="Calibri" pitchFamily="34" charset="-122"/>
                          <a:cs typeface="Calibri" pitchFamily="34" charset="-120"/>
                        </a:rPr>
                        <a:t>−3</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700" dirty="0">
                          <a:solidFill>
                            <a:srgbClr val="212121"/>
                          </a:solidFill>
                          <a:latin typeface="Calibri" pitchFamily="34" charset="0"/>
                          <a:ea typeface="Calibri" pitchFamily="34" charset="-122"/>
                          <a:cs typeface="Calibri" pitchFamily="34" charset="-120"/>
                        </a:rPr>
                        <a:t>−5</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700" dirty="0">
                          <a:solidFill>
                            <a:srgbClr val="212121"/>
                          </a:solidFill>
                          <a:latin typeface="Calibri" pitchFamily="34" charset="0"/>
                          <a:ea typeface="Calibri" pitchFamily="34" charset="-122"/>
                          <a:cs typeface="Calibri" pitchFamily="34" charset="-120"/>
                        </a:rPr>
                        <a:t>−7</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ctr" indent="0" marL="0">
                        <a:buNone/>
                      </a:pPr>
                      <a:r>
                        <a:rPr lang="en-US" sz="1700" dirty="0">
                          <a:solidFill>
                            <a:srgbClr val="212121"/>
                          </a:solidFill>
                          <a:latin typeface="Calibri" pitchFamily="34" charset="0"/>
                          <a:ea typeface="Calibri" pitchFamily="34" charset="-122"/>
                          <a:cs typeface="Calibri" pitchFamily="34" charset="-120"/>
                        </a:rPr>
                        <a:t>A</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212121"/>
                          </a:solidFill>
                          <a:latin typeface="Calibri" pitchFamily="34" charset="0"/>
                          <a:ea typeface="Calibri" pitchFamily="34" charset="-122"/>
                          <a:cs typeface="Calibri" pitchFamily="34" charset="-120"/>
                        </a:rPr>
                        <a:t>−4</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212121"/>
                          </a:solidFill>
                          <a:latin typeface="Calibri" pitchFamily="34" charset="0"/>
                          <a:ea typeface="Calibri" pitchFamily="34" charset="-122"/>
                          <a:cs typeface="Calibri" pitchFamily="34" charset="-120"/>
                        </a:rPr>
                        <a:t>−1</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212121"/>
                          </a:solidFill>
                          <a:latin typeface="Calibri" pitchFamily="34" charset="0"/>
                          <a:ea typeface="Calibri" pitchFamily="34" charset="-122"/>
                          <a:cs typeface="Calibri" pitchFamily="34" charset="-120"/>
                        </a:rPr>
                        <a:t>2</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212121"/>
                          </a:solidFill>
                          <a:latin typeface="Calibri" pitchFamily="34" charset="0"/>
                          <a:ea typeface="Calibri" pitchFamily="34" charset="-122"/>
                          <a:cs typeface="Calibri" pitchFamily="34" charset="-120"/>
                        </a:rPr>
                        <a:t>0</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212121"/>
                          </a:solidFill>
                          <a:latin typeface="Calibri" pitchFamily="34" charset="0"/>
                          <a:ea typeface="Calibri" pitchFamily="34" charset="-122"/>
                          <a:cs typeface="Calibri" pitchFamily="34" charset="-120"/>
                        </a:rPr>
                        <a:t>−2</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212121"/>
                          </a:solidFill>
                          <a:latin typeface="Calibri" pitchFamily="34" charset="0"/>
                          <a:ea typeface="Calibri" pitchFamily="34" charset="-122"/>
                          <a:cs typeface="Calibri" pitchFamily="34" charset="-120"/>
                        </a:rPr>
                        <a:t>−4</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ctr" indent="0" marL="0">
                        <a:buNone/>
                      </a:pPr>
                      <a:r>
                        <a:rPr lang="en-US" sz="1700" dirty="0">
                          <a:solidFill>
                            <a:srgbClr val="212121"/>
                          </a:solidFill>
                          <a:latin typeface="Calibri" pitchFamily="34" charset="0"/>
                          <a:ea typeface="Calibri" pitchFamily="34" charset="-122"/>
                          <a:cs typeface="Calibri" pitchFamily="34" charset="-120"/>
                        </a:rPr>
                        <a:t>T</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ctr" indent="0" marL="0">
                        <a:buNone/>
                      </a:pPr>
                      <a:r>
                        <a:rPr lang="en-US" sz="1700" dirty="0">
                          <a:solidFill>
                            <a:srgbClr val="212121"/>
                          </a:solidFill>
                          <a:latin typeface="Calibri" pitchFamily="34" charset="0"/>
                          <a:ea typeface="Calibri" pitchFamily="34" charset="-122"/>
                          <a:cs typeface="Calibri" pitchFamily="34" charset="-120"/>
                        </a:rPr>
                        <a:t>−6</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ctr" indent="0" marL="0">
                        <a:buNone/>
                      </a:pPr>
                      <a:r>
                        <a:rPr lang="en-US" sz="1700" b="1" dirty="0">
                          <a:solidFill>
                            <a:srgbClr val="212121"/>
                          </a:solidFill>
                          <a:latin typeface="Calibri" pitchFamily="34" charset="0"/>
                          <a:ea typeface="Calibri" pitchFamily="34" charset="-122"/>
                          <a:cs typeface="Calibri" pitchFamily="34" charset="-120"/>
                        </a:rPr>
                        <a:t>−3</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ctr" indent="0" marL="0">
                        <a:buNone/>
                      </a:pPr>
                      <a:r>
                        <a:rPr lang="en-US" sz="1700" b="1" dirty="0">
                          <a:solidFill>
                            <a:srgbClr val="212121"/>
                          </a:solidFill>
                          <a:latin typeface="Calibri" pitchFamily="34" charset="0"/>
                          <a:ea typeface="Calibri" pitchFamily="34" charset="-122"/>
                          <a:cs typeface="Calibri" pitchFamily="34" charset="-120"/>
                        </a:rPr>
                        <a:t>0</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ctr" indent="0" marL="0">
                        <a:buNone/>
                      </a:pPr>
                      <a:r>
                        <a:rPr lang="en-US" sz="1700" b="1" dirty="0">
                          <a:solidFill>
                            <a:srgbClr val="212121"/>
                          </a:solidFill>
                          <a:latin typeface="Calibri" pitchFamily="34" charset="0"/>
                          <a:ea typeface="Calibri" pitchFamily="34" charset="-122"/>
                          <a:cs typeface="Calibri" pitchFamily="34" charset="-120"/>
                        </a:rPr>
                        <a:t>1</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ctr" indent="0" marL="0">
                        <a:buNone/>
                      </a:pPr>
                      <a:r>
                        <a:rPr lang="en-US" sz="1700" b="1" dirty="0">
                          <a:solidFill>
                            <a:srgbClr val="212121"/>
                          </a:solidFill>
                          <a:latin typeface="Calibri" pitchFamily="34" charset="0"/>
                          <a:ea typeface="Calibri" pitchFamily="34" charset="-122"/>
                          <a:cs typeface="Calibri" pitchFamily="34" charset="-120"/>
                        </a:rPr>
                        <a:t>−1</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ctr" indent="0" marL="0">
                        <a:buNone/>
                      </a:pPr>
                      <a:r>
                        <a:rPr lang="en-US" sz="1700" b="1" dirty="0">
                          <a:solidFill>
                            <a:srgbClr val="212121"/>
                          </a:solidFill>
                          <a:latin typeface="Calibri" pitchFamily="34" charset="0"/>
                          <a:ea typeface="Calibri" pitchFamily="34" charset="-122"/>
                          <a:cs typeface="Calibri" pitchFamily="34" charset="-120"/>
                        </a:rPr>
                        <a:t>−3</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r>
              <a:tr h="0">
                <a:tc>
                  <a:txBody>
                    <a:bodyPr/>
                    <a:lstStyle/>
                    <a:p>
                      <a:pPr algn="ctr" indent="0" marL="0">
                        <a:buNone/>
                      </a:pPr>
                      <a:r>
                        <a:rPr lang="en-US" sz="1700" dirty="0">
                          <a:solidFill>
                            <a:srgbClr val="212121"/>
                          </a:solidFill>
                          <a:latin typeface="Calibri" pitchFamily="34" charset="0"/>
                          <a:ea typeface="Calibri" pitchFamily="34" charset="-122"/>
                          <a:cs typeface="Calibri" pitchFamily="34" charset="-120"/>
                        </a:rPr>
                        <a:t>G</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ctr" indent="0" marL="0">
                        <a:buNone/>
                      </a:pPr>
                      <a:r>
                        <a:rPr lang="en-US" sz="1700" dirty="0">
                          <a:solidFill>
                            <a:srgbClr val="212121"/>
                          </a:solidFill>
                          <a:latin typeface="Calibri" pitchFamily="34" charset="0"/>
                          <a:ea typeface="Calibri" pitchFamily="34" charset="-122"/>
                          <a:cs typeface="Calibri" pitchFamily="34" charset="-120"/>
                        </a:rPr>
                        <a:t>−8</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ctr" indent="0" marL="0">
                        <a:buNone/>
                      </a:pPr>
                      <a:r>
                        <a:rPr lang="en-US" sz="1700" b="1" dirty="0">
                          <a:solidFill>
                            <a:srgbClr val="212121"/>
                          </a:solidFill>
                          <a:latin typeface="Calibri" pitchFamily="34" charset="0"/>
                          <a:ea typeface="Calibri" pitchFamily="34" charset="-122"/>
                          <a:cs typeface="Calibri" pitchFamily="34" charset="-120"/>
                        </a:rPr>
                        <a:t>−5</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ctr" indent="0" marL="0">
                        <a:buNone/>
                      </a:pPr>
                      <a:r>
                        <a:rPr lang="en-US" sz="1700" b="1" dirty="0">
                          <a:solidFill>
                            <a:srgbClr val="212121"/>
                          </a:solidFill>
                          <a:latin typeface="Calibri" pitchFamily="34" charset="0"/>
                          <a:ea typeface="Calibri" pitchFamily="34" charset="-122"/>
                          <a:cs typeface="Calibri" pitchFamily="34" charset="-120"/>
                        </a:rPr>
                        <a:t>−2</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ctr" indent="0" marL="0">
                        <a:buNone/>
                      </a:pPr>
                      <a:r>
                        <a:rPr lang="en-US" sz="1700" b="1" dirty="0">
                          <a:solidFill>
                            <a:srgbClr val="212121"/>
                          </a:solidFill>
                          <a:latin typeface="Calibri" pitchFamily="34" charset="0"/>
                          <a:ea typeface="Calibri" pitchFamily="34" charset="-122"/>
                          <a:cs typeface="Calibri" pitchFamily="34" charset="-120"/>
                        </a:rPr>
                        <a:t>1</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ctr" indent="0" marL="0">
                        <a:buNone/>
                      </a:pPr>
                      <a:r>
                        <a:rPr lang="en-US" sz="1700" b="1" dirty="0">
                          <a:solidFill>
                            <a:srgbClr val="212121"/>
                          </a:solidFill>
                          <a:latin typeface="Calibri" pitchFamily="34" charset="0"/>
                          <a:ea typeface="Calibri" pitchFamily="34" charset="-122"/>
                          <a:cs typeface="Calibri" pitchFamily="34" charset="-120"/>
                        </a:rPr>
                        <a:t>0</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ctr" indent="0" marL="0">
                        <a:buNone/>
                      </a:pPr>
                      <a:r>
                        <a:rPr lang="en-US" sz="1700" b="1" dirty="0">
                          <a:solidFill>
                            <a:srgbClr val="212121"/>
                          </a:solidFill>
                          <a:latin typeface="Calibri" pitchFamily="34" charset="0"/>
                          <a:ea typeface="Calibri" pitchFamily="34" charset="-122"/>
                          <a:cs typeface="Calibri" pitchFamily="34" charset="-120"/>
                        </a:rPr>
                        <a:t>−2</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r>
              <a:tr h="0">
                <a:tc>
                  <a:txBody>
                    <a:bodyPr/>
                    <a:lstStyle/>
                    <a:p>
                      <a:pPr algn="ctr" indent="0" marL="0">
                        <a:buNone/>
                      </a:pPr>
                      <a:r>
                        <a:rPr lang="en-US" sz="1700" dirty="0">
                          <a:solidFill>
                            <a:srgbClr val="212121"/>
                          </a:solidFill>
                          <a:latin typeface="Calibri" pitchFamily="34" charset="0"/>
                          <a:ea typeface="Calibri" pitchFamily="34" charset="-122"/>
                          <a:cs typeface="Calibri" pitchFamily="34" charset="-120"/>
                        </a:rPr>
                        <a:t>C</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700" dirty="0">
                          <a:solidFill>
                            <a:srgbClr val="212121"/>
                          </a:solidFill>
                          <a:latin typeface="Calibri" pitchFamily="34" charset="0"/>
                          <a:ea typeface="Calibri" pitchFamily="34" charset="-122"/>
                          <a:cs typeface="Calibri" pitchFamily="34" charset="-120"/>
                        </a:rPr>
                        <a:t>−10</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700" dirty="0">
                          <a:solidFill>
                            <a:srgbClr val="212121"/>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700" dirty="0">
                          <a:solidFill>
                            <a:srgbClr val="212121"/>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700" dirty="0">
                          <a:solidFill>
                            <a:srgbClr val="212121"/>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700" dirty="0">
                          <a:solidFill>
                            <a:srgbClr val="212121"/>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700" dirty="0">
                          <a:solidFill>
                            <a:srgbClr val="212121"/>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ctr" indent="0" marL="0">
                        <a:buNone/>
                      </a:pPr>
                      <a:r>
                        <a:rPr lang="en-US" sz="1700" dirty="0">
                          <a:solidFill>
                            <a:srgbClr val="212121"/>
                          </a:solidFill>
                          <a:latin typeface="Calibri" pitchFamily="34" charset="0"/>
                          <a:ea typeface="Calibri" pitchFamily="34" charset="-122"/>
                          <a:cs typeface="Calibri" pitchFamily="34" charset="-120"/>
                        </a:rPr>
                        <a:t>A</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212121"/>
                          </a:solidFill>
                          <a:latin typeface="Calibri" pitchFamily="34" charset="0"/>
                          <a:ea typeface="Calibri" pitchFamily="34" charset="-122"/>
                          <a:cs typeface="Calibri" pitchFamily="34" charset="-120"/>
                        </a:rPr>
                        <a:t>−12</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212121"/>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212121"/>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212121"/>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212121"/>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212121"/>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bl>
          </a:graphicData>
        </a:graphic>
      </p:graphicFrame>
      <p:sp>
        <p:nvSpPr>
          <p:cNvPr id="5" name="Shape 2"/>
          <p:cNvSpPr/>
          <p:nvPr/>
        </p:nvSpPr>
        <p:spPr>
          <a:xfrm>
            <a:off x="548640" y="4642104"/>
            <a:ext cx="11094415" cy="822960"/>
          </a:xfrm>
          <a:prstGeom prst="roundRect">
            <a:avLst>
              <a:gd name="adj" fmla="val 8889"/>
            </a:avLst>
          </a:prstGeom>
          <a:solidFill>
            <a:srgbClr val="FDECEA"/>
          </a:solidFill>
          <a:ln/>
        </p:spPr>
      </p:sp>
      <p:sp>
        <p:nvSpPr>
          <p:cNvPr id="6" name="Text 3"/>
          <p:cNvSpPr txBox="1"/>
          <p:nvPr/>
        </p:nvSpPr>
        <p:spPr>
          <a:xfrm>
            <a:off x="731520" y="4642104"/>
            <a:ext cx="10728655" cy="822960"/>
          </a:xfrm>
          <a:prstGeom prst="rect">
            <a:avLst/>
          </a:prstGeom>
          <a:noFill/>
          <a:ln/>
        </p:spPr>
        <p:txBody>
          <a:bodyPr wrap="square" lIns="0" tIns="0" rIns="0" bIns="0" rtlCol="0" anchor="ctr"/>
          <a:lstStyle/>
          <a:p>
            <a:pPr indent="0" marL="0">
              <a:buNone/>
            </a:pPr>
            <a:r>
              <a:rPr lang="en-US" sz="1600" dirty="0">
                <a:solidFill>
                  <a:srgbClr val="212121"/>
                </a:solidFill>
                <a:latin typeface="Calibri" pitchFamily="34" charset="0"/>
                <a:ea typeface="Calibri" pitchFamily="34" charset="-122"/>
                <a:cs typeface="Calibri" pitchFamily="34" charset="-120"/>
              </a:rPr>
              <a:t>T satırında hiç eşleşme yok (y'de T yok) → değerler ancak yukarıdan veya uyumsuzlukla gelir. F(4,4) [G/C]: max(1 − 1, −1 − 2, 1 − 2) = </a:t>
            </a:r>
            <a:r>
              <a:rPr lang="en-US" sz="1600" b="1" dirty="0">
                <a:solidFill>
                  <a:srgbClr val="212121"/>
                </a:solidFill>
                <a:latin typeface="Calibri" pitchFamily="34" charset="0"/>
                <a:ea typeface="Calibri" pitchFamily="34" charset="-122"/>
                <a:cs typeface="Calibri" pitchFamily="34" charset="-120"/>
              </a:rPr>
              <a:t>0</a:t>
            </a:r>
            <a:r>
              <a:rPr lang="en-US" sz="1600" dirty="0">
                <a:solidFill>
                  <a:srgbClr val="212121"/>
                </a:solidFill>
                <a:latin typeface="Calibri" pitchFamily="34" charset="0"/>
                <a:ea typeface="Calibri" pitchFamily="34" charset="-122"/>
                <a:cs typeface="Calibri" pitchFamily="34" charset="-120"/>
              </a:rPr>
              <a:t>.  F(4,5) [G/A]: max(−1 − 1, −3 − 2, 0 − 2) = </a:t>
            </a:r>
            <a:r>
              <a:rPr lang="en-US" sz="1600" b="1" dirty="0">
                <a:solidFill>
                  <a:srgbClr val="212121"/>
                </a:solidFill>
                <a:latin typeface="Calibri" pitchFamily="34" charset="0"/>
                <a:ea typeface="Calibri" pitchFamily="34" charset="-122"/>
                <a:cs typeface="Calibri" pitchFamily="34" charset="-120"/>
              </a:rPr>
              <a:t>−2</a:t>
            </a:r>
            <a:r>
              <a:rPr lang="en-US" sz="1600" dirty="0">
                <a:solidFill>
                  <a:srgbClr val="212121"/>
                </a:solidFill>
                <a:latin typeface="Calibri" pitchFamily="34" charset="0"/>
                <a:ea typeface="Calibri" pitchFamily="34" charset="-122"/>
                <a:cs typeface="Calibri" pitchFamily="34" charset="-120"/>
              </a:rPr>
              <a:t> (çapraz = sol eşit).</a:t>
            </a:r>
            <a:endParaRPr lang="en-US" sz="1600" dirty="0"/>
          </a:p>
        </p:txBody>
      </p:sp>
      <p:sp>
        <p:nvSpPr>
          <p:cNvPr id="7" name="Text 4"/>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6: Global hizalama (NW)</a:t>
            </a:r>
            <a:endParaRPr lang="en-US" sz="900" dirty="0"/>
          </a:p>
        </p:txBody>
      </p:sp>
      <p:sp>
        <p:nvSpPr>
          <p:cNvPr id="8" name="Text 5"/>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Adım 3: tamamlanmış matris ve optimal yol</a:t>
            </a:r>
            <a:endParaRPr lang="en-US" sz="3000" dirty="0"/>
          </a:p>
        </p:txBody>
      </p:sp>
      <p:sp>
        <p:nvSpPr>
          <p:cNvPr id="3" name="Text 1"/>
          <p:cNvSpPr txBox="1"/>
          <p:nvPr/>
        </p:nvSpPr>
        <p:spPr>
          <a:xfrm>
            <a:off x="548640" y="987552"/>
            <a:ext cx="11094415" cy="365760"/>
          </a:xfrm>
          <a:prstGeom prst="rect">
            <a:avLst/>
          </a:prstGeom>
          <a:noFill/>
          <a:ln/>
        </p:spPr>
        <p:txBody>
          <a:bodyPr wrap="square" lIns="0" tIns="0" rIns="0" bIns="0" rtlCol="0" anchor="t"/>
          <a:lstStyle/>
          <a:p>
            <a:pPr indent="0" marL="0">
              <a:buNone/>
            </a:pPr>
            <a:r>
              <a:rPr lang="en-US" sz="1500" i="1" dirty="0">
                <a:solidFill>
                  <a:srgbClr val="546E7A"/>
                </a:solidFill>
                <a:latin typeface="Calibri" pitchFamily="34" charset="0"/>
                <a:ea typeface="Calibri" pitchFamily="34" charset="-122"/>
                <a:cs typeface="Calibri" pitchFamily="34" charset="-120"/>
              </a:rPr>
              <a:t>Kalın hücreler geri izleme yolu; S* = F(6,5) = 3</a:t>
            </a:r>
            <a:endParaRPr lang="en-US" sz="15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1584916"/>
                <a:gridCol w="1584916"/>
                <a:gridCol w="1584916"/>
                <a:gridCol w="1584916"/>
                <a:gridCol w="1584916"/>
                <a:gridCol w="1584916"/>
                <a:gridCol w="1584916"/>
              </a:tblGrid>
              <a:tr h="0">
                <a:tc>
                  <a:txBody>
                    <a:bodyPr/>
                    <a:lstStyle/>
                    <a:p>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ctr" indent="0" marL="0">
                        <a:buNone/>
                      </a:pPr>
                      <a:r>
                        <a:rPr lang="en-US" sz="1700" b="1" dirty="0">
                          <a:solidFill>
                            <a:srgbClr val="212121"/>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ctr" indent="0" marL="0">
                        <a:buNone/>
                      </a:pPr>
                      <a:r>
                        <a:rPr lang="en-US" sz="1700" b="1" dirty="0">
                          <a:solidFill>
                            <a:srgbClr val="212121"/>
                          </a:solidFill>
                          <a:latin typeface="Calibri" pitchFamily="34" charset="0"/>
                          <a:ea typeface="Calibri" pitchFamily="34" charset="-122"/>
                          <a:cs typeface="Calibri" pitchFamily="34" charset="-120"/>
                        </a:rPr>
                        <a:t>C</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ctr" indent="0" marL="0">
                        <a:buNone/>
                      </a:pPr>
                      <a:r>
                        <a:rPr lang="en-US" sz="1700" b="1" dirty="0">
                          <a:solidFill>
                            <a:srgbClr val="212121"/>
                          </a:solidFill>
                          <a:latin typeface="Calibri" pitchFamily="34" charset="0"/>
                          <a:ea typeface="Calibri" pitchFamily="34" charset="-122"/>
                          <a:cs typeface="Calibri" pitchFamily="34" charset="-120"/>
                        </a:rPr>
                        <a:t>A</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ctr" indent="0" marL="0">
                        <a:buNone/>
                      </a:pPr>
                      <a:r>
                        <a:rPr lang="en-US" sz="1700" b="1" dirty="0">
                          <a:solidFill>
                            <a:srgbClr val="212121"/>
                          </a:solidFill>
                          <a:latin typeface="Calibri" pitchFamily="34" charset="0"/>
                          <a:ea typeface="Calibri" pitchFamily="34" charset="-122"/>
                          <a:cs typeface="Calibri" pitchFamily="34" charset="-120"/>
                        </a:rPr>
                        <a:t>G</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ctr" indent="0" marL="0">
                        <a:buNone/>
                      </a:pPr>
                      <a:r>
                        <a:rPr lang="en-US" sz="1700" b="1" dirty="0">
                          <a:solidFill>
                            <a:srgbClr val="212121"/>
                          </a:solidFill>
                          <a:latin typeface="Calibri" pitchFamily="34" charset="0"/>
                          <a:ea typeface="Calibri" pitchFamily="34" charset="-122"/>
                          <a:cs typeface="Calibri" pitchFamily="34" charset="-120"/>
                        </a:rPr>
                        <a:t>C</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ctr" indent="0" marL="0">
                        <a:buNone/>
                      </a:pPr>
                      <a:r>
                        <a:rPr lang="en-US" sz="1700" b="1" dirty="0">
                          <a:solidFill>
                            <a:srgbClr val="212121"/>
                          </a:solidFill>
                          <a:latin typeface="Calibri" pitchFamily="34" charset="0"/>
                          <a:ea typeface="Calibri" pitchFamily="34" charset="-122"/>
                          <a:cs typeface="Calibri" pitchFamily="34" charset="-120"/>
                        </a:rPr>
                        <a:t>A</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r>
              <a:tr h="0">
                <a:tc>
                  <a:txBody>
                    <a:bodyPr/>
                    <a:lstStyle/>
                    <a:p>
                      <a:pPr algn="ctr" indent="0" marL="0">
                        <a:buNone/>
                      </a:pPr>
                      <a:r>
                        <a:rPr lang="en-US" sz="1700" dirty="0">
                          <a:solidFill>
                            <a:srgbClr val="212121"/>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700" b="1" dirty="0">
                          <a:solidFill>
                            <a:srgbClr val="212121"/>
                          </a:solidFill>
                          <a:latin typeface="Calibri" pitchFamily="34" charset="0"/>
                          <a:ea typeface="Calibri" pitchFamily="34" charset="-122"/>
                          <a:cs typeface="Calibri" pitchFamily="34" charset="-120"/>
                        </a:rPr>
                        <a:t>0</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212121"/>
                          </a:solidFill>
                          <a:latin typeface="Calibri" pitchFamily="34" charset="0"/>
                          <a:ea typeface="Calibri" pitchFamily="34" charset="-122"/>
                          <a:cs typeface="Calibri" pitchFamily="34" charset="-120"/>
                        </a:rPr>
                        <a:t>−2</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212121"/>
                          </a:solidFill>
                          <a:latin typeface="Calibri" pitchFamily="34" charset="0"/>
                          <a:ea typeface="Calibri" pitchFamily="34" charset="-122"/>
                          <a:cs typeface="Calibri" pitchFamily="34" charset="-120"/>
                        </a:rPr>
                        <a:t>−4</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212121"/>
                          </a:solidFill>
                          <a:latin typeface="Calibri" pitchFamily="34" charset="0"/>
                          <a:ea typeface="Calibri" pitchFamily="34" charset="-122"/>
                          <a:cs typeface="Calibri" pitchFamily="34" charset="-120"/>
                        </a:rPr>
                        <a:t>−6</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212121"/>
                          </a:solidFill>
                          <a:latin typeface="Calibri" pitchFamily="34" charset="0"/>
                          <a:ea typeface="Calibri" pitchFamily="34" charset="-122"/>
                          <a:cs typeface="Calibri" pitchFamily="34" charset="-120"/>
                        </a:rPr>
                        <a:t>−8</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212121"/>
                          </a:solidFill>
                          <a:latin typeface="Calibri" pitchFamily="34" charset="0"/>
                          <a:ea typeface="Calibri" pitchFamily="34" charset="-122"/>
                          <a:cs typeface="Calibri" pitchFamily="34" charset="-120"/>
                        </a:rPr>
                        <a:t>−10</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ctr" indent="0" marL="0">
                        <a:buNone/>
                      </a:pPr>
                      <a:r>
                        <a:rPr lang="en-US" sz="1700" dirty="0">
                          <a:solidFill>
                            <a:srgbClr val="212121"/>
                          </a:solidFill>
                          <a:latin typeface="Calibri" pitchFamily="34" charset="0"/>
                          <a:ea typeface="Calibri" pitchFamily="34" charset="-122"/>
                          <a:cs typeface="Calibri" pitchFamily="34" charset="-120"/>
                        </a:rPr>
                        <a:t>C</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700" dirty="0">
                          <a:solidFill>
                            <a:srgbClr val="212121"/>
                          </a:solidFill>
                          <a:latin typeface="Calibri" pitchFamily="34" charset="0"/>
                          <a:ea typeface="Calibri" pitchFamily="34" charset="-122"/>
                          <a:cs typeface="Calibri" pitchFamily="34" charset="-120"/>
                        </a:rPr>
                        <a:t>−2</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700" b="1" dirty="0">
                          <a:solidFill>
                            <a:srgbClr val="212121"/>
                          </a:solidFill>
                          <a:latin typeface="Calibri" pitchFamily="34" charset="0"/>
                          <a:ea typeface="Calibri" pitchFamily="34" charset="-122"/>
                          <a:cs typeface="Calibri" pitchFamily="34" charset="-120"/>
                        </a:rPr>
                        <a:t>1</a:t>
                      </a:r>
                      <a:r>
                        <a:rPr lang="en-US" sz="1700" dirty="0">
                          <a:solidFill>
                            <a:srgbClr val="212121"/>
                          </a:solidFill>
                          <a:latin typeface="Calibri" pitchFamily="34" charset="0"/>
                          <a:ea typeface="Calibri" pitchFamily="34" charset="-122"/>
                          <a:cs typeface="Calibri" pitchFamily="34" charset="-120"/>
                        </a:rPr>
                        <a:t> ↖</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700" dirty="0">
                          <a:solidFill>
                            <a:srgbClr val="212121"/>
                          </a:solidFill>
                          <a:latin typeface="Calibri" pitchFamily="34" charset="0"/>
                          <a:ea typeface="Calibri" pitchFamily="34" charset="-122"/>
                          <a:cs typeface="Calibri" pitchFamily="34" charset="-120"/>
                        </a:rPr>
                        <a:t>−1</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700" dirty="0">
                          <a:solidFill>
                            <a:srgbClr val="212121"/>
                          </a:solidFill>
                          <a:latin typeface="Calibri" pitchFamily="34" charset="0"/>
                          <a:ea typeface="Calibri" pitchFamily="34" charset="-122"/>
                          <a:cs typeface="Calibri" pitchFamily="34" charset="-120"/>
                        </a:rPr>
                        <a:t>−3</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700" dirty="0">
                          <a:solidFill>
                            <a:srgbClr val="212121"/>
                          </a:solidFill>
                          <a:latin typeface="Calibri" pitchFamily="34" charset="0"/>
                          <a:ea typeface="Calibri" pitchFamily="34" charset="-122"/>
                          <a:cs typeface="Calibri" pitchFamily="34" charset="-120"/>
                        </a:rPr>
                        <a:t>−5</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700" dirty="0">
                          <a:solidFill>
                            <a:srgbClr val="212121"/>
                          </a:solidFill>
                          <a:latin typeface="Calibri" pitchFamily="34" charset="0"/>
                          <a:ea typeface="Calibri" pitchFamily="34" charset="-122"/>
                          <a:cs typeface="Calibri" pitchFamily="34" charset="-120"/>
                        </a:rPr>
                        <a:t>−7</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ctr" indent="0" marL="0">
                        <a:buNone/>
                      </a:pPr>
                      <a:r>
                        <a:rPr lang="en-US" sz="1700" dirty="0">
                          <a:solidFill>
                            <a:srgbClr val="212121"/>
                          </a:solidFill>
                          <a:latin typeface="Calibri" pitchFamily="34" charset="0"/>
                          <a:ea typeface="Calibri" pitchFamily="34" charset="-122"/>
                          <a:cs typeface="Calibri" pitchFamily="34" charset="-120"/>
                        </a:rPr>
                        <a:t>A</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212121"/>
                          </a:solidFill>
                          <a:latin typeface="Calibri" pitchFamily="34" charset="0"/>
                          <a:ea typeface="Calibri" pitchFamily="34" charset="-122"/>
                          <a:cs typeface="Calibri" pitchFamily="34" charset="-120"/>
                        </a:rPr>
                        <a:t>−4</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212121"/>
                          </a:solidFill>
                          <a:latin typeface="Calibri" pitchFamily="34" charset="0"/>
                          <a:ea typeface="Calibri" pitchFamily="34" charset="-122"/>
                          <a:cs typeface="Calibri" pitchFamily="34" charset="-120"/>
                        </a:rPr>
                        <a:t>−1</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700" b="1" dirty="0">
                          <a:solidFill>
                            <a:srgbClr val="212121"/>
                          </a:solidFill>
                          <a:latin typeface="Calibri" pitchFamily="34" charset="0"/>
                          <a:ea typeface="Calibri" pitchFamily="34" charset="-122"/>
                          <a:cs typeface="Calibri" pitchFamily="34" charset="-120"/>
                        </a:rPr>
                        <a:t>2</a:t>
                      </a:r>
                      <a:r>
                        <a:rPr lang="en-US" sz="1700" dirty="0">
                          <a:solidFill>
                            <a:srgbClr val="212121"/>
                          </a:solidFill>
                          <a:latin typeface="Calibri" pitchFamily="34" charset="0"/>
                          <a:ea typeface="Calibri" pitchFamily="34" charset="-122"/>
                          <a:cs typeface="Calibri" pitchFamily="34" charset="-120"/>
                        </a:rPr>
                        <a:t> ↖</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212121"/>
                          </a:solidFill>
                          <a:latin typeface="Calibri" pitchFamily="34" charset="0"/>
                          <a:ea typeface="Calibri" pitchFamily="34" charset="-122"/>
                          <a:cs typeface="Calibri" pitchFamily="34" charset="-120"/>
                        </a:rPr>
                        <a:t>0</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212121"/>
                          </a:solidFill>
                          <a:latin typeface="Calibri" pitchFamily="34" charset="0"/>
                          <a:ea typeface="Calibri" pitchFamily="34" charset="-122"/>
                          <a:cs typeface="Calibri" pitchFamily="34" charset="-120"/>
                        </a:rPr>
                        <a:t>−2</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212121"/>
                          </a:solidFill>
                          <a:latin typeface="Calibri" pitchFamily="34" charset="0"/>
                          <a:ea typeface="Calibri" pitchFamily="34" charset="-122"/>
                          <a:cs typeface="Calibri" pitchFamily="34" charset="-120"/>
                        </a:rPr>
                        <a:t>−4</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ctr" indent="0" marL="0">
                        <a:buNone/>
                      </a:pPr>
                      <a:r>
                        <a:rPr lang="en-US" sz="1700" dirty="0">
                          <a:solidFill>
                            <a:srgbClr val="212121"/>
                          </a:solidFill>
                          <a:latin typeface="Calibri" pitchFamily="34" charset="0"/>
                          <a:ea typeface="Calibri" pitchFamily="34" charset="-122"/>
                          <a:cs typeface="Calibri" pitchFamily="34" charset="-120"/>
                        </a:rPr>
                        <a:t>T</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700" dirty="0">
                          <a:solidFill>
                            <a:srgbClr val="212121"/>
                          </a:solidFill>
                          <a:latin typeface="Calibri" pitchFamily="34" charset="0"/>
                          <a:ea typeface="Calibri" pitchFamily="34" charset="-122"/>
                          <a:cs typeface="Calibri" pitchFamily="34" charset="-120"/>
                        </a:rPr>
                        <a:t>−6</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700" dirty="0">
                          <a:solidFill>
                            <a:srgbClr val="212121"/>
                          </a:solidFill>
                          <a:latin typeface="Calibri" pitchFamily="34" charset="0"/>
                          <a:ea typeface="Calibri" pitchFamily="34" charset="-122"/>
                          <a:cs typeface="Calibri" pitchFamily="34" charset="-120"/>
                        </a:rPr>
                        <a:t>−3</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700" b="1" dirty="0">
                          <a:solidFill>
                            <a:srgbClr val="212121"/>
                          </a:solidFill>
                          <a:latin typeface="Calibri" pitchFamily="34" charset="0"/>
                          <a:ea typeface="Calibri" pitchFamily="34" charset="-122"/>
                          <a:cs typeface="Calibri" pitchFamily="34" charset="-120"/>
                        </a:rPr>
                        <a:t>0</a:t>
                      </a:r>
                      <a:r>
                        <a:rPr lang="en-US" sz="1700" dirty="0">
                          <a:solidFill>
                            <a:srgbClr val="212121"/>
                          </a:solidFill>
                          <a:latin typeface="Calibri" pitchFamily="34" charset="0"/>
                          <a:ea typeface="Calibri" pitchFamily="34" charset="-122"/>
                          <a:cs typeface="Calibri" pitchFamily="34" charset="-120"/>
                        </a:rPr>
                        <a:t> ↑</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700" dirty="0">
                          <a:solidFill>
                            <a:srgbClr val="212121"/>
                          </a:solidFill>
                          <a:latin typeface="Calibri" pitchFamily="34" charset="0"/>
                          <a:ea typeface="Calibri" pitchFamily="34" charset="-122"/>
                          <a:cs typeface="Calibri" pitchFamily="34" charset="-120"/>
                        </a:rPr>
                        <a:t>1</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700" dirty="0">
                          <a:solidFill>
                            <a:srgbClr val="212121"/>
                          </a:solidFill>
                          <a:latin typeface="Calibri" pitchFamily="34" charset="0"/>
                          <a:ea typeface="Calibri" pitchFamily="34" charset="-122"/>
                          <a:cs typeface="Calibri" pitchFamily="34" charset="-120"/>
                        </a:rPr>
                        <a:t>−1</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700" dirty="0">
                          <a:solidFill>
                            <a:srgbClr val="212121"/>
                          </a:solidFill>
                          <a:latin typeface="Calibri" pitchFamily="34" charset="0"/>
                          <a:ea typeface="Calibri" pitchFamily="34" charset="-122"/>
                          <a:cs typeface="Calibri" pitchFamily="34" charset="-120"/>
                        </a:rPr>
                        <a:t>−3</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ctr" indent="0" marL="0">
                        <a:buNone/>
                      </a:pPr>
                      <a:r>
                        <a:rPr lang="en-US" sz="1700" dirty="0">
                          <a:solidFill>
                            <a:srgbClr val="212121"/>
                          </a:solidFill>
                          <a:latin typeface="Calibri" pitchFamily="34" charset="0"/>
                          <a:ea typeface="Calibri" pitchFamily="34" charset="-122"/>
                          <a:cs typeface="Calibri" pitchFamily="34" charset="-120"/>
                        </a:rPr>
                        <a:t>G</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212121"/>
                          </a:solidFill>
                          <a:latin typeface="Calibri" pitchFamily="34" charset="0"/>
                          <a:ea typeface="Calibri" pitchFamily="34" charset="-122"/>
                          <a:cs typeface="Calibri" pitchFamily="34" charset="-120"/>
                        </a:rPr>
                        <a:t>−8</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212121"/>
                          </a:solidFill>
                          <a:latin typeface="Calibri" pitchFamily="34" charset="0"/>
                          <a:ea typeface="Calibri" pitchFamily="34" charset="-122"/>
                          <a:cs typeface="Calibri" pitchFamily="34" charset="-120"/>
                        </a:rPr>
                        <a:t>−5</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212121"/>
                          </a:solidFill>
                          <a:latin typeface="Calibri" pitchFamily="34" charset="0"/>
                          <a:ea typeface="Calibri" pitchFamily="34" charset="-122"/>
                          <a:cs typeface="Calibri" pitchFamily="34" charset="-120"/>
                        </a:rPr>
                        <a:t>−2</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700" b="1" dirty="0">
                          <a:solidFill>
                            <a:srgbClr val="212121"/>
                          </a:solidFill>
                          <a:latin typeface="Calibri" pitchFamily="34" charset="0"/>
                          <a:ea typeface="Calibri" pitchFamily="34" charset="-122"/>
                          <a:cs typeface="Calibri" pitchFamily="34" charset="-120"/>
                        </a:rPr>
                        <a:t>1</a:t>
                      </a:r>
                      <a:r>
                        <a:rPr lang="en-US" sz="1700" dirty="0">
                          <a:solidFill>
                            <a:srgbClr val="212121"/>
                          </a:solidFill>
                          <a:latin typeface="Calibri" pitchFamily="34" charset="0"/>
                          <a:ea typeface="Calibri" pitchFamily="34" charset="-122"/>
                          <a:cs typeface="Calibri" pitchFamily="34" charset="-120"/>
                        </a:rPr>
                        <a:t> ↖</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212121"/>
                          </a:solidFill>
                          <a:latin typeface="Calibri" pitchFamily="34" charset="0"/>
                          <a:ea typeface="Calibri" pitchFamily="34" charset="-122"/>
                          <a:cs typeface="Calibri" pitchFamily="34" charset="-120"/>
                        </a:rPr>
                        <a:t>0</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212121"/>
                          </a:solidFill>
                          <a:latin typeface="Calibri" pitchFamily="34" charset="0"/>
                          <a:ea typeface="Calibri" pitchFamily="34" charset="-122"/>
                          <a:cs typeface="Calibri" pitchFamily="34" charset="-120"/>
                        </a:rPr>
                        <a:t>−2</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ctr" indent="0" marL="0">
                        <a:buNone/>
                      </a:pPr>
                      <a:r>
                        <a:rPr lang="en-US" sz="1700" dirty="0">
                          <a:solidFill>
                            <a:srgbClr val="212121"/>
                          </a:solidFill>
                          <a:latin typeface="Calibri" pitchFamily="34" charset="0"/>
                          <a:ea typeface="Calibri" pitchFamily="34" charset="-122"/>
                          <a:cs typeface="Calibri" pitchFamily="34" charset="-120"/>
                        </a:rPr>
                        <a:t>C</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ctr" indent="0" marL="0">
                        <a:buNone/>
                      </a:pPr>
                      <a:r>
                        <a:rPr lang="en-US" sz="1700" dirty="0">
                          <a:solidFill>
                            <a:srgbClr val="212121"/>
                          </a:solidFill>
                          <a:latin typeface="Calibri" pitchFamily="34" charset="0"/>
                          <a:ea typeface="Calibri" pitchFamily="34" charset="-122"/>
                          <a:cs typeface="Calibri" pitchFamily="34" charset="-120"/>
                        </a:rPr>
                        <a:t>−10</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ctr" indent="0" marL="0">
                        <a:buNone/>
                      </a:pPr>
                      <a:r>
                        <a:rPr lang="en-US" sz="1700" dirty="0">
                          <a:solidFill>
                            <a:srgbClr val="212121"/>
                          </a:solidFill>
                          <a:latin typeface="Calibri" pitchFamily="34" charset="0"/>
                          <a:ea typeface="Calibri" pitchFamily="34" charset="-122"/>
                          <a:cs typeface="Calibri" pitchFamily="34" charset="-120"/>
                        </a:rPr>
                        <a:t>−7</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ctr" indent="0" marL="0">
                        <a:buNone/>
                      </a:pPr>
                      <a:r>
                        <a:rPr lang="en-US" sz="1700" dirty="0">
                          <a:solidFill>
                            <a:srgbClr val="212121"/>
                          </a:solidFill>
                          <a:latin typeface="Calibri" pitchFamily="34" charset="0"/>
                          <a:ea typeface="Calibri" pitchFamily="34" charset="-122"/>
                          <a:cs typeface="Calibri" pitchFamily="34" charset="-120"/>
                        </a:rPr>
                        <a:t>−4</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ctr" indent="0" marL="0">
                        <a:buNone/>
                      </a:pPr>
                      <a:r>
                        <a:rPr lang="en-US" sz="1700" dirty="0">
                          <a:solidFill>
                            <a:srgbClr val="212121"/>
                          </a:solidFill>
                          <a:latin typeface="Calibri" pitchFamily="34" charset="0"/>
                          <a:ea typeface="Calibri" pitchFamily="34" charset="-122"/>
                          <a:cs typeface="Calibri" pitchFamily="34" charset="-120"/>
                        </a:rPr>
                        <a:t>−1</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ctr" indent="0" marL="0">
                        <a:buNone/>
                      </a:pPr>
                      <a:r>
                        <a:rPr lang="en-US" sz="1700" b="1" dirty="0">
                          <a:solidFill>
                            <a:srgbClr val="212121"/>
                          </a:solidFill>
                          <a:latin typeface="Calibri" pitchFamily="34" charset="0"/>
                          <a:ea typeface="Calibri" pitchFamily="34" charset="-122"/>
                          <a:cs typeface="Calibri" pitchFamily="34" charset="-120"/>
                        </a:rPr>
                        <a:t>2</a:t>
                      </a:r>
                      <a:r>
                        <a:rPr lang="en-US" sz="1700" dirty="0">
                          <a:solidFill>
                            <a:srgbClr val="212121"/>
                          </a:solidFill>
                          <a:latin typeface="Calibri" pitchFamily="34" charset="0"/>
                          <a:ea typeface="Calibri" pitchFamily="34" charset="-122"/>
                          <a:cs typeface="Calibri" pitchFamily="34" charset="-120"/>
                        </a:rPr>
                        <a:t> ↖</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ctr" indent="0" marL="0">
                        <a:buNone/>
                      </a:pPr>
                      <a:r>
                        <a:rPr lang="en-US" sz="1700" dirty="0">
                          <a:solidFill>
                            <a:srgbClr val="212121"/>
                          </a:solidFill>
                          <a:latin typeface="Calibri" pitchFamily="34" charset="0"/>
                          <a:ea typeface="Calibri" pitchFamily="34" charset="-122"/>
                          <a:cs typeface="Calibri" pitchFamily="34" charset="-120"/>
                        </a:rPr>
                        <a:t>0</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r>
              <a:tr h="0">
                <a:tc>
                  <a:txBody>
                    <a:bodyPr/>
                    <a:lstStyle/>
                    <a:p>
                      <a:pPr algn="ctr" indent="0" marL="0">
                        <a:buNone/>
                      </a:pPr>
                      <a:r>
                        <a:rPr lang="en-US" sz="1700" dirty="0">
                          <a:solidFill>
                            <a:srgbClr val="212121"/>
                          </a:solidFill>
                          <a:latin typeface="Calibri" pitchFamily="34" charset="0"/>
                          <a:ea typeface="Calibri" pitchFamily="34" charset="-122"/>
                          <a:cs typeface="Calibri" pitchFamily="34" charset="-120"/>
                        </a:rPr>
                        <a:t>A</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ctr" indent="0" marL="0">
                        <a:buNone/>
                      </a:pPr>
                      <a:r>
                        <a:rPr lang="en-US" sz="1700" dirty="0">
                          <a:solidFill>
                            <a:srgbClr val="212121"/>
                          </a:solidFill>
                          <a:latin typeface="Calibri" pitchFamily="34" charset="0"/>
                          <a:ea typeface="Calibri" pitchFamily="34" charset="-122"/>
                          <a:cs typeface="Calibri" pitchFamily="34" charset="-120"/>
                        </a:rPr>
                        <a:t>−12</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ctr" indent="0" marL="0">
                        <a:buNone/>
                      </a:pPr>
                      <a:r>
                        <a:rPr lang="en-US" sz="1700" dirty="0">
                          <a:solidFill>
                            <a:srgbClr val="212121"/>
                          </a:solidFill>
                          <a:latin typeface="Calibri" pitchFamily="34" charset="0"/>
                          <a:ea typeface="Calibri" pitchFamily="34" charset="-122"/>
                          <a:cs typeface="Calibri" pitchFamily="34" charset="-120"/>
                        </a:rPr>
                        <a:t>−9</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ctr" indent="0" marL="0">
                        <a:buNone/>
                      </a:pPr>
                      <a:r>
                        <a:rPr lang="en-US" sz="1700" dirty="0">
                          <a:solidFill>
                            <a:srgbClr val="212121"/>
                          </a:solidFill>
                          <a:latin typeface="Calibri" pitchFamily="34" charset="0"/>
                          <a:ea typeface="Calibri" pitchFamily="34" charset="-122"/>
                          <a:cs typeface="Calibri" pitchFamily="34" charset="-120"/>
                        </a:rPr>
                        <a:t>−6</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ctr" indent="0" marL="0">
                        <a:buNone/>
                      </a:pPr>
                      <a:r>
                        <a:rPr lang="en-US" sz="1700" dirty="0">
                          <a:solidFill>
                            <a:srgbClr val="212121"/>
                          </a:solidFill>
                          <a:latin typeface="Calibri" pitchFamily="34" charset="0"/>
                          <a:ea typeface="Calibri" pitchFamily="34" charset="-122"/>
                          <a:cs typeface="Calibri" pitchFamily="34" charset="-120"/>
                        </a:rPr>
                        <a:t>−3</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ctr" indent="0" marL="0">
                        <a:buNone/>
                      </a:pPr>
                      <a:r>
                        <a:rPr lang="en-US" sz="1700" dirty="0">
                          <a:solidFill>
                            <a:srgbClr val="212121"/>
                          </a:solidFill>
                          <a:latin typeface="Calibri" pitchFamily="34" charset="0"/>
                          <a:ea typeface="Calibri" pitchFamily="34" charset="-122"/>
                          <a:cs typeface="Calibri" pitchFamily="34" charset="-120"/>
                        </a:rPr>
                        <a:t>0</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ctr" indent="0" marL="0">
                        <a:buNone/>
                      </a:pPr>
                      <a:r>
                        <a:rPr lang="en-US" sz="1700" b="1" dirty="0">
                          <a:solidFill>
                            <a:srgbClr val="212121"/>
                          </a:solidFill>
                          <a:latin typeface="Calibri" pitchFamily="34" charset="0"/>
                          <a:ea typeface="Calibri" pitchFamily="34" charset="-122"/>
                          <a:cs typeface="Calibri" pitchFamily="34" charset="-120"/>
                        </a:rPr>
                        <a:t>3</a:t>
                      </a:r>
                      <a:r>
                        <a:rPr lang="en-US" sz="1700" dirty="0">
                          <a:solidFill>
                            <a:srgbClr val="212121"/>
                          </a:solidFill>
                          <a:latin typeface="Calibri" pitchFamily="34" charset="0"/>
                          <a:ea typeface="Calibri" pitchFamily="34" charset="-122"/>
                          <a:cs typeface="Calibri" pitchFamily="34" charset="-120"/>
                        </a:rPr>
                        <a:t> ↖</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r>
            </a:tbl>
          </a:graphicData>
        </a:graphic>
      </p:graphicFrame>
      <p:sp>
        <p:nvSpPr>
          <p:cNvPr id="5" name="Shape 2"/>
          <p:cNvSpPr/>
          <p:nvPr/>
        </p:nvSpPr>
        <p:spPr>
          <a:xfrm>
            <a:off x="548640" y="4642104"/>
            <a:ext cx="11094415" cy="822960"/>
          </a:xfrm>
          <a:prstGeom prst="roundRect">
            <a:avLst>
              <a:gd name="adj" fmla="val 8889"/>
            </a:avLst>
          </a:prstGeom>
          <a:solidFill>
            <a:srgbClr val="FDECEA"/>
          </a:solidFill>
          <a:ln/>
        </p:spPr>
      </p:sp>
      <p:sp>
        <p:nvSpPr>
          <p:cNvPr id="6" name="Text 3"/>
          <p:cNvSpPr txBox="1"/>
          <p:nvPr/>
        </p:nvSpPr>
        <p:spPr>
          <a:xfrm>
            <a:off x="731520" y="4642104"/>
            <a:ext cx="10728655" cy="822960"/>
          </a:xfrm>
          <a:prstGeom prst="rect">
            <a:avLst/>
          </a:prstGeom>
          <a:noFill/>
          <a:ln/>
        </p:spPr>
        <p:txBody>
          <a:bodyPr wrap="square" lIns="0" tIns="0" rIns="0" bIns="0" rtlCol="0" anchor="ctr"/>
          <a:lstStyle/>
          <a:p>
            <a:pPr indent="0" marL="0">
              <a:buNone/>
            </a:pPr>
            <a:r>
              <a:rPr lang="en-US" sz="1600" dirty="0">
                <a:solidFill>
                  <a:srgbClr val="212121"/>
                </a:solidFill>
                <a:latin typeface="Calibri" pitchFamily="34" charset="0"/>
                <a:ea typeface="Calibri" pitchFamily="34" charset="-122"/>
                <a:cs typeface="Calibri" pitchFamily="34" charset="-120"/>
              </a:rPr>
              <a:t>F(5,4) [C/C]: max(1 + 1, 0 − 2, −1 − 2) = </a:t>
            </a:r>
            <a:r>
              <a:rPr lang="en-US" sz="1600" b="1" dirty="0">
                <a:solidFill>
                  <a:srgbClr val="212121"/>
                </a:solidFill>
                <a:latin typeface="Calibri" pitchFamily="34" charset="0"/>
                <a:ea typeface="Calibri" pitchFamily="34" charset="-122"/>
                <a:cs typeface="Calibri" pitchFamily="34" charset="-120"/>
              </a:rPr>
              <a:t>2</a:t>
            </a:r>
            <a:r>
              <a:rPr lang="en-US" sz="1600" dirty="0">
                <a:solidFill>
                  <a:srgbClr val="212121"/>
                </a:solidFill>
                <a:latin typeface="Calibri" pitchFamily="34" charset="0"/>
                <a:ea typeface="Calibri" pitchFamily="34" charset="-122"/>
                <a:cs typeface="Calibri" pitchFamily="34" charset="-120"/>
              </a:rPr>
              <a:t>.  F(6,5) [A/A]: max(2 + 1, 0 − 2, 0 − 2) = </a:t>
            </a:r>
            <a:r>
              <a:rPr lang="en-US" sz="1600" b="1" dirty="0">
                <a:solidFill>
                  <a:srgbClr val="212121"/>
                </a:solidFill>
                <a:latin typeface="Calibri" pitchFamily="34" charset="0"/>
                <a:ea typeface="Calibri" pitchFamily="34" charset="-122"/>
                <a:cs typeface="Calibri" pitchFamily="34" charset="-120"/>
              </a:rPr>
              <a:t>3</a:t>
            </a:r>
            <a:r>
              <a:rPr lang="en-US" sz="1600" dirty="0">
                <a:solidFill>
                  <a:srgbClr val="212121"/>
                </a:solidFill>
                <a:latin typeface="Calibri" pitchFamily="34" charset="0"/>
                <a:ea typeface="Calibri" pitchFamily="34" charset="-122"/>
                <a:cs typeface="Calibri" pitchFamily="34" charset="-120"/>
              </a:rPr>
              <a:t>. Köşegen dışı tek adım (3,2)'deki ↑: x'teki </a:t>
            </a:r>
            <a:r>
              <a:rPr lang="en-US" sz="1600" b="1" dirty="0">
                <a:solidFill>
                  <a:srgbClr val="212121"/>
                </a:solidFill>
                <a:latin typeface="Calibri" pitchFamily="34" charset="0"/>
                <a:ea typeface="Calibri" pitchFamily="34" charset="-122"/>
                <a:cs typeface="Calibri" pitchFamily="34" charset="-120"/>
              </a:rPr>
              <a:t>T</a:t>
            </a:r>
            <a:r>
              <a:rPr lang="en-US" sz="1600" dirty="0">
                <a:solidFill>
                  <a:srgbClr val="212121"/>
                </a:solidFill>
                <a:latin typeface="Calibri" pitchFamily="34" charset="0"/>
                <a:ea typeface="Calibri" pitchFamily="34" charset="-122"/>
                <a:cs typeface="Calibri" pitchFamily="34" charset="-120"/>
              </a:rPr>
              <a:t> karşısına boşluk.</a:t>
            </a:r>
            <a:endParaRPr lang="en-US" sz="1600" dirty="0"/>
          </a:p>
        </p:txBody>
      </p:sp>
      <p:sp>
        <p:nvSpPr>
          <p:cNvPr id="7" name="Text 4"/>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6: Global hizalama (NW)</a:t>
            </a:r>
            <a:endParaRPr lang="en-US" sz="900" dirty="0"/>
          </a:p>
        </p:txBody>
      </p:sp>
      <p:sp>
        <p:nvSpPr>
          <p:cNvPr id="8" name="Text 5"/>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Geri izleme: (6,5)'ten (0,0)'a</a:t>
            </a:r>
            <a:endParaRPr lang="en-US" sz="3000" dirty="0"/>
          </a:p>
        </p:txBody>
      </p:sp>
      <p:sp>
        <p:nvSpPr>
          <p:cNvPr id="3" name="Shape 1"/>
          <p:cNvSpPr/>
          <p:nvPr/>
        </p:nvSpPr>
        <p:spPr>
          <a:xfrm>
            <a:off x="548640" y="1417320"/>
            <a:ext cx="2464994" cy="1234440"/>
          </a:xfrm>
          <a:prstGeom prst="roundRect">
            <a:avLst>
              <a:gd name="adj" fmla="val 5926"/>
            </a:avLst>
          </a:prstGeom>
          <a:solidFill>
            <a:srgbClr val="F7F9FA"/>
          </a:solidFill>
          <a:ln w="12700">
            <a:solidFill>
              <a:srgbClr val="B0BEC5"/>
            </a:solidFill>
            <a:prstDash val="solid"/>
          </a:ln>
        </p:spPr>
      </p:sp>
      <p:sp>
        <p:nvSpPr>
          <p:cNvPr id="4" name="Text 2"/>
          <p:cNvSpPr txBox="1"/>
          <p:nvPr/>
        </p:nvSpPr>
        <p:spPr>
          <a:xfrm>
            <a:off x="621792" y="1417320"/>
            <a:ext cx="2318690" cy="1234440"/>
          </a:xfrm>
          <a:prstGeom prst="rect">
            <a:avLst/>
          </a:prstGeom>
          <a:noFill/>
          <a:ln/>
        </p:spPr>
        <p:txBody>
          <a:bodyPr wrap="square" lIns="0" tIns="0" rIns="0" bIns="0" rtlCol="0" anchor="ctr"/>
          <a:lstStyle/>
          <a:p>
            <a:pPr algn="ctr" indent="0" marL="0">
              <a:buNone/>
            </a:pPr>
            <a:r>
              <a:rPr lang="en-US" sz="1500" b="1" dirty="0">
                <a:solidFill>
                  <a:srgbClr val="263238"/>
                </a:solidFill>
                <a:latin typeface="Calibri" pitchFamily="34" charset="0"/>
                <a:ea typeface="Calibri" pitchFamily="34" charset="-122"/>
                <a:cs typeface="Calibri" pitchFamily="34" charset="-120"/>
              </a:rPr>
              <a:t>(6,5) = 3</a:t>
            </a:r>
            <a:endParaRPr lang="en-US" sz="1500" dirty="0"/>
          </a:p>
          <a:p>
            <a:pPr algn="ctr" indent="0" marL="0">
              <a:buNone/>
            </a:pPr>
            <a:r>
              <a:rPr lang="en-US" sz="1200" dirty="0">
                <a:solidFill>
                  <a:srgbClr val="37474F"/>
                </a:solidFill>
                <a:latin typeface="Calibri" pitchFamily="34" charset="0"/>
                <a:ea typeface="Calibri" pitchFamily="34" charset="-122"/>
                <a:cs typeface="Calibri" pitchFamily="34" charset="-120"/>
              </a:rPr>
              <a:t>↖ A/A: 2 + 1</a:t>
            </a:r>
            <a:endParaRPr lang="en-US" sz="1500" dirty="0"/>
          </a:p>
        </p:txBody>
      </p:sp>
      <p:sp>
        <p:nvSpPr>
          <p:cNvPr id="5" name="Shape 3"/>
          <p:cNvSpPr/>
          <p:nvPr/>
        </p:nvSpPr>
        <p:spPr>
          <a:xfrm>
            <a:off x="3059354" y="2034540"/>
            <a:ext cx="320040" cy="0"/>
          </a:xfrm>
          <a:prstGeom prst="line">
            <a:avLst/>
          </a:prstGeom>
          <a:noFill/>
          <a:ln w="19050">
            <a:solidFill>
              <a:srgbClr val="546E7A"/>
            </a:solidFill>
            <a:prstDash val="solid"/>
            <a:tailEnd type="triangle"/>
          </a:ln>
        </p:spPr>
      </p:sp>
      <p:sp>
        <p:nvSpPr>
          <p:cNvPr id="6" name="Shape 4"/>
          <p:cNvSpPr/>
          <p:nvPr/>
        </p:nvSpPr>
        <p:spPr>
          <a:xfrm>
            <a:off x="3425114" y="1417320"/>
            <a:ext cx="2464994" cy="1234440"/>
          </a:xfrm>
          <a:prstGeom prst="roundRect">
            <a:avLst>
              <a:gd name="adj" fmla="val 5926"/>
            </a:avLst>
          </a:prstGeom>
          <a:solidFill>
            <a:srgbClr val="F7F9FA"/>
          </a:solidFill>
          <a:ln w="12700">
            <a:solidFill>
              <a:srgbClr val="B0BEC5"/>
            </a:solidFill>
            <a:prstDash val="solid"/>
          </a:ln>
        </p:spPr>
      </p:sp>
      <p:sp>
        <p:nvSpPr>
          <p:cNvPr id="7" name="Text 5"/>
          <p:cNvSpPr txBox="1"/>
          <p:nvPr/>
        </p:nvSpPr>
        <p:spPr>
          <a:xfrm>
            <a:off x="3498266" y="1417320"/>
            <a:ext cx="2318690" cy="1234440"/>
          </a:xfrm>
          <a:prstGeom prst="rect">
            <a:avLst/>
          </a:prstGeom>
          <a:noFill/>
          <a:ln/>
        </p:spPr>
        <p:txBody>
          <a:bodyPr wrap="square" lIns="0" tIns="0" rIns="0" bIns="0" rtlCol="0" anchor="ctr"/>
          <a:lstStyle/>
          <a:p>
            <a:pPr algn="ctr" indent="0" marL="0">
              <a:buNone/>
            </a:pPr>
            <a:r>
              <a:rPr lang="en-US" sz="1500" b="1" dirty="0">
                <a:solidFill>
                  <a:srgbClr val="263238"/>
                </a:solidFill>
                <a:latin typeface="Calibri" pitchFamily="34" charset="0"/>
                <a:ea typeface="Calibri" pitchFamily="34" charset="-122"/>
                <a:cs typeface="Calibri" pitchFamily="34" charset="-120"/>
              </a:rPr>
              <a:t>(5,4) = 2</a:t>
            </a:r>
            <a:endParaRPr lang="en-US" sz="1500" dirty="0"/>
          </a:p>
          <a:p>
            <a:pPr algn="ctr" indent="0" marL="0">
              <a:buNone/>
            </a:pPr>
            <a:r>
              <a:rPr lang="en-US" sz="1200" dirty="0">
                <a:solidFill>
                  <a:srgbClr val="37474F"/>
                </a:solidFill>
                <a:latin typeface="Calibri" pitchFamily="34" charset="0"/>
                <a:ea typeface="Calibri" pitchFamily="34" charset="-122"/>
                <a:cs typeface="Calibri" pitchFamily="34" charset="-120"/>
              </a:rPr>
              <a:t>↖ C/C: 1 + 1</a:t>
            </a:r>
            <a:endParaRPr lang="en-US" sz="1500" dirty="0"/>
          </a:p>
        </p:txBody>
      </p:sp>
      <p:sp>
        <p:nvSpPr>
          <p:cNvPr id="8" name="Shape 6"/>
          <p:cNvSpPr/>
          <p:nvPr/>
        </p:nvSpPr>
        <p:spPr>
          <a:xfrm>
            <a:off x="5935828" y="2034540"/>
            <a:ext cx="320040" cy="0"/>
          </a:xfrm>
          <a:prstGeom prst="line">
            <a:avLst/>
          </a:prstGeom>
          <a:noFill/>
          <a:ln w="19050">
            <a:solidFill>
              <a:srgbClr val="546E7A"/>
            </a:solidFill>
            <a:prstDash val="solid"/>
            <a:tailEnd type="triangle"/>
          </a:ln>
        </p:spPr>
      </p:sp>
      <p:sp>
        <p:nvSpPr>
          <p:cNvPr id="9" name="Shape 7"/>
          <p:cNvSpPr/>
          <p:nvPr/>
        </p:nvSpPr>
        <p:spPr>
          <a:xfrm>
            <a:off x="6301588" y="1417320"/>
            <a:ext cx="2464994" cy="1234440"/>
          </a:xfrm>
          <a:prstGeom prst="roundRect">
            <a:avLst>
              <a:gd name="adj" fmla="val 5926"/>
            </a:avLst>
          </a:prstGeom>
          <a:solidFill>
            <a:srgbClr val="F7F9FA"/>
          </a:solidFill>
          <a:ln w="12700">
            <a:solidFill>
              <a:srgbClr val="B0BEC5"/>
            </a:solidFill>
            <a:prstDash val="solid"/>
          </a:ln>
        </p:spPr>
      </p:sp>
      <p:sp>
        <p:nvSpPr>
          <p:cNvPr id="10" name="Text 8"/>
          <p:cNvSpPr txBox="1"/>
          <p:nvPr/>
        </p:nvSpPr>
        <p:spPr>
          <a:xfrm>
            <a:off x="6374740" y="1417320"/>
            <a:ext cx="2318690" cy="1234440"/>
          </a:xfrm>
          <a:prstGeom prst="rect">
            <a:avLst/>
          </a:prstGeom>
          <a:noFill/>
          <a:ln/>
        </p:spPr>
        <p:txBody>
          <a:bodyPr wrap="square" lIns="0" tIns="0" rIns="0" bIns="0" rtlCol="0" anchor="ctr"/>
          <a:lstStyle/>
          <a:p>
            <a:pPr algn="ctr" indent="0" marL="0">
              <a:buNone/>
            </a:pPr>
            <a:r>
              <a:rPr lang="en-US" sz="1500" b="1" dirty="0">
                <a:solidFill>
                  <a:srgbClr val="263238"/>
                </a:solidFill>
                <a:latin typeface="Calibri" pitchFamily="34" charset="0"/>
                <a:ea typeface="Calibri" pitchFamily="34" charset="-122"/>
                <a:cs typeface="Calibri" pitchFamily="34" charset="-120"/>
              </a:rPr>
              <a:t>(4,3) = 1</a:t>
            </a:r>
            <a:endParaRPr lang="en-US" sz="1500" dirty="0"/>
          </a:p>
          <a:p>
            <a:pPr algn="ctr" indent="0" marL="0">
              <a:buNone/>
            </a:pPr>
            <a:r>
              <a:rPr lang="en-US" sz="1200" dirty="0">
                <a:solidFill>
                  <a:srgbClr val="37474F"/>
                </a:solidFill>
                <a:latin typeface="Calibri" pitchFamily="34" charset="0"/>
                <a:ea typeface="Calibri" pitchFamily="34" charset="-122"/>
                <a:cs typeface="Calibri" pitchFamily="34" charset="-120"/>
              </a:rPr>
              <a:t>↖ G/G: 0 + 1</a:t>
            </a:r>
            <a:endParaRPr lang="en-US" sz="1500" dirty="0"/>
          </a:p>
        </p:txBody>
      </p:sp>
      <p:sp>
        <p:nvSpPr>
          <p:cNvPr id="11" name="Shape 9"/>
          <p:cNvSpPr/>
          <p:nvPr/>
        </p:nvSpPr>
        <p:spPr>
          <a:xfrm>
            <a:off x="8812301" y="2034540"/>
            <a:ext cx="320040" cy="0"/>
          </a:xfrm>
          <a:prstGeom prst="line">
            <a:avLst/>
          </a:prstGeom>
          <a:noFill/>
          <a:ln w="19050">
            <a:solidFill>
              <a:srgbClr val="546E7A"/>
            </a:solidFill>
            <a:prstDash val="solid"/>
            <a:tailEnd type="triangle"/>
          </a:ln>
        </p:spPr>
      </p:sp>
      <p:sp>
        <p:nvSpPr>
          <p:cNvPr id="12" name="Shape 10"/>
          <p:cNvSpPr/>
          <p:nvPr/>
        </p:nvSpPr>
        <p:spPr>
          <a:xfrm>
            <a:off x="9178061" y="1417320"/>
            <a:ext cx="2464994" cy="1234440"/>
          </a:xfrm>
          <a:prstGeom prst="roundRect">
            <a:avLst>
              <a:gd name="adj" fmla="val 5926"/>
            </a:avLst>
          </a:prstGeom>
          <a:solidFill>
            <a:srgbClr val="FDECEA"/>
          </a:solidFill>
          <a:ln w="12700">
            <a:solidFill>
              <a:srgbClr val="B71C1C"/>
            </a:solidFill>
            <a:prstDash val="solid"/>
          </a:ln>
        </p:spPr>
      </p:sp>
      <p:sp>
        <p:nvSpPr>
          <p:cNvPr id="13" name="Text 11"/>
          <p:cNvSpPr txBox="1"/>
          <p:nvPr/>
        </p:nvSpPr>
        <p:spPr>
          <a:xfrm>
            <a:off x="9251213" y="1417320"/>
            <a:ext cx="2318690" cy="1234440"/>
          </a:xfrm>
          <a:prstGeom prst="rect">
            <a:avLst/>
          </a:prstGeom>
          <a:noFill/>
          <a:ln/>
        </p:spPr>
        <p:txBody>
          <a:bodyPr wrap="square" lIns="0" tIns="0" rIns="0" bIns="0" rtlCol="0" anchor="ctr"/>
          <a:lstStyle/>
          <a:p>
            <a:pPr algn="ctr" indent="0" marL="0">
              <a:buNone/>
            </a:pPr>
            <a:r>
              <a:rPr lang="en-US" sz="1500" b="1" dirty="0">
                <a:solidFill>
                  <a:srgbClr val="263238"/>
                </a:solidFill>
                <a:latin typeface="Calibri" pitchFamily="34" charset="0"/>
                <a:ea typeface="Calibri" pitchFamily="34" charset="-122"/>
                <a:cs typeface="Calibri" pitchFamily="34" charset="-120"/>
              </a:rPr>
              <a:t>(3,2) = 0</a:t>
            </a:r>
            <a:endParaRPr lang="en-US" sz="1500" dirty="0"/>
          </a:p>
          <a:p>
            <a:pPr algn="ctr" indent="0" marL="0">
              <a:buNone/>
            </a:pPr>
            <a:r>
              <a:rPr lang="en-US" sz="1200" dirty="0">
                <a:solidFill>
                  <a:srgbClr val="37474F"/>
                </a:solidFill>
                <a:latin typeface="Calibri" pitchFamily="34" charset="0"/>
                <a:ea typeface="Calibri" pitchFamily="34" charset="-122"/>
                <a:cs typeface="Calibri" pitchFamily="34" charset="-120"/>
              </a:rPr>
              <a:t>↑ T/−: 2 − 2</a:t>
            </a:r>
            <a:endParaRPr lang="en-US" sz="1500" dirty="0"/>
          </a:p>
        </p:txBody>
      </p:sp>
      <p:sp>
        <p:nvSpPr>
          <p:cNvPr id="14" name="Shape 12"/>
          <p:cNvSpPr/>
          <p:nvPr/>
        </p:nvSpPr>
        <p:spPr>
          <a:xfrm>
            <a:off x="548640" y="3200400"/>
            <a:ext cx="2464994" cy="1234440"/>
          </a:xfrm>
          <a:prstGeom prst="roundRect">
            <a:avLst>
              <a:gd name="adj" fmla="val 5926"/>
            </a:avLst>
          </a:prstGeom>
          <a:solidFill>
            <a:srgbClr val="F7F9FA"/>
          </a:solidFill>
          <a:ln w="12700">
            <a:solidFill>
              <a:srgbClr val="B0BEC5"/>
            </a:solidFill>
            <a:prstDash val="solid"/>
          </a:ln>
        </p:spPr>
      </p:sp>
      <p:sp>
        <p:nvSpPr>
          <p:cNvPr id="15" name="Text 13"/>
          <p:cNvSpPr txBox="1"/>
          <p:nvPr/>
        </p:nvSpPr>
        <p:spPr>
          <a:xfrm>
            <a:off x="621792" y="3200400"/>
            <a:ext cx="2318690" cy="1234440"/>
          </a:xfrm>
          <a:prstGeom prst="rect">
            <a:avLst/>
          </a:prstGeom>
          <a:noFill/>
          <a:ln/>
        </p:spPr>
        <p:txBody>
          <a:bodyPr wrap="square" lIns="0" tIns="0" rIns="0" bIns="0" rtlCol="0" anchor="ctr"/>
          <a:lstStyle/>
          <a:p>
            <a:pPr algn="ctr" indent="0" marL="0">
              <a:buNone/>
            </a:pPr>
            <a:r>
              <a:rPr lang="en-US" sz="1500" b="1" dirty="0">
                <a:solidFill>
                  <a:srgbClr val="263238"/>
                </a:solidFill>
                <a:latin typeface="Calibri" pitchFamily="34" charset="0"/>
                <a:ea typeface="Calibri" pitchFamily="34" charset="-122"/>
                <a:cs typeface="Calibri" pitchFamily="34" charset="-120"/>
              </a:rPr>
              <a:t>(2,2) = 2</a:t>
            </a:r>
            <a:endParaRPr lang="en-US" sz="1500" dirty="0"/>
          </a:p>
          <a:p>
            <a:pPr algn="ctr" indent="0" marL="0">
              <a:buNone/>
            </a:pPr>
            <a:r>
              <a:rPr lang="en-US" sz="1200" dirty="0">
                <a:solidFill>
                  <a:srgbClr val="37474F"/>
                </a:solidFill>
                <a:latin typeface="Calibri" pitchFamily="34" charset="0"/>
                <a:ea typeface="Calibri" pitchFamily="34" charset="-122"/>
                <a:cs typeface="Calibri" pitchFamily="34" charset="-120"/>
              </a:rPr>
              <a:t>↖ A/A: 1 + 1</a:t>
            </a:r>
            <a:endParaRPr lang="en-US" sz="1500" dirty="0"/>
          </a:p>
        </p:txBody>
      </p:sp>
      <p:sp>
        <p:nvSpPr>
          <p:cNvPr id="16" name="Shape 14"/>
          <p:cNvSpPr/>
          <p:nvPr/>
        </p:nvSpPr>
        <p:spPr>
          <a:xfrm>
            <a:off x="3059354" y="3817620"/>
            <a:ext cx="320040" cy="0"/>
          </a:xfrm>
          <a:prstGeom prst="line">
            <a:avLst/>
          </a:prstGeom>
          <a:noFill/>
          <a:ln w="19050">
            <a:solidFill>
              <a:srgbClr val="546E7A"/>
            </a:solidFill>
            <a:prstDash val="solid"/>
            <a:tailEnd type="triangle"/>
          </a:ln>
        </p:spPr>
      </p:sp>
      <p:sp>
        <p:nvSpPr>
          <p:cNvPr id="17" name="Shape 15"/>
          <p:cNvSpPr/>
          <p:nvPr/>
        </p:nvSpPr>
        <p:spPr>
          <a:xfrm>
            <a:off x="3425114" y="3200400"/>
            <a:ext cx="2464994" cy="1234440"/>
          </a:xfrm>
          <a:prstGeom prst="roundRect">
            <a:avLst>
              <a:gd name="adj" fmla="val 5926"/>
            </a:avLst>
          </a:prstGeom>
          <a:solidFill>
            <a:srgbClr val="F7F9FA"/>
          </a:solidFill>
          <a:ln w="12700">
            <a:solidFill>
              <a:srgbClr val="B0BEC5"/>
            </a:solidFill>
            <a:prstDash val="solid"/>
          </a:ln>
        </p:spPr>
      </p:sp>
      <p:sp>
        <p:nvSpPr>
          <p:cNvPr id="18" name="Text 16"/>
          <p:cNvSpPr txBox="1"/>
          <p:nvPr/>
        </p:nvSpPr>
        <p:spPr>
          <a:xfrm>
            <a:off x="3498266" y="3200400"/>
            <a:ext cx="2318690" cy="1234440"/>
          </a:xfrm>
          <a:prstGeom prst="rect">
            <a:avLst/>
          </a:prstGeom>
          <a:noFill/>
          <a:ln/>
        </p:spPr>
        <p:txBody>
          <a:bodyPr wrap="square" lIns="0" tIns="0" rIns="0" bIns="0" rtlCol="0" anchor="ctr"/>
          <a:lstStyle/>
          <a:p>
            <a:pPr algn="ctr" indent="0" marL="0">
              <a:buNone/>
            </a:pPr>
            <a:r>
              <a:rPr lang="en-US" sz="1500" b="1" dirty="0">
                <a:solidFill>
                  <a:srgbClr val="263238"/>
                </a:solidFill>
                <a:latin typeface="Calibri" pitchFamily="34" charset="0"/>
                <a:ea typeface="Calibri" pitchFamily="34" charset="-122"/>
                <a:cs typeface="Calibri" pitchFamily="34" charset="-120"/>
              </a:rPr>
              <a:t>(1,1) = 1</a:t>
            </a:r>
            <a:endParaRPr lang="en-US" sz="1500" dirty="0"/>
          </a:p>
          <a:p>
            <a:pPr algn="ctr" indent="0" marL="0">
              <a:buNone/>
            </a:pPr>
            <a:r>
              <a:rPr lang="en-US" sz="1200" dirty="0">
                <a:solidFill>
                  <a:srgbClr val="37474F"/>
                </a:solidFill>
                <a:latin typeface="Calibri" pitchFamily="34" charset="0"/>
                <a:ea typeface="Calibri" pitchFamily="34" charset="-122"/>
                <a:cs typeface="Calibri" pitchFamily="34" charset="-120"/>
              </a:rPr>
              <a:t>↖ C/C: 0 + 1</a:t>
            </a:r>
            <a:endParaRPr lang="en-US" sz="1500" dirty="0"/>
          </a:p>
        </p:txBody>
      </p:sp>
      <p:sp>
        <p:nvSpPr>
          <p:cNvPr id="19" name="Shape 17"/>
          <p:cNvSpPr/>
          <p:nvPr/>
        </p:nvSpPr>
        <p:spPr>
          <a:xfrm>
            <a:off x="5935828" y="3817620"/>
            <a:ext cx="320040" cy="0"/>
          </a:xfrm>
          <a:prstGeom prst="line">
            <a:avLst/>
          </a:prstGeom>
          <a:noFill/>
          <a:ln w="19050">
            <a:solidFill>
              <a:srgbClr val="546E7A"/>
            </a:solidFill>
            <a:prstDash val="solid"/>
            <a:tailEnd type="triangle"/>
          </a:ln>
        </p:spPr>
      </p:sp>
      <p:sp>
        <p:nvSpPr>
          <p:cNvPr id="20" name="Shape 18"/>
          <p:cNvSpPr/>
          <p:nvPr/>
        </p:nvSpPr>
        <p:spPr>
          <a:xfrm>
            <a:off x="6301588" y="3200400"/>
            <a:ext cx="2464994" cy="1234440"/>
          </a:xfrm>
          <a:prstGeom prst="roundRect">
            <a:avLst>
              <a:gd name="adj" fmla="val 5926"/>
            </a:avLst>
          </a:prstGeom>
          <a:solidFill>
            <a:srgbClr val="F7F9FA"/>
          </a:solidFill>
          <a:ln w="12700">
            <a:solidFill>
              <a:srgbClr val="B0BEC5"/>
            </a:solidFill>
            <a:prstDash val="solid"/>
          </a:ln>
        </p:spPr>
      </p:sp>
      <p:sp>
        <p:nvSpPr>
          <p:cNvPr id="21" name="Text 19"/>
          <p:cNvSpPr txBox="1"/>
          <p:nvPr/>
        </p:nvSpPr>
        <p:spPr>
          <a:xfrm>
            <a:off x="6374740" y="3200400"/>
            <a:ext cx="2318690" cy="1234440"/>
          </a:xfrm>
          <a:prstGeom prst="rect">
            <a:avLst/>
          </a:prstGeom>
          <a:noFill/>
          <a:ln/>
        </p:spPr>
        <p:txBody>
          <a:bodyPr wrap="square" lIns="0" tIns="0" rIns="0" bIns="0" rtlCol="0" anchor="ctr"/>
          <a:lstStyle/>
          <a:p>
            <a:pPr algn="ctr" indent="0" marL="0">
              <a:buNone/>
            </a:pPr>
            <a:r>
              <a:rPr lang="en-US" sz="1500" b="1" dirty="0">
                <a:solidFill>
                  <a:srgbClr val="263238"/>
                </a:solidFill>
                <a:latin typeface="Calibri" pitchFamily="34" charset="0"/>
                <a:ea typeface="Calibri" pitchFamily="34" charset="-122"/>
                <a:cs typeface="Calibri" pitchFamily="34" charset="-120"/>
              </a:rPr>
              <a:t>(0,0) = 0</a:t>
            </a:r>
            <a:endParaRPr lang="en-US" sz="1500" dirty="0"/>
          </a:p>
          <a:p>
            <a:pPr algn="ctr" indent="0" marL="0">
              <a:buNone/>
            </a:pPr>
            <a:r>
              <a:rPr lang="en-US" sz="1200" dirty="0">
                <a:solidFill>
                  <a:srgbClr val="37474F"/>
                </a:solidFill>
                <a:latin typeface="Calibri" pitchFamily="34" charset="0"/>
                <a:ea typeface="Calibri" pitchFamily="34" charset="-122"/>
                <a:cs typeface="Calibri" pitchFamily="34" charset="-120"/>
              </a:rPr>
              <a:t>dur</a:t>
            </a:r>
            <a:endParaRPr lang="en-US" sz="1500" dirty="0"/>
          </a:p>
        </p:txBody>
      </p:sp>
      <p:sp>
        <p:nvSpPr>
          <p:cNvPr id="22" name="Shape 20"/>
          <p:cNvSpPr/>
          <p:nvPr/>
        </p:nvSpPr>
        <p:spPr>
          <a:xfrm>
            <a:off x="8812301" y="3817620"/>
            <a:ext cx="320040" cy="0"/>
          </a:xfrm>
          <a:prstGeom prst="line">
            <a:avLst/>
          </a:prstGeom>
          <a:noFill/>
          <a:ln w="19050">
            <a:solidFill>
              <a:srgbClr val="546E7A"/>
            </a:solidFill>
            <a:prstDash val="solid"/>
            <a:tailEnd type="triangle"/>
          </a:ln>
        </p:spPr>
      </p:sp>
      <p:sp>
        <p:nvSpPr>
          <p:cNvPr id="23" name="Shape 21"/>
          <p:cNvSpPr/>
          <p:nvPr/>
        </p:nvSpPr>
        <p:spPr>
          <a:xfrm>
            <a:off x="9178061" y="3200400"/>
            <a:ext cx="2464994" cy="1234440"/>
          </a:xfrm>
          <a:prstGeom prst="roundRect">
            <a:avLst>
              <a:gd name="adj" fmla="val 5926"/>
            </a:avLst>
          </a:prstGeom>
          <a:solidFill>
            <a:srgbClr val="FDECEA"/>
          </a:solidFill>
          <a:ln w="12700">
            <a:solidFill>
              <a:srgbClr val="B71C1C"/>
            </a:solidFill>
            <a:prstDash val="solid"/>
          </a:ln>
        </p:spPr>
      </p:sp>
      <p:sp>
        <p:nvSpPr>
          <p:cNvPr id="24" name="Text 22"/>
          <p:cNvSpPr txBox="1"/>
          <p:nvPr/>
        </p:nvSpPr>
        <p:spPr>
          <a:xfrm>
            <a:off x="9251213" y="3200400"/>
            <a:ext cx="2318690" cy="1234440"/>
          </a:xfrm>
          <a:prstGeom prst="rect">
            <a:avLst/>
          </a:prstGeom>
          <a:noFill/>
          <a:ln/>
        </p:spPr>
        <p:txBody>
          <a:bodyPr wrap="square" lIns="0" tIns="0" rIns="0" bIns="0" rtlCol="0" anchor="ctr"/>
          <a:lstStyle/>
          <a:p>
            <a:pPr algn="ctr" indent="0" marL="0">
              <a:buNone/>
            </a:pPr>
            <a:r>
              <a:rPr lang="en-US" sz="1500" b="1" dirty="0">
                <a:solidFill>
                  <a:srgbClr val="263238"/>
                </a:solidFill>
                <a:latin typeface="Calibri" pitchFamily="34" charset="0"/>
                <a:ea typeface="Calibri" pitchFamily="34" charset="-122"/>
                <a:cs typeface="Calibri" pitchFamily="34" charset="-120"/>
              </a:rPr>
              <a:t>Ters çevir</a:t>
            </a:r>
            <a:endParaRPr lang="en-US" sz="1500" dirty="0"/>
          </a:p>
          <a:p>
            <a:pPr algn="ctr" indent="0" marL="0">
              <a:buNone/>
            </a:pPr>
            <a:r>
              <a:rPr lang="en-US" sz="1200" dirty="0">
                <a:solidFill>
                  <a:srgbClr val="37474F"/>
                </a:solidFill>
                <a:latin typeface="Calibri" pitchFamily="34" charset="0"/>
                <a:ea typeface="Calibri" pitchFamily="34" charset="-122"/>
                <a:cs typeface="Calibri" pitchFamily="34" charset="-120"/>
              </a:rPr>
              <a:t>CATGCA / CA-GCA</a:t>
            </a:r>
            <a:endParaRPr lang="en-US" sz="1500" dirty="0"/>
          </a:p>
        </p:txBody>
      </p:sp>
      <p:sp>
        <p:nvSpPr>
          <p:cNvPr id="25" name="Text 23"/>
          <p:cNvSpPr txBox="1"/>
          <p:nvPr/>
        </p:nvSpPr>
        <p:spPr>
          <a:xfrm>
            <a:off x="548640" y="4983480"/>
            <a:ext cx="11094415" cy="1280160"/>
          </a:xfrm>
          <a:prstGeom prst="rect">
            <a:avLst/>
          </a:prstGeom>
          <a:noFill/>
          <a:ln/>
        </p:spPr>
        <p:txBody>
          <a:bodyPr wrap="square" lIns="25400" tIns="25400" rIns="50800" bIns="25400" rtlCol="0" anchor="t"/>
          <a:lstStyle/>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Her adımda F(i, j)'yi </a:t>
            </a:r>
            <a:r>
              <a:rPr lang="en-US" sz="1700" b="1" dirty="0">
                <a:solidFill>
                  <a:srgbClr val="212121"/>
                </a:solidFill>
                <a:latin typeface="Calibri" pitchFamily="34" charset="0"/>
                <a:ea typeface="Calibri" pitchFamily="34" charset="-122"/>
                <a:cs typeface="Calibri" pitchFamily="34" charset="-120"/>
              </a:rPr>
              <a:t>üreten</a:t>
            </a:r>
            <a:r>
              <a:rPr lang="en-US" sz="1700" dirty="0">
                <a:solidFill>
                  <a:srgbClr val="212121"/>
                </a:solidFill>
                <a:latin typeface="Calibri" pitchFamily="34" charset="0"/>
                <a:ea typeface="Calibri" pitchFamily="34" charset="-122"/>
                <a:cs typeface="Calibri" pitchFamily="34" charset="-120"/>
              </a:rPr>
              <a:t> komşuyu seç (ok matrisi ya da yeniden hesap)</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Çapraz → iki harf; yukarı → x harfi + </a:t>
            </a:r>
            <a:r>
              <a:rPr lang="en-US" sz="1700" dirty="0">
                <a:solidFill>
                  <a:srgbClr val="455A64"/>
                </a:solidFill>
                <a:latin typeface="Courier New" pitchFamily="34" charset="0"/>
                <a:ea typeface="Courier New" pitchFamily="34" charset="-122"/>
                <a:cs typeface="Courier New" pitchFamily="34" charset="-120"/>
              </a:rPr>
              <a:t>-</a:t>
            </a:r>
            <a:r>
              <a:rPr lang="en-US" sz="1700" dirty="0">
                <a:solidFill>
                  <a:srgbClr val="212121"/>
                </a:solidFill>
                <a:latin typeface="Calibri" pitchFamily="34" charset="0"/>
                <a:ea typeface="Calibri" pitchFamily="34" charset="-122"/>
                <a:cs typeface="Calibri" pitchFamily="34" charset="-120"/>
              </a:rPr>
              <a:t>; sol → </a:t>
            </a:r>
            <a:r>
              <a:rPr lang="en-US" sz="1700" dirty="0">
                <a:solidFill>
                  <a:srgbClr val="455A64"/>
                </a:solidFill>
                <a:latin typeface="Courier New" pitchFamily="34" charset="0"/>
                <a:ea typeface="Courier New" pitchFamily="34" charset="-122"/>
                <a:cs typeface="Courier New" pitchFamily="34" charset="-120"/>
              </a:rPr>
              <a:t>-</a:t>
            </a:r>
            <a:r>
              <a:rPr lang="en-US" sz="1700" dirty="0">
                <a:solidFill>
                  <a:srgbClr val="212121"/>
                </a:solidFill>
                <a:latin typeface="Calibri" pitchFamily="34" charset="0"/>
                <a:ea typeface="Calibri" pitchFamily="34" charset="-122"/>
                <a:cs typeface="Calibri" pitchFamily="34" charset="-120"/>
              </a:rPr>
              <a:t> + y harfi. Sütunlar </a:t>
            </a:r>
            <a:r>
              <a:rPr lang="en-US" sz="1700" b="1" dirty="0">
                <a:solidFill>
                  <a:srgbClr val="212121"/>
                </a:solidFill>
                <a:latin typeface="Calibri" pitchFamily="34" charset="0"/>
                <a:ea typeface="Calibri" pitchFamily="34" charset="-122"/>
                <a:cs typeface="Calibri" pitchFamily="34" charset="-120"/>
              </a:rPr>
              <a:t>sondan başa</a:t>
            </a:r>
            <a:r>
              <a:rPr lang="en-US" sz="1700" dirty="0">
                <a:solidFill>
                  <a:srgbClr val="212121"/>
                </a:solidFill>
                <a:latin typeface="Calibri" pitchFamily="34" charset="0"/>
                <a:ea typeface="Calibri" pitchFamily="34" charset="-122"/>
                <a:cs typeface="Calibri" pitchFamily="34" charset="-120"/>
              </a:rPr>
              <a:t> üretilir</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Kontrol: 5 × (+1) + 1 × (−2) = </a:t>
            </a:r>
            <a:r>
              <a:rPr lang="en-US" sz="1700" b="1" dirty="0">
                <a:solidFill>
                  <a:srgbClr val="212121"/>
                </a:solidFill>
                <a:latin typeface="Calibri" pitchFamily="34" charset="0"/>
                <a:ea typeface="Calibri" pitchFamily="34" charset="-122"/>
                <a:cs typeface="Calibri" pitchFamily="34" charset="-120"/>
              </a:rPr>
              <a:t>3</a:t>
            </a:r>
            <a:r>
              <a:rPr lang="en-US" sz="1700" dirty="0">
                <a:solidFill>
                  <a:srgbClr val="212121"/>
                </a:solidFill>
                <a:latin typeface="Calibri" pitchFamily="34" charset="0"/>
                <a:ea typeface="Calibri" pitchFamily="34" charset="-122"/>
                <a:cs typeface="Calibri" pitchFamily="34" charset="-120"/>
              </a:rPr>
              <a:t> = F(6,5)</a:t>
            </a:r>
            <a:endParaRPr lang="en-US" sz="1700" dirty="0"/>
          </a:p>
        </p:txBody>
      </p:sp>
      <p:sp>
        <p:nvSpPr>
          <p:cNvPr id="26" name="Text 24"/>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6: Global hizalama (NW)</a:t>
            </a:r>
            <a:endParaRPr lang="en-US" sz="900" dirty="0"/>
          </a:p>
        </p:txBody>
      </p:sp>
      <p:sp>
        <p:nvSpPr>
          <p:cNvPr id="27" name="Text 25"/>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2800" b="1" dirty="0">
                <a:solidFill>
                  <a:srgbClr val="263238"/>
                </a:solidFill>
                <a:latin typeface="Calibri" pitchFamily="34" charset="0"/>
                <a:ea typeface="Calibri" pitchFamily="34" charset="-122"/>
                <a:cs typeface="Calibri" pitchFamily="34" charset="-120"/>
              </a:rPr>
              <a:t>Geri izleme adım adım: F(i, j)'yi hangi komşu üretti?</a:t>
            </a:r>
            <a:endParaRPr lang="en-US" sz="2800" dirty="0"/>
          </a:p>
        </p:txBody>
      </p:sp>
      <p:sp>
        <p:nvSpPr>
          <p:cNvPr id="3" name="Text 1"/>
          <p:cNvSpPr txBox="1"/>
          <p:nvPr/>
        </p:nvSpPr>
        <p:spPr>
          <a:xfrm>
            <a:off x="548640" y="1234440"/>
            <a:ext cx="11094415" cy="457200"/>
          </a:xfrm>
          <a:prstGeom prst="rect">
            <a:avLst/>
          </a:prstGeom>
          <a:noFill/>
          <a:ln/>
        </p:spPr>
        <p:txBody>
          <a:bodyPr wrap="square" lIns="25400" tIns="25400" rIns="50800" bIns="25400" rtlCol="0" anchor="t"/>
          <a:lstStyle/>
          <a:p>
            <a:pPr algn="l" indent="0" marL="0">
              <a:spcAft>
                <a:spcPts val="600"/>
              </a:spcAft>
              <a:buNone/>
            </a:pPr>
            <a:r>
              <a:rPr lang="en-US" sz="1500" dirty="0">
                <a:solidFill>
                  <a:srgbClr val="212121"/>
                </a:solidFill>
                <a:latin typeface="Calibri" pitchFamily="34" charset="0"/>
                <a:ea typeface="Calibri" pitchFamily="34" charset="-122"/>
                <a:cs typeface="Calibri" pitchFamily="34" charset="-120"/>
              </a:rPr>
              <a:t>Her adımda üç aday yeniden hesaplanır; F(i, j)'ye </a:t>
            </a:r>
            <a:r>
              <a:rPr lang="en-US" sz="1500" b="1" dirty="0">
                <a:solidFill>
                  <a:srgbClr val="212121"/>
                </a:solidFill>
                <a:latin typeface="Calibri" pitchFamily="34" charset="0"/>
                <a:ea typeface="Calibri" pitchFamily="34" charset="-122"/>
                <a:cs typeface="Calibri" pitchFamily="34" charset="-120"/>
              </a:rPr>
              <a:t>eşit</a:t>
            </a:r>
            <a:r>
              <a:rPr lang="en-US" sz="1500" dirty="0">
                <a:solidFill>
                  <a:srgbClr val="212121"/>
                </a:solidFill>
                <a:latin typeface="Calibri" pitchFamily="34" charset="0"/>
                <a:ea typeface="Calibri" pitchFamily="34" charset="-122"/>
                <a:cs typeface="Calibri" pitchFamily="34" charset="-120"/>
              </a:rPr>
              <a:t> olan aday seçilir ve bir hizalama sütunu yazılır (sondan başa).</a:t>
            </a:r>
            <a:endParaRPr lang="en-US" sz="15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4415" cy="914400"/>
        </p:xfrm>
        <a:graphic>
          <a:graphicData uri="http://schemas.openxmlformats.org/drawingml/2006/table">
            <a:tbl>
              <a:tblPr/>
              <a:tblGrid>
                <a:gridCol w="853417"/>
                <a:gridCol w="1066771"/>
                <a:gridCol w="640062"/>
                <a:gridCol w="1173448"/>
                <a:gridCol w="1706833"/>
                <a:gridCol w="1706833"/>
                <a:gridCol w="1706833"/>
                <a:gridCol w="960094"/>
                <a:gridCol w="1280125"/>
              </a:tblGrid>
              <a:tr h="0">
                <a:tc>
                  <a:txBody>
                    <a:bodyPr/>
                    <a:lstStyle/>
                    <a:p>
                      <a:pPr algn="ctr" indent="0" marL="0">
                        <a:buNone/>
                      </a:pPr>
                      <a:r>
                        <a:rPr lang="en-US" sz="1600" b="1" dirty="0">
                          <a:solidFill>
                            <a:srgbClr val="212121"/>
                          </a:solidFill>
                          <a:latin typeface="Calibri" pitchFamily="34" charset="0"/>
                          <a:ea typeface="Calibri" pitchFamily="34" charset="-122"/>
                          <a:cs typeface="Calibri" pitchFamily="34" charset="-120"/>
                        </a:rPr>
                        <a:t>Adım</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ctr" indent="0" marL="0">
                        <a:buNone/>
                      </a:pPr>
                      <a:r>
                        <a:rPr lang="en-US" sz="1600" b="1" dirty="0">
                          <a:solidFill>
                            <a:srgbClr val="212121"/>
                          </a:solidFill>
                          <a:latin typeface="Calibri" pitchFamily="34" charset="0"/>
                          <a:ea typeface="Calibri" pitchFamily="34" charset="-122"/>
                          <a:cs typeface="Calibri" pitchFamily="34" charset="-120"/>
                        </a:rPr>
                        <a:t>Hücre</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ctr" indent="0" marL="0">
                        <a:buNone/>
                      </a:pPr>
                      <a:r>
                        <a:rPr lang="en-US" sz="1600" b="1" dirty="0">
                          <a:solidFill>
                            <a:srgbClr val="212121"/>
                          </a:solidFill>
                          <a:latin typeface="Calibri" pitchFamily="34" charset="0"/>
                          <a:ea typeface="Calibri" pitchFamily="34" charset="-122"/>
                          <a:cs typeface="Calibri" pitchFamily="34" charset="-120"/>
                        </a:rPr>
                        <a:t>F</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ctr" indent="0" marL="0">
                        <a:buNone/>
                      </a:pPr>
                      <a:r>
                        <a:rPr lang="en-US" sz="1600" b="1" dirty="0">
                          <a:solidFill>
                            <a:srgbClr val="212121"/>
                          </a:solidFill>
                          <a:latin typeface="Calibri" pitchFamily="34" charset="0"/>
                          <a:ea typeface="Calibri" pitchFamily="34" charset="-122"/>
                          <a:cs typeface="Calibri" pitchFamily="34" charset="-120"/>
                        </a:rPr>
                        <a:t>xᵢ / yⱼ</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ctr" indent="0" marL="0">
                        <a:buNone/>
                      </a:pPr>
                      <a:r>
                        <a:rPr lang="en-US" sz="1600" b="1" dirty="0">
                          <a:solidFill>
                            <a:srgbClr val="212121"/>
                          </a:solidFill>
                          <a:latin typeface="Calibri" pitchFamily="34" charset="0"/>
                          <a:ea typeface="Calibri" pitchFamily="34" charset="-122"/>
                          <a:cs typeface="Calibri" pitchFamily="34" charset="-120"/>
                        </a:rPr>
                        <a:t>↖ çapraz</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ctr" indent="0" marL="0">
                        <a:buNone/>
                      </a:pPr>
                      <a:r>
                        <a:rPr lang="en-US" sz="1600" b="1" dirty="0">
                          <a:solidFill>
                            <a:srgbClr val="212121"/>
                          </a:solidFill>
                          <a:latin typeface="Calibri" pitchFamily="34" charset="0"/>
                          <a:ea typeface="Calibri" pitchFamily="34" charset="-122"/>
                          <a:cs typeface="Calibri" pitchFamily="34" charset="-120"/>
                        </a:rPr>
                        <a:t>↑ yukarı</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ctr" indent="0" marL="0">
                        <a:buNone/>
                      </a:pPr>
                      <a:r>
                        <a:rPr lang="en-US" sz="1600" b="1" dirty="0">
                          <a:solidFill>
                            <a:srgbClr val="212121"/>
                          </a:solidFill>
                          <a:latin typeface="Calibri" pitchFamily="34" charset="0"/>
                          <a:ea typeface="Calibri" pitchFamily="34" charset="-122"/>
                          <a:cs typeface="Calibri" pitchFamily="34" charset="-120"/>
                        </a:rPr>
                        <a:t>← sol</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ctr" indent="0" marL="0">
                        <a:buNone/>
                      </a:pPr>
                      <a:r>
                        <a:rPr lang="en-US" sz="1600" b="1" dirty="0">
                          <a:solidFill>
                            <a:srgbClr val="212121"/>
                          </a:solidFill>
                          <a:latin typeface="Calibri" pitchFamily="34" charset="0"/>
                          <a:ea typeface="Calibri" pitchFamily="34" charset="-122"/>
                          <a:cs typeface="Calibri" pitchFamily="34" charset="-120"/>
                        </a:rPr>
                        <a:t>Seçim</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ctr" indent="0" marL="0">
                        <a:buNone/>
                      </a:pPr>
                      <a:r>
                        <a:rPr lang="en-US" sz="1600" b="1" dirty="0">
                          <a:solidFill>
                            <a:srgbClr val="212121"/>
                          </a:solidFill>
                          <a:latin typeface="Calibri" pitchFamily="34" charset="0"/>
                          <a:ea typeface="Calibri" pitchFamily="34" charset="-122"/>
                          <a:cs typeface="Calibri" pitchFamily="34" charset="-120"/>
                        </a:rPr>
                        <a:t>Sütun</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r>
              <a:tr h="0">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(6,5)</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A / A</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212121"/>
                          </a:solidFill>
                          <a:latin typeface="Calibri" pitchFamily="34" charset="0"/>
                          <a:ea typeface="Calibri" pitchFamily="34" charset="-122"/>
                          <a:cs typeface="Calibri" pitchFamily="34" charset="-120"/>
                        </a:rPr>
                        <a:t>2 + 1 = 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0 − 2 = −2</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−3 − 2 = −5</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A / A</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(5,4)</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C / C</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600" b="1" dirty="0">
                          <a:solidFill>
                            <a:srgbClr val="212121"/>
                          </a:solidFill>
                          <a:latin typeface="Calibri" pitchFamily="34" charset="0"/>
                          <a:ea typeface="Calibri" pitchFamily="34" charset="-122"/>
                          <a:cs typeface="Calibri" pitchFamily="34" charset="-120"/>
                        </a:rPr>
                        <a:t>1 + 1 = 2</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0 − 2 = −2</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−1 − 2 = −3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C / C</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(4,3)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G / G</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212121"/>
                          </a:solidFill>
                          <a:latin typeface="Calibri" pitchFamily="34" charset="0"/>
                          <a:ea typeface="Calibri" pitchFamily="34" charset="-122"/>
                          <a:cs typeface="Calibri" pitchFamily="34" charset="-120"/>
                        </a:rPr>
                        <a:t>0 + 1 = 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1 − 2 = −1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−2 − 2 = −4</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G / G</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(3,2)</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T / A</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−1 − 1 = −2</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ctr" indent="0" marL="0">
                        <a:buNone/>
                      </a:pPr>
                      <a:r>
                        <a:rPr lang="en-US" sz="1600" b="1" dirty="0">
                          <a:solidFill>
                            <a:srgbClr val="212121"/>
                          </a:solidFill>
                          <a:latin typeface="Calibri" pitchFamily="34" charset="0"/>
                          <a:ea typeface="Calibri" pitchFamily="34" charset="-122"/>
                          <a:cs typeface="Calibri" pitchFamily="34" charset="-120"/>
                        </a:rPr>
                        <a:t>2 − 2 = 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−3 − 2 = −5</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T / −</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r>
              <a:tr h="0">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5</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(2,2)</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A / A</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212121"/>
                          </a:solidFill>
                          <a:latin typeface="Calibri" pitchFamily="34" charset="0"/>
                          <a:ea typeface="Calibri" pitchFamily="34" charset="-122"/>
                          <a:cs typeface="Calibri" pitchFamily="34" charset="-120"/>
                        </a:rPr>
                        <a:t>1 + 1 = 2</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−1 − 2 = −3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−1 − 2 = −3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A / A</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6</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(1,1)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C / C</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600" b="1" dirty="0">
                          <a:solidFill>
                            <a:srgbClr val="212121"/>
                          </a:solidFill>
                          <a:latin typeface="Calibri" pitchFamily="34" charset="0"/>
                          <a:ea typeface="Calibri" pitchFamily="34" charset="-122"/>
                          <a:cs typeface="Calibri" pitchFamily="34" charset="-120"/>
                        </a:rPr>
                        <a:t>0 + 1 = 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−2 − 2 = −4</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−2 − 2 = −4</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C / C</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7</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(0,0)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dur</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12121"/>
                          </a:solidFill>
                          <a:latin typeface="Calibri" pitchFamily="34" charset="0"/>
                          <a:ea typeface="Calibri" pitchFamily="34" charset="-122"/>
                          <a:cs typeface="Calibri" pitchFamily="34" charset="-120"/>
                        </a:rPr>
                        <a:t>ters çevir</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bl>
          </a:graphicData>
        </a:graphic>
      </p:graphicFrame>
      <p:sp>
        <p:nvSpPr>
          <p:cNvPr id="5" name="Shape 2"/>
          <p:cNvSpPr/>
          <p:nvPr/>
        </p:nvSpPr>
        <p:spPr>
          <a:xfrm>
            <a:off x="548640" y="4840224"/>
            <a:ext cx="11094415" cy="822960"/>
          </a:xfrm>
          <a:prstGeom prst="roundRect">
            <a:avLst>
              <a:gd name="adj" fmla="val 8889"/>
            </a:avLst>
          </a:prstGeom>
          <a:solidFill>
            <a:srgbClr val="FDECEA"/>
          </a:solidFill>
          <a:ln/>
        </p:spPr>
      </p:sp>
      <p:sp>
        <p:nvSpPr>
          <p:cNvPr id="6" name="Text 3"/>
          <p:cNvSpPr txBox="1"/>
          <p:nvPr/>
        </p:nvSpPr>
        <p:spPr>
          <a:xfrm>
            <a:off x="731520" y="4840224"/>
            <a:ext cx="10728655" cy="822960"/>
          </a:xfrm>
          <a:prstGeom prst="rect">
            <a:avLst/>
          </a:prstGeom>
          <a:noFill/>
          <a:ln/>
        </p:spPr>
        <p:txBody>
          <a:bodyPr wrap="square" lIns="0" tIns="0" rIns="0" bIns="0" rtlCol="0" anchor="ctr"/>
          <a:lstStyle/>
          <a:p>
            <a:pPr indent="0" marL="0">
              <a:buNone/>
            </a:pPr>
            <a:r>
              <a:rPr lang="en-US" sz="1600" dirty="0">
                <a:solidFill>
                  <a:srgbClr val="212121"/>
                </a:solidFill>
                <a:latin typeface="Calibri" pitchFamily="34" charset="0"/>
                <a:ea typeface="Calibri" pitchFamily="34" charset="-122"/>
                <a:cs typeface="Calibri" pitchFamily="34" charset="-120"/>
              </a:rPr>
              <a:t>Toplanan sütunlar (sondan başa): A/A, C/C, G/G, T/−, A/A, C/C → ters çevrilince </a:t>
            </a:r>
            <a:r>
              <a:rPr lang="en-US" sz="1600" b="1" dirty="0">
                <a:solidFill>
                  <a:srgbClr val="212121"/>
                </a:solidFill>
                <a:latin typeface="Calibri" pitchFamily="34" charset="0"/>
                <a:ea typeface="Calibri" pitchFamily="34" charset="-122"/>
                <a:cs typeface="Calibri" pitchFamily="34" charset="-120"/>
              </a:rPr>
              <a:t>CATGCA / CA-GCA</a:t>
            </a:r>
            <a:r>
              <a:rPr lang="en-US" sz="1600" dirty="0">
                <a:solidFill>
                  <a:srgbClr val="212121"/>
                </a:solidFill>
                <a:latin typeface="Calibri" pitchFamily="34" charset="0"/>
                <a:ea typeface="Calibri" pitchFamily="34" charset="-122"/>
                <a:cs typeface="Calibri" pitchFamily="34" charset="-120"/>
              </a:rPr>
              <a:t>. Hiçbir adımda iki aday eşit değil → tek optimal hizalama.</a:t>
            </a:r>
            <a:endParaRPr lang="en-US" sz="1600" dirty="0"/>
          </a:p>
        </p:txBody>
      </p:sp>
      <p:sp>
        <p:nvSpPr>
          <p:cNvPr id="7" name="Text 4"/>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6: Global hizalama (NW)</a:t>
            </a:r>
            <a:endParaRPr lang="en-US" sz="900" dirty="0"/>
          </a:p>
        </p:txBody>
      </p:sp>
      <p:sp>
        <p:nvSpPr>
          <p:cNvPr id="8" name="Text 5"/>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Matris ve yol: bütün resim</a:t>
            </a:r>
            <a:endParaRPr lang="en-US" sz="3000" dirty="0"/>
          </a:p>
        </p:txBody>
      </p:sp>
      <p:pic>
        <p:nvPicPr>
          <p:cNvPr id="3" name="Image 0" descr="f06_nw_matris.png">    </p:cNvPr>
          <p:cNvPicPr>
            <a:picLocks noChangeAspect="1"/>
          </p:cNvPicPr>
          <p:nvPr/>
        </p:nvPicPr>
        <p:blipFill>
          <a:blip r:embed="rId1"/>
          <a:stretch>
            <a:fillRect/>
          </a:stretch>
        </p:blipFill>
        <p:spPr>
          <a:xfrm>
            <a:off x="548640" y="1579148"/>
            <a:ext cx="4992487" cy="4339783"/>
          </a:xfrm>
          <a:prstGeom prst="rect">
            <a:avLst/>
          </a:prstGeom>
        </p:spPr>
      </p:pic>
      <p:sp>
        <p:nvSpPr>
          <p:cNvPr id="4" name="Text 1"/>
          <p:cNvSpPr txBox="1"/>
          <p:nvPr/>
        </p:nvSpPr>
        <p:spPr>
          <a:xfrm>
            <a:off x="5861167" y="1234440"/>
            <a:ext cx="5781888" cy="5029200"/>
          </a:xfrm>
          <a:prstGeom prst="rect">
            <a:avLst/>
          </a:prstGeom>
          <a:noFill/>
          <a:ln/>
        </p:spPr>
        <p:txBody>
          <a:bodyPr wrap="square" lIns="25400" tIns="25400" rIns="50800" bIns="25400" rtlCol="0" anchor="t"/>
          <a:lstStyle/>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Yol (0,0)'dan (6,5)'e </a:t>
            </a:r>
            <a:r>
              <a:rPr lang="en-US" sz="1700" b="1" dirty="0">
                <a:solidFill>
                  <a:srgbClr val="212121"/>
                </a:solidFill>
                <a:latin typeface="Calibri" pitchFamily="34" charset="0"/>
                <a:ea typeface="Calibri" pitchFamily="34" charset="-122"/>
                <a:cs typeface="Calibri" pitchFamily="34" charset="-120"/>
              </a:rPr>
              <a:t>monoton</a:t>
            </a:r>
            <a:r>
              <a:rPr lang="en-US" sz="1700" dirty="0">
                <a:solidFill>
                  <a:srgbClr val="212121"/>
                </a:solidFill>
                <a:latin typeface="Calibri" pitchFamily="34" charset="0"/>
                <a:ea typeface="Calibri" pitchFamily="34" charset="-122"/>
                <a:cs typeface="Calibri" pitchFamily="34" charset="-120"/>
              </a:rPr>
              <a:t> ilerler: yalnızca sağ, aşağı, çapraz</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Köşegen boyunca artan değerler: ardışık eşleşmeler</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Köşegenden </a:t>
            </a:r>
            <a:r>
              <a:rPr lang="en-US" sz="1700" b="1" dirty="0">
                <a:solidFill>
                  <a:srgbClr val="212121"/>
                </a:solidFill>
                <a:latin typeface="Calibri" pitchFamily="34" charset="0"/>
                <a:ea typeface="Calibri" pitchFamily="34" charset="-122"/>
                <a:cs typeface="Calibri" pitchFamily="34" charset="-120"/>
              </a:rPr>
              <a:t>aşağı</a:t>
            </a:r>
            <a:r>
              <a:rPr lang="en-US" sz="1700" dirty="0">
                <a:solidFill>
                  <a:srgbClr val="212121"/>
                </a:solidFill>
                <a:latin typeface="Calibri" pitchFamily="34" charset="0"/>
                <a:ea typeface="Calibri" pitchFamily="34" charset="-122"/>
                <a:cs typeface="Calibri" pitchFamily="34" charset="-120"/>
              </a:rPr>
              <a:t> kayma (↑): x'te fazladan harf → y'de boşluk</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Köşegenden </a:t>
            </a:r>
            <a:r>
              <a:rPr lang="en-US" sz="1700" b="1" dirty="0">
                <a:solidFill>
                  <a:srgbClr val="212121"/>
                </a:solidFill>
                <a:latin typeface="Calibri" pitchFamily="34" charset="0"/>
                <a:ea typeface="Calibri" pitchFamily="34" charset="-122"/>
                <a:cs typeface="Calibri" pitchFamily="34" charset="-120"/>
              </a:rPr>
              <a:t>sağa</a:t>
            </a:r>
            <a:r>
              <a:rPr lang="en-US" sz="1700" dirty="0">
                <a:solidFill>
                  <a:srgbClr val="212121"/>
                </a:solidFill>
                <a:latin typeface="Calibri" pitchFamily="34" charset="0"/>
                <a:ea typeface="Calibri" pitchFamily="34" charset="-122"/>
                <a:cs typeface="Calibri" pitchFamily="34" charset="-120"/>
              </a:rPr>
              <a:t> kayma (←): y'de fazladan harf → x'te boşluk</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Sağ alt köşe dışındaki büyük değerlerin (ör. F(4,3) = 1) global skora doğrudan etkisi yok</a:t>
            </a:r>
            <a:endParaRPr lang="en-US" sz="1700" dirty="0"/>
          </a:p>
        </p:txBody>
      </p:sp>
      <p:sp>
        <p:nvSpPr>
          <p:cNvPr id="5" name="Text 2"/>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6: Global hizalama (NW)</a:t>
            </a:r>
            <a:endParaRPr lang="en-US" sz="900" dirty="0"/>
          </a:p>
        </p:txBody>
      </p:sp>
      <p:sp>
        <p:nvSpPr>
          <p:cNvPr id="6" name="Text 3"/>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Python: matrisi doldurma</a:t>
            </a:r>
            <a:endParaRPr lang="en-US" sz="3000" dirty="0"/>
          </a:p>
        </p:txBody>
      </p:sp>
      <p:sp>
        <p:nvSpPr>
          <p:cNvPr id="3" name="Text 1"/>
          <p:cNvSpPr txBox="1"/>
          <p:nvPr/>
        </p:nvSpPr>
        <p:spPr>
          <a:xfrm>
            <a:off x="548640" y="987552"/>
            <a:ext cx="11094415" cy="365760"/>
          </a:xfrm>
          <a:prstGeom prst="rect">
            <a:avLst/>
          </a:prstGeom>
          <a:noFill/>
          <a:ln/>
        </p:spPr>
        <p:txBody>
          <a:bodyPr wrap="square" lIns="0" tIns="0" rIns="0" bIns="0" rtlCol="0" anchor="t"/>
          <a:lstStyle/>
          <a:p>
            <a:pPr indent="0" marL="0">
              <a:buNone/>
            </a:pPr>
            <a:r>
              <a:rPr lang="en-US" sz="1500" i="1" dirty="0">
                <a:solidFill>
                  <a:srgbClr val="546E7A"/>
                </a:solidFill>
                <a:latin typeface="Calibri" pitchFamily="34" charset="0"/>
                <a:ea typeface="Calibri" pitchFamily="34" charset="-122"/>
                <a:cs typeface="Calibri" pitchFamily="34" charset="-120"/>
              </a:rPr>
              <a:t>Notebook'taki needleman_wunsch fonksiyonunun ilk yarısı</a:t>
            </a:r>
            <a:endParaRPr lang="en-US" sz="1500" dirty="0"/>
          </a:p>
        </p:txBody>
      </p:sp>
      <p:sp>
        <p:nvSpPr>
          <p:cNvPr id="4" name="Shape 2"/>
          <p:cNvSpPr/>
          <p:nvPr/>
        </p:nvSpPr>
        <p:spPr>
          <a:xfrm>
            <a:off x="548640" y="1463040"/>
            <a:ext cx="6656649" cy="4800600"/>
          </a:xfrm>
          <a:prstGeom prst="roundRect">
            <a:avLst>
              <a:gd name="adj" fmla="val 1524"/>
            </a:avLst>
          </a:prstGeom>
          <a:solidFill>
            <a:srgbClr val="F4F6F7"/>
          </a:solidFill>
          <a:ln w="12700">
            <a:solidFill>
              <a:srgbClr val="B0BEC5"/>
            </a:solidFill>
            <a:prstDash val="solid"/>
          </a:ln>
        </p:spPr>
      </p:sp>
      <p:sp>
        <p:nvSpPr>
          <p:cNvPr id="5" name="Text 3"/>
          <p:cNvSpPr txBox="1"/>
          <p:nvPr/>
        </p:nvSpPr>
        <p:spPr>
          <a:xfrm>
            <a:off x="658368" y="1536192"/>
            <a:ext cx="6437193" cy="4654296"/>
          </a:xfrm>
          <a:prstGeom prst="rect">
            <a:avLst/>
          </a:prstGeom>
          <a:noFill/>
          <a:ln/>
        </p:spPr>
        <p:txBody>
          <a:bodyPr wrap="square" lIns="0" tIns="0" rIns="0" bIns="0" rtlCol="0" anchor="t"/>
          <a:lstStyle/>
          <a:p>
            <a:pPr indent="0" marL="0">
              <a:lnSpc>
                <a:spcPct val="100000"/>
              </a:lnSpc>
              <a:buNone/>
            </a:pPr>
            <a:r>
              <a:rPr lang="en-US" sz="1300" dirty="0">
                <a:solidFill>
                  <a:srgbClr val="263238"/>
                </a:solidFill>
                <a:latin typeface="Courier New" pitchFamily="34" charset="0"/>
                <a:ea typeface="Courier New" pitchFamily="34" charset="-122"/>
                <a:cs typeface="Courier New" pitchFamily="34" charset="-120"/>
              </a:rPr>
              <a:t>import numpy as np</a:t>
            </a:r>
            <a:endParaRPr lang="en-US" sz="1300" dirty="0"/>
          </a:p>
          <a:p>
            <a:pPr indent="0" marL="0">
              <a:lnSpc>
                <a:spcPct val="100000"/>
              </a:lnSpc>
              <a:buNone/>
            </a:pPr>
            <a:r>
              <a:rPr lang="en-US" sz="1300" dirty="0">
                <a:solidFill>
                  <a:srgbClr val="263238"/>
                </a:solidFill>
                <a:latin typeface="Courier New" pitchFamily="34" charset="0"/>
                <a:ea typeface="Courier New" pitchFamily="34" charset="-122"/>
                <a:cs typeface="Courier New" pitchFamily="34" charset="-120"/>
              </a:rPr>
              <a:t> </a:t>
            </a:r>
            <a:endParaRPr lang="en-US" sz="1300" dirty="0"/>
          </a:p>
          <a:p>
            <a:pPr indent="0" marL="0">
              <a:lnSpc>
                <a:spcPct val="100000"/>
              </a:lnSpc>
              <a:buNone/>
            </a:pPr>
            <a:r>
              <a:rPr lang="en-US" sz="1300" dirty="0">
                <a:solidFill>
                  <a:srgbClr val="263238"/>
                </a:solidFill>
                <a:latin typeface="Courier New" pitchFamily="34" charset="0"/>
                <a:ea typeface="Courier New" pitchFamily="34" charset="-122"/>
                <a:cs typeface="Courier New" pitchFamily="34" charset="-120"/>
              </a:rPr>
              <a:t>def nw_doldur(x, y, eslesme=1, uyumsuz=-1, bosluk=-2):</a:t>
            </a:r>
            <a:endParaRPr lang="en-US" sz="1300" dirty="0"/>
          </a:p>
          <a:p>
            <a:pPr indent="0" marL="0">
              <a:lnSpc>
                <a:spcPct val="100000"/>
              </a:lnSpc>
              <a:buNone/>
            </a:pPr>
            <a:r>
              <a:rPr lang="en-US" sz="1300" dirty="0">
                <a:solidFill>
                  <a:srgbClr val="263238"/>
                </a:solidFill>
                <a:latin typeface="Courier New" pitchFamily="34" charset="0"/>
                <a:ea typeface="Courier New" pitchFamily="34" charset="-122"/>
                <a:cs typeface="Courier New" pitchFamily="34" charset="-120"/>
              </a:rPr>
              <a:t>    m, n = len(x), len(y)</a:t>
            </a:r>
            <a:endParaRPr lang="en-US" sz="1300" dirty="0"/>
          </a:p>
          <a:p>
            <a:pPr indent="0" marL="0">
              <a:lnSpc>
                <a:spcPct val="100000"/>
              </a:lnSpc>
              <a:buNone/>
            </a:pPr>
            <a:r>
              <a:rPr lang="en-US" sz="1300" dirty="0">
                <a:solidFill>
                  <a:srgbClr val="263238"/>
                </a:solidFill>
                <a:latin typeface="Courier New" pitchFamily="34" charset="0"/>
                <a:ea typeface="Courier New" pitchFamily="34" charset="-122"/>
                <a:cs typeface="Courier New" pitchFamily="34" charset="-120"/>
              </a:rPr>
              <a:t>    F = np.zeros((m + 1, n + 1), dtype=int)</a:t>
            </a:r>
            <a:endParaRPr lang="en-US" sz="1300" dirty="0"/>
          </a:p>
          <a:p>
            <a:pPr indent="0" marL="0">
              <a:lnSpc>
                <a:spcPct val="100000"/>
              </a:lnSpc>
              <a:buNone/>
            </a:pPr>
            <a:r>
              <a:rPr lang="en-US" sz="1300" dirty="0">
                <a:solidFill>
                  <a:srgbClr val="263238"/>
                </a:solidFill>
                <a:latin typeface="Courier New" pitchFamily="34" charset="0"/>
                <a:ea typeface="Courier New" pitchFamily="34" charset="-122"/>
                <a:cs typeface="Courier New" pitchFamily="34" charset="-120"/>
              </a:rPr>
              <a:t>    Iz = np.zeros((m + 1, n + 1), dtype=int)  # 0 ç, 1 yk, 2 sol</a:t>
            </a:r>
            <a:endParaRPr lang="en-US" sz="1300" dirty="0"/>
          </a:p>
          <a:p>
            <a:pPr indent="0" marL="0">
              <a:lnSpc>
                <a:spcPct val="100000"/>
              </a:lnSpc>
              <a:buNone/>
            </a:pPr>
            <a:r>
              <a:rPr lang="en-US" sz="1300" dirty="0">
                <a:solidFill>
                  <a:srgbClr val="263238"/>
                </a:solidFill>
                <a:latin typeface="Courier New" pitchFamily="34" charset="0"/>
                <a:ea typeface="Courier New" pitchFamily="34" charset="-122"/>
                <a:cs typeface="Courier New" pitchFamily="34" charset="-120"/>
              </a:rPr>
              <a:t>    F[:, 0] = np.arange(m + 1) * bosluk; Iz[1:, 0] = 1</a:t>
            </a:r>
            <a:endParaRPr lang="en-US" sz="1300" dirty="0"/>
          </a:p>
          <a:p>
            <a:pPr indent="0" marL="0">
              <a:lnSpc>
                <a:spcPct val="100000"/>
              </a:lnSpc>
              <a:buNone/>
            </a:pPr>
            <a:r>
              <a:rPr lang="en-US" sz="1300" dirty="0">
                <a:solidFill>
                  <a:srgbClr val="263238"/>
                </a:solidFill>
                <a:latin typeface="Courier New" pitchFamily="34" charset="0"/>
                <a:ea typeface="Courier New" pitchFamily="34" charset="-122"/>
                <a:cs typeface="Courier New" pitchFamily="34" charset="-120"/>
              </a:rPr>
              <a:t>    F[0, :] = np.arange(n + 1) * bosluk; Iz[0, 1:] = 2</a:t>
            </a:r>
            <a:endParaRPr lang="en-US" sz="1300" dirty="0"/>
          </a:p>
          <a:p>
            <a:pPr indent="0" marL="0">
              <a:lnSpc>
                <a:spcPct val="100000"/>
              </a:lnSpc>
              <a:buNone/>
            </a:pPr>
            <a:r>
              <a:rPr lang="en-US" sz="1300" dirty="0">
                <a:solidFill>
                  <a:srgbClr val="263238"/>
                </a:solidFill>
                <a:latin typeface="Courier New" pitchFamily="34" charset="0"/>
                <a:ea typeface="Courier New" pitchFamily="34" charset="-122"/>
                <a:cs typeface="Courier New" pitchFamily="34" charset="-120"/>
              </a:rPr>
              <a:t>    for i in range(1, m + 1):</a:t>
            </a:r>
            <a:endParaRPr lang="en-US" sz="1300" dirty="0"/>
          </a:p>
          <a:p>
            <a:pPr indent="0" marL="0">
              <a:lnSpc>
                <a:spcPct val="100000"/>
              </a:lnSpc>
              <a:buNone/>
            </a:pPr>
            <a:r>
              <a:rPr lang="en-US" sz="1300" dirty="0">
                <a:solidFill>
                  <a:srgbClr val="263238"/>
                </a:solidFill>
                <a:latin typeface="Courier New" pitchFamily="34" charset="0"/>
                <a:ea typeface="Courier New" pitchFamily="34" charset="-122"/>
                <a:cs typeface="Courier New" pitchFamily="34" charset="-120"/>
              </a:rPr>
              <a:t>        for j in range(1, n + 1):</a:t>
            </a:r>
            <a:endParaRPr lang="en-US" sz="1300" dirty="0"/>
          </a:p>
          <a:p>
            <a:pPr indent="0" marL="0">
              <a:lnSpc>
                <a:spcPct val="100000"/>
              </a:lnSpc>
              <a:buNone/>
            </a:pPr>
            <a:r>
              <a:rPr lang="en-US" sz="1300" dirty="0">
                <a:solidFill>
                  <a:srgbClr val="263238"/>
                </a:solidFill>
                <a:latin typeface="Courier New" pitchFamily="34" charset="0"/>
                <a:ea typeface="Courier New" pitchFamily="34" charset="-122"/>
                <a:cs typeface="Courier New" pitchFamily="34" charset="-120"/>
              </a:rPr>
              <a:t>            s = eslesme if x[i-1] == y[j-1] else uyumsuz</a:t>
            </a:r>
            <a:endParaRPr lang="en-US" sz="1300" dirty="0"/>
          </a:p>
          <a:p>
            <a:pPr indent="0" marL="0">
              <a:lnSpc>
                <a:spcPct val="100000"/>
              </a:lnSpc>
              <a:buNone/>
            </a:pPr>
            <a:r>
              <a:rPr lang="en-US" sz="1300" dirty="0">
                <a:solidFill>
                  <a:srgbClr val="263238"/>
                </a:solidFill>
                <a:latin typeface="Courier New" pitchFamily="34" charset="0"/>
                <a:ea typeface="Courier New" pitchFamily="34" charset="-122"/>
                <a:cs typeface="Courier New" pitchFamily="34" charset="-120"/>
              </a:rPr>
              <a:t>            secenek = [F[i-1, j-1] + s,      # çapraz</a:t>
            </a:r>
            <a:endParaRPr lang="en-US" sz="1300" dirty="0"/>
          </a:p>
          <a:p>
            <a:pPr indent="0" marL="0">
              <a:lnSpc>
                <a:spcPct val="100000"/>
              </a:lnSpc>
              <a:buNone/>
            </a:pPr>
            <a:r>
              <a:rPr lang="en-US" sz="1300" dirty="0">
                <a:solidFill>
                  <a:srgbClr val="263238"/>
                </a:solidFill>
                <a:latin typeface="Courier New" pitchFamily="34" charset="0"/>
                <a:ea typeface="Courier New" pitchFamily="34" charset="-122"/>
                <a:cs typeface="Courier New" pitchFamily="34" charset="-120"/>
              </a:rPr>
              <a:t>                       F[i-1, j] + bosluk,   # yukarı</a:t>
            </a:r>
            <a:endParaRPr lang="en-US" sz="1300" dirty="0"/>
          </a:p>
          <a:p>
            <a:pPr indent="0" marL="0">
              <a:lnSpc>
                <a:spcPct val="100000"/>
              </a:lnSpc>
              <a:buNone/>
            </a:pPr>
            <a:r>
              <a:rPr lang="en-US" sz="1300" dirty="0">
                <a:solidFill>
                  <a:srgbClr val="263238"/>
                </a:solidFill>
                <a:latin typeface="Courier New" pitchFamily="34" charset="0"/>
                <a:ea typeface="Courier New" pitchFamily="34" charset="-122"/>
                <a:cs typeface="Courier New" pitchFamily="34" charset="-120"/>
              </a:rPr>
              <a:t>                       F[i, j-1] + bosluk]   # sol</a:t>
            </a:r>
            <a:endParaRPr lang="en-US" sz="1300" dirty="0"/>
          </a:p>
          <a:p>
            <a:pPr indent="0" marL="0">
              <a:lnSpc>
                <a:spcPct val="100000"/>
              </a:lnSpc>
              <a:buNone/>
            </a:pPr>
            <a:r>
              <a:rPr lang="en-US" sz="1300" dirty="0">
                <a:solidFill>
                  <a:srgbClr val="263238"/>
                </a:solidFill>
                <a:latin typeface="Courier New" pitchFamily="34" charset="0"/>
                <a:ea typeface="Courier New" pitchFamily="34" charset="-122"/>
                <a:cs typeface="Courier New" pitchFamily="34" charset="-120"/>
              </a:rPr>
              <a:t>            Iz[i, j] = int(np.argmax(secenek))</a:t>
            </a:r>
            <a:endParaRPr lang="en-US" sz="1300" dirty="0"/>
          </a:p>
          <a:p>
            <a:pPr indent="0" marL="0">
              <a:lnSpc>
                <a:spcPct val="100000"/>
              </a:lnSpc>
              <a:buNone/>
            </a:pPr>
            <a:r>
              <a:rPr lang="en-US" sz="1300" dirty="0">
                <a:solidFill>
                  <a:srgbClr val="263238"/>
                </a:solidFill>
                <a:latin typeface="Courier New" pitchFamily="34" charset="0"/>
                <a:ea typeface="Courier New" pitchFamily="34" charset="-122"/>
                <a:cs typeface="Courier New" pitchFamily="34" charset="-120"/>
              </a:rPr>
              <a:t>            F[i, j] = secenek[Iz[i, j]]</a:t>
            </a:r>
            <a:endParaRPr lang="en-US" sz="1300" dirty="0"/>
          </a:p>
          <a:p>
            <a:pPr indent="0" marL="0">
              <a:lnSpc>
                <a:spcPct val="100000"/>
              </a:lnSpc>
              <a:buNone/>
            </a:pPr>
            <a:r>
              <a:rPr lang="en-US" sz="1300" dirty="0">
                <a:solidFill>
                  <a:srgbClr val="263238"/>
                </a:solidFill>
                <a:latin typeface="Courier New" pitchFamily="34" charset="0"/>
                <a:ea typeface="Courier New" pitchFamily="34" charset="-122"/>
                <a:cs typeface="Courier New" pitchFamily="34" charset="-120"/>
              </a:rPr>
              <a:t>    return F, Iz</a:t>
            </a:r>
            <a:endParaRPr lang="en-US" sz="1300" dirty="0"/>
          </a:p>
        </p:txBody>
      </p:sp>
      <p:sp>
        <p:nvSpPr>
          <p:cNvPr id="6" name="Text 4"/>
          <p:cNvSpPr txBox="1"/>
          <p:nvPr/>
        </p:nvSpPr>
        <p:spPr>
          <a:xfrm>
            <a:off x="7525329" y="1463040"/>
            <a:ext cx="4117726" cy="4800600"/>
          </a:xfrm>
          <a:prstGeom prst="rect">
            <a:avLst/>
          </a:prstGeom>
          <a:noFill/>
          <a:ln/>
        </p:spPr>
        <p:txBody>
          <a:bodyPr wrap="square" lIns="25400" tIns="25400" rIns="50800" bIns="25400" rtlCol="0" anchor="t"/>
          <a:lstStyle/>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a:t>
            </a:r>
            <a:r>
              <a:rPr lang="en-US" sz="1700" dirty="0">
                <a:solidFill>
                  <a:srgbClr val="455A64"/>
                </a:solidFill>
                <a:latin typeface="Courier New" pitchFamily="34" charset="0"/>
                <a:ea typeface="Courier New" pitchFamily="34" charset="-122"/>
                <a:cs typeface="Courier New" pitchFamily="34" charset="-120"/>
              </a:rPr>
              <a:t>x[i-1]</a:t>
            </a:r>
            <a:r>
              <a:rPr lang="en-US" sz="1700" dirty="0">
                <a:solidFill>
                  <a:srgbClr val="212121"/>
                </a:solidFill>
                <a:latin typeface="Calibri" pitchFamily="34" charset="0"/>
                <a:ea typeface="Calibri" pitchFamily="34" charset="-122"/>
                <a:cs typeface="Calibri" pitchFamily="34" charset="-120"/>
              </a:rPr>
              <a:t>: matrisin i. satırı dizinin (i−1). indeksi (0 tabanlı Python)</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a:t>
            </a:r>
            <a:r>
              <a:rPr lang="en-US" sz="1700" dirty="0">
                <a:solidFill>
                  <a:srgbClr val="455A64"/>
                </a:solidFill>
                <a:latin typeface="Courier New" pitchFamily="34" charset="0"/>
                <a:ea typeface="Courier New" pitchFamily="34" charset="-122"/>
                <a:cs typeface="Courier New" pitchFamily="34" charset="-120"/>
              </a:rPr>
              <a:t>Iz</a:t>
            </a:r>
            <a:r>
              <a:rPr lang="en-US" sz="1700" dirty="0">
                <a:solidFill>
                  <a:srgbClr val="212121"/>
                </a:solidFill>
                <a:latin typeface="Calibri" pitchFamily="34" charset="0"/>
                <a:ea typeface="Calibri" pitchFamily="34" charset="-122"/>
                <a:cs typeface="Calibri" pitchFamily="34" charset="-120"/>
              </a:rPr>
              <a:t> (iz) matrisi okları saklar; bellek 2 kat</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a:t>
            </a:r>
            <a:r>
              <a:rPr lang="en-US" sz="1700" dirty="0">
                <a:solidFill>
                  <a:srgbClr val="455A64"/>
                </a:solidFill>
                <a:latin typeface="Courier New" pitchFamily="34" charset="0"/>
                <a:ea typeface="Courier New" pitchFamily="34" charset="-122"/>
                <a:cs typeface="Courier New" pitchFamily="34" charset="-120"/>
              </a:rPr>
              <a:t>np.argmax</a:t>
            </a:r>
            <a:r>
              <a:rPr lang="en-US" sz="1700" dirty="0">
                <a:solidFill>
                  <a:srgbClr val="212121"/>
                </a:solidFill>
                <a:latin typeface="Calibri" pitchFamily="34" charset="0"/>
                <a:ea typeface="Calibri" pitchFamily="34" charset="-122"/>
                <a:cs typeface="Calibri" pitchFamily="34" charset="-120"/>
              </a:rPr>
              <a:t> eşitlikte </a:t>
            </a:r>
            <a:r>
              <a:rPr lang="en-US" sz="1700" b="1" dirty="0">
                <a:solidFill>
                  <a:srgbClr val="212121"/>
                </a:solidFill>
                <a:latin typeface="Calibri" pitchFamily="34" charset="0"/>
                <a:ea typeface="Calibri" pitchFamily="34" charset="-122"/>
                <a:cs typeface="Calibri" pitchFamily="34" charset="-120"/>
              </a:rPr>
              <a:t>ilk</a:t>
            </a:r>
            <a:r>
              <a:rPr lang="en-US" sz="1700" dirty="0">
                <a:solidFill>
                  <a:srgbClr val="212121"/>
                </a:solidFill>
                <a:latin typeface="Calibri" pitchFamily="34" charset="0"/>
                <a:ea typeface="Calibri" pitchFamily="34" charset="-122"/>
                <a:cs typeface="Calibri" pitchFamily="34" charset="-120"/>
              </a:rPr>
              <a:t> indeksi seçer → çapraz öncelikli</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İç döngü saf Python: 400 × 400 ≈ 0.45 s; Biopython (C) ≈ 1000 kat hızlı</a:t>
            </a:r>
            <a:endParaRPr lang="en-US" sz="1700" dirty="0"/>
          </a:p>
        </p:txBody>
      </p:sp>
      <p:sp>
        <p:nvSpPr>
          <p:cNvPr id="7" name="Text 5"/>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6: Global hizalama (NW)</a:t>
            </a:r>
            <a:endParaRPr lang="en-US" sz="900" dirty="0"/>
          </a:p>
        </p:txBody>
      </p:sp>
      <p:sp>
        <p:nvSpPr>
          <p:cNvPr id="8" name="Text 6"/>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Python: geri izleme ve çıktı</a:t>
            </a:r>
            <a:endParaRPr lang="en-US" sz="3000" dirty="0"/>
          </a:p>
        </p:txBody>
      </p:sp>
      <p:sp>
        <p:nvSpPr>
          <p:cNvPr id="3" name="Text 1"/>
          <p:cNvSpPr txBox="1"/>
          <p:nvPr/>
        </p:nvSpPr>
        <p:spPr>
          <a:xfrm>
            <a:off x="548640" y="5111496"/>
            <a:ext cx="1828800" cy="228600"/>
          </a:xfrm>
          <a:prstGeom prst="rect">
            <a:avLst/>
          </a:prstGeom>
          <a:noFill/>
          <a:ln/>
        </p:spPr>
        <p:txBody>
          <a:bodyPr wrap="square" lIns="0" tIns="0" rIns="0" bIns="0" rtlCol="0" anchor="ctr"/>
          <a:lstStyle/>
          <a:p>
            <a:pPr indent="0" marL="0">
              <a:buNone/>
            </a:pPr>
            <a:r>
              <a:rPr lang="en-US" sz="1100" b="1" dirty="0">
                <a:solidFill>
                  <a:srgbClr val="546E7A"/>
                </a:solidFill>
              </a:rPr>
              <a:t>Çıktı</a:t>
            </a:r>
            <a:endParaRPr lang="en-US" sz="1100" dirty="0"/>
          </a:p>
        </p:txBody>
      </p:sp>
      <p:sp>
        <p:nvSpPr>
          <p:cNvPr id="4" name="Shape 2"/>
          <p:cNvSpPr/>
          <p:nvPr/>
        </p:nvSpPr>
        <p:spPr>
          <a:xfrm>
            <a:off x="548640" y="5340096"/>
            <a:ext cx="6656649" cy="923544"/>
          </a:xfrm>
          <a:prstGeom prst="roundRect">
            <a:avLst>
              <a:gd name="adj" fmla="val 7921"/>
            </a:avLst>
          </a:prstGeom>
          <a:solidFill>
            <a:srgbClr val="FFFFFF"/>
          </a:solidFill>
          <a:ln w="12700">
            <a:solidFill>
              <a:srgbClr val="B0BEC5"/>
            </a:solidFill>
            <a:prstDash val="solid"/>
          </a:ln>
        </p:spPr>
      </p:sp>
      <p:sp>
        <p:nvSpPr>
          <p:cNvPr id="5" name="Text 3"/>
          <p:cNvSpPr txBox="1"/>
          <p:nvPr/>
        </p:nvSpPr>
        <p:spPr>
          <a:xfrm>
            <a:off x="658368" y="5413248"/>
            <a:ext cx="6437193" cy="777240"/>
          </a:xfrm>
          <a:prstGeom prst="rect">
            <a:avLst/>
          </a:prstGeom>
          <a:noFill/>
          <a:ln/>
        </p:spPr>
        <p:txBody>
          <a:bodyPr wrap="square" lIns="0" tIns="0" rIns="0" bIns="0" rtlCol="0" anchor="t"/>
          <a:lstStyle/>
          <a:p>
            <a:pPr indent="0" marL="0">
              <a:lnSpc>
                <a:spcPct val="100000"/>
              </a:lnSpc>
              <a:buNone/>
            </a:pPr>
            <a:r>
              <a:rPr lang="en-US" sz="1300" dirty="0">
                <a:solidFill>
                  <a:srgbClr val="37474F"/>
                </a:solidFill>
                <a:latin typeface="Courier New" pitchFamily="34" charset="0"/>
                <a:ea typeface="Courier New" pitchFamily="34" charset="-122"/>
                <a:cs typeface="Courier New" pitchFamily="34" charset="-120"/>
              </a:rPr>
              <a:t>Skor: 3</a:t>
            </a:r>
            <a:endParaRPr lang="en-US" sz="1300" dirty="0"/>
          </a:p>
          <a:p>
            <a:pPr indent="0" marL="0">
              <a:lnSpc>
                <a:spcPct val="100000"/>
              </a:lnSpc>
              <a:buNone/>
            </a:pPr>
            <a:r>
              <a:rPr lang="en-US" sz="1300" dirty="0">
                <a:solidFill>
                  <a:srgbClr val="37474F"/>
                </a:solidFill>
                <a:latin typeface="Courier New" pitchFamily="34" charset="0"/>
                <a:ea typeface="Courier New" pitchFamily="34" charset="-122"/>
                <a:cs typeface="Courier New" pitchFamily="34" charset="-120"/>
              </a:rPr>
              <a:t>CATGCA</a:t>
            </a:r>
            <a:endParaRPr lang="en-US" sz="1300" dirty="0"/>
          </a:p>
          <a:p>
            <a:pPr indent="0" marL="0">
              <a:lnSpc>
                <a:spcPct val="100000"/>
              </a:lnSpc>
              <a:buNone/>
            </a:pPr>
            <a:r>
              <a:rPr lang="en-US" sz="1300" dirty="0">
                <a:solidFill>
                  <a:srgbClr val="37474F"/>
                </a:solidFill>
                <a:latin typeface="Courier New" pitchFamily="34" charset="0"/>
                <a:ea typeface="Courier New" pitchFamily="34" charset="-122"/>
                <a:cs typeface="Courier New" pitchFamily="34" charset="-120"/>
              </a:rPr>
              <a:t>CA-GCA</a:t>
            </a:r>
            <a:endParaRPr lang="en-US" sz="1300" dirty="0"/>
          </a:p>
        </p:txBody>
      </p:sp>
      <p:sp>
        <p:nvSpPr>
          <p:cNvPr id="6" name="Shape 4"/>
          <p:cNvSpPr/>
          <p:nvPr/>
        </p:nvSpPr>
        <p:spPr>
          <a:xfrm>
            <a:off x="548640" y="1234440"/>
            <a:ext cx="6656649" cy="3831336"/>
          </a:xfrm>
          <a:prstGeom prst="roundRect">
            <a:avLst>
              <a:gd name="adj" fmla="val 1909"/>
            </a:avLst>
          </a:prstGeom>
          <a:solidFill>
            <a:srgbClr val="F4F6F7"/>
          </a:solidFill>
          <a:ln w="12700">
            <a:solidFill>
              <a:srgbClr val="B0BEC5"/>
            </a:solidFill>
            <a:prstDash val="solid"/>
          </a:ln>
        </p:spPr>
      </p:sp>
      <p:sp>
        <p:nvSpPr>
          <p:cNvPr id="7" name="Text 5"/>
          <p:cNvSpPr txBox="1"/>
          <p:nvPr/>
        </p:nvSpPr>
        <p:spPr>
          <a:xfrm>
            <a:off x="658368" y="1307592"/>
            <a:ext cx="6437193" cy="3685032"/>
          </a:xfrm>
          <a:prstGeom prst="rect">
            <a:avLst/>
          </a:prstGeom>
          <a:noFill/>
          <a:ln/>
        </p:spPr>
        <p:txBody>
          <a:bodyPr wrap="square" lIns="0" tIns="0" rIns="0" bIns="0" rtlCol="0" anchor="t"/>
          <a:lstStyle/>
          <a:p>
            <a:pPr indent="0" marL="0">
              <a:lnSpc>
                <a:spcPct val="100000"/>
              </a:lnSpc>
              <a:buNone/>
            </a:pPr>
            <a:r>
              <a:rPr lang="en-US" sz="1300" dirty="0">
                <a:solidFill>
                  <a:srgbClr val="263238"/>
                </a:solidFill>
                <a:latin typeface="Courier New" pitchFamily="34" charset="0"/>
                <a:ea typeface="Courier New" pitchFamily="34" charset="-122"/>
                <a:cs typeface="Courier New" pitchFamily="34" charset="-120"/>
              </a:rPr>
              <a:t>def geri_izle(x, y, Iz):</a:t>
            </a:r>
            <a:endParaRPr lang="en-US" sz="1300" dirty="0"/>
          </a:p>
          <a:p>
            <a:pPr indent="0" marL="0">
              <a:lnSpc>
                <a:spcPct val="100000"/>
              </a:lnSpc>
              <a:buNone/>
            </a:pPr>
            <a:r>
              <a:rPr lang="en-US" sz="1300" dirty="0">
                <a:solidFill>
                  <a:srgbClr val="263238"/>
                </a:solidFill>
                <a:latin typeface="Courier New" pitchFamily="34" charset="0"/>
                <a:ea typeface="Courier New" pitchFamily="34" charset="-122"/>
                <a:cs typeface="Courier New" pitchFamily="34" charset="-120"/>
              </a:rPr>
              <a:t>    a1, a2 = [], []</a:t>
            </a:r>
            <a:endParaRPr lang="en-US" sz="1300" dirty="0"/>
          </a:p>
          <a:p>
            <a:pPr indent="0" marL="0">
              <a:lnSpc>
                <a:spcPct val="100000"/>
              </a:lnSpc>
              <a:buNone/>
            </a:pPr>
            <a:r>
              <a:rPr lang="en-US" sz="1300" dirty="0">
                <a:solidFill>
                  <a:srgbClr val="263238"/>
                </a:solidFill>
                <a:latin typeface="Courier New" pitchFamily="34" charset="0"/>
                <a:ea typeface="Courier New" pitchFamily="34" charset="-122"/>
                <a:cs typeface="Courier New" pitchFamily="34" charset="-120"/>
              </a:rPr>
              <a:t>    i, j = len(x), len(y)</a:t>
            </a:r>
            <a:endParaRPr lang="en-US" sz="1300" dirty="0"/>
          </a:p>
          <a:p>
            <a:pPr indent="0" marL="0">
              <a:lnSpc>
                <a:spcPct val="100000"/>
              </a:lnSpc>
              <a:buNone/>
            </a:pPr>
            <a:r>
              <a:rPr lang="en-US" sz="1300" dirty="0">
                <a:solidFill>
                  <a:srgbClr val="263238"/>
                </a:solidFill>
                <a:latin typeface="Courier New" pitchFamily="34" charset="0"/>
                <a:ea typeface="Courier New" pitchFamily="34" charset="-122"/>
                <a:cs typeface="Courier New" pitchFamily="34" charset="-120"/>
              </a:rPr>
              <a:t>    while i &gt; 0 or j &gt; 0:</a:t>
            </a:r>
            <a:endParaRPr lang="en-US" sz="1300" dirty="0"/>
          </a:p>
          <a:p>
            <a:pPr indent="0" marL="0">
              <a:lnSpc>
                <a:spcPct val="100000"/>
              </a:lnSpc>
              <a:buNone/>
            </a:pPr>
            <a:r>
              <a:rPr lang="en-US" sz="1300" dirty="0">
                <a:solidFill>
                  <a:srgbClr val="263238"/>
                </a:solidFill>
                <a:latin typeface="Courier New" pitchFamily="34" charset="0"/>
                <a:ea typeface="Courier New" pitchFamily="34" charset="-122"/>
                <a:cs typeface="Courier New" pitchFamily="34" charset="-120"/>
              </a:rPr>
              <a:t>        yon = Iz[i, j]</a:t>
            </a:r>
            <a:endParaRPr lang="en-US" sz="1300" dirty="0"/>
          </a:p>
          <a:p>
            <a:pPr indent="0" marL="0">
              <a:lnSpc>
                <a:spcPct val="100000"/>
              </a:lnSpc>
              <a:buNone/>
            </a:pPr>
            <a:r>
              <a:rPr lang="en-US" sz="1300" dirty="0">
                <a:solidFill>
                  <a:srgbClr val="263238"/>
                </a:solidFill>
                <a:latin typeface="Courier New" pitchFamily="34" charset="0"/>
                <a:ea typeface="Courier New" pitchFamily="34" charset="-122"/>
                <a:cs typeface="Courier New" pitchFamily="34" charset="-120"/>
              </a:rPr>
              <a:t>        if yon == 0:                       # çapraz</a:t>
            </a:r>
            <a:endParaRPr lang="en-US" sz="1300" dirty="0"/>
          </a:p>
          <a:p>
            <a:pPr indent="0" marL="0">
              <a:lnSpc>
                <a:spcPct val="100000"/>
              </a:lnSpc>
              <a:buNone/>
            </a:pPr>
            <a:r>
              <a:rPr lang="en-US" sz="1300" dirty="0">
                <a:solidFill>
                  <a:srgbClr val="263238"/>
                </a:solidFill>
                <a:latin typeface="Courier New" pitchFamily="34" charset="0"/>
                <a:ea typeface="Courier New" pitchFamily="34" charset="-122"/>
                <a:cs typeface="Courier New" pitchFamily="34" charset="-120"/>
              </a:rPr>
              <a:t>            a1.append(x[i-1]); a2.append(y[j-1]); i -= 1; j -= 1</a:t>
            </a:r>
            <a:endParaRPr lang="en-US" sz="1300" dirty="0"/>
          </a:p>
          <a:p>
            <a:pPr indent="0" marL="0">
              <a:lnSpc>
                <a:spcPct val="100000"/>
              </a:lnSpc>
              <a:buNone/>
            </a:pPr>
            <a:r>
              <a:rPr lang="en-US" sz="1300" dirty="0">
                <a:solidFill>
                  <a:srgbClr val="263238"/>
                </a:solidFill>
                <a:latin typeface="Courier New" pitchFamily="34" charset="0"/>
                <a:ea typeface="Courier New" pitchFamily="34" charset="-122"/>
                <a:cs typeface="Courier New" pitchFamily="34" charset="-120"/>
              </a:rPr>
              <a:t>        elif yon == 1:                     # yukarı</a:t>
            </a:r>
            <a:endParaRPr lang="en-US" sz="1300" dirty="0"/>
          </a:p>
          <a:p>
            <a:pPr indent="0" marL="0">
              <a:lnSpc>
                <a:spcPct val="100000"/>
              </a:lnSpc>
              <a:buNone/>
            </a:pPr>
            <a:r>
              <a:rPr lang="en-US" sz="1300" dirty="0">
                <a:solidFill>
                  <a:srgbClr val="263238"/>
                </a:solidFill>
                <a:latin typeface="Courier New" pitchFamily="34" charset="0"/>
                <a:ea typeface="Courier New" pitchFamily="34" charset="-122"/>
                <a:cs typeface="Courier New" pitchFamily="34" charset="-120"/>
              </a:rPr>
              <a:t>            a1.append(x[i-1]); a2.append("-"); i -= 1</a:t>
            </a:r>
            <a:endParaRPr lang="en-US" sz="1300" dirty="0"/>
          </a:p>
          <a:p>
            <a:pPr indent="0" marL="0">
              <a:lnSpc>
                <a:spcPct val="100000"/>
              </a:lnSpc>
              <a:buNone/>
            </a:pPr>
            <a:r>
              <a:rPr lang="en-US" sz="1300" dirty="0">
                <a:solidFill>
                  <a:srgbClr val="263238"/>
                </a:solidFill>
                <a:latin typeface="Courier New" pitchFamily="34" charset="0"/>
                <a:ea typeface="Courier New" pitchFamily="34" charset="-122"/>
                <a:cs typeface="Courier New" pitchFamily="34" charset="-120"/>
              </a:rPr>
              <a:t>        else:                              # sol</a:t>
            </a:r>
            <a:endParaRPr lang="en-US" sz="1300" dirty="0"/>
          </a:p>
          <a:p>
            <a:pPr indent="0" marL="0">
              <a:lnSpc>
                <a:spcPct val="100000"/>
              </a:lnSpc>
              <a:buNone/>
            </a:pPr>
            <a:r>
              <a:rPr lang="en-US" sz="1300" dirty="0">
                <a:solidFill>
                  <a:srgbClr val="263238"/>
                </a:solidFill>
                <a:latin typeface="Courier New" pitchFamily="34" charset="0"/>
                <a:ea typeface="Courier New" pitchFamily="34" charset="-122"/>
                <a:cs typeface="Courier New" pitchFamily="34" charset="-120"/>
              </a:rPr>
              <a:t>            a1.append("-"); a2.append(y[j-1]); j -= 1</a:t>
            </a:r>
            <a:endParaRPr lang="en-US" sz="1300" dirty="0"/>
          </a:p>
          <a:p>
            <a:pPr indent="0" marL="0">
              <a:lnSpc>
                <a:spcPct val="100000"/>
              </a:lnSpc>
              <a:buNone/>
            </a:pPr>
            <a:r>
              <a:rPr lang="en-US" sz="1300" dirty="0">
                <a:solidFill>
                  <a:srgbClr val="263238"/>
                </a:solidFill>
                <a:latin typeface="Courier New" pitchFamily="34" charset="0"/>
                <a:ea typeface="Courier New" pitchFamily="34" charset="-122"/>
                <a:cs typeface="Courier New" pitchFamily="34" charset="-120"/>
              </a:rPr>
              <a:t>    return "".join(reversed(a1)), "".join(reversed(a2))</a:t>
            </a:r>
            <a:endParaRPr lang="en-US" sz="1300" dirty="0"/>
          </a:p>
          <a:p>
            <a:pPr indent="0" marL="0">
              <a:lnSpc>
                <a:spcPct val="100000"/>
              </a:lnSpc>
              <a:buNone/>
            </a:pPr>
            <a:r>
              <a:rPr lang="en-US" sz="1300" dirty="0">
                <a:solidFill>
                  <a:srgbClr val="263238"/>
                </a:solidFill>
                <a:latin typeface="Courier New" pitchFamily="34" charset="0"/>
                <a:ea typeface="Courier New" pitchFamily="34" charset="-122"/>
                <a:cs typeface="Courier New" pitchFamily="34" charset="-120"/>
              </a:rPr>
              <a:t> </a:t>
            </a:r>
            <a:endParaRPr lang="en-US" sz="1300" dirty="0"/>
          </a:p>
          <a:p>
            <a:pPr indent="0" marL="0">
              <a:lnSpc>
                <a:spcPct val="100000"/>
              </a:lnSpc>
              <a:buNone/>
            </a:pPr>
            <a:r>
              <a:rPr lang="en-US" sz="1300" dirty="0">
                <a:solidFill>
                  <a:srgbClr val="263238"/>
                </a:solidFill>
                <a:latin typeface="Courier New" pitchFamily="34" charset="0"/>
                <a:ea typeface="Courier New" pitchFamily="34" charset="-122"/>
                <a:cs typeface="Courier New" pitchFamily="34" charset="-120"/>
              </a:rPr>
              <a:t>F, Iz = nw_doldur("CATGCA", "CAGCA")</a:t>
            </a:r>
            <a:endParaRPr lang="en-US" sz="1300" dirty="0"/>
          </a:p>
          <a:p>
            <a:pPr indent="0" marL="0">
              <a:lnSpc>
                <a:spcPct val="100000"/>
              </a:lnSpc>
              <a:buNone/>
            </a:pPr>
            <a:r>
              <a:rPr lang="en-US" sz="1300" dirty="0">
                <a:solidFill>
                  <a:srgbClr val="263238"/>
                </a:solidFill>
                <a:latin typeface="Courier New" pitchFamily="34" charset="0"/>
                <a:ea typeface="Courier New" pitchFamily="34" charset="-122"/>
                <a:cs typeface="Courier New" pitchFamily="34" charset="-120"/>
              </a:rPr>
              <a:t>h1, h2 = geri_izle("CATGCA", "CAGCA", Iz)</a:t>
            </a:r>
            <a:endParaRPr lang="en-US" sz="1300" dirty="0"/>
          </a:p>
          <a:p>
            <a:pPr indent="0" marL="0">
              <a:lnSpc>
                <a:spcPct val="100000"/>
              </a:lnSpc>
              <a:buNone/>
            </a:pPr>
            <a:r>
              <a:rPr lang="en-US" sz="1300" dirty="0">
                <a:solidFill>
                  <a:srgbClr val="263238"/>
                </a:solidFill>
                <a:latin typeface="Courier New" pitchFamily="34" charset="0"/>
                <a:ea typeface="Courier New" pitchFamily="34" charset="-122"/>
                <a:cs typeface="Courier New" pitchFamily="34" charset="-120"/>
              </a:rPr>
              <a:t>print("Skor:", F[-1, -1]); print(h1); print(h2)</a:t>
            </a:r>
            <a:endParaRPr lang="en-US" sz="1300" dirty="0"/>
          </a:p>
        </p:txBody>
      </p:sp>
      <p:sp>
        <p:nvSpPr>
          <p:cNvPr id="8" name="Text 6"/>
          <p:cNvSpPr txBox="1"/>
          <p:nvPr/>
        </p:nvSpPr>
        <p:spPr>
          <a:xfrm>
            <a:off x="7525329" y="1234440"/>
            <a:ext cx="4117726" cy="5029200"/>
          </a:xfrm>
          <a:prstGeom prst="rect">
            <a:avLst/>
          </a:prstGeom>
          <a:noFill/>
          <a:ln/>
        </p:spPr>
        <p:txBody>
          <a:bodyPr wrap="square" lIns="25400" tIns="25400" rIns="50800" bIns="25400" rtlCol="0" anchor="t"/>
          <a:lstStyle/>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Döngü koşulu </a:t>
            </a:r>
            <a:r>
              <a:rPr lang="en-US" sz="1700" dirty="0">
                <a:solidFill>
                  <a:srgbClr val="455A64"/>
                </a:solidFill>
                <a:latin typeface="Courier New" pitchFamily="34" charset="0"/>
                <a:ea typeface="Courier New" pitchFamily="34" charset="-122"/>
                <a:cs typeface="Courier New" pitchFamily="34" charset="-120"/>
              </a:rPr>
              <a:t>i &gt; 0 or j &gt; 0</a:t>
            </a:r>
            <a:r>
              <a:rPr lang="en-US" sz="1700" dirty="0">
                <a:solidFill>
                  <a:srgbClr val="212121"/>
                </a:solidFill>
                <a:latin typeface="Calibri" pitchFamily="34" charset="0"/>
                <a:ea typeface="Calibri" pitchFamily="34" charset="-122"/>
                <a:cs typeface="Calibri" pitchFamily="34" charset="-120"/>
              </a:rPr>
              <a:t>: ilk satır/sütuna ulaşınca da devam eder (uç boşlukları)</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Listeye sondan eklenip en sonda </a:t>
            </a:r>
            <a:r>
              <a:rPr lang="en-US" sz="1700" b="1" dirty="0">
                <a:solidFill>
                  <a:srgbClr val="212121"/>
                </a:solidFill>
                <a:latin typeface="Calibri" pitchFamily="34" charset="0"/>
                <a:ea typeface="Calibri" pitchFamily="34" charset="-122"/>
                <a:cs typeface="Calibri" pitchFamily="34" charset="-120"/>
              </a:rPr>
              <a:t>ters çevrilir</a:t>
            </a:r>
            <a:r>
              <a:rPr lang="en-US" sz="1700" dirty="0">
                <a:solidFill>
                  <a:srgbClr val="212121"/>
                </a:solidFill>
                <a:latin typeface="Calibri" pitchFamily="34" charset="0"/>
                <a:ea typeface="Calibri" pitchFamily="34" charset="-122"/>
                <a:cs typeface="Calibri" pitchFamily="34" charset="-120"/>
              </a:rPr>
              <a:t> — O(1) ekleme</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Sonuç notebook ve Biopython ile aynı</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Alıştırma: tüm optimal yolları döndüren özyinelemeli sürüm</a:t>
            </a:r>
            <a:endParaRPr lang="en-US" sz="1700" dirty="0"/>
          </a:p>
        </p:txBody>
      </p:sp>
      <p:sp>
        <p:nvSpPr>
          <p:cNvPr id="9" name="Text 7"/>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6: Global hizalama (NW)</a:t>
            </a:r>
            <a:endParaRPr lang="en-US" sz="900" dirty="0"/>
          </a:p>
        </p:txBody>
      </p:sp>
      <p:sp>
        <p:nvSpPr>
          <p:cNvPr id="10" name="Text 8"/>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ECEFF1"/>
        </a:solidFill>
      </p:bgPr>
    </p:bg>
    <p:spTree>
      <p:nvGrpSpPr>
        <p:cNvPr id="1" name=""/>
        <p:cNvGrpSpPr/>
        <p:nvPr/>
      </p:nvGrpSpPr>
      <p:grpSpPr>
        <a:xfrm>
          <a:off x="0" y="0"/>
          <a:ext cx="0" cy="0"/>
          <a:chOff x="0" y="0"/>
          <a:chExt cx="0" cy="0"/>
        </a:xfrm>
      </p:grpSpPr>
      <p:sp>
        <p:nvSpPr>
          <p:cNvPr id="2" name="Text 0"/>
          <p:cNvSpPr txBox="1"/>
          <p:nvPr/>
        </p:nvSpPr>
        <p:spPr>
          <a:xfrm>
            <a:off x="548640" y="1920240"/>
            <a:ext cx="2011680" cy="2011680"/>
          </a:xfrm>
          <a:prstGeom prst="rect">
            <a:avLst/>
          </a:prstGeom>
          <a:noFill/>
          <a:ln/>
        </p:spPr>
        <p:txBody>
          <a:bodyPr wrap="square" lIns="0" tIns="0" rIns="0" bIns="0" rtlCol="0" anchor="ctr"/>
          <a:lstStyle/>
          <a:p>
            <a:pPr indent="0" marL="0">
              <a:buNone/>
            </a:pPr>
            <a:r>
              <a:rPr lang="en-US" sz="11000" b="1" dirty="0">
                <a:solidFill>
                  <a:srgbClr val="B71C1C"/>
                </a:solidFill>
                <a:latin typeface="Calibri" pitchFamily="34" charset="0"/>
                <a:ea typeface="Calibri" pitchFamily="34" charset="-122"/>
                <a:cs typeface="Calibri" pitchFamily="34" charset="-120"/>
              </a:rPr>
              <a:t>3</a:t>
            </a:r>
            <a:endParaRPr lang="en-US" sz="11000" dirty="0"/>
          </a:p>
        </p:txBody>
      </p:sp>
      <p:sp>
        <p:nvSpPr>
          <p:cNvPr id="3" name="Text 1"/>
          <p:cNvSpPr txBox="1"/>
          <p:nvPr/>
        </p:nvSpPr>
        <p:spPr>
          <a:xfrm>
            <a:off x="2834640" y="2103120"/>
            <a:ext cx="8808415" cy="1005840"/>
          </a:xfrm>
          <a:prstGeom prst="rect">
            <a:avLst/>
          </a:prstGeom>
          <a:noFill/>
          <a:ln/>
        </p:spPr>
        <p:txBody>
          <a:bodyPr wrap="square" lIns="0" tIns="0" rIns="0" bIns="0" rtlCol="0" anchor="b"/>
          <a:lstStyle/>
          <a:p>
            <a:pPr indent="0" marL="0">
              <a:buNone/>
            </a:pPr>
            <a:r>
              <a:rPr lang="en-US" sz="3400" b="1" dirty="0">
                <a:solidFill>
                  <a:srgbClr val="263238"/>
                </a:solidFill>
                <a:latin typeface="Calibri" pitchFamily="34" charset="0"/>
                <a:ea typeface="Calibri" pitchFamily="34" charset="-122"/>
                <a:cs typeface="Calibri" pitchFamily="34" charset="-120"/>
              </a:rPr>
              <a:t>Biopython, eşitlikler ve parametreler</a:t>
            </a:r>
            <a:endParaRPr lang="en-US" sz="3400" dirty="0"/>
          </a:p>
        </p:txBody>
      </p:sp>
      <p:sp>
        <p:nvSpPr>
          <p:cNvPr id="4" name="Text 2"/>
          <p:cNvSpPr txBox="1"/>
          <p:nvPr/>
        </p:nvSpPr>
        <p:spPr>
          <a:xfrm>
            <a:off x="2834640" y="3200400"/>
            <a:ext cx="8808415" cy="1097280"/>
          </a:xfrm>
          <a:prstGeom prst="rect">
            <a:avLst/>
          </a:prstGeom>
          <a:noFill/>
          <a:ln/>
        </p:spPr>
        <p:txBody>
          <a:bodyPr wrap="square" lIns="0" tIns="0" rIns="0" bIns="0" rtlCol="0" anchor="t"/>
          <a:lstStyle/>
          <a:p>
            <a:pPr indent="0" marL="0">
              <a:buNone/>
            </a:pPr>
            <a:r>
              <a:rPr lang="en-US" sz="1700" dirty="0">
                <a:solidFill>
                  <a:srgbClr val="546E7A"/>
                </a:solidFill>
                <a:latin typeface="Calibri" pitchFamily="34" charset="0"/>
                <a:ea typeface="Calibri" pitchFamily="34" charset="-122"/>
                <a:cs typeface="Calibri" pitchFamily="34" charset="-120"/>
              </a:rPr>
              <a:t>​</a:t>
            </a:r>
            <a:r>
              <a:rPr lang="en-US" sz="1700" dirty="0">
                <a:solidFill>
                  <a:srgbClr val="455A64"/>
                </a:solidFill>
                <a:latin typeface="Courier New" pitchFamily="34" charset="0"/>
                <a:ea typeface="Courier New" pitchFamily="34" charset="-122"/>
                <a:cs typeface="Courier New" pitchFamily="34" charset="-120"/>
              </a:rPr>
              <a:t>PairwiseAligner</a:t>
            </a:r>
            <a:r>
              <a:rPr lang="en-US" sz="1700" dirty="0">
                <a:solidFill>
                  <a:srgbClr val="546E7A"/>
                </a:solidFill>
                <a:latin typeface="Calibri" pitchFamily="34" charset="0"/>
                <a:ea typeface="Calibri" pitchFamily="34" charset="-122"/>
                <a:cs typeface="Calibri" pitchFamily="34" charset="-120"/>
              </a:rPr>
              <a:t>; birden çok optimal hizalama; boşluk cezası eşiği; % özdeşlik</a:t>
            </a:r>
            <a:endParaRPr lang="en-US" sz="17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PairwiseAligner ile global hizalama</a:t>
            </a:r>
            <a:endParaRPr lang="en-US" sz="3000" dirty="0"/>
          </a:p>
        </p:txBody>
      </p:sp>
      <p:sp>
        <p:nvSpPr>
          <p:cNvPr id="3" name="Text 1"/>
          <p:cNvSpPr txBox="1"/>
          <p:nvPr/>
        </p:nvSpPr>
        <p:spPr>
          <a:xfrm>
            <a:off x="548640" y="4709160"/>
            <a:ext cx="1828800" cy="228600"/>
          </a:xfrm>
          <a:prstGeom prst="rect">
            <a:avLst/>
          </a:prstGeom>
          <a:noFill/>
          <a:ln/>
        </p:spPr>
        <p:txBody>
          <a:bodyPr wrap="square" lIns="0" tIns="0" rIns="0" bIns="0" rtlCol="0" anchor="ctr"/>
          <a:lstStyle/>
          <a:p>
            <a:pPr indent="0" marL="0">
              <a:buNone/>
            </a:pPr>
            <a:r>
              <a:rPr lang="en-US" sz="1100" b="1" dirty="0">
                <a:solidFill>
                  <a:srgbClr val="546E7A"/>
                </a:solidFill>
              </a:rPr>
              <a:t>Çıktı</a:t>
            </a:r>
            <a:endParaRPr lang="en-US" sz="1100" dirty="0"/>
          </a:p>
        </p:txBody>
      </p:sp>
      <p:sp>
        <p:nvSpPr>
          <p:cNvPr id="4" name="Shape 2"/>
          <p:cNvSpPr/>
          <p:nvPr/>
        </p:nvSpPr>
        <p:spPr>
          <a:xfrm>
            <a:off x="548640" y="4937760"/>
            <a:ext cx="6656649" cy="1325880"/>
          </a:xfrm>
          <a:prstGeom prst="roundRect">
            <a:avLst>
              <a:gd name="adj" fmla="val 5517"/>
            </a:avLst>
          </a:prstGeom>
          <a:solidFill>
            <a:srgbClr val="FFFFFF"/>
          </a:solidFill>
          <a:ln w="12700">
            <a:solidFill>
              <a:srgbClr val="B0BEC5"/>
            </a:solidFill>
            <a:prstDash val="solid"/>
          </a:ln>
        </p:spPr>
      </p:sp>
      <p:sp>
        <p:nvSpPr>
          <p:cNvPr id="5" name="Text 3"/>
          <p:cNvSpPr txBox="1"/>
          <p:nvPr/>
        </p:nvSpPr>
        <p:spPr>
          <a:xfrm>
            <a:off x="658368" y="5010912"/>
            <a:ext cx="6437193" cy="1179576"/>
          </a:xfrm>
          <a:prstGeom prst="rect">
            <a:avLst/>
          </a:prstGeom>
          <a:noFill/>
          <a:ln/>
        </p:spPr>
        <p:txBody>
          <a:bodyPr wrap="square" lIns="0" tIns="0" rIns="0" bIns="0" rtlCol="0" anchor="t"/>
          <a:lstStyle/>
          <a:p>
            <a:pPr indent="0" marL="0">
              <a:lnSpc>
                <a:spcPct val="100000"/>
              </a:lnSpc>
              <a:buNone/>
            </a:pPr>
            <a:r>
              <a:rPr lang="en-US" sz="1300" dirty="0">
                <a:solidFill>
                  <a:srgbClr val="37474F"/>
                </a:solidFill>
                <a:latin typeface="Courier New" pitchFamily="34" charset="0"/>
                <a:ea typeface="Courier New" pitchFamily="34" charset="-122"/>
                <a:cs typeface="Courier New" pitchFamily="34" charset="-120"/>
              </a:rPr>
              <a:t>Skor: 3.0 | optimal sayısı: 1</a:t>
            </a:r>
            <a:endParaRPr lang="en-US" sz="1300" dirty="0"/>
          </a:p>
          <a:p>
            <a:pPr indent="0" marL="0">
              <a:lnSpc>
                <a:spcPct val="100000"/>
              </a:lnSpc>
              <a:buNone/>
            </a:pPr>
            <a:r>
              <a:rPr lang="en-US" sz="1300" dirty="0">
                <a:solidFill>
                  <a:srgbClr val="37474F"/>
                </a:solidFill>
                <a:latin typeface="Courier New" pitchFamily="34" charset="0"/>
                <a:ea typeface="Courier New" pitchFamily="34" charset="-122"/>
                <a:cs typeface="Courier New" pitchFamily="34" charset="-120"/>
              </a:rPr>
              <a:t>target            0 CATGCA 6</a:t>
            </a:r>
            <a:endParaRPr lang="en-US" sz="1300" dirty="0"/>
          </a:p>
          <a:p>
            <a:pPr indent="0" marL="0">
              <a:lnSpc>
                <a:spcPct val="100000"/>
              </a:lnSpc>
              <a:buNone/>
            </a:pPr>
            <a:r>
              <a:rPr lang="en-US" sz="1300" dirty="0">
                <a:solidFill>
                  <a:srgbClr val="37474F"/>
                </a:solidFill>
                <a:latin typeface="Courier New" pitchFamily="34" charset="0"/>
                <a:ea typeface="Courier New" pitchFamily="34" charset="-122"/>
                <a:cs typeface="Courier New" pitchFamily="34" charset="-120"/>
              </a:rPr>
              <a:t>                  0 ||-||| 6</a:t>
            </a:r>
            <a:endParaRPr lang="en-US" sz="1300" dirty="0"/>
          </a:p>
          <a:p>
            <a:pPr indent="0" marL="0">
              <a:lnSpc>
                <a:spcPct val="100000"/>
              </a:lnSpc>
              <a:buNone/>
            </a:pPr>
            <a:r>
              <a:rPr lang="en-US" sz="1300" dirty="0">
                <a:solidFill>
                  <a:srgbClr val="37474F"/>
                </a:solidFill>
                <a:latin typeface="Courier New" pitchFamily="34" charset="0"/>
                <a:ea typeface="Courier New" pitchFamily="34" charset="-122"/>
                <a:cs typeface="Courier New" pitchFamily="34" charset="-120"/>
              </a:rPr>
              <a:t>query             0 CA-GCA 5</a:t>
            </a:r>
            <a:endParaRPr lang="en-US" sz="1300" dirty="0"/>
          </a:p>
          <a:p>
            <a:pPr indent="0" marL="0">
              <a:lnSpc>
                <a:spcPct val="100000"/>
              </a:lnSpc>
              <a:buNone/>
            </a:pPr>
            <a:r>
              <a:rPr lang="en-US" sz="1300" dirty="0">
                <a:solidFill>
                  <a:srgbClr val="37474F"/>
                </a:solidFill>
                <a:latin typeface="Courier New" pitchFamily="34" charset="0"/>
                <a:ea typeface="Courier New" pitchFamily="34" charset="-122"/>
                <a:cs typeface="Courier New" pitchFamily="34" charset="-120"/>
              </a:rPr>
              <a:t>3.0</a:t>
            </a:r>
            <a:endParaRPr lang="en-US" sz="1300" dirty="0"/>
          </a:p>
        </p:txBody>
      </p:sp>
      <p:sp>
        <p:nvSpPr>
          <p:cNvPr id="6" name="Shape 4"/>
          <p:cNvSpPr/>
          <p:nvPr/>
        </p:nvSpPr>
        <p:spPr>
          <a:xfrm>
            <a:off x="548640" y="1234440"/>
            <a:ext cx="6656649" cy="3429000"/>
          </a:xfrm>
          <a:prstGeom prst="roundRect">
            <a:avLst>
              <a:gd name="adj" fmla="val 2133"/>
            </a:avLst>
          </a:prstGeom>
          <a:solidFill>
            <a:srgbClr val="F4F6F7"/>
          </a:solidFill>
          <a:ln w="12700">
            <a:solidFill>
              <a:srgbClr val="B0BEC5"/>
            </a:solidFill>
            <a:prstDash val="solid"/>
          </a:ln>
        </p:spPr>
      </p:sp>
      <p:sp>
        <p:nvSpPr>
          <p:cNvPr id="7" name="Text 5"/>
          <p:cNvSpPr txBox="1"/>
          <p:nvPr/>
        </p:nvSpPr>
        <p:spPr>
          <a:xfrm>
            <a:off x="658368" y="1307592"/>
            <a:ext cx="6437193" cy="3282696"/>
          </a:xfrm>
          <a:prstGeom prst="rect">
            <a:avLst/>
          </a:prstGeom>
          <a:noFill/>
          <a:ln/>
        </p:spPr>
        <p:txBody>
          <a:bodyPr wrap="square" lIns="0" tIns="0" rIns="0" bIns="0" rtlCol="0" anchor="t"/>
          <a:lstStyle/>
          <a:p>
            <a:pPr indent="0" marL="0">
              <a:lnSpc>
                <a:spcPct val="100000"/>
              </a:lnSpc>
              <a:buNone/>
            </a:pPr>
            <a:r>
              <a:rPr lang="en-US" sz="1450" dirty="0">
                <a:solidFill>
                  <a:srgbClr val="263238"/>
                </a:solidFill>
                <a:latin typeface="Courier New" pitchFamily="34" charset="0"/>
                <a:ea typeface="Courier New" pitchFamily="34" charset="-122"/>
                <a:cs typeface="Courier New" pitchFamily="34" charset="-120"/>
              </a:rPr>
              <a:t>from Bio import Align</a:t>
            </a:r>
            <a:endParaRPr lang="en-US" sz="1450" dirty="0"/>
          </a:p>
          <a:p>
            <a:pPr indent="0" marL="0">
              <a:lnSpc>
                <a:spcPct val="100000"/>
              </a:lnSpc>
              <a:buNone/>
            </a:pPr>
            <a:r>
              <a:rPr lang="en-US" sz="1450" dirty="0">
                <a:solidFill>
                  <a:srgbClr val="263238"/>
                </a:solidFill>
                <a:latin typeface="Courier New" pitchFamily="34" charset="0"/>
                <a:ea typeface="Courier New" pitchFamily="34" charset="-122"/>
                <a:cs typeface="Courier New" pitchFamily="34" charset="-120"/>
              </a:rPr>
              <a:t> </a:t>
            </a:r>
            <a:endParaRPr lang="en-US" sz="1450" dirty="0"/>
          </a:p>
          <a:p>
            <a:pPr indent="0" marL="0">
              <a:lnSpc>
                <a:spcPct val="100000"/>
              </a:lnSpc>
              <a:buNone/>
            </a:pPr>
            <a:r>
              <a:rPr lang="en-US" sz="1450" dirty="0">
                <a:solidFill>
                  <a:srgbClr val="263238"/>
                </a:solidFill>
                <a:latin typeface="Courier New" pitchFamily="34" charset="0"/>
                <a:ea typeface="Courier New" pitchFamily="34" charset="-122"/>
                <a:cs typeface="Courier New" pitchFamily="34" charset="-120"/>
              </a:rPr>
              <a:t>hizalayici = Align.PairwiseAligner()</a:t>
            </a:r>
            <a:endParaRPr lang="en-US" sz="1450" dirty="0"/>
          </a:p>
          <a:p>
            <a:pPr indent="0" marL="0">
              <a:lnSpc>
                <a:spcPct val="100000"/>
              </a:lnSpc>
              <a:buNone/>
            </a:pPr>
            <a:r>
              <a:rPr lang="en-US" sz="1450" dirty="0">
                <a:solidFill>
                  <a:srgbClr val="263238"/>
                </a:solidFill>
                <a:latin typeface="Courier New" pitchFamily="34" charset="0"/>
                <a:ea typeface="Courier New" pitchFamily="34" charset="-122"/>
                <a:cs typeface="Courier New" pitchFamily="34" charset="-120"/>
              </a:rPr>
              <a:t>hizalayici.mode = "global"</a:t>
            </a:r>
            <a:endParaRPr lang="en-US" sz="1450" dirty="0"/>
          </a:p>
          <a:p>
            <a:pPr indent="0" marL="0">
              <a:lnSpc>
                <a:spcPct val="100000"/>
              </a:lnSpc>
              <a:buNone/>
            </a:pPr>
            <a:r>
              <a:rPr lang="en-US" sz="1450" dirty="0">
                <a:solidFill>
                  <a:srgbClr val="263238"/>
                </a:solidFill>
                <a:latin typeface="Courier New" pitchFamily="34" charset="0"/>
                <a:ea typeface="Courier New" pitchFamily="34" charset="-122"/>
                <a:cs typeface="Courier New" pitchFamily="34" charset="-120"/>
              </a:rPr>
              <a:t>hizalayici.match_score = 1</a:t>
            </a:r>
            <a:endParaRPr lang="en-US" sz="1450" dirty="0"/>
          </a:p>
          <a:p>
            <a:pPr indent="0" marL="0">
              <a:lnSpc>
                <a:spcPct val="100000"/>
              </a:lnSpc>
              <a:buNone/>
            </a:pPr>
            <a:r>
              <a:rPr lang="en-US" sz="1450" dirty="0">
                <a:solidFill>
                  <a:srgbClr val="263238"/>
                </a:solidFill>
                <a:latin typeface="Courier New" pitchFamily="34" charset="0"/>
                <a:ea typeface="Courier New" pitchFamily="34" charset="-122"/>
                <a:cs typeface="Courier New" pitchFamily="34" charset="-120"/>
              </a:rPr>
              <a:t>hizalayici.mismatch_score = -1</a:t>
            </a:r>
            <a:endParaRPr lang="en-US" sz="1450" dirty="0"/>
          </a:p>
          <a:p>
            <a:pPr indent="0" marL="0">
              <a:lnSpc>
                <a:spcPct val="100000"/>
              </a:lnSpc>
              <a:buNone/>
            </a:pPr>
            <a:r>
              <a:rPr lang="en-US" sz="1450" dirty="0">
                <a:solidFill>
                  <a:srgbClr val="263238"/>
                </a:solidFill>
                <a:latin typeface="Courier New" pitchFamily="34" charset="0"/>
                <a:ea typeface="Courier New" pitchFamily="34" charset="-122"/>
                <a:cs typeface="Courier New" pitchFamily="34" charset="-120"/>
              </a:rPr>
              <a:t>hizalayici.gap_score = -2</a:t>
            </a:r>
            <a:endParaRPr lang="en-US" sz="1450" dirty="0"/>
          </a:p>
          <a:p>
            <a:pPr indent="0" marL="0">
              <a:lnSpc>
                <a:spcPct val="100000"/>
              </a:lnSpc>
              <a:buNone/>
            </a:pPr>
            <a:r>
              <a:rPr lang="en-US" sz="1450" dirty="0">
                <a:solidFill>
                  <a:srgbClr val="263238"/>
                </a:solidFill>
                <a:latin typeface="Courier New" pitchFamily="34" charset="0"/>
                <a:ea typeface="Courier New" pitchFamily="34" charset="-122"/>
                <a:cs typeface="Courier New" pitchFamily="34" charset="-120"/>
              </a:rPr>
              <a:t> </a:t>
            </a:r>
            <a:endParaRPr lang="en-US" sz="1450" dirty="0"/>
          </a:p>
          <a:p>
            <a:pPr indent="0" marL="0">
              <a:lnSpc>
                <a:spcPct val="100000"/>
              </a:lnSpc>
              <a:buNone/>
            </a:pPr>
            <a:r>
              <a:rPr lang="en-US" sz="1450" dirty="0">
                <a:solidFill>
                  <a:srgbClr val="263238"/>
                </a:solidFill>
                <a:latin typeface="Courier New" pitchFamily="34" charset="0"/>
                <a:ea typeface="Courier New" pitchFamily="34" charset="-122"/>
                <a:cs typeface="Courier New" pitchFamily="34" charset="-120"/>
              </a:rPr>
              <a:t>hizalamalar = hizalayici.align("CATGCA", "CAGCA")</a:t>
            </a:r>
            <a:endParaRPr lang="en-US" sz="1450" dirty="0"/>
          </a:p>
          <a:p>
            <a:pPr indent="0" marL="0">
              <a:lnSpc>
                <a:spcPct val="100000"/>
              </a:lnSpc>
              <a:buNone/>
            </a:pPr>
            <a:r>
              <a:rPr lang="en-US" sz="1450" dirty="0">
                <a:solidFill>
                  <a:srgbClr val="263238"/>
                </a:solidFill>
                <a:latin typeface="Courier New" pitchFamily="34" charset="0"/>
                <a:ea typeface="Courier New" pitchFamily="34" charset="-122"/>
                <a:cs typeface="Courier New" pitchFamily="34" charset="-120"/>
              </a:rPr>
              <a:t>print("Skor:", hizalamalar.score,</a:t>
            </a:r>
            <a:endParaRPr lang="en-US" sz="1450" dirty="0"/>
          </a:p>
          <a:p>
            <a:pPr indent="0" marL="0">
              <a:lnSpc>
                <a:spcPct val="100000"/>
              </a:lnSpc>
              <a:buNone/>
            </a:pPr>
            <a:r>
              <a:rPr lang="en-US" sz="1450" dirty="0">
                <a:solidFill>
                  <a:srgbClr val="263238"/>
                </a:solidFill>
                <a:latin typeface="Courier New" pitchFamily="34" charset="0"/>
                <a:ea typeface="Courier New" pitchFamily="34" charset="-122"/>
                <a:cs typeface="Courier New" pitchFamily="34" charset="-120"/>
              </a:rPr>
              <a:t>      "| optimal sayısı:", len(hizalamalar))</a:t>
            </a:r>
            <a:endParaRPr lang="en-US" sz="1450" dirty="0"/>
          </a:p>
          <a:p>
            <a:pPr indent="0" marL="0">
              <a:lnSpc>
                <a:spcPct val="100000"/>
              </a:lnSpc>
              <a:buNone/>
            </a:pPr>
            <a:r>
              <a:rPr lang="en-US" sz="1450" dirty="0">
                <a:solidFill>
                  <a:srgbClr val="263238"/>
                </a:solidFill>
                <a:latin typeface="Courier New" pitchFamily="34" charset="0"/>
                <a:ea typeface="Courier New" pitchFamily="34" charset="-122"/>
                <a:cs typeface="Courier New" pitchFamily="34" charset="-120"/>
              </a:rPr>
              <a:t>print(hizalamalar[0])</a:t>
            </a:r>
            <a:endParaRPr lang="en-US" sz="1450" dirty="0"/>
          </a:p>
          <a:p>
            <a:pPr indent="0" marL="0">
              <a:lnSpc>
                <a:spcPct val="100000"/>
              </a:lnSpc>
              <a:buNone/>
            </a:pPr>
            <a:r>
              <a:rPr lang="en-US" sz="1450" dirty="0">
                <a:solidFill>
                  <a:srgbClr val="263238"/>
                </a:solidFill>
                <a:latin typeface="Courier New" pitchFamily="34" charset="0"/>
                <a:ea typeface="Courier New" pitchFamily="34" charset="-122"/>
                <a:cs typeface="Courier New" pitchFamily="34" charset="-120"/>
              </a:rPr>
              <a:t> </a:t>
            </a:r>
            <a:endParaRPr lang="en-US" sz="1450" dirty="0"/>
          </a:p>
          <a:p>
            <a:pPr indent="0" marL="0">
              <a:lnSpc>
                <a:spcPct val="100000"/>
              </a:lnSpc>
              <a:buNone/>
            </a:pPr>
            <a:r>
              <a:rPr lang="en-US" sz="1450" dirty="0">
                <a:solidFill>
                  <a:srgbClr val="263238"/>
                </a:solidFill>
                <a:latin typeface="Courier New" pitchFamily="34" charset="0"/>
                <a:ea typeface="Courier New" pitchFamily="34" charset="-122"/>
                <a:cs typeface="Courier New" pitchFamily="34" charset="-120"/>
              </a:rPr>
              <a:t># yalnızca skor (daha hızlı, O(n) bellek)</a:t>
            </a:r>
            <a:endParaRPr lang="en-US" sz="1450" dirty="0"/>
          </a:p>
          <a:p>
            <a:pPr indent="0" marL="0">
              <a:lnSpc>
                <a:spcPct val="100000"/>
              </a:lnSpc>
              <a:buNone/>
            </a:pPr>
            <a:r>
              <a:rPr lang="en-US" sz="1450" dirty="0">
                <a:solidFill>
                  <a:srgbClr val="263238"/>
                </a:solidFill>
                <a:latin typeface="Courier New" pitchFamily="34" charset="0"/>
                <a:ea typeface="Courier New" pitchFamily="34" charset="-122"/>
                <a:cs typeface="Courier New" pitchFamily="34" charset="-120"/>
              </a:rPr>
              <a:t>print(hizalayici.score("CATGCA", "CAGCA"))</a:t>
            </a:r>
            <a:endParaRPr lang="en-US" sz="1450" dirty="0"/>
          </a:p>
        </p:txBody>
      </p:sp>
      <p:sp>
        <p:nvSpPr>
          <p:cNvPr id="8" name="Text 6"/>
          <p:cNvSpPr txBox="1"/>
          <p:nvPr/>
        </p:nvSpPr>
        <p:spPr>
          <a:xfrm>
            <a:off x="7525329" y="1234440"/>
            <a:ext cx="4117726" cy="5029200"/>
          </a:xfrm>
          <a:prstGeom prst="rect">
            <a:avLst/>
          </a:prstGeom>
          <a:noFill/>
          <a:ln/>
        </p:spPr>
        <p:txBody>
          <a:bodyPr wrap="square" lIns="25400" tIns="25400" rIns="50800" bIns="25400" rtlCol="0" anchor="t"/>
          <a:lstStyle/>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a:t>
            </a:r>
            <a:r>
              <a:rPr lang="en-US" sz="1700" dirty="0">
                <a:solidFill>
                  <a:srgbClr val="455A64"/>
                </a:solidFill>
                <a:latin typeface="Courier New" pitchFamily="34" charset="0"/>
                <a:ea typeface="Courier New" pitchFamily="34" charset="-122"/>
                <a:cs typeface="Courier New" pitchFamily="34" charset="-120"/>
              </a:rPr>
              <a:t>align</a:t>
            </a:r>
            <a:r>
              <a:rPr lang="en-US" sz="1700" dirty="0">
                <a:solidFill>
                  <a:srgbClr val="212121"/>
                </a:solidFill>
                <a:latin typeface="Calibri" pitchFamily="34" charset="0"/>
                <a:ea typeface="Calibri" pitchFamily="34" charset="-122"/>
                <a:cs typeface="Calibri" pitchFamily="34" charset="-120"/>
              </a:rPr>
              <a:t> </a:t>
            </a:r>
            <a:r>
              <a:rPr lang="en-US" sz="1700" b="1" dirty="0">
                <a:solidFill>
                  <a:srgbClr val="212121"/>
                </a:solidFill>
                <a:latin typeface="Calibri" pitchFamily="34" charset="0"/>
                <a:ea typeface="Calibri" pitchFamily="34" charset="-122"/>
                <a:cs typeface="Calibri" pitchFamily="34" charset="-120"/>
              </a:rPr>
              <a:t>tüm</a:t>
            </a:r>
            <a:r>
              <a:rPr lang="en-US" sz="1700" dirty="0">
                <a:solidFill>
                  <a:srgbClr val="212121"/>
                </a:solidFill>
                <a:latin typeface="Calibri" pitchFamily="34" charset="0"/>
                <a:ea typeface="Calibri" pitchFamily="34" charset="-122"/>
                <a:cs typeface="Calibri" pitchFamily="34" charset="-120"/>
              </a:rPr>
              <a:t> optimal hizalamaları tembel (lazy) bir yineleyiciyle döndürür</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Orta satır: </a:t>
            </a:r>
            <a:r>
              <a:rPr lang="en-US" sz="1700" dirty="0">
                <a:solidFill>
                  <a:srgbClr val="455A64"/>
                </a:solidFill>
                <a:latin typeface="Courier New" pitchFamily="34" charset="0"/>
                <a:ea typeface="Courier New" pitchFamily="34" charset="-122"/>
                <a:cs typeface="Courier New" pitchFamily="34" charset="-120"/>
              </a:rPr>
              <a:t>|</a:t>
            </a:r>
            <a:r>
              <a:rPr lang="en-US" sz="1700" dirty="0">
                <a:solidFill>
                  <a:srgbClr val="212121"/>
                </a:solidFill>
                <a:latin typeface="Calibri" pitchFamily="34" charset="0"/>
                <a:ea typeface="Calibri" pitchFamily="34" charset="-122"/>
                <a:cs typeface="Calibri" pitchFamily="34" charset="-120"/>
              </a:rPr>
              <a:t> eşleşme, </a:t>
            </a:r>
            <a:r>
              <a:rPr lang="en-US" sz="1700" dirty="0">
                <a:solidFill>
                  <a:srgbClr val="455A64"/>
                </a:solidFill>
                <a:latin typeface="Courier New" pitchFamily="34" charset="0"/>
                <a:ea typeface="Courier New" pitchFamily="34" charset="-122"/>
                <a:cs typeface="Courier New" pitchFamily="34" charset="-120"/>
              </a:rPr>
              <a:t>.</a:t>
            </a:r>
            <a:r>
              <a:rPr lang="en-US" sz="1700" dirty="0">
                <a:solidFill>
                  <a:srgbClr val="212121"/>
                </a:solidFill>
                <a:latin typeface="Calibri" pitchFamily="34" charset="0"/>
                <a:ea typeface="Calibri" pitchFamily="34" charset="-122"/>
                <a:cs typeface="Calibri" pitchFamily="34" charset="-120"/>
              </a:rPr>
              <a:t> uyumsuzluk, </a:t>
            </a:r>
            <a:r>
              <a:rPr lang="en-US" sz="1700" dirty="0">
                <a:solidFill>
                  <a:srgbClr val="455A64"/>
                </a:solidFill>
                <a:latin typeface="Courier New" pitchFamily="34" charset="0"/>
                <a:ea typeface="Courier New" pitchFamily="34" charset="-122"/>
                <a:cs typeface="Courier New" pitchFamily="34" charset="-120"/>
              </a:rPr>
              <a:t>-</a:t>
            </a:r>
            <a:r>
              <a:rPr lang="en-US" sz="1700" dirty="0">
                <a:solidFill>
                  <a:srgbClr val="212121"/>
                </a:solidFill>
                <a:latin typeface="Calibri" pitchFamily="34" charset="0"/>
                <a:ea typeface="Calibri" pitchFamily="34" charset="-122"/>
                <a:cs typeface="Calibri" pitchFamily="34" charset="-120"/>
              </a:rPr>
              <a:t> boşluk</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a:t>
            </a:r>
            <a:r>
              <a:rPr lang="en-US" sz="1700" dirty="0">
                <a:solidFill>
                  <a:srgbClr val="455A64"/>
                </a:solidFill>
                <a:latin typeface="Courier New" pitchFamily="34" charset="0"/>
                <a:ea typeface="Courier New" pitchFamily="34" charset="-122"/>
                <a:cs typeface="Courier New" pitchFamily="34" charset="-120"/>
              </a:rPr>
              <a:t>target</a:t>
            </a:r>
            <a:r>
              <a:rPr lang="en-US" sz="1700" dirty="0">
                <a:solidFill>
                  <a:srgbClr val="212121"/>
                </a:solidFill>
                <a:latin typeface="Calibri" pitchFamily="34" charset="0"/>
                <a:ea typeface="Calibri" pitchFamily="34" charset="-122"/>
                <a:cs typeface="Calibri" pitchFamily="34" charset="-120"/>
              </a:rPr>
              <a:t> = ilk dizi, </a:t>
            </a:r>
            <a:r>
              <a:rPr lang="en-US" sz="1700" dirty="0">
                <a:solidFill>
                  <a:srgbClr val="455A64"/>
                </a:solidFill>
                <a:latin typeface="Courier New" pitchFamily="34" charset="0"/>
                <a:ea typeface="Courier New" pitchFamily="34" charset="-122"/>
                <a:cs typeface="Courier New" pitchFamily="34" charset="-120"/>
              </a:rPr>
              <a:t>query</a:t>
            </a:r>
            <a:r>
              <a:rPr lang="en-US" sz="1700" dirty="0">
                <a:solidFill>
                  <a:srgbClr val="212121"/>
                </a:solidFill>
                <a:latin typeface="Calibri" pitchFamily="34" charset="0"/>
                <a:ea typeface="Calibri" pitchFamily="34" charset="-122"/>
                <a:cs typeface="Calibri" pitchFamily="34" charset="-120"/>
              </a:rPr>
              <a:t> = ikinci dizi; sağdaki sayılar koordinat</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a:t>
            </a:r>
            <a:r>
              <a:rPr lang="en-US" sz="1700" dirty="0">
                <a:solidFill>
                  <a:srgbClr val="455A64"/>
                </a:solidFill>
                <a:latin typeface="Courier New" pitchFamily="34" charset="0"/>
                <a:ea typeface="Courier New" pitchFamily="34" charset="-122"/>
                <a:cs typeface="Courier New" pitchFamily="34" charset="-120"/>
              </a:rPr>
              <a:t>gap_score</a:t>
            </a:r>
            <a:r>
              <a:rPr lang="en-US" sz="1700" dirty="0">
                <a:solidFill>
                  <a:srgbClr val="212121"/>
                </a:solidFill>
                <a:latin typeface="Calibri" pitchFamily="34" charset="0"/>
                <a:ea typeface="Calibri" pitchFamily="34" charset="-122"/>
                <a:cs typeface="Calibri" pitchFamily="34" charset="-120"/>
              </a:rPr>
              <a:t> hem açma hem uzatma cezasını birlikte ayarlar (doğrusal)</a:t>
            </a:r>
            <a:endParaRPr lang="en-US" sz="1700" dirty="0"/>
          </a:p>
        </p:txBody>
      </p:sp>
      <p:sp>
        <p:nvSpPr>
          <p:cNvPr id="9" name="Text 7"/>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6: Global hizalama (NW)</a:t>
            </a:r>
            <a:endParaRPr lang="en-US" sz="900" dirty="0"/>
          </a:p>
        </p:txBody>
      </p:sp>
      <p:sp>
        <p:nvSpPr>
          <p:cNvPr id="10" name="Text 8"/>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Birden fazla optimal hizalama</a:t>
            </a:r>
            <a:endParaRPr lang="en-US" sz="3000" dirty="0"/>
          </a:p>
        </p:txBody>
      </p:sp>
      <p:sp>
        <p:nvSpPr>
          <p:cNvPr id="3" name="Text 1"/>
          <p:cNvSpPr txBox="1"/>
          <p:nvPr/>
        </p:nvSpPr>
        <p:spPr>
          <a:xfrm>
            <a:off x="548640" y="987552"/>
            <a:ext cx="11094415" cy="365760"/>
          </a:xfrm>
          <a:prstGeom prst="rect">
            <a:avLst/>
          </a:prstGeom>
          <a:noFill/>
          <a:ln/>
        </p:spPr>
        <p:txBody>
          <a:bodyPr wrap="square" lIns="0" tIns="0" rIns="0" bIns="0" rtlCol="0" anchor="t"/>
          <a:lstStyle/>
          <a:p>
            <a:pPr indent="0" marL="0">
              <a:buNone/>
            </a:pPr>
            <a:r>
              <a:rPr lang="en-US" sz="1500" i="1" dirty="0">
                <a:solidFill>
                  <a:srgbClr val="546E7A"/>
                </a:solidFill>
                <a:latin typeface="Calibri" pitchFamily="34" charset="0"/>
                <a:ea typeface="Calibri" pitchFamily="34" charset="-122"/>
                <a:cs typeface="Calibri" pitchFamily="34" charset="-120"/>
              </a:rPr>
              <a:t>Çözümlü örnek — GAATTC / GATTA</a:t>
            </a:r>
            <a:endParaRPr lang="en-US" sz="1500" dirty="0"/>
          </a:p>
        </p:txBody>
      </p:sp>
      <p:sp>
        <p:nvSpPr>
          <p:cNvPr id="4" name="Shape 2"/>
          <p:cNvSpPr/>
          <p:nvPr/>
        </p:nvSpPr>
        <p:spPr>
          <a:xfrm>
            <a:off x="548640" y="1463040"/>
            <a:ext cx="11094415" cy="795528"/>
          </a:xfrm>
          <a:prstGeom prst="roundRect">
            <a:avLst>
              <a:gd name="adj" fmla="val 9195"/>
            </a:avLst>
          </a:prstGeom>
          <a:solidFill>
            <a:srgbClr val="ECEFF1"/>
          </a:solidFill>
          <a:ln/>
        </p:spPr>
      </p:sp>
      <p:sp>
        <p:nvSpPr>
          <p:cNvPr id="5" name="Text 3"/>
          <p:cNvSpPr txBox="1"/>
          <p:nvPr/>
        </p:nvSpPr>
        <p:spPr>
          <a:xfrm>
            <a:off x="685800" y="1508760"/>
            <a:ext cx="10820095" cy="704088"/>
          </a:xfrm>
          <a:prstGeom prst="rect">
            <a:avLst/>
          </a:prstGeom>
          <a:noFill/>
          <a:ln/>
        </p:spPr>
        <p:txBody>
          <a:bodyPr wrap="square" lIns="0" tIns="0" rIns="0" bIns="0" rtlCol="0" anchor="ctr"/>
          <a:lstStyle/>
          <a:p>
            <a:pPr indent="0" marL="0">
              <a:buNone/>
            </a:pPr>
            <a:r>
              <a:rPr lang="en-US" sz="1800" b="1" dirty="0">
                <a:solidFill>
                  <a:srgbClr val="B71C1C"/>
                </a:solidFill>
                <a:latin typeface="Calibri" pitchFamily="34" charset="0"/>
                <a:ea typeface="Calibri" pitchFamily="34" charset="-122"/>
                <a:cs typeface="Calibri" pitchFamily="34" charset="-120"/>
              </a:rPr>
              <a:t>Soru  </a:t>
            </a:r>
            <a:r>
              <a:rPr lang="en-US" sz="1800" dirty="0">
                <a:solidFill>
                  <a:srgbClr val="212121"/>
                </a:solidFill>
                <a:latin typeface="Calibri" pitchFamily="34" charset="0"/>
                <a:ea typeface="Calibri" pitchFamily="34" charset="-122"/>
                <a:cs typeface="Calibri" pitchFamily="34" charset="-120"/>
              </a:rPr>
              <a:t>x = </a:t>
            </a:r>
            <a:r>
              <a:rPr lang="en-US" sz="1800" dirty="0">
                <a:solidFill>
                  <a:srgbClr val="455A64"/>
                </a:solidFill>
                <a:latin typeface="Courier New" pitchFamily="34" charset="0"/>
                <a:ea typeface="Courier New" pitchFamily="34" charset="-122"/>
                <a:cs typeface="Courier New" pitchFamily="34" charset="-120"/>
              </a:rPr>
              <a:t>GAATTC</a:t>
            </a:r>
            <a:r>
              <a:rPr lang="en-US" sz="1800" dirty="0">
                <a:solidFill>
                  <a:srgbClr val="212121"/>
                </a:solidFill>
                <a:latin typeface="Calibri" pitchFamily="34" charset="0"/>
                <a:ea typeface="Calibri" pitchFamily="34" charset="-122"/>
                <a:cs typeface="Calibri" pitchFamily="34" charset="-120"/>
              </a:rPr>
              <a:t>, y = </a:t>
            </a:r>
            <a:r>
              <a:rPr lang="en-US" sz="1800" dirty="0">
                <a:solidFill>
                  <a:srgbClr val="455A64"/>
                </a:solidFill>
                <a:latin typeface="Courier New" pitchFamily="34" charset="0"/>
                <a:ea typeface="Courier New" pitchFamily="34" charset="-122"/>
                <a:cs typeface="Courier New" pitchFamily="34" charset="-120"/>
              </a:rPr>
              <a:t>GATTA</a:t>
            </a:r>
            <a:r>
              <a:rPr lang="en-US" sz="1800" dirty="0">
                <a:solidFill>
                  <a:srgbClr val="212121"/>
                </a:solidFill>
                <a:latin typeface="Calibri" pitchFamily="34" charset="0"/>
                <a:ea typeface="Calibri" pitchFamily="34" charset="-122"/>
                <a:cs typeface="Calibri" pitchFamily="34" charset="-120"/>
              </a:rPr>
              <a:t> (+1 / −1 / −2). Matrisi doldurun, skoru bulun ve tüm optimal hizalamaları çıkarın.</a:t>
            </a:r>
            <a:endParaRPr lang="en-US" sz="1800" dirty="0"/>
          </a:p>
        </p:txBody>
      </p:sp>
      <p:sp>
        <p:nvSpPr>
          <p:cNvPr id="6" name="Text 4"/>
          <p:cNvSpPr txBox="1"/>
          <p:nvPr/>
        </p:nvSpPr>
        <p:spPr>
          <a:xfrm>
            <a:off x="548640" y="2487168"/>
            <a:ext cx="5547208" cy="2907792"/>
          </a:xfrm>
          <a:prstGeom prst="rect">
            <a:avLst/>
          </a:prstGeom>
          <a:noFill/>
          <a:ln/>
        </p:spPr>
        <p:txBody>
          <a:bodyPr wrap="square" lIns="25400" tIns="25400" rIns="50800" bIns="25400" rtlCol="0" anchor="t"/>
          <a:lstStyle/>
          <a:p>
            <a:pPr marL="342900" indent="-342900">
              <a:spcAft>
                <a:spcPts val="600"/>
              </a:spcAft>
              <a:buSzPct val="100000"/>
              <a:buFont typeface="+mj-lt"/>
              <a:buAutoNum type="arabicPeriod" startAt="1"/>
            </a:pPr>
            <a:r>
              <a:rPr lang="en-US" sz="1600" dirty="0">
                <a:solidFill>
                  <a:srgbClr val="212121"/>
                </a:solidFill>
                <a:latin typeface="Calibri" pitchFamily="34" charset="0"/>
                <a:ea typeface="Calibri" pitchFamily="34" charset="-122"/>
                <a:cs typeface="Calibri" pitchFamily="34" charset="-120"/>
              </a:rPr>
              <a:t>Son hücre F(6,5) = 1 [C/A]: çapraz F(5,4) − 1 = 2 − 1 = </a:t>
            </a:r>
            <a:r>
              <a:rPr lang="en-US" sz="1600" b="1" dirty="0">
                <a:solidFill>
                  <a:srgbClr val="212121"/>
                </a:solidFill>
                <a:latin typeface="Calibri" pitchFamily="34" charset="0"/>
                <a:ea typeface="Calibri" pitchFamily="34" charset="-122"/>
                <a:cs typeface="Calibri" pitchFamily="34" charset="-120"/>
              </a:rPr>
              <a:t>1</a:t>
            </a:r>
            <a:endParaRPr lang="en-US" sz="1600" dirty="0"/>
          </a:p>
          <a:p>
            <a:pPr marL="342900" indent="-342900">
              <a:spcAft>
                <a:spcPts val="600"/>
              </a:spcAft>
              <a:buSzPct val="100000"/>
              <a:buFont typeface="+mj-lt"/>
              <a:buAutoNum type="arabicPeriod" startAt="1"/>
            </a:pPr>
            <a:r>
              <a:rPr lang="en-US" sz="1600" dirty="0">
                <a:solidFill>
                  <a:srgbClr val="212121"/>
                </a:solidFill>
                <a:latin typeface="Calibri" pitchFamily="34" charset="0"/>
                <a:ea typeface="Calibri" pitchFamily="34" charset="-122"/>
                <a:cs typeface="Calibri" pitchFamily="34" charset="-120"/>
              </a:rPr>
              <a:t>Geri: (5,4) = 2 ↖ T/T, (4,3) = 1 ↖ T/T, (3,2) = 0 [A/A]</a:t>
            </a:r>
            <a:endParaRPr lang="en-US" sz="1600" dirty="0"/>
          </a:p>
          <a:p>
            <a:pPr marL="342900" indent="-342900">
              <a:spcAft>
                <a:spcPts val="600"/>
              </a:spcAft>
              <a:buSzPct val="100000"/>
              <a:buFont typeface="+mj-lt"/>
              <a:buAutoNum type="arabicPeriod" startAt="1"/>
            </a:pPr>
            <a:r>
              <a:rPr lang="en-US" sz="1600" dirty="0">
                <a:solidFill>
                  <a:srgbClr val="212121"/>
                </a:solidFill>
                <a:latin typeface="Calibri" pitchFamily="34" charset="0"/>
                <a:ea typeface="Calibri" pitchFamily="34" charset="-122"/>
                <a:cs typeface="Calibri" pitchFamily="34" charset="-120"/>
              </a:rPr>
              <a:t>F(3,2): çapraz F(2,1) + 1 = −1 + 1 = </a:t>
            </a:r>
            <a:r>
              <a:rPr lang="en-US" sz="1600" b="1" dirty="0">
                <a:solidFill>
                  <a:srgbClr val="212121"/>
                </a:solidFill>
                <a:latin typeface="Calibri" pitchFamily="34" charset="0"/>
                <a:ea typeface="Calibri" pitchFamily="34" charset="-122"/>
                <a:cs typeface="Calibri" pitchFamily="34" charset="-120"/>
              </a:rPr>
              <a:t>0</a:t>
            </a:r>
            <a:r>
              <a:rPr lang="en-US" sz="1600" dirty="0">
                <a:solidFill>
                  <a:srgbClr val="212121"/>
                </a:solidFill>
                <a:latin typeface="Calibri" pitchFamily="34" charset="0"/>
                <a:ea typeface="Calibri" pitchFamily="34" charset="-122"/>
                <a:cs typeface="Calibri" pitchFamily="34" charset="-120"/>
              </a:rPr>
              <a:t>; yukarı F(2,2) − 2 = 2 − 2 = </a:t>
            </a:r>
            <a:r>
              <a:rPr lang="en-US" sz="1600" b="1" dirty="0">
                <a:solidFill>
                  <a:srgbClr val="212121"/>
                </a:solidFill>
                <a:latin typeface="Calibri" pitchFamily="34" charset="0"/>
                <a:ea typeface="Calibri" pitchFamily="34" charset="-122"/>
                <a:cs typeface="Calibri" pitchFamily="34" charset="-120"/>
              </a:rPr>
              <a:t>0</a:t>
            </a:r>
            <a:r>
              <a:rPr lang="en-US" sz="1600" dirty="0">
                <a:solidFill>
                  <a:srgbClr val="212121"/>
                </a:solidFill>
                <a:latin typeface="Calibri" pitchFamily="34" charset="0"/>
                <a:ea typeface="Calibri" pitchFamily="34" charset="-122"/>
                <a:cs typeface="Calibri" pitchFamily="34" charset="-120"/>
              </a:rPr>
              <a:t> → </a:t>
            </a:r>
            <a:r>
              <a:rPr lang="en-US" sz="1600" b="1" dirty="0">
                <a:solidFill>
                  <a:srgbClr val="212121"/>
                </a:solidFill>
                <a:latin typeface="Calibri" pitchFamily="34" charset="0"/>
                <a:ea typeface="Calibri" pitchFamily="34" charset="-122"/>
                <a:cs typeface="Calibri" pitchFamily="34" charset="-120"/>
              </a:rPr>
              <a:t>eşitlik!</a:t>
            </a:r>
            <a:endParaRPr lang="en-US" sz="1600" dirty="0"/>
          </a:p>
          <a:p>
            <a:pPr marL="342900" indent="-342900">
              <a:spcAft>
                <a:spcPts val="600"/>
              </a:spcAft>
              <a:buSzPct val="100000"/>
              <a:buFont typeface="+mj-lt"/>
              <a:buAutoNum type="arabicPeriod" startAt="1"/>
            </a:pPr>
            <a:r>
              <a:rPr lang="en-US" sz="1600" dirty="0">
                <a:solidFill>
                  <a:srgbClr val="212121"/>
                </a:solidFill>
                <a:latin typeface="Calibri" pitchFamily="34" charset="0"/>
                <a:ea typeface="Calibri" pitchFamily="34" charset="-122"/>
                <a:cs typeface="Calibri" pitchFamily="34" charset="-120"/>
              </a:rPr>
              <a:t>Yol 1 (↑): (2,2) = 2 ↖ A/A, (1,1) ↖ G/G → </a:t>
            </a:r>
            <a:r>
              <a:rPr lang="en-US" sz="1600" dirty="0">
                <a:solidFill>
                  <a:srgbClr val="455A64"/>
                </a:solidFill>
                <a:latin typeface="Courier New" pitchFamily="34" charset="0"/>
                <a:ea typeface="Courier New" pitchFamily="34" charset="-122"/>
                <a:cs typeface="Courier New" pitchFamily="34" charset="-120"/>
              </a:rPr>
              <a:t>GA-TTA</a:t>
            </a:r>
            <a:endParaRPr lang="en-US" sz="1600" dirty="0"/>
          </a:p>
          <a:p>
            <a:pPr marL="342900" indent="-342900">
              <a:spcAft>
                <a:spcPts val="600"/>
              </a:spcAft>
              <a:buSzPct val="100000"/>
              <a:buFont typeface="+mj-lt"/>
              <a:buAutoNum type="arabicPeriod" startAt="1"/>
            </a:pPr>
            <a:r>
              <a:rPr lang="en-US" sz="1600" dirty="0">
                <a:solidFill>
                  <a:srgbClr val="212121"/>
                </a:solidFill>
                <a:latin typeface="Calibri" pitchFamily="34" charset="0"/>
                <a:ea typeface="Calibri" pitchFamily="34" charset="-122"/>
                <a:cs typeface="Calibri" pitchFamily="34" charset="-120"/>
              </a:rPr>
              <a:t>Yol 2 (↖): (2,1) = −1 ↑ A/−, (1,1) ↖ G/G → </a:t>
            </a:r>
            <a:r>
              <a:rPr lang="en-US" sz="1600" dirty="0">
                <a:solidFill>
                  <a:srgbClr val="455A64"/>
                </a:solidFill>
                <a:latin typeface="Courier New" pitchFamily="34" charset="0"/>
                <a:ea typeface="Courier New" pitchFamily="34" charset="-122"/>
                <a:cs typeface="Courier New" pitchFamily="34" charset="-120"/>
              </a:rPr>
              <a:t>G-ATTA</a:t>
            </a:r>
            <a:endParaRPr lang="en-US" sz="1600" dirty="0"/>
          </a:p>
          <a:p>
            <a:pPr marL="342900" indent="-342900">
              <a:spcAft>
                <a:spcPts val="600"/>
              </a:spcAft>
              <a:buSzPct val="100000"/>
              <a:buFont typeface="+mj-lt"/>
              <a:buAutoNum type="arabicPeriod" startAt="1"/>
            </a:pPr>
            <a:r>
              <a:rPr lang="en-US" sz="1600" dirty="0">
                <a:solidFill>
                  <a:srgbClr val="212121"/>
                </a:solidFill>
                <a:latin typeface="Calibri" pitchFamily="34" charset="0"/>
                <a:ea typeface="Calibri" pitchFamily="34" charset="-122"/>
                <a:cs typeface="Calibri" pitchFamily="34" charset="-120"/>
              </a:rPr>
              <a:t>Her ikisi: 4 eşleşme + 1 uyumsuzluk + 1 boşluk = 4 − 1 − 2 = </a:t>
            </a:r>
            <a:r>
              <a:rPr lang="en-US" sz="1600" b="1" dirty="0">
                <a:solidFill>
                  <a:srgbClr val="212121"/>
                </a:solidFill>
                <a:latin typeface="Calibri" pitchFamily="34" charset="0"/>
                <a:ea typeface="Calibri" pitchFamily="34" charset="-122"/>
                <a:cs typeface="Calibri" pitchFamily="34" charset="-120"/>
              </a:rPr>
              <a:t>1</a:t>
            </a:r>
            <a:endParaRPr lang="en-US" sz="16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6415888" y="2487168"/>
          <a:ext cx="5227168" cy="914400"/>
        </p:xfrm>
        <a:graphic>
          <a:graphicData uri="http://schemas.openxmlformats.org/drawingml/2006/table">
            <a:tbl>
              <a:tblPr/>
              <a:tblGrid>
                <a:gridCol w="746738"/>
                <a:gridCol w="746738"/>
                <a:gridCol w="746738"/>
                <a:gridCol w="746738"/>
                <a:gridCol w="746738"/>
                <a:gridCol w="746738"/>
                <a:gridCol w="746738"/>
              </a:tblGrid>
              <a:tr h="0">
                <a:tc>
                  <a:txBody>
                    <a:bodyPr/>
                    <a:lstStyle/>
                    <a:p>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G</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A</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A</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−6</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−8</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G</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−5</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−7</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A</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A</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−6</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−8</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−5</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−7</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C</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−12</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−9</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−6</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bl>
          </a:graphicData>
        </a:graphic>
      </p:graphicFrame>
      <p:sp>
        <p:nvSpPr>
          <p:cNvPr id="8" name="Shape 5"/>
          <p:cNvSpPr/>
          <p:nvPr/>
        </p:nvSpPr>
        <p:spPr>
          <a:xfrm>
            <a:off x="548640" y="5577840"/>
            <a:ext cx="11094415" cy="685800"/>
          </a:xfrm>
          <a:prstGeom prst="roundRect">
            <a:avLst>
              <a:gd name="adj" fmla="val 10667"/>
            </a:avLst>
          </a:prstGeom>
          <a:solidFill>
            <a:srgbClr val="FDECEA"/>
          </a:solidFill>
          <a:ln/>
        </p:spPr>
      </p:sp>
      <p:sp>
        <p:nvSpPr>
          <p:cNvPr id="9" name="Text 6"/>
          <p:cNvSpPr txBox="1"/>
          <p:nvPr/>
        </p:nvSpPr>
        <p:spPr>
          <a:xfrm>
            <a:off x="685800" y="5577840"/>
            <a:ext cx="10820095" cy="685800"/>
          </a:xfrm>
          <a:prstGeom prst="rect">
            <a:avLst/>
          </a:prstGeom>
          <a:noFill/>
          <a:ln/>
        </p:spPr>
        <p:txBody>
          <a:bodyPr wrap="square" lIns="0" tIns="0" rIns="0" bIns="0" rtlCol="0" anchor="ctr"/>
          <a:lstStyle/>
          <a:p>
            <a:pPr indent="0" marL="0">
              <a:buNone/>
            </a:pPr>
            <a:r>
              <a:rPr lang="en-US" sz="1700" b="1" dirty="0">
                <a:solidFill>
                  <a:srgbClr val="B71C1C"/>
                </a:solidFill>
                <a:latin typeface="Calibri" pitchFamily="34" charset="0"/>
                <a:ea typeface="Calibri" pitchFamily="34" charset="-122"/>
                <a:cs typeface="Calibri" pitchFamily="34" charset="-120"/>
              </a:rPr>
              <a:t>Sonuç  </a:t>
            </a:r>
            <a:r>
              <a:rPr lang="en-US" sz="1700" dirty="0">
                <a:solidFill>
                  <a:srgbClr val="212121"/>
                </a:solidFill>
                <a:latin typeface="Calibri" pitchFamily="34" charset="0"/>
                <a:ea typeface="Calibri" pitchFamily="34" charset="-122"/>
                <a:cs typeface="Calibri" pitchFamily="34" charset="-120"/>
              </a:rPr>
              <a:t>Skor </a:t>
            </a:r>
            <a:r>
              <a:rPr lang="en-US" sz="1700" b="1" dirty="0">
                <a:solidFill>
                  <a:srgbClr val="212121"/>
                </a:solidFill>
                <a:latin typeface="Calibri" pitchFamily="34" charset="0"/>
                <a:ea typeface="Calibri" pitchFamily="34" charset="-122"/>
                <a:cs typeface="Calibri" pitchFamily="34" charset="-120"/>
              </a:rPr>
              <a:t>1</a:t>
            </a:r>
            <a:r>
              <a:rPr lang="en-US" sz="1700" dirty="0">
                <a:solidFill>
                  <a:srgbClr val="212121"/>
                </a:solidFill>
                <a:latin typeface="Calibri" pitchFamily="34" charset="0"/>
                <a:ea typeface="Calibri" pitchFamily="34" charset="-122"/>
                <a:cs typeface="Calibri" pitchFamily="34" charset="-120"/>
              </a:rPr>
              <a:t>, iki optimal hizalama: </a:t>
            </a:r>
            <a:r>
              <a:rPr lang="en-US" sz="1700" dirty="0">
                <a:solidFill>
                  <a:srgbClr val="455A64"/>
                </a:solidFill>
                <a:latin typeface="Courier New" pitchFamily="34" charset="0"/>
                <a:ea typeface="Courier New" pitchFamily="34" charset="-122"/>
                <a:cs typeface="Courier New" pitchFamily="34" charset="-120"/>
              </a:rPr>
              <a:t>GAATTC/GA-TTA</a:t>
            </a:r>
            <a:r>
              <a:rPr lang="en-US" sz="1700" dirty="0">
                <a:solidFill>
                  <a:srgbClr val="212121"/>
                </a:solidFill>
                <a:latin typeface="Calibri" pitchFamily="34" charset="0"/>
                <a:ea typeface="Calibri" pitchFamily="34" charset="-122"/>
                <a:cs typeface="Calibri" pitchFamily="34" charset="-120"/>
              </a:rPr>
              <a:t> ve </a:t>
            </a:r>
            <a:r>
              <a:rPr lang="en-US" sz="1700" dirty="0">
                <a:solidFill>
                  <a:srgbClr val="455A64"/>
                </a:solidFill>
                <a:latin typeface="Courier New" pitchFamily="34" charset="0"/>
                <a:ea typeface="Courier New" pitchFamily="34" charset="-122"/>
                <a:cs typeface="Courier New" pitchFamily="34" charset="-120"/>
              </a:rPr>
              <a:t>GAATTC/G-ATTA</a:t>
            </a:r>
            <a:r>
              <a:rPr lang="en-US" sz="1700" dirty="0">
                <a:solidFill>
                  <a:srgbClr val="212121"/>
                </a:solidFill>
                <a:latin typeface="Calibri" pitchFamily="34" charset="0"/>
                <a:ea typeface="Calibri" pitchFamily="34" charset="-122"/>
                <a:cs typeface="Calibri" pitchFamily="34" charset="-120"/>
              </a:rPr>
              <a:t>. Biyolojik olarak ayırt edilemezler: hangi A'nın silindiği bilinemez.</a:t>
            </a:r>
            <a:endParaRPr lang="en-US" sz="1700" dirty="0"/>
          </a:p>
        </p:txBody>
      </p:sp>
      <p:sp>
        <p:nvSpPr>
          <p:cNvPr id="10" name="Text 7"/>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6: Global hizalama (NW)</a:t>
            </a:r>
            <a:endParaRPr lang="en-US" sz="900" dirty="0"/>
          </a:p>
        </p:txBody>
      </p:sp>
      <p:sp>
        <p:nvSpPr>
          <p:cNvPr id="11" name="Text 8"/>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Ok matrisi: eşitlik yolu ikiye böler</a:t>
            </a:r>
            <a:endParaRPr lang="en-US" sz="3000" dirty="0"/>
          </a:p>
        </p:txBody>
      </p:sp>
      <p:pic>
        <p:nvPicPr>
          <p:cNvPr id="3" name="Image 0" descr="p06_nw_oklar.png">    </p:cNvPr>
          <p:cNvPicPr>
            <a:picLocks noChangeAspect="1"/>
          </p:cNvPicPr>
          <p:nvPr/>
        </p:nvPicPr>
        <p:blipFill>
          <a:blip r:embed="rId1"/>
          <a:stretch>
            <a:fillRect/>
          </a:stretch>
        </p:blipFill>
        <p:spPr>
          <a:xfrm>
            <a:off x="702585" y="1234440"/>
            <a:ext cx="4684597" cy="5029200"/>
          </a:xfrm>
          <a:prstGeom prst="rect">
            <a:avLst/>
          </a:prstGeom>
        </p:spPr>
      </p:pic>
      <p:sp>
        <p:nvSpPr>
          <p:cNvPr id="4" name="Text 1"/>
          <p:cNvSpPr txBox="1"/>
          <p:nvPr/>
        </p:nvSpPr>
        <p:spPr>
          <a:xfrm>
            <a:off x="5861167" y="1234440"/>
            <a:ext cx="5781888" cy="5029200"/>
          </a:xfrm>
          <a:prstGeom prst="rect">
            <a:avLst/>
          </a:prstGeom>
          <a:noFill/>
          <a:ln/>
        </p:spPr>
        <p:txBody>
          <a:bodyPr wrap="square" lIns="25400" tIns="25400" rIns="50800" bIns="25400" rtlCol="0" anchor="t"/>
          <a:lstStyle/>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Gri oklar: her hücrenin maksimumu </a:t>
            </a:r>
            <a:r>
              <a:rPr lang="en-US" sz="1700" b="1" dirty="0">
                <a:solidFill>
                  <a:srgbClr val="212121"/>
                </a:solidFill>
                <a:latin typeface="Calibri" pitchFamily="34" charset="0"/>
                <a:ea typeface="Calibri" pitchFamily="34" charset="-122"/>
                <a:cs typeface="Calibri" pitchFamily="34" charset="-120"/>
              </a:rPr>
              <a:t>üreten</a:t>
            </a:r>
            <a:r>
              <a:rPr lang="en-US" sz="1700" dirty="0">
                <a:solidFill>
                  <a:srgbClr val="212121"/>
                </a:solidFill>
                <a:latin typeface="Calibri" pitchFamily="34" charset="0"/>
                <a:ea typeface="Calibri" pitchFamily="34" charset="-122"/>
                <a:cs typeface="Calibri" pitchFamily="34" charset="-120"/>
              </a:rPr>
              <a:t> tüm komşuları</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Bir hücrede birden çok ok = eşitlik</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(3,2) hücresinden iki kırmızı ok → </a:t>
            </a:r>
            <a:r>
              <a:rPr lang="en-US" sz="1700" b="1" dirty="0">
                <a:solidFill>
                  <a:srgbClr val="212121"/>
                </a:solidFill>
                <a:latin typeface="Calibri" pitchFamily="34" charset="0"/>
                <a:ea typeface="Calibri" pitchFamily="34" charset="-122"/>
                <a:cs typeface="Calibri" pitchFamily="34" charset="-120"/>
              </a:rPr>
              <a:t>iki optimal yol</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Optimal hizalama sayısı = (m,n)'den (0,0)'a giden kırmızı yol sayısı; DP ile sayılabilir</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Tek ok saklayan kod (</a:t>
            </a:r>
            <a:r>
              <a:rPr lang="en-US" sz="1700" dirty="0">
                <a:solidFill>
                  <a:srgbClr val="455A64"/>
                </a:solidFill>
                <a:latin typeface="Courier New" pitchFamily="34" charset="0"/>
                <a:ea typeface="Courier New" pitchFamily="34" charset="-122"/>
                <a:cs typeface="Courier New" pitchFamily="34" charset="-120"/>
              </a:rPr>
              <a:t>argmax</a:t>
            </a:r>
            <a:r>
              <a:rPr lang="en-US" sz="1700" dirty="0">
                <a:solidFill>
                  <a:srgbClr val="212121"/>
                </a:solidFill>
                <a:latin typeface="Calibri" pitchFamily="34" charset="0"/>
                <a:ea typeface="Calibri" pitchFamily="34" charset="-122"/>
                <a:cs typeface="Calibri" pitchFamily="34" charset="-120"/>
              </a:rPr>
              <a:t>) yalnızca </a:t>
            </a:r>
            <a:r>
              <a:rPr lang="en-US" sz="1700" b="1" dirty="0">
                <a:solidFill>
                  <a:srgbClr val="212121"/>
                </a:solidFill>
                <a:latin typeface="Calibri" pitchFamily="34" charset="0"/>
                <a:ea typeface="Calibri" pitchFamily="34" charset="-122"/>
                <a:cs typeface="Calibri" pitchFamily="34" charset="-120"/>
              </a:rPr>
              <a:t>birini</a:t>
            </a:r>
            <a:r>
              <a:rPr lang="en-US" sz="1700" dirty="0">
                <a:solidFill>
                  <a:srgbClr val="212121"/>
                </a:solidFill>
                <a:latin typeface="Calibri" pitchFamily="34" charset="0"/>
                <a:ea typeface="Calibri" pitchFamily="34" charset="-122"/>
                <a:cs typeface="Calibri" pitchFamily="34" charset="-120"/>
              </a:rPr>
              <a:t> bulur</a:t>
            </a:r>
            <a:endParaRPr lang="en-US" sz="1700" dirty="0"/>
          </a:p>
        </p:txBody>
      </p:sp>
      <p:sp>
        <p:nvSpPr>
          <p:cNvPr id="5" name="Text 2"/>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6: Global hizalama (NW)</a:t>
            </a:r>
            <a:endParaRPr lang="en-US" sz="900" dirty="0"/>
          </a:p>
        </p:txBody>
      </p:sp>
      <p:sp>
        <p:nvSpPr>
          <p:cNvPr id="6" name="Text 3"/>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Boşluk cezası eşiği</a:t>
            </a:r>
            <a:endParaRPr lang="en-US" sz="3000" dirty="0"/>
          </a:p>
        </p:txBody>
      </p:sp>
      <p:sp>
        <p:nvSpPr>
          <p:cNvPr id="3" name="Text 1"/>
          <p:cNvSpPr txBox="1"/>
          <p:nvPr/>
        </p:nvSpPr>
        <p:spPr>
          <a:xfrm>
            <a:off x="548640" y="987552"/>
            <a:ext cx="11094415" cy="365760"/>
          </a:xfrm>
          <a:prstGeom prst="rect">
            <a:avLst/>
          </a:prstGeom>
          <a:noFill/>
          <a:ln/>
        </p:spPr>
        <p:txBody>
          <a:bodyPr wrap="square" lIns="0" tIns="0" rIns="0" bIns="0" rtlCol="0" anchor="t"/>
          <a:lstStyle/>
          <a:p>
            <a:pPr indent="0" marL="0">
              <a:buNone/>
            </a:pPr>
            <a:r>
              <a:rPr lang="en-US" sz="1500" i="1" dirty="0">
                <a:solidFill>
                  <a:srgbClr val="546E7A"/>
                </a:solidFill>
                <a:latin typeface="Calibri" pitchFamily="34" charset="0"/>
                <a:ea typeface="Calibri" pitchFamily="34" charset="-122"/>
                <a:cs typeface="Calibri" pitchFamily="34" charset="-120"/>
              </a:rPr>
              <a:t>Çözümlü örnek — AAAGCTTT / AAACGTTT</a:t>
            </a:r>
            <a:endParaRPr lang="en-US" sz="1500" dirty="0"/>
          </a:p>
        </p:txBody>
      </p:sp>
      <p:sp>
        <p:nvSpPr>
          <p:cNvPr id="4" name="Shape 2"/>
          <p:cNvSpPr/>
          <p:nvPr/>
        </p:nvSpPr>
        <p:spPr>
          <a:xfrm>
            <a:off x="548640" y="1463040"/>
            <a:ext cx="11094415" cy="1088136"/>
          </a:xfrm>
          <a:prstGeom prst="roundRect">
            <a:avLst>
              <a:gd name="adj" fmla="val 6723"/>
            </a:avLst>
          </a:prstGeom>
          <a:solidFill>
            <a:srgbClr val="ECEFF1"/>
          </a:solidFill>
          <a:ln/>
        </p:spPr>
      </p:sp>
      <p:sp>
        <p:nvSpPr>
          <p:cNvPr id="5" name="Text 3"/>
          <p:cNvSpPr txBox="1"/>
          <p:nvPr/>
        </p:nvSpPr>
        <p:spPr>
          <a:xfrm>
            <a:off x="685800" y="1508760"/>
            <a:ext cx="10820095" cy="996696"/>
          </a:xfrm>
          <a:prstGeom prst="rect">
            <a:avLst/>
          </a:prstGeom>
          <a:noFill/>
          <a:ln/>
        </p:spPr>
        <p:txBody>
          <a:bodyPr wrap="square" lIns="0" tIns="0" rIns="0" bIns="0" rtlCol="0" anchor="ctr"/>
          <a:lstStyle/>
          <a:p>
            <a:pPr indent="0" marL="0">
              <a:buNone/>
            </a:pPr>
            <a:r>
              <a:rPr lang="en-US" sz="1800" b="1" dirty="0">
                <a:solidFill>
                  <a:srgbClr val="B71C1C"/>
                </a:solidFill>
                <a:latin typeface="Calibri" pitchFamily="34" charset="0"/>
                <a:ea typeface="Calibri" pitchFamily="34" charset="-122"/>
                <a:cs typeface="Calibri" pitchFamily="34" charset="-120"/>
              </a:rPr>
              <a:t>Soru  </a:t>
            </a:r>
            <a:r>
              <a:rPr lang="en-US" sz="1800" dirty="0">
                <a:solidFill>
                  <a:srgbClr val="212121"/>
                </a:solidFill>
                <a:latin typeface="Calibri" pitchFamily="34" charset="0"/>
                <a:ea typeface="Calibri" pitchFamily="34" charset="-122"/>
                <a:cs typeface="Calibri" pitchFamily="34" charset="-120"/>
              </a:rPr>
              <a:t>İki aday: (a) boşluksuz, 2 uyumsuzluk; (b) 2 boşluk, 0 uyumsuzluk. Eşleşme +1, uyumsuzluk −1. Hangi g değerlerinde (b) tercih edilir?</a:t>
            </a:r>
            <a:endParaRPr lang="en-US" sz="1800" dirty="0"/>
          </a:p>
        </p:txBody>
      </p:sp>
      <p:sp>
        <p:nvSpPr>
          <p:cNvPr id="6" name="Text 4"/>
          <p:cNvSpPr txBox="1"/>
          <p:nvPr/>
        </p:nvSpPr>
        <p:spPr>
          <a:xfrm>
            <a:off x="548640" y="2779776"/>
            <a:ext cx="5547208" cy="2615184"/>
          </a:xfrm>
          <a:prstGeom prst="rect">
            <a:avLst/>
          </a:prstGeom>
          <a:noFill/>
          <a:ln/>
        </p:spPr>
        <p:txBody>
          <a:bodyPr wrap="square" lIns="25400" tIns="25400" rIns="50800" bIns="25400" rtlCol="0" anchor="t"/>
          <a:lstStyle/>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(a) </a:t>
            </a:r>
            <a:r>
              <a:rPr lang="en-US" sz="1800" dirty="0">
                <a:solidFill>
                  <a:srgbClr val="455A64"/>
                </a:solidFill>
                <a:latin typeface="Courier New" pitchFamily="34" charset="0"/>
                <a:ea typeface="Courier New" pitchFamily="34" charset="-122"/>
                <a:cs typeface="Courier New" pitchFamily="34" charset="-120"/>
              </a:rPr>
              <a:t>AAAGCTTT</a:t>
            </a:r>
            <a:r>
              <a:rPr lang="en-US" sz="1800" dirty="0">
                <a:solidFill>
                  <a:srgbClr val="212121"/>
                </a:solidFill>
                <a:latin typeface="Calibri" pitchFamily="34" charset="0"/>
                <a:ea typeface="Calibri" pitchFamily="34" charset="-122"/>
                <a:cs typeface="Calibri" pitchFamily="34" charset="-120"/>
              </a:rPr>
              <a:t>/</a:t>
            </a:r>
            <a:r>
              <a:rPr lang="en-US" sz="1800" dirty="0">
                <a:solidFill>
                  <a:srgbClr val="455A64"/>
                </a:solidFill>
                <a:latin typeface="Courier New" pitchFamily="34" charset="0"/>
                <a:ea typeface="Courier New" pitchFamily="34" charset="-122"/>
                <a:cs typeface="Courier New" pitchFamily="34" charset="-120"/>
              </a:rPr>
              <a:t>AAACGTTT</a:t>
            </a:r>
            <a:r>
              <a:rPr lang="en-US" sz="1800" dirty="0">
                <a:solidFill>
                  <a:srgbClr val="212121"/>
                </a:solidFill>
                <a:latin typeface="Calibri" pitchFamily="34" charset="0"/>
                <a:ea typeface="Calibri" pitchFamily="34" charset="-122"/>
                <a:cs typeface="Calibri" pitchFamily="34" charset="-120"/>
              </a:rPr>
              <a:t>: 6 eşleşme, 2 uyumsuzluk → 6 − 2 = </a:t>
            </a:r>
            <a:r>
              <a:rPr lang="en-US" sz="1800" b="1" dirty="0">
                <a:solidFill>
                  <a:srgbClr val="212121"/>
                </a:solidFill>
                <a:latin typeface="Calibri" pitchFamily="34" charset="0"/>
                <a:ea typeface="Calibri" pitchFamily="34" charset="-122"/>
                <a:cs typeface="Calibri" pitchFamily="34" charset="-120"/>
              </a:rPr>
              <a:t>4</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(b) </a:t>
            </a:r>
            <a:r>
              <a:rPr lang="en-US" sz="1800" dirty="0">
                <a:solidFill>
                  <a:srgbClr val="455A64"/>
                </a:solidFill>
                <a:latin typeface="Courier New" pitchFamily="34" charset="0"/>
                <a:ea typeface="Courier New" pitchFamily="34" charset="-122"/>
                <a:cs typeface="Courier New" pitchFamily="34" charset="-120"/>
              </a:rPr>
              <a:t>AAAGC-TTT</a:t>
            </a:r>
            <a:r>
              <a:rPr lang="en-US" sz="1800" dirty="0">
                <a:solidFill>
                  <a:srgbClr val="212121"/>
                </a:solidFill>
                <a:latin typeface="Calibri" pitchFamily="34" charset="0"/>
                <a:ea typeface="Calibri" pitchFamily="34" charset="-122"/>
                <a:cs typeface="Calibri" pitchFamily="34" charset="-120"/>
              </a:rPr>
              <a:t>/</a:t>
            </a:r>
            <a:r>
              <a:rPr lang="en-US" sz="1800" dirty="0">
                <a:solidFill>
                  <a:srgbClr val="455A64"/>
                </a:solidFill>
                <a:latin typeface="Courier New" pitchFamily="34" charset="0"/>
                <a:ea typeface="Courier New" pitchFamily="34" charset="-122"/>
                <a:cs typeface="Courier New" pitchFamily="34" charset="-120"/>
              </a:rPr>
              <a:t>AAA-CGTTT</a:t>
            </a:r>
            <a:r>
              <a:rPr lang="en-US" sz="1800" dirty="0">
                <a:solidFill>
                  <a:srgbClr val="212121"/>
                </a:solidFill>
                <a:latin typeface="Calibri" pitchFamily="34" charset="0"/>
                <a:ea typeface="Calibri" pitchFamily="34" charset="-122"/>
                <a:cs typeface="Calibri" pitchFamily="34" charset="-120"/>
              </a:rPr>
              <a:t>: 7 eşleşme, 2 boşluk → </a:t>
            </a:r>
            <a:r>
              <a:rPr lang="en-US" sz="1800" b="1" dirty="0">
                <a:solidFill>
                  <a:srgbClr val="212121"/>
                </a:solidFill>
                <a:latin typeface="Calibri" pitchFamily="34" charset="0"/>
                <a:ea typeface="Calibri" pitchFamily="34" charset="-122"/>
                <a:cs typeface="Calibri" pitchFamily="34" charset="-120"/>
              </a:rPr>
              <a:t>7 + 2g</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(b) &gt; (a) ⇔ 7 + 2g &gt; 4 ⇔ </a:t>
            </a:r>
            <a:r>
              <a:rPr lang="en-US" sz="1800" b="1" dirty="0">
                <a:solidFill>
                  <a:srgbClr val="212121"/>
                </a:solidFill>
                <a:latin typeface="Calibri" pitchFamily="34" charset="0"/>
                <a:ea typeface="Calibri" pitchFamily="34" charset="-122"/>
                <a:cs typeface="Calibri" pitchFamily="34" charset="-120"/>
              </a:rPr>
              <a:t>g &gt; −1.5</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g = −0.5 → 6;  g = −1 → 5 (boşluklu)</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g = −1.5 → 4 = 4 (eşitlik, 3 optimal hizalama);  g = −2, −4 → 4 (boşluksuz)</a:t>
            </a:r>
            <a:endParaRPr lang="en-US" sz="1800" dirty="0"/>
          </a:p>
        </p:txBody>
      </p:sp>
      <p:pic>
        <p:nvPicPr>
          <p:cNvPr id="7" name="Image 0" descr="p06_bosluk_esik.png">    </p:cNvPr>
          <p:cNvPicPr>
            <a:picLocks noChangeAspect="1"/>
          </p:cNvPicPr>
          <p:nvPr/>
        </p:nvPicPr>
        <p:blipFill>
          <a:blip r:embed="rId1"/>
          <a:stretch>
            <a:fillRect/>
          </a:stretch>
        </p:blipFill>
        <p:spPr>
          <a:xfrm>
            <a:off x="7113173" y="2779776"/>
            <a:ext cx="3832597" cy="2615184"/>
          </a:xfrm>
          <a:prstGeom prst="rect">
            <a:avLst/>
          </a:prstGeom>
        </p:spPr>
      </p:pic>
      <p:sp>
        <p:nvSpPr>
          <p:cNvPr id="8" name="Shape 5"/>
          <p:cNvSpPr/>
          <p:nvPr/>
        </p:nvSpPr>
        <p:spPr>
          <a:xfrm>
            <a:off x="548640" y="5577840"/>
            <a:ext cx="11094415" cy="685800"/>
          </a:xfrm>
          <a:prstGeom prst="roundRect">
            <a:avLst>
              <a:gd name="adj" fmla="val 10667"/>
            </a:avLst>
          </a:prstGeom>
          <a:solidFill>
            <a:srgbClr val="FDECEA"/>
          </a:solidFill>
          <a:ln/>
        </p:spPr>
      </p:sp>
      <p:sp>
        <p:nvSpPr>
          <p:cNvPr id="9" name="Text 6"/>
          <p:cNvSpPr txBox="1"/>
          <p:nvPr/>
        </p:nvSpPr>
        <p:spPr>
          <a:xfrm>
            <a:off x="685800" y="5577840"/>
            <a:ext cx="10820095" cy="685800"/>
          </a:xfrm>
          <a:prstGeom prst="rect">
            <a:avLst/>
          </a:prstGeom>
          <a:noFill/>
          <a:ln/>
        </p:spPr>
        <p:txBody>
          <a:bodyPr wrap="square" lIns="0" tIns="0" rIns="0" bIns="0" rtlCol="0" anchor="ctr"/>
          <a:lstStyle/>
          <a:p>
            <a:pPr indent="0" marL="0">
              <a:buNone/>
            </a:pPr>
            <a:r>
              <a:rPr lang="en-US" sz="1700" b="1" dirty="0">
                <a:solidFill>
                  <a:srgbClr val="B71C1C"/>
                </a:solidFill>
                <a:latin typeface="Calibri" pitchFamily="34" charset="0"/>
                <a:ea typeface="Calibri" pitchFamily="34" charset="-122"/>
                <a:cs typeface="Calibri" pitchFamily="34" charset="-120"/>
              </a:rPr>
              <a:t>Sonuç  </a:t>
            </a:r>
            <a:r>
              <a:rPr lang="en-US" sz="1700" dirty="0">
                <a:solidFill>
                  <a:srgbClr val="212121"/>
                </a:solidFill>
                <a:latin typeface="Calibri" pitchFamily="34" charset="0"/>
                <a:ea typeface="Calibri" pitchFamily="34" charset="-122"/>
                <a:cs typeface="Calibri" pitchFamily="34" charset="-120"/>
              </a:rPr>
              <a:t>Boşluk cezası büyüdükçe algoritma boşluk yerine </a:t>
            </a:r>
            <a:r>
              <a:rPr lang="en-US" sz="1700" b="1" dirty="0">
                <a:solidFill>
                  <a:srgbClr val="212121"/>
                </a:solidFill>
                <a:latin typeface="Calibri" pitchFamily="34" charset="0"/>
                <a:ea typeface="Calibri" pitchFamily="34" charset="-122"/>
                <a:cs typeface="Calibri" pitchFamily="34" charset="-120"/>
              </a:rPr>
              <a:t>uyumsuzluğu</a:t>
            </a:r>
            <a:r>
              <a:rPr lang="en-US" sz="1700" dirty="0">
                <a:solidFill>
                  <a:srgbClr val="212121"/>
                </a:solidFill>
                <a:latin typeface="Calibri" pitchFamily="34" charset="0"/>
                <a:ea typeface="Calibri" pitchFamily="34" charset="-122"/>
                <a:cs typeface="Calibri" pitchFamily="34" charset="-120"/>
              </a:rPr>
              <a:t> seçer. Eşik g* = −1.5; parametre seçimi sonucu </a:t>
            </a:r>
            <a:r>
              <a:rPr lang="en-US" sz="1700" b="1" dirty="0">
                <a:solidFill>
                  <a:srgbClr val="212121"/>
                </a:solidFill>
                <a:latin typeface="Calibri" pitchFamily="34" charset="0"/>
                <a:ea typeface="Calibri" pitchFamily="34" charset="-122"/>
                <a:cs typeface="Calibri" pitchFamily="34" charset="-120"/>
              </a:rPr>
              <a:t>niteliksel</a:t>
            </a:r>
            <a:r>
              <a:rPr lang="en-US" sz="1700" dirty="0">
                <a:solidFill>
                  <a:srgbClr val="212121"/>
                </a:solidFill>
                <a:latin typeface="Calibri" pitchFamily="34" charset="0"/>
                <a:ea typeface="Calibri" pitchFamily="34" charset="-122"/>
                <a:cs typeface="Calibri" pitchFamily="34" charset="-120"/>
              </a:rPr>
              <a:t> olarak değiştirir.</a:t>
            </a:r>
            <a:endParaRPr lang="en-US" sz="1700" dirty="0"/>
          </a:p>
        </p:txBody>
      </p:sp>
      <p:sp>
        <p:nvSpPr>
          <p:cNvPr id="10" name="Text 7"/>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6: Global hizalama (NW)</a:t>
            </a:r>
            <a:endParaRPr lang="en-US" sz="900" dirty="0"/>
          </a:p>
        </p:txBody>
      </p:sp>
      <p:sp>
        <p:nvSpPr>
          <p:cNvPr id="11" name="Text 8"/>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 özdeşlik: payda meselesi</a:t>
            </a:r>
            <a:endParaRPr lang="en-US" sz="3000" dirty="0"/>
          </a:p>
        </p:txBody>
      </p:sp>
      <p:sp>
        <p:nvSpPr>
          <p:cNvPr id="3" name="Text 1"/>
          <p:cNvSpPr txBox="1"/>
          <p:nvPr/>
        </p:nvSpPr>
        <p:spPr>
          <a:xfrm>
            <a:off x="548640" y="987552"/>
            <a:ext cx="11094415" cy="365760"/>
          </a:xfrm>
          <a:prstGeom prst="rect">
            <a:avLst/>
          </a:prstGeom>
          <a:noFill/>
          <a:ln/>
        </p:spPr>
        <p:txBody>
          <a:bodyPr wrap="square" lIns="0" tIns="0" rIns="0" bIns="0" rtlCol="0" anchor="t"/>
          <a:lstStyle/>
          <a:p>
            <a:pPr indent="0" marL="0">
              <a:buNone/>
            </a:pPr>
            <a:r>
              <a:rPr lang="en-US" sz="1500" i="1" dirty="0">
                <a:solidFill>
                  <a:srgbClr val="546E7A"/>
                </a:solidFill>
                <a:latin typeface="Calibri" pitchFamily="34" charset="0"/>
                <a:ea typeface="Calibri" pitchFamily="34" charset="-122"/>
                <a:cs typeface="Calibri" pitchFamily="34" charset="-120"/>
              </a:rPr>
              <a:t>Çözümlü örnek — yeni</a:t>
            </a:r>
            <a:endParaRPr lang="en-US" sz="1500" dirty="0"/>
          </a:p>
        </p:txBody>
      </p:sp>
      <p:sp>
        <p:nvSpPr>
          <p:cNvPr id="4" name="Shape 2"/>
          <p:cNvSpPr/>
          <p:nvPr/>
        </p:nvSpPr>
        <p:spPr>
          <a:xfrm>
            <a:off x="548640" y="1463040"/>
            <a:ext cx="11094415" cy="1088136"/>
          </a:xfrm>
          <a:prstGeom prst="roundRect">
            <a:avLst>
              <a:gd name="adj" fmla="val 6723"/>
            </a:avLst>
          </a:prstGeom>
          <a:solidFill>
            <a:srgbClr val="ECEFF1"/>
          </a:solidFill>
          <a:ln/>
        </p:spPr>
      </p:sp>
      <p:sp>
        <p:nvSpPr>
          <p:cNvPr id="5" name="Text 3"/>
          <p:cNvSpPr txBox="1"/>
          <p:nvPr/>
        </p:nvSpPr>
        <p:spPr>
          <a:xfrm>
            <a:off x="685800" y="1508760"/>
            <a:ext cx="10820095" cy="996696"/>
          </a:xfrm>
          <a:prstGeom prst="rect">
            <a:avLst/>
          </a:prstGeom>
          <a:noFill/>
          <a:ln/>
        </p:spPr>
        <p:txBody>
          <a:bodyPr wrap="square" lIns="0" tIns="0" rIns="0" bIns="0" rtlCol="0" anchor="ctr"/>
          <a:lstStyle/>
          <a:p>
            <a:pPr indent="0" marL="0">
              <a:buNone/>
            </a:pPr>
            <a:r>
              <a:rPr lang="en-US" sz="1800" b="1" dirty="0">
                <a:solidFill>
                  <a:srgbClr val="B71C1C"/>
                </a:solidFill>
                <a:latin typeface="Calibri" pitchFamily="34" charset="0"/>
                <a:ea typeface="Calibri" pitchFamily="34" charset="-122"/>
                <a:cs typeface="Calibri" pitchFamily="34" charset="-120"/>
              </a:rPr>
              <a:t>Soru  </a:t>
            </a:r>
            <a:r>
              <a:rPr lang="en-US" sz="1800" dirty="0">
                <a:solidFill>
                  <a:srgbClr val="212121"/>
                </a:solidFill>
                <a:latin typeface="Calibri" pitchFamily="34" charset="0"/>
                <a:ea typeface="Calibri" pitchFamily="34" charset="-122"/>
                <a:cs typeface="Calibri" pitchFamily="34" charset="-120"/>
              </a:rPr>
              <a:t>​</a:t>
            </a:r>
            <a:r>
              <a:rPr lang="en-US" sz="1800" dirty="0">
                <a:solidFill>
                  <a:srgbClr val="455A64"/>
                </a:solidFill>
                <a:latin typeface="Courier New" pitchFamily="34" charset="0"/>
                <a:ea typeface="Courier New" pitchFamily="34" charset="-122"/>
                <a:cs typeface="Courier New" pitchFamily="34" charset="-120"/>
              </a:rPr>
              <a:t>ACGTTTGACCA</a:t>
            </a:r>
            <a:r>
              <a:rPr lang="en-US" sz="1800" dirty="0">
                <a:solidFill>
                  <a:srgbClr val="212121"/>
                </a:solidFill>
                <a:latin typeface="Calibri" pitchFamily="34" charset="0"/>
                <a:ea typeface="Calibri" pitchFamily="34" charset="-122"/>
                <a:cs typeface="Calibri" pitchFamily="34" charset="-120"/>
              </a:rPr>
              <a:t> (11) ile </a:t>
            </a:r>
            <a:r>
              <a:rPr lang="en-US" sz="1800" dirty="0">
                <a:solidFill>
                  <a:srgbClr val="455A64"/>
                </a:solidFill>
                <a:latin typeface="Courier New" pitchFamily="34" charset="0"/>
                <a:ea typeface="Courier New" pitchFamily="34" charset="-122"/>
                <a:cs typeface="Courier New" pitchFamily="34" charset="-120"/>
              </a:rPr>
              <a:t>ACGTGACGA</a:t>
            </a:r>
            <a:r>
              <a:rPr lang="en-US" sz="1800" dirty="0">
                <a:solidFill>
                  <a:srgbClr val="212121"/>
                </a:solidFill>
                <a:latin typeface="Calibri" pitchFamily="34" charset="0"/>
                <a:ea typeface="Calibri" pitchFamily="34" charset="-122"/>
                <a:cs typeface="Calibri" pitchFamily="34" charset="-120"/>
              </a:rPr>
              <a:t> (9) global hizalaması </a:t>
            </a:r>
            <a:r>
              <a:rPr lang="en-US" sz="1800" dirty="0">
                <a:solidFill>
                  <a:srgbClr val="455A64"/>
                </a:solidFill>
                <a:latin typeface="Courier New" pitchFamily="34" charset="0"/>
                <a:ea typeface="Courier New" pitchFamily="34" charset="-122"/>
                <a:cs typeface="Courier New" pitchFamily="34" charset="-120"/>
              </a:rPr>
              <a:t>ACGTTTGACCA</a:t>
            </a:r>
            <a:r>
              <a:rPr lang="en-US" sz="1800" dirty="0">
                <a:solidFill>
                  <a:srgbClr val="212121"/>
                </a:solidFill>
                <a:latin typeface="Calibri" pitchFamily="34" charset="0"/>
                <a:ea typeface="Calibri" pitchFamily="34" charset="-122"/>
                <a:cs typeface="Calibri" pitchFamily="34" charset="-120"/>
              </a:rPr>
              <a:t>/</a:t>
            </a:r>
            <a:r>
              <a:rPr lang="en-US" sz="1800" dirty="0">
                <a:solidFill>
                  <a:srgbClr val="455A64"/>
                </a:solidFill>
                <a:latin typeface="Courier New" pitchFamily="34" charset="0"/>
                <a:ea typeface="Courier New" pitchFamily="34" charset="-122"/>
                <a:cs typeface="Courier New" pitchFamily="34" charset="-120"/>
              </a:rPr>
              <a:t>ACGT--GACGA</a:t>
            </a:r>
            <a:r>
              <a:rPr lang="en-US" sz="1800" dirty="0">
                <a:solidFill>
                  <a:srgbClr val="212121"/>
                </a:solidFill>
                <a:latin typeface="Calibri" pitchFamily="34" charset="0"/>
                <a:ea typeface="Calibri" pitchFamily="34" charset="-122"/>
                <a:cs typeface="Calibri" pitchFamily="34" charset="-120"/>
              </a:rPr>
              <a:t>. Farklı paydalarla % özdeşliği hesaplayın.</a:t>
            </a:r>
            <a:endParaRPr lang="en-US" sz="1800" dirty="0"/>
          </a:p>
        </p:txBody>
      </p:sp>
      <p:sp>
        <p:nvSpPr>
          <p:cNvPr id="6" name="Text 4"/>
          <p:cNvSpPr txBox="1"/>
          <p:nvPr/>
        </p:nvSpPr>
        <p:spPr>
          <a:xfrm>
            <a:off x="548640" y="2779776"/>
            <a:ext cx="6101928" cy="2615184"/>
          </a:xfrm>
          <a:prstGeom prst="rect">
            <a:avLst/>
          </a:prstGeom>
          <a:noFill/>
          <a:ln/>
        </p:spPr>
        <p:txBody>
          <a:bodyPr wrap="square" lIns="25400" tIns="25400" rIns="50800" bIns="25400" rtlCol="0" anchor="t"/>
          <a:lstStyle/>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Sütun sayımı: özdeş </a:t>
            </a:r>
            <a:r>
              <a:rPr lang="en-US" sz="1800" b="1" dirty="0">
                <a:solidFill>
                  <a:srgbClr val="212121"/>
                </a:solidFill>
                <a:latin typeface="Calibri" pitchFamily="34" charset="0"/>
                <a:ea typeface="Calibri" pitchFamily="34" charset="-122"/>
                <a:cs typeface="Calibri" pitchFamily="34" charset="-120"/>
              </a:rPr>
              <a:t>8</a:t>
            </a:r>
            <a:r>
              <a:rPr lang="en-US" sz="1800" dirty="0">
                <a:solidFill>
                  <a:srgbClr val="212121"/>
                </a:solidFill>
                <a:latin typeface="Calibri" pitchFamily="34" charset="0"/>
                <a:ea typeface="Calibri" pitchFamily="34" charset="-122"/>
                <a:cs typeface="Calibri" pitchFamily="34" charset="-120"/>
              </a:rPr>
              <a:t>, farklı </a:t>
            </a:r>
            <a:r>
              <a:rPr lang="en-US" sz="1800" b="1" dirty="0">
                <a:solidFill>
                  <a:srgbClr val="212121"/>
                </a:solidFill>
                <a:latin typeface="Calibri" pitchFamily="34" charset="0"/>
                <a:ea typeface="Calibri" pitchFamily="34" charset="-122"/>
                <a:cs typeface="Calibri" pitchFamily="34" charset="-120"/>
              </a:rPr>
              <a:t>1</a:t>
            </a:r>
            <a:r>
              <a:rPr lang="en-US" sz="1800" dirty="0">
                <a:solidFill>
                  <a:srgbClr val="212121"/>
                </a:solidFill>
                <a:latin typeface="Calibri" pitchFamily="34" charset="0"/>
                <a:ea typeface="Calibri" pitchFamily="34" charset="-122"/>
                <a:cs typeface="Calibri" pitchFamily="34" charset="-120"/>
              </a:rPr>
              <a:t>, boşluk </a:t>
            </a:r>
            <a:r>
              <a:rPr lang="en-US" sz="1800" b="1" dirty="0">
                <a:solidFill>
                  <a:srgbClr val="212121"/>
                </a:solidFill>
                <a:latin typeface="Calibri" pitchFamily="34" charset="0"/>
                <a:ea typeface="Calibri" pitchFamily="34" charset="-122"/>
                <a:cs typeface="Calibri" pitchFamily="34" charset="-120"/>
              </a:rPr>
              <a:t>2</a:t>
            </a:r>
            <a:r>
              <a:rPr lang="en-US" sz="1800" dirty="0">
                <a:solidFill>
                  <a:srgbClr val="212121"/>
                </a:solidFill>
                <a:latin typeface="Calibri" pitchFamily="34" charset="0"/>
                <a:ea typeface="Calibri" pitchFamily="34" charset="-122"/>
                <a:cs typeface="Calibri" pitchFamily="34" charset="-120"/>
              </a:rPr>
              <a:t> → hizalama uzunluğu 11</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Hizalama uzunluğuna göre: 8 / 11 = </a:t>
            </a:r>
            <a:r>
              <a:rPr lang="en-US" sz="1800" b="1" dirty="0">
                <a:solidFill>
                  <a:srgbClr val="212121"/>
                </a:solidFill>
                <a:latin typeface="Calibri" pitchFamily="34" charset="0"/>
                <a:ea typeface="Calibri" pitchFamily="34" charset="-122"/>
                <a:cs typeface="Calibri" pitchFamily="34" charset="-120"/>
              </a:rPr>
              <a:t>%72.7</a:t>
            </a:r>
            <a:r>
              <a:rPr lang="en-US" sz="1800" dirty="0">
                <a:solidFill>
                  <a:srgbClr val="212121"/>
                </a:solidFill>
                <a:latin typeface="Calibri" pitchFamily="34" charset="0"/>
                <a:ea typeface="Calibri" pitchFamily="34" charset="-122"/>
                <a:cs typeface="Calibri" pitchFamily="34" charset="-120"/>
              </a:rPr>
              <a:t> (notebook'taki tanım)</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Kısa dizinin uzunluğuna göre: 8 / 9 = </a:t>
            </a:r>
            <a:r>
              <a:rPr lang="en-US" sz="1800" b="1" dirty="0">
                <a:solidFill>
                  <a:srgbClr val="212121"/>
                </a:solidFill>
                <a:latin typeface="Calibri" pitchFamily="34" charset="0"/>
                <a:ea typeface="Calibri" pitchFamily="34" charset="-122"/>
                <a:cs typeface="Calibri" pitchFamily="34" charset="-120"/>
              </a:rPr>
              <a:t>%88.9</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Boşluksuz sütunlara göre: 8 / (8 + 1) = </a:t>
            </a:r>
            <a:r>
              <a:rPr lang="en-US" sz="1800" b="1" dirty="0">
                <a:solidFill>
                  <a:srgbClr val="212121"/>
                </a:solidFill>
                <a:latin typeface="Calibri" pitchFamily="34" charset="0"/>
                <a:ea typeface="Calibri" pitchFamily="34" charset="-122"/>
                <a:cs typeface="Calibri" pitchFamily="34" charset="-120"/>
              </a:rPr>
              <a:t>%88.9</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Ortalama uzunluğa göre: 8 / 10 = </a:t>
            </a:r>
            <a:r>
              <a:rPr lang="en-US" sz="1800" b="1" dirty="0">
                <a:solidFill>
                  <a:srgbClr val="212121"/>
                </a:solidFill>
                <a:latin typeface="Calibri" pitchFamily="34" charset="0"/>
                <a:ea typeface="Calibri" pitchFamily="34" charset="-122"/>
                <a:cs typeface="Calibri" pitchFamily="34" charset="-120"/>
              </a:rPr>
              <a:t>%80.0</a:t>
            </a:r>
            <a:endParaRPr lang="en-US" sz="18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6970608" y="2779776"/>
          <a:ext cx="4672447" cy="914400"/>
        </p:xfrm>
        <a:graphic>
          <a:graphicData uri="http://schemas.openxmlformats.org/drawingml/2006/table">
            <a:tbl>
              <a:tblPr/>
              <a:tblGrid>
                <a:gridCol w="2482237"/>
                <a:gridCol w="730070"/>
                <a:gridCol w="1460140"/>
              </a:tblGrid>
              <a:tr h="0">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Payda</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Değer</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 özdeşlik</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Hizalama uzunluğu</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72.7</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Kısa dizi</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9</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88.9</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Boşluksuz sütun</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9</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88.9</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Ortalama uzunluk</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80.0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bl>
          </a:graphicData>
        </a:graphic>
      </p:graphicFrame>
      <p:sp>
        <p:nvSpPr>
          <p:cNvPr id="8" name="Shape 5"/>
          <p:cNvSpPr/>
          <p:nvPr/>
        </p:nvSpPr>
        <p:spPr>
          <a:xfrm>
            <a:off x="548640" y="5577840"/>
            <a:ext cx="11094415" cy="685800"/>
          </a:xfrm>
          <a:prstGeom prst="roundRect">
            <a:avLst>
              <a:gd name="adj" fmla="val 10667"/>
            </a:avLst>
          </a:prstGeom>
          <a:solidFill>
            <a:srgbClr val="FDECEA"/>
          </a:solidFill>
          <a:ln/>
        </p:spPr>
      </p:sp>
      <p:sp>
        <p:nvSpPr>
          <p:cNvPr id="9" name="Text 6"/>
          <p:cNvSpPr txBox="1"/>
          <p:nvPr/>
        </p:nvSpPr>
        <p:spPr>
          <a:xfrm>
            <a:off x="685800" y="5577840"/>
            <a:ext cx="10820095" cy="685800"/>
          </a:xfrm>
          <a:prstGeom prst="rect">
            <a:avLst/>
          </a:prstGeom>
          <a:noFill/>
          <a:ln/>
        </p:spPr>
        <p:txBody>
          <a:bodyPr wrap="square" lIns="0" tIns="0" rIns="0" bIns="0" rtlCol="0" anchor="ctr"/>
          <a:lstStyle/>
          <a:p>
            <a:pPr indent="0" marL="0">
              <a:buNone/>
            </a:pPr>
            <a:r>
              <a:rPr lang="en-US" sz="1700" b="1" dirty="0">
                <a:solidFill>
                  <a:srgbClr val="B71C1C"/>
                </a:solidFill>
                <a:latin typeface="Calibri" pitchFamily="34" charset="0"/>
                <a:ea typeface="Calibri" pitchFamily="34" charset="-122"/>
                <a:cs typeface="Calibri" pitchFamily="34" charset="-120"/>
              </a:rPr>
              <a:t>Sonuç  </a:t>
            </a:r>
            <a:r>
              <a:rPr lang="en-US" sz="1700" dirty="0">
                <a:solidFill>
                  <a:srgbClr val="212121"/>
                </a:solidFill>
                <a:latin typeface="Calibri" pitchFamily="34" charset="0"/>
                <a:ea typeface="Calibri" pitchFamily="34" charset="-122"/>
                <a:cs typeface="Calibri" pitchFamily="34" charset="-120"/>
              </a:rPr>
              <a:t>Aynı hizalama için %72.7 – %88.9 arası! </a:t>
            </a:r>
            <a:r>
              <a:rPr lang="en-US" sz="1700" b="1" dirty="0">
                <a:solidFill>
                  <a:srgbClr val="212121"/>
                </a:solidFill>
                <a:latin typeface="Calibri" pitchFamily="34" charset="0"/>
                <a:ea typeface="Calibri" pitchFamily="34" charset="-122"/>
                <a:cs typeface="Calibri" pitchFamily="34" charset="-120"/>
              </a:rPr>
              <a:t>Raporlarken paydayı belirtin</a:t>
            </a:r>
            <a:r>
              <a:rPr lang="en-US" sz="1700" dirty="0">
                <a:solidFill>
                  <a:srgbClr val="212121"/>
                </a:solidFill>
                <a:latin typeface="Calibri" pitchFamily="34" charset="0"/>
                <a:ea typeface="Calibri" pitchFamily="34" charset="-122"/>
                <a:cs typeface="Calibri" pitchFamily="34" charset="-120"/>
              </a:rPr>
              <a:t>; araçlar (BLAST, EMBOSS, Clustal) farklı tanımlar kullanır.</a:t>
            </a:r>
            <a:endParaRPr lang="en-US" sz="1700" dirty="0"/>
          </a:p>
        </p:txBody>
      </p:sp>
      <p:sp>
        <p:nvSpPr>
          <p:cNvPr id="10" name="Text 7"/>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6: Global hizalama (NW)</a:t>
            </a:r>
            <a:endParaRPr lang="en-US" sz="900" dirty="0"/>
          </a:p>
        </p:txBody>
      </p:sp>
      <p:sp>
        <p:nvSpPr>
          <p:cNvPr id="11" name="Text 8"/>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Protein ailesi: % özdeşlik matrisi</a:t>
            </a:r>
            <a:endParaRPr lang="en-US" sz="3000" dirty="0"/>
          </a:p>
        </p:txBody>
      </p:sp>
      <p:pic>
        <p:nvPicPr>
          <p:cNvPr id="3" name="Image 0" descr="g06_ozdeslik.png">    </p:cNvPr>
          <p:cNvPicPr>
            <a:picLocks noChangeAspect="1"/>
          </p:cNvPicPr>
          <p:nvPr/>
        </p:nvPicPr>
        <p:blipFill>
          <a:blip r:embed="rId1"/>
          <a:stretch>
            <a:fillRect/>
          </a:stretch>
        </p:blipFill>
        <p:spPr>
          <a:xfrm>
            <a:off x="548640" y="1591845"/>
            <a:ext cx="4992487" cy="4314390"/>
          </a:xfrm>
          <a:prstGeom prst="rect">
            <a:avLst/>
          </a:prstGeom>
        </p:spPr>
      </p:pic>
      <p:sp>
        <p:nvSpPr>
          <p:cNvPr id="4" name="Text 1"/>
          <p:cNvSpPr txBox="1"/>
          <p:nvPr/>
        </p:nvSpPr>
        <p:spPr>
          <a:xfrm>
            <a:off x="5861167" y="1234440"/>
            <a:ext cx="5781888" cy="5029200"/>
          </a:xfrm>
          <a:prstGeom prst="rect">
            <a:avLst/>
          </a:prstGeom>
          <a:noFill/>
          <a:ln/>
        </p:spPr>
        <p:txBody>
          <a:bodyPr wrap="square" lIns="25400" tIns="25400" rIns="50800" bIns="25400" rtlCol="0" anchor="t"/>
          <a:lstStyle/>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9 sentetik protein, tüm ikili global hizalamalar (eşl. +2, uyum. −1, afin boşluk −5/−1)</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A ve B alt aileleri kendi içlerinde </a:t>
            </a:r>
            <a:r>
              <a:rPr lang="en-US" sz="1700" b="1" dirty="0">
                <a:solidFill>
                  <a:srgbClr val="212121"/>
                </a:solidFill>
                <a:latin typeface="Calibri" pitchFamily="34" charset="0"/>
                <a:ea typeface="Calibri" pitchFamily="34" charset="-122"/>
                <a:cs typeface="Calibri" pitchFamily="34" charset="-120"/>
              </a:rPr>
              <a:t>kümelenir</a:t>
            </a:r>
            <a:r>
              <a:rPr lang="en-US" sz="1700" dirty="0">
                <a:solidFill>
                  <a:srgbClr val="212121"/>
                </a:solidFill>
                <a:latin typeface="Calibri" pitchFamily="34" charset="0"/>
                <a:ea typeface="Calibri" pitchFamily="34" charset="-122"/>
                <a:cs typeface="Calibri" pitchFamily="34" charset="-120"/>
              </a:rPr>
              <a:t> (koyu bloklar)</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a:t>
            </a:r>
            <a:r>
              <a:rPr lang="en-US" sz="1700" dirty="0">
                <a:solidFill>
                  <a:srgbClr val="455A64"/>
                </a:solidFill>
                <a:latin typeface="Courier New" pitchFamily="34" charset="0"/>
                <a:ea typeface="Courier New" pitchFamily="34" charset="-122"/>
                <a:cs typeface="Courier New" pitchFamily="34" charset="-120"/>
              </a:rPr>
              <a:t>ilgisiz1</a:t>
            </a:r>
            <a:r>
              <a:rPr lang="en-US" sz="1700" dirty="0">
                <a:solidFill>
                  <a:srgbClr val="212121"/>
                </a:solidFill>
                <a:latin typeface="Calibri" pitchFamily="34" charset="0"/>
                <a:ea typeface="Calibri" pitchFamily="34" charset="-122"/>
                <a:cs typeface="Calibri" pitchFamily="34" charset="-120"/>
              </a:rPr>
              <a:t> ile özdeşlik ≈ </a:t>
            </a:r>
            <a:r>
              <a:rPr lang="en-US" sz="1700" b="1" dirty="0">
                <a:solidFill>
                  <a:srgbClr val="212121"/>
                </a:solidFill>
                <a:latin typeface="Calibri" pitchFamily="34" charset="0"/>
                <a:ea typeface="Calibri" pitchFamily="34" charset="-122"/>
                <a:cs typeface="Calibri" pitchFamily="34" charset="-120"/>
              </a:rPr>
              <a:t>%10–20</a:t>
            </a:r>
            <a:r>
              <a:rPr lang="en-US" sz="1700" dirty="0">
                <a:solidFill>
                  <a:srgbClr val="212121"/>
                </a:solidFill>
                <a:latin typeface="Calibri" pitchFamily="34" charset="0"/>
                <a:ea typeface="Calibri" pitchFamily="34" charset="-122"/>
                <a:cs typeface="Calibri" pitchFamily="34" charset="-120"/>
              </a:rPr>
              <a:t>: rastgele diziler bile boşluklar sayesinde bir miktar eşleşir</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Global hizalama uzak akrabalarda gürültüye açık → </a:t>
            </a:r>
            <a:r>
              <a:rPr lang="en-US" sz="1700" b="1" dirty="0">
                <a:solidFill>
                  <a:srgbClr val="212121"/>
                </a:solidFill>
                <a:latin typeface="Calibri" pitchFamily="34" charset="0"/>
                <a:ea typeface="Calibri" pitchFamily="34" charset="-122"/>
                <a:cs typeface="Calibri" pitchFamily="34" charset="-120"/>
              </a:rPr>
              <a:t>anlamlılık testi</a:t>
            </a:r>
            <a:r>
              <a:rPr lang="en-US" sz="1700" dirty="0">
                <a:solidFill>
                  <a:srgbClr val="212121"/>
                </a:solidFill>
                <a:latin typeface="Calibri" pitchFamily="34" charset="0"/>
                <a:ea typeface="Calibri" pitchFamily="34" charset="-122"/>
                <a:cs typeface="Calibri" pitchFamily="34" charset="-120"/>
              </a:rPr>
              <a:t> gerekir (7–8. hafta)</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Bu matris 9. haftada </a:t>
            </a:r>
            <a:r>
              <a:rPr lang="en-US" sz="1700" b="1" dirty="0">
                <a:solidFill>
                  <a:srgbClr val="212121"/>
                </a:solidFill>
                <a:latin typeface="Calibri" pitchFamily="34" charset="0"/>
                <a:ea typeface="Calibri" pitchFamily="34" charset="-122"/>
                <a:cs typeface="Calibri" pitchFamily="34" charset="-120"/>
              </a:rPr>
              <a:t>uzaklık matrisi</a:t>
            </a:r>
            <a:r>
              <a:rPr lang="en-US" sz="1700" dirty="0">
                <a:solidFill>
                  <a:srgbClr val="212121"/>
                </a:solidFill>
                <a:latin typeface="Calibri" pitchFamily="34" charset="0"/>
                <a:ea typeface="Calibri" pitchFamily="34" charset="-122"/>
                <a:cs typeface="Calibri" pitchFamily="34" charset="-120"/>
              </a:rPr>
              <a:t> olarak ağaç kurmada kullanılacak</a:t>
            </a:r>
            <a:endParaRPr lang="en-US" sz="1700" dirty="0"/>
          </a:p>
        </p:txBody>
      </p:sp>
      <p:sp>
        <p:nvSpPr>
          <p:cNvPr id="5" name="Text 2"/>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6: Global hizalama (NW)</a:t>
            </a:r>
            <a:endParaRPr lang="en-US" sz="900" dirty="0"/>
          </a:p>
        </p:txBody>
      </p:sp>
      <p:sp>
        <p:nvSpPr>
          <p:cNvPr id="6" name="Text 3"/>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Yarı-global hizalama: uç boşlukları ücretsiz</a:t>
            </a:r>
            <a:endParaRPr lang="en-US" sz="3000" dirty="0"/>
          </a:p>
        </p:txBody>
      </p:sp>
      <p:sp>
        <p:nvSpPr>
          <p:cNvPr id="3" name="Text 1"/>
          <p:cNvSpPr txBox="1"/>
          <p:nvPr/>
        </p:nvSpPr>
        <p:spPr>
          <a:xfrm>
            <a:off x="548640" y="987552"/>
            <a:ext cx="11094415" cy="365760"/>
          </a:xfrm>
          <a:prstGeom prst="rect">
            <a:avLst/>
          </a:prstGeom>
          <a:noFill/>
          <a:ln/>
        </p:spPr>
        <p:txBody>
          <a:bodyPr wrap="square" lIns="0" tIns="0" rIns="0" bIns="0" rtlCol="0" anchor="t"/>
          <a:lstStyle/>
          <a:p>
            <a:pPr indent="0" marL="0">
              <a:buNone/>
            </a:pPr>
            <a:r>
              <a:rPr lang="en-US" sz="1500" i="1" dirty="0">
                <a:solidFill>
                  <a:srgbClr val="546E7A"/>
                </a:solidFill>
                <a:latin typeface="Calibri" pitchFamily="34" charset="0"/>
                <a:ea typeface="Calibri" pitchFamily="34" charset="-122"/>
                <a:cs typeface="Calibri" pitchFamily="34" charset="-120"/>
              </a:rPr>
              <a:t>Çözümlü örnek — alıştırma 3</a:t>
            </a:r>
            <a:endParaRPr lang="en-US" sz="1500" dirty="0"/>
          </a:p>
        </p:txBody>
      </p:sp>
      <p:sp>
        <p:nvSpPr>
          <p:cNvPr id="4" name="Shape 2"/>
          <p:cNvSpPr/>
          <p:nvPr/>
        </p:nvSpPr>
        <p:spPr>
          <a:xfrm>
            <a:off x="548640" y="1463040"/>
            <a:ext cx="11094415" cy="1088136"/>
          </a:xfrm>
          <a:prstGeom prst="roundRect">
            <a:avLst>
              <a:gd name="adj" fmla="val 6723"/>
            </a:avLst>
          </a:prstGeom>
          <a:solidFill>
            <a:srgbClr val="ECEFF1"/>
          </a:solidFill>
          <a:ln/>
        </p:spPr>
      </p:sp>
      <p:sp>
        <p:nvSpPr>
          <p:cNvPr id="5" name="Text 3"/>
          <p:cNvSpPr txBox="1"/>
          <p:nvPr/>
        </p:nvSpPr>
        <p:spPr>
          <a:xfrm>
            <a:off x="685800" y="1508760"/>
            <a:ext cx="10820095" cy="996696"/>
          </a:xfrm>
          <a:prstGeom prst="rect">
            <a:avLst/>
          </a:prstGeom>
          <a:noFill/>
          <a:ln/>
        </p:spPr>
        <p:txBody>
          <a:bodyPr wrap="square" lIns="0" tIns="0" rIns="0" bIns="0" rtlCol="0" anchor="ctr"/>
          <a:lstStyle/>
          <a:p>
            <a:pPr indent="0" marL="0">
              <a:buNone/>
            </a:pPr>
            <a:r>
              <a:rPr lang="en-US" sz="1800" b="1" dirty="0">
                <a:solidFill>
                  <a:srgbClr val="B71C1C"/>
                </a:solidFill>
                <a:latin typeface="Calibri" pitchFamily="34" charset="0"/>
                <a:ea typeface="Calibri" pitchFamily="34" charset="-122"/>
                <a:cs typeface="Calibri" pitchFamily="34" charset="-120"/>
              </a:rPr>
              <a:t>Soru  </a:t>
            </a:r>
            <a:r>
              <a:rPr lang="en-US" sz="1800" dirty="0">
                <a:solidFill>
                  <a:srgbClr val="212121"/>
                </a:solidFill>
                <a:latin typeface="Calibri" pitchFamily="34" charset="0"/>
                <a:ea typeface="Calibri" pitchFamily="34" charset="-122"/>
                <a:cs typeface="Calibri" pitchFamily="34" charset="-120"/>
              </a:rPr>
              <a:t>Kısa okuma </a:t>
            </a:r>
            <a:r>
              <a:rPr lang="en-US" sz="1800" dirty="0">
                <a:solidFill>
                  <a:srgbClr val="455A64"/>
                </a:solidFill>
                <a:latin typeface="Courier New" pitchFamily="34" charset="0"/>
                <a:ea typeface="Courier New" pitchFamily="34" charset="-122"/>
                <a:cs typeface="Courier New" pitchFamily="34" charset="-120"/>
              </a:rPr>
              <a:t>ACGTGA</a:t>
            </a:r>
            <a:r>
              <a:rPr lang="en-US" sz="1800" dirty="0">
                <a:solidFill>
                  <a:srgbClr val="212121"/>
                </a:solidFill>
                <a:latin typeface="Calibri" pitchFamily="34" charset="0"/>
                <a:ea typeface="Calibri" pitchFamily="34" charset="-122"/>
                <a:cs typeface="Calibri" pitchFamily="34" charset="-120"/>
              </a:rPr>
              <a:t> (6) uzun dizi </a:t>
            </a:r>
            <a:r>
              <a:rPr lang="en-US" sz="1800" dirty="0">
                <a:solidFill>
                  <a:srgbClr val="455A64"/>
                </a:solidFill>
                <a:latin typeface="Courier New" pitchFamily="34" charset="0"/>
                <a:ea typeface="Courier New" pitchFamily="34" charset="-122"/>
                <a:cs typeface="Courier New" pitchFamily="34" charset="-120"/>
              </a:rPr>
              <a:t>TTTTACGTGATTTT</a:t>
            </a:r>
            <a:r>
              <a:rPr lang="en-US" sz="1800" dirty="0">
                <a:solidFill>
                  <a:srgbClr val="212121"/>
                </a:solidFill>
                <a:latin typeface="Calibri" pitchFamily="34" charset="0"/>
                <a:ea typeface="Calibri" pitchFamily="34" charset="-122"/>
                <a:cs typeface="Calibri" pitchFamily="34" charset="-120"/>
              </a:rPr>
              <a:t> (14) içinde. +1/−1/−2 ile global ve yarı-global (</a:t>
            </a:r>
            <a:r>
              <a:rPr lang="en-US" sz="1800" dirty="0">
                <a:solidFill>
                  <a:srgbClr val="455A64"/>
                </a:solidFill>
                <a:latin typeface="Courier New" pitchFamily="34" charset="0"/>
                <a:ea typeface="Courier New" pitchFamily="34" charset="-122"/>
                <a:cs typeface="Courier New" pitchFamily="34" charset="-120"/>
              </a:rPr>
              <a:t>end_gap_score = 0</a:t>
            </a:r>
            <a:r>
              <a:rPr lang="en-US" sz="1800" dirty="0">
                <a:solidFill>
                  <a:srgbClr val="212121"/>
                </a:solidFill>
                <a:latin typeface="Calibri" pitchFamily="34" charset="0"/>
                <a:ea typeface="Calibri" pitchFamily="34" charset="-122"/>
                <a:cs typeface="Calibri" pitchFamily="34" charset="-120"/>
              </a:rPr>
              <a:t>) skorları nedir?</a:t>
            </a:r>
            <a:endParaRPr lang="en-US" sz="1800" dirty="0"/>
          </a:p>
        </p:txBody>
      </p:sp>
      <p:sp>
        <p:nvSpPr>
          <p:cNvPr id="6" name="Text 4"/>
          <p:cNvSpPr txBox="1"/>
          <p:nvPr/>
        </p:nvSpPr>
        <p:spPr>
          <a:xfrm>
            <a:off x="548640" y="2779776"/>
            <a:ext cx="11094415" cy="2615184"/>
          </a:xfrm>
          <a:prstGeom prst="rect">
            <a:avLst/>
          </a:prstGeom>
          <a:noFill/>
          <a:ln/>
        </p:spPr>
        <p:txBody>
          <a:bodyPr wrap="square" lIns="25400" tIns="25400" rIns="50800" bIns="25400" rtlCol="0" anchor="t"/>
          <a:lstStyle/>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En iyi yerleşim: okuma 4. konumdan itibaren tam eşleşir → 6 eşleşme = </a:t>
            </a:r>
            <a:r>
              <a:rPr lang="en-US" sz="1800" b="1" dirty="0">
                <a:solidFill>
                  <a:srgbClr val="212121"/>
                </a:solidFill>
                <a:latin typeface="Calibri" pitchFamily="34" charset="0"/>
                <a:ea typeface="Calibri" pitchFamily="34" charset="-122"/>
                <a:cs typeface="Calibri" pitchFamily="34" charset="-120"/>
              </a:rPr>
              <a:t>+6</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Uzun dizinin kalan 8 harfi (4 baş + 4 son) okumadaki </a:t>
            </a:r>
            <a:r>
              <a:rPr lang="en-US" sz="1800" b="1" dirty="0">
                <a:solidFill>
                  <a:srgbClr val="212121"/>
                </a:solidFill>
                <a:latin typeface="Calibri" pitchFamily="34" charset="0"/>
                <a:ea typeface="Calibri" pitchFamily="34" charset="-122"/>
                <a:cs typeface="Calibri" pitchFamily="34" charset="-120"/>
              </a:rPr>
              <a:t>uç boşluklarıyla</a:t>
            </a:r>
            <a:r>
              <a:rPr lang="en-US" sz="1800" dirty="0">
                <a:solidFill>
                  <a:srgbClr val="212121"/>
                </a:solidFill>
                <a:latin typeface="Calibri" pitchFamily="34" charset="0"/>
                <a:ea typeface="Calibri" pitchFamily="34" charset="-122"/>
                <a:cs typeface="Calibri" pitchFamily="34" charset="-120"/>
              </a:rPr>
              <a:t> hizalanır</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Global: 6 + 8 × (−2) = 6 − 16 = </a:t>
            </a:r>
            <a:r>
              <a:rPr lang="en-US" sz="1800" b="1" dirty="0">
                <a:solidFill>
                  <a:srgbClr val="212121"/>
                </a:solidFill>
                <a:latin typeface="Calibri" pitchFamily="34" charset="0"/>
                <a:ea typeface="Calibri" pitchFamily="34" charset="-122"/>
                <a:cs typeface="Calibri" pitchFamily="34" charset="-120"/>
              </a:rPr>
              <a:t>−10</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Yarı-global: uç boşlukları 0 → </a:t>
            </a:r>
            <a:r>
              <a:rPr lang="en-US" sz="1800" b="1" dirty="0">
                <a:solidFill>
                  <a:srgbClr val="212121"/>
                </a:solidFill>
                <a:latin typeface="Calibri" pitchFamily="34" charset="0"/>
                <a:ea typeface="Calibri" pitchFamily="34" charset="-122"/>
                <a:cs typeface="Calibri" pitchFamily="34" charset="-120"/>
              </a:rPr>
              <a:t>6</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DP'de değişiklik: ilk satır/sütun 0 ile başlar; sonuç son satır/sütunun </a:t>
            </a:r>
            <a:r>
              <a:rPr lang="en-US" sz="1800" b="1" dirty="0">
                <a:solidFill>
                  <a:srgbClr val="212121"/>
                </a:solidFill>
                <a:latin typeface="Calibri" pitchFamily="34" charset="0"/>
                <a:ea typeface="Calibri" pitchFamily="34" charset="-122"/>
                <a:cs typeface="Calibri" pitchFamily="34" charset="-120"/>
              </a:rPr>
              <a:t>maksimumu</a:t>
            </a:r>
            <a:endParaRPr lang="en-US" sz="1800" dirty="0"/>
          </a:p>
        </p:txBody>
      </p:sp>
      <p:sp>
        <p:nvSpPr>
          <p:cNvPr id="7" name="Shape 5"/>
          <p:cNvSpPr/>
          <p:nvPr/>
        </p:nvSpPr>
        <p:spPr>
          <a:xfrm>
            <a:off x="548640" y="5577840"/>
            <a:ext cx="11094415" cy="685800"/>
          </a:xfrm>
          <a:prstGeom prst="roundRect">
            <a:avLst>
              <a:gd name="adj" fmla="val 10667"/>
            </a:avLst>
          </a:prstGeom>
          <a:solidFill>
            <a:srgbClr val="FDECEA"/>
          </a:solidFill>
          <a:ln/>
        </p:spPr>
      </p:sp>
      <p:sp>
        <p:nvSpPr>
          <p:cNvPr id="8" name="Text 6"/>
          <p:cNvSpPr txBox="1"/>
          <p:nvPr/>
        </p:nvSpPr>
        <p:spPr>
          <a:xfrm>
            <a:off x="685800" y="5577840"/>
            <a:ext cx="10820095" cy="685800"/>
          </a:xfrm>
          <a:prstGeom prst="rect">
            <a:avLst/>
          </a:prstGeom>
          <a:noFill/>
          <a:ln/>
        </p:spPr>
        <p:txBody>
          <a:bodyPr wrap="square" lIns="0" tIns="0" rIns="0" bIns="0" rtlCol="0" anchor="ctr"/>
          <a:lstStyle/>
          <a:p>
            <a:pPr indent="0" marL="0">
              <a:buNone/>
            </a:pPr>
            <a:r>
              <a:rPr lang="en-US" sz="1700" b="1" dirty="0">
                <a:solidFill>
                  <a:srgbClr val="B71C1C"/>
                </a:solidFill>
                <a:latin typeface="Calibri" pitchFamily="34" charset="0"/>
                <a:ea typeface="Calibri" pitchFamily="34" charset="-122"/>
                <a:cs typeface="Calibri" pitchFamily="34" charset="-120"/>
              </a:rPr>
              <a:t>Sonuç  </a:t>
            </a:r>
            <a:r>
              <a:rPr lang="en-US" sz="1700" dirty="0">
                <a:solidFill>
                  <a:srgbClr val="212121"/>
                </a:solidFill>
                <a:latin typeface="Calibri" pitchFamily="34" charset="0"/>
                <a:ea typeface="Calibri" pitchFamily="34" charset="-122"/>
                <a:cs typeface="Calibri" pitchFamily="34" charset="-120"/>
              </a:rPr>
              <a:t>Global −10, yarı-global </a:t>
            </a:r>
            <a:r>
              <a:rPr lang="en-US" sz="1700" b="1" dirty="0">
                <a:solidFill>
                  <a:srgbClr val="212121"/>
                </a:solidFill>
                <a:latin typeface="Calibri" pitchFamily="34" charset="0"/>
                <a:ea typeface="Calibri" pitchFamily="34" charset="-122"/>
                <a:cs typeface="Calibri" pitchFamily="34" charset="-120"/>
              </a:rPr>
              <a:t>6</a:t>
            </a:r>
            <a:r>
              <a:rPr lang="en-US" sz="1700" dirty="0">
                <a:solidFill>
                  <a:srgbClr val="212121"/>
                </a:solidFill>
                <a:latin typeface="Calibri" pitchFamily="34" charset="0"/>
                <a:ea typeface="Calibri" pitchFamily="34" charset="-122"/>
                <a:cs typeface="Calibri" pitchFamily="34" charset="-120"/>
              </a:rPr>
              <a:t>. Okuma haritalamada global skor yanıltıcıdır: okuma uzun diziye mükemmel uyduğu hâlde negatif skor alır.</a:t>
            </a:r>
            <a:endParaRPr lang="en-US" sz="1700" dirty="0"/>
          </a:p>
        </p:txBody>
      </p:sp>
      <p:sp>
        <p:nvSpPr>
          <p:cNvPr id="9" name="Text 7"/>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6: Global hizalama (NW)</a:t>
            </a:r>
            <a:endParaRPr lang="en-US" sz="900" dirty="0"/>
          </a:p>
        </p:txBody>
      </p:sp>
      <p:sp>
        <p:nvSpPr>
          <p:cNvPr id="10" name="Text 8"/>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ECEFF1"/>
        </a:solidFill>
      </p:bgPr>
    </p:bg>
    <p:spTree>
      <p:nvGrpSpPr>
        <p:cNvPr id="1" name=""/>
        <p:cNvGrpSpPr/>
        <p:nvPr/>
      </p:nvGrpSpPr>
      <p:grpSpPr>
        <a:xfrm>
          <a:off x="0" y="0"/>
          <a:ext cx="0" cy="0"/>
          <a:chOff x="0" y="0"/>
          <a:chExt cx="0" cy="0"/>
        </a:xfrm>
      </p:grpSpPr>
      <p:sp>
        <p:nvSpPr>
          <p:cNvPr id="2" name="Text 0"/>
          <p:cNvSpPr txBox="1"/>
          <p:nvPr/>
        </p:nvSpPr>
        <p:spPr>
          <a:xfrm>
            <a:off x="548640" y="1920240"/>
            <a:ext cx="2011680" cy="2011680"/>
          </a:xfrm>
          <a:prstGeom prst="rect">
            <a:avLst/>
          </a:prstGeom>
          <a:noFill/>
          <a:ln/>
        </p:spPr>
        <p:txBody>
          <a:bodyPr wrap="square" lIns="0" tIns="0" rIns="0" bIns="0" rtlCol="0" anchor="ctr"/>
          <a:lstStyle/>
          <a:p>
            <a:pPr indent="0" marL="0">
              <a:buNone/>
            </a:pPr>
            <a:r>
              <a:rPr lang="en-US" sz="11000" b="1" dirty="0">
                <a:solidFill>
                  <a:srgbClr val="B71C1C"/>
                </a:solidFill>
                <a:latin typeface="Calibri" pitchFamily="34" charset="0"/>
                <a:ea typeface="Calibri" pitchFamily="34" charset="-122"/>
                <a:cs typeface="Calibri" pitchFamily="34" charset="-120"/>
              </a:rPr>
              <a:t>4</a:t>
            </a:r>
            <a:endParaRPr lang="en-US" sz="11000" dirty="0"/>
          </a:p>
        </p:txBody>
      </p:sp>
      <p:sp>
        <p:nvSpPr>
          <p:cNvPr id="3" name="Text 1"/>
          <p:cNvSpPr txBox="1"/>
          <p:nvPr/>
        </p:nvSpPr>
        <p:spPr>
          <a:xfrm>
            <a:off x="2834640" y="2103120"/>
            <a:ext cx="8808415" cy="1005840"/>
          </a:xfrm>
          <a:prstGeom prst="rect">
            <a:avLst/>
          </a:prstGeom>
          <a:noFill/>
          <a:ln/>
        </p:spPr>
        <p:txBody>
          <a:bodyPr wrap="square" lIns="0" tIns="0" rIns="0" bIns="0" rtlCol="0" anchor="b"/>
          <a:lstStyle/>
          <a:p>
            <a:pPr indent="0" marL="0">
              <a:buNone/>
            </a:pPr>
            <a:r>
              <a:rPr lang="en-US" sz="3400" b="1" dirty="0">
                <a:solidFill>
                  <a:srgbClr val="263238"/>
                </a:solidFill>
                <a:latin typeface="Calibri" pitchFamily="34" charset="0"/>
                <a:ea typeface="Calibri" pitchFamily="34" charset="-122"/>
                <a:cs typeface="Calibri" pitchFamily="34" charset="-120"/>
              </a:rPr>
              <a:t>Karmaşıklık ve Hirschberg</a:t>
            </a:r>
            <a:endParaRPr lang="en-US" sz="3400" dirty="0"/>
          </a:p>
        </p:txBody>
      </p:sp>
      <p:sp>
        <p:nvSpPr>
          <p:cNvPr id="4" name="Text 2"/>
          <p:cNvSpPr txBox="1"/>
          <p:nvPr/>
        </p:nvSpPr>
        <p:spPr>
          <a:xfrm>
            <a:off x="2834640" y="3200400"/>
            <a:ext cx="8808415" cy="1097280"/>
          </a:xfrm>
          <a:prstGeom prst="rect">
            <a:avLst/>
          </a:prstGeom>
          <a:noFill/>
          <a:ln/>
        </p:spPr>
        <p:txBody>
          <a:bodyPr wrap="square" lIns="0" tIns="0" rIns="0" bIns="0" rtlCol="0" anchor="t"/>
          <a:lstStyle/>
          <a:p>
            <a:pPr indent="0" marL="0">
              <a:buNone/>
            </a:pPr>
            <a:r>
              <a:rPr lang="en-US" sz="1700" dirty="0">
                <a:solidFill>
                  <a:srgbClr val="546E7A"/>
                </a:solidFill>
                <a:latin typeface="Calibri" pitchFamily="34" charset="0"/>
                <a:ea typeface="Calibri" pitchFamily="34" charset="-122"/>
                <a:cs typeface="Calibri" pitchFamily="34" charset="-120"/>
              </a:rPr>
              <a:t>O(mn) zaman kaçınılmaz; bellek O(min(m, n))'e iner</a:t>
            </a:r>
            <a:endParaRPr lang="en-US" sz="17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Zaman ve bellek: ne kadar büyük?</a:t>
            </a:r>
            <a:endParaRPr lang="en-US" sz="30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094415" cy="914400"/>
        </p:xfrm>
        <a:graphic>
          <a:graphicData uri="http://schemas.openxmlformats.org/drawingml/2006/table">
            <a:tbl>
              <a:tblPr/>
              <a:tblGrid>
                <a:gridCol w="2743780"/>
                <a:gridCol w="1908717"/>
                <a:gridCol w="2505191"/>
                <a:gridCol w="3936728"/>
              </a:tblGrid>
              <a:tr h="0">
                <a:tc>
                  <a:txBody>
                    <a:bodyPr/>
                    <a:lstStyle/>
                    <a:p>
                      <a:pPr algn="l" indent="0" marL="0">
                        <a:buNone/>
                      </a:pPr>
                      <a:r>
                        <a:rPr lang="en-US" sz="1800" b="1" dirty="0">
                          <a:solidFill>
                            <a:srgbClr val="212121"/>
                          </a:solidFill>
                          <a:latin typeface="Calibri" pitchFamily="34" charset="0"/>
                          <a:ea typeface="Calibri" pitchFamily="34" charset="-122"/>
                          <a:cs typeface="Calibri" pitchFamily="34" charset="-120"/>
                        </a:rPr>
                        <a:t>Dizi uzunlukları</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800" b="1" dirty="0">
                          <a:solidFill>
                            <a:srgbClr val="212121"/>
                          </a:solidFill>
                          <a:latin typeface="Calibri" pitchFamily="34" charset="0"/>
                          <a:ea typeface="Calibri" pitchFamily="34" charset="-122"/>
                          <a:cs typeface="Calibri" pitchFamily="34" charset="-120"/>
                        </a:rPr>
                        <a:t>Hücre sayısı</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800" b="1" dirty="0">
                          <a:solidFill>
                            <a:srgbClr val="212121"/>
                          </a:solidFill>
                          <a:latin typeface="Calibri" pitchFamily="34" charset="0"/>
                          <a:ea typeface="Calibri" pitchFamily="34" charset="-122"/>
                          <a:cs typeface="Calibri" pitchFamily="34" charset="-120"/>
                        </a:rPr>
                        <a:t>8 bayt/hücre bellek</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800" b="1" dirty="0">
                          <a:solidFill>
                            <a:srgbClr val="212121"/>
                          </a:solidFill>
                          <a:latin typeface="Calibri" pitchFamily="34" charset="0"/>
                          <a:ea typeface="Calibri" pitchFamily="34" charset="-122"/>
                          <a:cs typeface="Calibri" pitchFamily="34" charset="-120"/>
                        </a:rPr>
                        <a:t>Örnek</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r>
              <a:tr h="0">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1 000 × 1 000</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10⁶</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8 MB</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İki gen</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10 000 × 10 000</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10⁸</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800 MB</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İki viral genom</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1 Mbp × 1 Mbp</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10¹²</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8 TB</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İki bakteri kromozom bölgesi</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248 Mbp × 195 Mbp</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4.8 × 10¹⁶</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 387 PB</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İnsan kr. 1 × fare kr. 1</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r>
            </a:tbl>
          </a:graphicData>
        </a:graphic>
      </p:graphicFrame>
      <p:sp>
        <p:nvSpPr>
          <p:cNvPr id="4" name="Shape 1"/>
          <p:cNvSpPr/>
          <p:nvPr/>
        </p:nvSpPr>
        <p:spPr>
          <a:xfrm>
            <a:off x="548640" y="3383280"/>
            <a:ext cx="11094415" cy="822960"/>
          </a:xfrm>
          <a:prstGeom prst="roundRect">
            <a:avLst>
              <a:gd name="adj" fmla="val 8889"/>
            </a:avLst>
          </a:prstGeom>
          <a:solidFill>
            <a:srgbClr val="FDECEA"/>
          </a:solidFill>
          <a:ln/>
        </p:spPr>
      </p:sp>
      <p:sp>
        <p:nvSpPr>
          <p:cNvPr id="5" name="Text 2"/>
          <p:cNvSpPr txBox="1"/>
          <p:nvPr/>
        </p:nvSpPr>
        <p:spPr>
          <a:xfrm>
            <a:off x="731520" y="3383280"/>
            <a:ext cx="10728655" cy="822960"/>
          </a:xfrm>
          <a:prstGeom prst="rect">
            <a:avLst/>
          </a:prstGeom>
          <a:noFill/>
          <a:ln/>
        </p:spPr>
        <p:txBody>
          <a:bodyPr wrap="square" lIns="0" tIns="0" rIns="0" bIns="0" rtlCol="0" anchor="ctr"/>
          <a:lstStyle/>
          <a:p>
            <a:pPr indent="0" marL="0">
              <a:buNone/>
            </a:pPr>
            <a:r>
              <a:rPr lang="en-US" sz="1450" dirty="0">
                <a:solidFill>
                  <a:srgbClr val="212121"/>
                </a:solidFill>
                <a:latin typeface="Calibri" pitchFamily="34" charset="0"/>
                <a:ea typeface="Calibri" pitchFamily="34" charset="-122"/>
                <a:cs typeface="Calibri" pitchFamily="34" charset="-120"/>
              </a:rPr>
              <a:t>Zaman O(mn) kaçınılmazdır (her hücre bakılmalı). Bellek ise azaltılabilir: </a:t>
            </a:r>
            <a:r>
              <a:rPr lang="en-US" sz="1450" b="1" dirty="0">
                <a:solidFill>
                  <a:srgbClr val="212121"/>
                </a:solidFill>
                <a:latin typeface="Calibri" pitchFamily="34" charset="0"/>
                <a:ea typeface="Calibri" pitchFamily="34" charset="-122"/>
                <a:cs typeface="Calibri" pitchFamily="34" charset="-120"/>
              </a:rPr>
              <a:t>yalnızca skor</a:t>
            </a:r>
            <a:r>
              <a:rPr lang="en-US" sz="1450" dirty="0">
                <a:solidFill>
                  <a:srgbClr val="212121"/>
                </a:solidFill>
                <a:latin typeface="Calibri" pitchFamily="34" charset="0"/>
                <a:ea typeface="Calibri" pitchFamily="34" charset="-122"/>
                <a:cs typeface="Calibri" pitchFamily="34" charset="-120"/>
              </a:rPr>
              <a:t> için iki satır (O(n)); </a:t>
            </a:r>
            <a:r>
              <a:rPr lang="en-US" sz="1450" b="1" dirty="0">
                <a:solidFill>
                  <a:srgbClr val="212121"/>
                </a:solidFill>
                <a:latin typeface="Calibri" pitchFamily="34" charset="0"/>
                <a:ea typeface="Calibri" pitchFamily="34" charset="-122"/>
                <a:cs typeface="Calibri" pitchFamily="34" charset="-120"/>
              </a:rPr>
              <a:t>hizalama</a:t>
            </a:r>
            <a:r>
              <a:rPr lang="en-US" sz="1450" dirty="0">
                <a:solidFill>
                  <a:srgbClr val="212121"/>
                </a:solidFill>
                <a:latin typeface="Calibri" pitchFamily="34" charset="0"/>
                <a:ea typeface="Calibri" pitchFamily="34" charset="-122"/>
                <a:cs typeface="Calibri" pitchFamily="34" charset="-120"/>
              </a:rPr>
              <a:t> için Hirschberg (O(min(m, n)) bellek, ≈ 2 kat zaman). Genom ölçeğinde çözüm: sezgisel yöntemler (BLAST, 8. hafta).</a:t>
            </a:r>
            <a:endParaRPr lang="en-US" sz="1450" dirty="0"/>
          </a:p>
        </p:txBody>
      </p:sp>
      <p:sp>
        <p:nvSpPr>
          <p:cNvPr id="6" name="Text 3"/>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6: Global hizalama (NW)</a:t>
            </a:r>
            <a:endParaRPr lang="en-US" sz="900" dirty="0"/>
          </a:p>
        </p:txBody>
      </p:sp>
      <p:sp>
        <p:nvSpPr>
          <p:cNvPr id="7" name="Text 4"/>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Ölçüm: süre hücre sayısıyla doğrusal</a:t>
            </a:r>
            <a:endParaRPr lang="en-US" sz="3000" dirty="0"/>
          </a:p>
        </p:txBody>
      </p:sp>
      <p:pic>
        <p:nvPicPr>
          <p:cNvPr id="3" name="Image 0" descr="p06_karmasiklik.png">    </p:cNvPr>
          <p:cNvPicPr>
            <a:picLocks noChangeAspect="1"/>
          </p:cNvPicPr>
          <p:nvPr/>
        </p:nvPicPr>
        <p:blipFill>
          <a:blip r:embed="rId1"/>
          <a:stretch>
            <a:fillRect/>
          </a:stretch>
        </p:blipFill>
        <p:spPr>
          <a:xfrm>
            <a:off x="548640" y="2298827"/>
            <a:ext cx="7322314" cy="2900427"/>
          </a:xfrm>
          <a:prstGeom prst="rect">
            <a:avLst/>
          </a:prstGeom>
        </p:spPr>
      </p:pic>
      <p:sp>
        <p:nvSpPr>
          <p:cNvPr id="4" name="Text 1"/>
          <p:cNvSpPr txBox="1"/>
          <p:nvPr/>
        </p:nvSpPr>
        <p:spPr>
          <a:xfrm>
            <a:off x="8190994" y="1234440"/>
            <a:ext cx="3452061" cy="5029200"/>
          </a:xfrm>
          <a:prstGeom prst="rect">
            <a:avLst/>
          </a:prstGeom>
          <a:noFill/>
          <a:ln/>
        </p:spPr>
        <p:txBody>
          <a:bodyPr wrap="square" lIns="25400" tIns="25400" rIns="50800" bIns="25400" rtlCol="0" anchor="t"/>
          <a:lstStyle/>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Rastgele DNA çiftleri, L = 50 … 400</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Sol: süre L ile </a:t>
            </a:r>
            <a:r>
              <a:rPr lang="en-US" sz="1700" b="1" dirty="0">
                <a:solidFill>
                  <a:srgbClr val="212121"/>
                </a:solidFill>
                <a:latin typeface="Calibri" pitchFamily="34" charset="0"/>
                <a:ea typeface="Calibri" pitchFamily="34" charset="-122"/>
                <a:cs typeface="Calibri" pitchFamily="34" charset="-120"/>
              </a:rPr>
              <a:t>parabol</a:t>
            </a:r>
            <a:r>
              <a:rPr lang="en-US" sz="1700" dirty="0">
                <a:solidFill>
                  <a:srgbClr val="212121"/>
                </a:solidFill>
                <a:latin typeface="Calibri" pitchFamily="34" charset="0"/>
                <a:ea typeface="Calibri" pitchFamily="34" charset="-122"/>
                <a:cs typeface="Calibri" pitchFamily="34" charset="-120"/>
              </a:rPr>
              <a:t> gibi artar</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Sağ: süre L²'ye karşı </a:t>
            </a:r>
            <a:r>
              <a:rPr lang="en-US" sz="1700" b="1" dirty="0">
                <a:solidFill>
                  <a:srgbClr val="212121"/>
                </a:solidFill>
                <a:latin typeface="Calibri" pitchFamily="34" charset="0"/>
                <a:ea typeface="Calibri" pitchFamily="34" charset="-122"/>
                <a:cs typeface="Calibri" pitchFamily="34" charset="-120"/>
              </a:rPr>
              <a:t>doğrusal</a:t>
            </a:r>
            <a:r>
              <a:rPr lang="en-US" sz="1700" dirty="0">
                <a:solidFill>
                  <a:srgbClr val="212121"/>
                </a:solidFill>
                <a:latin typeface="Calibri" pitchFamily="34" charset="0"/>
                <a:ea typeface="Calibri" pitchFamily="34" charset="-122"/>
                <a:cs typeface="Calibri" pitchFamily="34" charset="-120"/>
              </a:rPr>
              <a:t> → O(mn) doğrulandı</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L = 400: </a:t>
            </a:r>
            <a:r>
              <a:rPr lang="en-US" sz="1700" dirty="0">
                <a:solidFill>
                  <a:srgbClr val="455A64"/>
                </a:solidFill>
                <a:latin typeface="Courier New" pitchFamily="34" charset="0"/>
                <a:ea typeface="Courier New" pitchFamily="34" charset="-122"/>
                <a:cs typeface="Courier New" pitchFamily="34" charset="-120"/>
              </a:rPr>
              <a:t>nw_doldur</a:t>
            </a:r>
            <a:r>
              <a:rPr lang="en-US" sz="1700" dirty="0">
                <a:solidFill>
                  <a:srgbClr val="212121"/>
                </a:solidFill>
                <a:latin typeface="Calibri" pitchFamily="34" charset="0"/>
                <a:ea typeface="Calibri" pitchFamily="34" charset="-122"/>
                <a:cs typeface="Calibri" pitchFamily="34" charset="-120"/>
              </a:rPr>
              <a:t> ≈ </a:t>
            </a:r>
            <a:r>
              <a:rPr lang="en-US" sz="1700" b="1" dirty="0">
                <a:solidFill>
                  <a:srgbClr val="212121"/>
                </a:solidFill>
                <a:latin typeface="Calibri" pitchFamily="34" charset="0"/>
                <a:ea typeface="Calibri" pitchFamily="34" charset="-122"/>
                <a:cs typeface="Calibri" pitchFamily="34" charset="-120"/>
              </a:rPr>
              <a:t>0.45 s</a:t>
            </a:r>
            <a:r>
              <a:rPr lang="en-US" sz="1700" dirty="0">
                <a:solidFill>
                  <a:srgbClr val="212121"/>
                </a:solidFill>
                <a:latin typeface="Calibri" pitchFamily="34" charset="0"/>
                <a:ea typeface="Calibri" pitchFamily="34" charset="-122"/>
                <a:cs typeface="Calibri" pitchFamily="34" charset="-120"/>
              </a:rPr>
              <a:t>, </a:t>
            </a:r>
            <a:r>
              <a:rPr lang="en-US" sz="1700" dirty="0">
                <a:solidFill>
                  <a:srgbClr val="455A64"/>
                </a:solidFill>
                <a:latin typeface="Courier New" pitchFamily="34" charset="0"/>
                <a:ea typeface="Courier New" pitchFamily="34" charset="-122"/>
                <a:cs typeface="Courier New" pitchFamily="34" charset="-120"/>
              </a:rPr>
              <a:t>PairwiseAligner.score</a:t>
            </a:r>
            <a:r>
              <a:rPr lang="en-US" sz="1700" dirty="0">
                <a:solidFill>
                  <a:srgbClr val="212121"/>
                </a:solidFill>
                <a:latin typeface="Calibri" pitchFamily="34" charset="0"/>
                <a:ea typeface="Calibri" pitchFamily="34" charset="-122"/>
                <a:cs typeface="Calibri" pitchFamily="34" charset="-120"/>
              </a:rPr>
              <a:t> ≈ </a:t>
            </a:r>
            <a:r>
              <a:rPr lang="en-US" sz="1700" b="1" dirty="0">
                <a:solidFill>
                  <a:srgbClr val="212121"/>
                </a:solidFill>
                <a:latin typeface="Calibri" pitchFamily="34" charset="0"/>
                <a:ea typeface="Calibri" pitchFamily="34" charset="-122"/>
                <a:cs typeface="Calibri" pitchFamily="34" charset="-120"/>
              </a:rPr>
              <a:t>0.3 ms</a:t>
            </a:r>
            <a:r>
              <a:rPr lang="en-US" sz="1700" dirty="0">
                <a:solidFill>
                  <a:srgbClr val="212121"/>
                </a:solidFill>
                <a:latin typeface="Calibri" pitchFamily="34" charset="0"/>
                <a:ea typeface="Calibri" pitchFamily="34" charset="-122"/>
                <a:cs typeface="Calibri" pitchFamily="34" charset="-120"/>
              </a:rPr>
              <a:t> (≈ 1300×)</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Sabit çarpan farkı algoritmayı değil </a:t>
            </a:r>
            <a:r>
              <a:rPr lang="en-US" sz="1700" b="1" dirty="0">
                <a:solidFill>
                  <a:srgbClr val="212121"/>
                </a:solidFill>
                <a:latin typeface="Calibri" pitchFamily="34" charset="0"/>
                <a:ea typeface="Calibri" pitchFamily="34" charset="-122"/>
                <a:cs typeface="Calibri" pitchFamily="34" charset="-120"/>
              </a:rPr>
              <a:t>uygulamayı</a:t>
            </a:r>
            <a:r>
              <a:rPr lang="en-US" sz="1700" dirty="0">
                <a:solidFill>
                  <a:srgbClr val="212121"/>
                </a:solidFill>
                <a:latin typeface="Calibri" pitchFamily="34" charset="0"/>
                <a:ea typeface="Calibri" pitchFamily="34" charset="-122"/>
                <a:cs typeface="Calibri" pitchFamily="34" charset="-120"/>
              </a:rPr>
              <a:t> gösterir (C, Python yorumlayıcısı yok)</a:t>
            </a:r>
            <a:endParaRPr lang="en-US" sz="1700" dirty="0"/>
          </a:p>
        </p:txBody>
      </p:sp>
      <p:sp>
        <p:nvSpPr>
          <p:cNvPr id="5" name="Text 2"/>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6: Global hizalama (NW)</a:t>
            </a:r>
            <a:endParaRPr lang="en-US" sz="900" dirty="0"/>
          </a:p>
        </p:txBody>
      </p:sp>
      <p:sp>
        <p:nvSpPr>
          <p:cNvPr id="6" name="Text 3"/>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Hirschberg: böl ve yönet</a:t>
            </a:r>
            <a:endParaRPr lang="en-US" sz="3000" dirty="0"/>
          </a:p>
        </p:txBody>
      </p:sp>
      <p:pic>
        <p:nvPicPr>
          <p:cNvPr id="3" name="Image 0" descr="p06_hirschberg.png">    </p:cNvPr>
          <p:cNvPicPr>
            <a:picLocks noChangeAspect="1"/>
          </p:cNvPicPr>
          <p:nvPr/>
        </p:nvPicPr>
        <p:blipFill>
          <a:blip r:embed="rId1"/>
          <a:stretch>
            <a:fillRect/>
          </a:stretch>
        </p:blipFill>
        <p:spPr>
          <a:xfrm>
            <a:off x="548640" y="1308269"/>
            <a:ext cx="6101928" cy="4881543"/>
          </a:xfrm>
          <a:prstGeom prst="rect">
            <a:avLst/>
          </a:prstGeom>
        </p:spPr>
      </p:pic>
      <p:sp>
        <p:nvSpPr>
          <p:cNvPr id="4" name="Text 1"/>
          <p:cNvSpPr txBox="1"/>
          <p:nvPr/>
        </p:nvSpPr>
        <p:spPr>
          <a:xfrm>
            <a:off x="6970608" y="1234440"/>
            <a:ext cx="4672447" cy="5029200"/>
          </a:xfrm>
          <a:prstGeom prst="rect">
            <a:avLst/>
          </a:prstGeom>
          <a:noFill/>
          <a:ln/>
        </p:spPr>
        <p:txBody>
          <a:bodyPr wrap="square" lIns="25400" tIns="25400" rIns="50800" bIns="25400" rtlCol="0" anchor="t"/>
          <a:lstStyle/>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x'i ortadan ikiye böl: üst yarı </a:t>
            </a:r>
            <a:r>
              <a:rPr lang="en-US" sz="1700" b="1" dirty="0">
                <a:solidFill>
                  <a:srgbClr val="212121"/>
                </a:solidFill>
                <a:latin typeface="Calibri" pitchFamily="34" charset="0"/>
                <a:ea typeface="Calibri" pitchFamily="34" charset="-122"/>
                <a:cs typeface="Calibri" pitchFamily="34" charset="-120"/>
              </a:rPr>
              <a:t>ileri</a:t>
            </a:r>
            <a:r>
              <a:rPr lang="en-US" sz="1700" dirty="0">
                <a:solidFill>
                  <a:srgbClr val="212121"/>
                </a:solidFill>
                <a:latin typeface="Calibri" pitchFamily="34" charset="0"/>
                <a:ea typeface="Calibri" pitchFamily="34" charset="-122"/>
                <a:cs typeface="Calibri" pitchFamily="34" charset="-120"/>
              </a:rPr>
              <a:t>, alt yarı </a:t>
            </a:r>
            <a:r>
              <a:rPr lang="en-US" sz="1700" b="1" dirty="0">
                <a:solidFill>
                  <a:srgbClr val="212121"/>
                </a:solidFill>
                <a:latin typeface="Calibri" pitchFamily="34" charset="0"/>
                <a:ea typeface="Calibri" pitchFamily="34" charset="-122"/>
                <a:cs typeface="Calibri" pitchFamily="34" charset="-120"/>
              </a:rPr>
              <a:t>ters çevrilmiş</a:t>
            </a:r>
            <a:r>
              <a:rPr lang="en-US" sz="1700" dirty="0">
                <a:solidFill>
                  <a:srgbClr val="212121"/>
                </a:solidFill>
                <a:latin typeface="Calibri" pitchFamily="34" charset="0"/>
                <a:ea typeface="Calibri" pitchFamily="34" charset="-122"/>
                <a:cs typeface="Calibri" pitchFamily="34" charset="-120"/>
              </a:rPr>
              <a:t> dizilerle geri DP</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Her iki DP yalnızca </a:t>
            </a:r>
            <a:r>
              <a:rPr lang="en-US" sz="1700" b="1" dirty="0">
                <a:solidFill>
                  <a:srgbClr val="212121"/>
                </a:solidFill>
                <a:latin typeface="Calibri" pitchFamily="34" charset="0"/>
                <a:ea typeface="Calibri" pitchFamily="34" charset="-122"/>
                <a:cs typeface="Calibri" pitchFamily="34" charset="-120"/>
              </a:rPr>
              <a:t>son satırını</a:t>
            </a:r>
            <a:r>
              <a:rPr lang="en-US" sz="1700" dirty="0">
                <a:solidFill>
                  <a:srgbClr val="212121"/>
                </a:solidFill>
                <a:latin typeface="Calibri" pitchFamily="34" charset="0"/>
                <a:ea typeface="Calibri" pitchFamily="34" charset="-122"/>
                <a:cs typeface="Calibri" pitchFamily="34" charset="-120"/>
              </a:rPr>
              <a:t> tutar → O(n) bellek</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İki satırın toplamının maksimumu = F(m, n); yeri </a:t>
            </a:r>
            <a:r>
              <a:rPr lang="en-US" sz="1700" b="1" dirty="0">
                <a:solidFill>
                  <a:srgbClr val="212121"/>
                </a:solidFill>
                <a:latin typeface="Calibri" pitchFamily="34" charset="0"/>
                <a:ea typeface="Calibri" pitchFamily="34" charset="-122"/>
                <a:cs typeface="Calibri" pitchFamily="34" charset="-120"/>
              </a:rPr>
              <a:t>j</a:t>
            </a:r>
            <a:r>
              <a:rPr lang="en-US" sz="1700" dirty="0">
                <a:solidFill>
                  <a:srgbClr val="212121"/>
                </a:solidFill>
                <a:latin typeface="Calibri" pitchFamily="34" charset="0"/>
                <a:ea typeface="Calibri" pitchFamily="34" charset="-122"/>
                <a:cs typeface="Calibri" pitchFamily="34" charset="-120"/>
              </a:rPr>
              <a:t>* (optimal yolun orta satırı kestiği sütun)</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Problem ikiye bölünür: (x'in üst yarısı, y'nin j*'a kadarki kısmı) ve (alt yarı, y'nin kalanı) → özyineleme</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Toplam zaman ≈ 2mn; bellek O(min(m, n))</a:t>
            </a:r>
            <a:endParaRPr lang="en-US" sz="1700" dirty="0"/>
          </a:p>
        </p:txBody>
      </p:sp>
      <p:sp>
        <p:nvSpPr>
          <p:cNvPr id="5" name="Text 2"/>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6: Global hizalama (NW)</a:t>
            </a:r>
            <a:endParaRPr lang="en-US" sz="900" dirty="0"/>
          </a:p>
        </p:txBody>
      </p:sp>
      <p:sp>
        <p:nvSpPr>
          <p:cNvPr id="6" name="Text 3"/>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Hirschberg: orta satırda bölme</a:t>
            </a:r>
            <a:endParaRPr lang="en-US" sz="3000" dirty="0"/>
          </a:p>
        </p:txBody>
      </p:sp>
      <p:sp>
        <p:nvSpPr>
          <p:cNvPr id="3" name="Text 1"/>
          <p:cNvSpPr txBox="1"/>
          <p:nvPr/>
        </p:nvSpPr>
        <p:spPr>
          <a:xfrm>
            <a:off x="548640" y="987552"/>
            <a:ext cx="11094415" cy="365760"/>
          </a:xfrm>
          <a:prstGeom prst="rect">
            <a:avLst/>
          </a:prstGeom>
          <a:noFill/>
          <a:ln/>
        </p:spPr>
        <p:txBody>
          <a:bodyPr wrap="square" lIns="0" tIns="0" rIns="0" bIns="0" rtlCol="0" anchor="t"/>
          <a:lstStyle/>
          <a:p>
            <a:pPr indent="0" marL="0">
              <a:buNone/>
            </a:pPr>
            <a:r>
              <a:rPr lang="en-US" sz="1500" i="1" dirty="0">
                <a:solidFill>
                  <a:srgbClr val="546E7A"/>
                </a:solidFill>
                <a:latin typeface="Calibri" pitchFamily="34" charset="0"/>
                <a:ea typeface="Calibri" pitchFamily="34" charset="-122"/>
                <a:cs typeface="Calibri" pitchFamily="34" charset="-120"/>
              </a:rPr>
              <a:t>Çözümlü örnek — yeni, CATGCA / CAGCA</a:t>
            </a:r>
            <a:endParaRPr lang="en-US" sz="1500" dirty="0"/>
          </a:p>
        </p:txBody>
      </p:sp>
      <p:sp>
        <p:nvSpPr>
          <p:cNvPr id="4" name="Shape 2"/>
          <p:cNvSpPr/>
          <p:nvPr/>
        </p:nvSpPr>
        <p:spPr>
          <a:xfrm>
            <a:off x="548640" y="1463040"/>
            <a:ext cx="11094415" cy="1088136"/>
          </a:xfrm>
          <a:prstGeom prst="roundRect">
            <a:avLst>
              <a:gd name="adj" fmla="val 6723"/>
            </a:avLst>
          </a:prstGeom>
          <a:solidFill>
            <a:srgbClr val="ECEFF1"/>
          </a:solidFill>
          <a:ln/>
        </p:spPr>
      </p:sp>
      <p:sp>
        <p:nvSpPr>
          <p:cNvPr id="5" name="Text 3"/>
          <p:cNvSpPr txBox="1"/>
          <p:nvPr/>
        </p:nvSpPr>
        <p:spPr>
          <a:xfrm>
            <a:off x="685800" y="1508760"/>
            <a:ext cx="10820095" cy="996696"/>
          </a:xfrm>
          <a:prstGeom prst="rect">
            <a:avLst/>
          </a:prstGeom>
          <a:noFill/>
          <a:ln/>
        </p:spPr>
        <p:txBody>
          <a:bodyPr wrap="square" lIns="0" tIns="0" rIns="0" bIns="0" rtlCol="0" anchor="ctr"/>
          <a:lstStyle/>
          <a:p>
            <a:pPr indent="0" marL="0">
              <a:buNone/>
            </a:pPr>
            <a:r>
              <a:rPr lang="en-US" sz="1800" b="1" dirty="0">
                <a:solidFill>
                  <a:srgbClr val="B71C1C"/>
                </a:solidFill>
                <a:latin typeface="Calibri" pitchFamily="34" charset="0"/>
                <a:ea typeface="Calibri" pitchFamily="34" charset="-122"/>
                <a:cs typeface="Calibri" pitchFamily="34" charset="-120"/>
              </a:rPr>
              <a:t>Soru  </a:t>
            </a:r>
            <a:r>
              <a:rPr lang="en-US" sz="1800" dirty="0">
                <a:solidFill>
                  <a:srgbClr val="212121"/>
                </a:solidFill>
                <a:latin typeface="Calibri" pitchFamily="34" charset="0"/>
                <a:ea typeface="Calibri" pitchFamily="34" charset="-122"/>
                <a:cs typeface="Calibri" pitchFamily="34" charset="-120"/>
              </a:rPr>
              <a:t>x'i ortadan böl (</a:t>
            </a:r>
            <a:r>
              <a:rPr lang="en-US" sz="1800" dirty="0">
                <a:solidFill>
                  <a:srgbClr val="455A64"/>
                </a:solidFill>
                <a:latin typeface="Courier New" pitchFamily="34" charset="0"/>
                <a:ea typeface="Courier New" pitchFamily="34" charset="-122"/>
                <a:cs typeface="Courier New" pitchFamily="34" charset="-120"/>
              </a:rPr>
              <a:t>CAT</a:t>
            </a:r>
            <a:r>
              <a:rPr lang="en-US" sz="1800" dirty="0">
                <a:solidFill>
                  <a:srgbClr val="212121"/>
                </a:solidFill>
                <a:latin typeface="Calibri" pitchFamily="34" charset="0"/>
                <a:ea typeface="Calibri" pitchFamily="34" charset="-122"/>
                <a:cs typeface="Calibri" pitchFamily="34" charset="-120"/>
              </a:rPr>
              <a:t> | </a:t>
            </a:r>
            <a:r>
              <a:rPr lang="en-US" sz="1800" dirty="0">
                <a:solidFill>
                  <a:srgbClr val="455A64"/>
                </a:solidFill>
                <a:latin typeface="Courier New" pitchFamily="34" charset="0"/>
                <a:ea typeface="Courier New" pitchFamily="34" charset="-122"/>
                <a:cs typeface="Courier New" pitchFamily="34" charset="-120"/>
              </a:rPr>
              <a:t>GCA</a:t>
            </a:r>
            <a:r>
              <a:rPr lang="en-US" sz="1800" dirty="0">
                <a:solidFill>
                  <a:srgbClr val="212121"/>
                </a:solidFill>
                <a:latin typeface="Calibri" pitchFamily="34" charset="0"/>
                <a:ea typeface="Calibri" pitchFamily="34" charset="-122"/>
                <a:cs typeface="Calibri" pitchFamily="34" charset="-120"/>
              </a:rPr>
              <a:t>). İleri DP'nin son satırı ile ters çevrilmiş dizilerle geri DP'nin son satırını topla. Optimal bölme sütunu j* nedir?</a:t>
            </a:r>
            <a:endParaRPr lang="en-US" sz="1800" dirty="0"/>
          </a:p>
        </p:txBody>
      </p:sp>
      <p:sp>
        <p:nvSpPr>
          <p:cNvPr id="6" name="Text 4"/>
          <p:cNvSpPr txBox="1"/>
          <p:nvPr/>
        </p:nvSpPr>
        <p:spPr>
          <a:xfrm>
            <a:off x="548640" y="2779776"/>
            <a:ext cx="5547208" cy="2615184"/>
          </a:xfrm>
          <a:prstGeom prst="rect">
            <a:avLst/>
          </a:prstGeom>
          <a:noFill/>
          <a:ln/>
        </p:spPr>
        <p:txBody>
          <a:bodyPr wrap="square" lIns="25400" tIns="25400" rIns="50800" bIns="25400" rtlCol="0" anchor="t"/>
          <a:lstStyle/>
          <a:p>
            <a:pPr marL="342900" indent="-342900">
              <a:spcAft>
                <a:spcPts val="600"/>
              </a:spcAft>
              <a:buSzPct val="100000"/>
              <a:buFont typeface="+mj-lt"/>
              <a:buAutoNum type="arabicPeriod" startAt="1"/>
            </a:pPr>
            <a:r>
              <a:rPr lang="en-US" sz="1500" dirty="0">
                <a:solidFill>
                  <a:srgbClr val="212121"/>
                </a:solidFill>
                <a:latin typeface="Calibri" pitchFamily="34" charset="0"/>
                <a:ea typeface="Calibri" pitchFamily="34" charset="-122"/>
                <a:cs typeface="Calibri" pitchFamily="34" charset="-120"/>
              </a:rPr>
              <a:t>İleri: F(</a:t>
            </a:r>
            <a:r>
              <a:rPr lang="en-US" sz="1500" dirty="0">
                <a:solidFill>
                  <a:srgbClr val="455A64"/>
                </a:solidFill>
                <a:latin typeface="Courier New" pitchFamily="34" charset="0"/>
                <a:ea typeface="Courier New" pitchFamily="34" charset="-122"/>
                <a:cs typeface="Courier New" pitchFamily="34" charset="-120"/>
              </a:rPr>
              <a:t>CAT</a:t>
            </a:r>
            <a:r>
              <a:rPr lang="en-US" sz="1500" dirty="0">
                <a:solidFill>
                  <a:srgbClr val="212121"/>
                </a:solidFill>
                <a:latin typeface="Calibri" pitchFamily="34" charset="0"/>
                <a:ea typeface="Calibri" pitchFamily="34" charset="-122"/>
                <a:cs typeface="Calibri" pitchFamily="34" charset="-120"/>
              </a:rPr>
              <a:t>, y[:j]) = Adım 2 tablosunun T satırı → −6, −3, </a:t>
            </a:r>
            <a:r>
              <a:rPr lang="en-US" sz="1500" b="1" dirty="0">
                <a:solidFill>
                  <a:srgbClr val="212121"/>
                </a:solidFill>
                <a:latin typeface="Calibri" pitchFamily="34" charset="0"/>
                <a:ea typeface="Calibri" pitchFamily="34" charset="-122"/>
                <a:cs typeface="Calibri" pitchFamily="34" charset="-120"/>
              </a:rPr>
              <a:t>0</a:t>
            </a:r>
            <a:r>
              <a:rPr lang="en-US" sz="1500" dirty="0">
                <a:solidFill>
                  <a:srgbClr val="212121"/>
                </a:solidFill>
                <a:latin typeface="Calibri" pitchFamily="34" charset="0"/>
                <a:ea typeface="Calibri" pitchFamily="34" charset="-122"/>
                <a:cs typeface="Calibri" pitchFamily="34" charset="-120"/>
              </a:rPr>
              <a:t>, 1, −1, −3</a:t>
            </a:r>
            <a:endParaRPr lang="en-US" sz="1500" dirty="0"/>
          </a:p>
          <a:p>
            <a:pPr marL="342900" indent="-342900">
              <a:spcAft>
                <a:spcPts val="600"/>
              </a:spcAft>
              <a:buSzPct val="100000"/>
              <a:buFont typeface="+mj-lt"/>
              <a:buAutoNum type="arabicPeriod" startAt="1"/>
            </a:pPr>
            <a:r>
              <a:rPr lang="en-US" sz="1500" dirty="0">
                <a:solidFill>
                  <a:srgbClr val="212121"/>
                </a:solidFill>
                <a:latin typeface="Calibri" pitchFamily="34" charset="0"/>
                <a:ea typeface="Calibri" pitchFamily="34" charset="-122"/>
                <a:cs typeface="Calibri" pitchFamily="34" charset="-120"/>
              </a:rPr>
              <a:t>Geri: F(</a:t>
            </a:r>
            <a:r>
              <a:rPr lang="en-US" sz="1500" dirty="0">
                <a:solidFill>
                  <a:srgbClr val="455A64"/>
                </a:solidFill>
                <a:latin typeface="Courier New" pitchFamily="34" charset="0"/>
                <a:ea typeface="Courier New" pitchFamily="34" charset="-122"/>
                <a:cs typeface="Courier New" pitchFamily="34" charset="-120"/>
              </a:rPr>
              <a:t>GCA</a:t>
            </a:r>
            <a:r>
              <a:rPr lang="en-US" sz="1500" dirty="0">
                <a:solidFill>
                  <a:srgbClr val="212121"/>
                </a:solidFill>
                <a:latin typeface="Calibri" pitchFamily="34" charset="0"/>
                <a:ea typeface="Calibri" pitchFamily="34" charset="-122"/>
                <a:cs typeface="Calibri" pitchFamily="34" charset="-120"/>
              </a:rPr>
              <a:t>, y[j:]) — </a:t>
            </a:r>
            <a:r>
              <a:rPr lang="en-US" sz="1500" dirty="0">
                <a:solidFill>
                  <a:srgbClr val="455A64"/>
                </a:solidFill>
                <a:latin typeface="Courier New" pitchFamily="34" charset="0"/>
                <a:ea typeface="Courier New" pitchFamily="34" charset="-122"/>
                <a:cs typeface="Courier New" pitchFamily="34" charset="-120"/>
              </a:rPr>
              <a:t>ACG</a:t>
            </a:r>
            <a:r>
              <a:rPr lang="en-US" sz="1500" dirty="0">
                <a:solidFill>
                  <a:srgbClr val="212121"/>
                </a:solidFill>
                <a:latin typeface="Calibri" pitchFamily="34" charset="0"/>
                <a:ea typeface="Calibri" pitchFamily="34" charset="-122"/>
                <a:cs typeface="Calibri" pitchFamily="34" charset="-120"/>
              </a:rPr>
              <a:t> ile y'nin tersinin önekleri → −1, 1, </a:t>
            </a:r>
            <a:r>
              <a:rPr lang="en-US" sz="1500" b="1" dirty="0">
                <a:solidFill>
                  <a:srgbClr val="212121"/>
                </a:solidFill>
                <a:latin typeface="Calibri" pitchFamily="34" charset="0"/>
                <a:ea typeface="Calibri" pitchFamily="34" charset="-122"/>
                <a:cs typeface="Calibri" pitchFamily="34" charset="-120"/>
              </a:rPr>
              <a:t>3</a:t>
            </a:r>
            <a:r>
              <a:rPr lang="en-US" sz="1500" dirty="0">
                <a:solidFill>
                  <a:srgbClr val="212121"/>
                </a:solidFill>
                <a:latin typeface="Calibri" pitchFamily="34" charset="0"/>
                <a:ea typeface="Calibri" pitchFamily="34" charset="-122"/>
                <a:cs typeface="Calibri" pitchFamily="34" charset="-120"/>
              </a:rPr>
              <a:t>, 0, −3, −6</a:t>
            </a:r>
            <a:endParaRPr lang="en-US" sz="1500" dirty="0"/>
          </a:p>
          <a:p>
            <a:pPr marL="342900" indent="-342900">
              <a:spcAft>
                <a:spcPts val="600"/>
              </a:spcAft>
              <a:buSzPct val="100000"/>
              <a:buFont typeface="+mj-lt"/>
              <a:buAutoNum type="arabicPeriod" startAt="1"/>
            </a:pPr>
            <a:r>
              <a:rPr lang="en-US" sz="1500" dirty="0">
                <a:solidFill>
                  <a:srgbClr val="212121"/>
                </a:solidFill>
                <a:latin typeface="Calibri" pitchFamily="34" charset="0"/>
                <a:ea typeface="Calibri" pitchFamily="34" charset="-122"/>
                <a:cs typeface="Calibri" pitchFamily="34" charset="-120"/>
              </a:rPr>
              <a:t>Toplam: −7, −2, </a:t>
            </a:r>
            <a:r>
              <a:rPr lang="en-US" sz="1500" b="1" dirty="0">
                <a:solidFill>
                  <a:srgbClr val="212121"/>
                </a:solidFill>
                <a:latin typeface="Calibri" pitchFamily="34" charset="0"/>
                <a:ea typeface="Calibri" pitchFamily="34" charset="-122"/>
                <a:cs typeface="Calibri" pitchFamily="34" charset="-120"/>
              </a:rPr>
              <a:t>3</a:t>
            </a:r>
            <a:r>
              <a:rPr lang="en-US" sz="1500" dirty="0">
                <a:solidFill>
                  <a:srgbClr val="212121"/>
                </a:solidFill>
                <a:latin typeface="Calibri" pitchFamily="34" charset="0"/>
                <a:ea typeface="Calibri" pitchFamily="34" charset="-122"/>
                <a:cs typeface="Calibri" pitchFamily="34" charset="-120"/>
              </a:rPr>
              <a:t>, 1, −4, −9 → maks </a:t>
            </a:r>
            <a:r>
              <a:rPr lang="en-US" sz="1500" b="1" dirty="0">
                <a:solidFill>
                  <a:srgbClr val="212121"/>
                </a:solidFill>
                <a:latin typeface="Calibri" pitchFamily="34" charset="0"/>
                <a:ea typeface="Calibri" pitchFamily="34" charset="-122"/>
                <a:cs typeface="Calibri" pitchFamily="34" charset="-120"/>
              </a:rPr>
              <a:t>3</a:t>
            </a:r>
            <a:r>
              <a:rPr lang="en-US" sz="1500" dirty="0">
                <a:solidFill>
                  <a:srgbClr val="212121"/>
                </a:solidFill>
                <a:latin typeface="Calibri" pitchFamily="34" charset="0"/>
                <a:ea typeface="Calibri" pitchFamily="34" charset="-122"/>
                <a:cs typeface="Calibri" pitchFamily="34" charset="-120"/>
              </a:rPr>
              <a:t> = F(6,5), j* = </a:t>
            </a:r>
            <a:r>
              <a:rPr lang="en-US" sz="1500" b="1" dirty="0">
                <a:solidFill>
                  <a:srgbClr val="212121"/>
                </a:solidFill>
                <a:latin typeface="Calibri" pitchFamily="34" charset="0"/>
                <a:ea typeface="Calibri" pitchFamily="34" charset="-122"/>
                <a:cs typeface="Calibri" pitchFamily="34" charset="-120"/>
              </a:rPr>
              <a:t>2</a:t>
            </a:r>
            <a:endParaRPr lang="en-US" sz="1500" dirty="0"/>
          </a:p>
          <a:p>
            <a:pPr marL="342900" indent="-342900">
              <a:spcAft>
                <a:spcPts val="600"/>
              </a:spcAft>
              <a:buSzPct val="100000"/>
              <a:buFont typeface="+mj-lt"/>
              <a:buAutoNum type="arabicPeriod" startAt="1"/>
            </a:pPr>
            <a:r>
              <a:rPr lang="en-US" sz="1500" dirty="0">
                <a:solidFill>
                  <a:srgbClr val="212121"/>
                </a:solidFill>
                <a:latin typeface="Calibri" pitchFamily="34" charset="0"/>
                <a:ea typeface="Calibri" pitchFamily="34" charset="-122"/>
                <a:cs typeface="Calibri" pitchFamily="34" charset="-120"/>
              </a:rPr>
              <a:t>Alt problem 1: </a:t>
            </a:r>
            <a:r>
              <a:rPr lang="en-US" sz="1500" dirty="0">
                <a:solidFill>
                  <a:srgbClr val="455A64"/>
                </a:solidFill>
                <a:latin typeface="Courier New" pitchFamily="34" charset="0"/>
                <a:ea typeface="Courier New" pitchFamily="34" charset="-122"/>
                <a:cs typeface="Courier New" pitchFamily="34" charset="-120"/>
              </a:rPr>
              <a:t>CAT</a:t>
            </a:r>
            <a:r>
              <a:rPr lang="en-US" sz="1500" dirty="0">
                <a:solidFill>
                  <a:srgbClr val="212121"/>
                </a:solidFill>
                <a:latin typeface="Calibri" pitchFamily="34" charset="0"/>
                <a:ea typeface="Calibri" pitchFamily="34" charset="-122"/>
                <a:cs typeface="Calibri" pitchFamily="34" charset="-120"/>
              </a:rPr>
              <a:t> ↔ </a:t>
            </a:r>
            <a:r>
              <a:rPr lang="en-US" sz="1500" dirty="0">
                <a:solidFill>
                  <a:srgbClr val="455A64"/>
                </a:solidFill>
                <a:latin typeface="Courier New" pitchFamily="34" charset="0"/>
                <a:ea typeface="Courier New" pitchFamily="34" charset="-122"/>
                <a:cs typeface="Courier New" pitchFamily="34" charset="-120"/>
              </a:rPr>
              <a:t>CA</a:t>
            </a:r>
            <a:r>
              <a:rPr lang="en-US" sz="1500" dirty="0">
                <a:solidFill>
                  <a:srgbClr val="212121"/>
                </a:solidFill>
                <a:latin typeface="Calibri" pitchFamily="34" charset="0"/>
                <a:ea typeface="Calibri" pitchFamily="34" charset="-122"/>
                <a:cs typeface="Calibri" pitchFamily="34" charset="-120"/>
              </a:rPr>
              <a:t> → </a:t>
            </a:r>
            <a:r>
              <a:rPr lang="en-US" sz="1500" dirty="0">
                <a:solidFill>
                  <a:srgbClr val="455A64"/>
                </a:solidFill>
                <a:latin typeface="Courier New" pitchFamily="34" charset="0"/>
                <a:ea typeface="Courier New" pitchFamily="34" charset="-122"/>
                <a:cs typeface="Courier New" pitchFamily="34" charset="-120"/>
              </a:rPr>
              <a:t>CAT</a:t>
            </a:r>
            <a:r>
              <a:rPr lang="en-US" sz="1500" dirty="0">
                <a:solidFill>
                  <a:srgbClr val="212121"/>
                </a:solidFill>
                <a:latin typeface="Calibri" pitchFamily="34" charset="0"/>
                <a:ea typeface="Calibri" pitchFamily="34" charset="-122"/>
                <a:cs typeface="Calibri" pitchFamily="34" charset="-120"/>
              </a:rPr>
              <a:t>/</a:t>
            </a:r>
            <a:r>
              <a:rPr lang="en-US" sz="1500" dirty="0">
                <a:solidFill>
                  <a:srgbClr val="455A64"/>
                </a:solidFill>
                <a:latin typeface="Courier New" pitchFamily="34" charset="0"/>
                <a:ea typeface="Courier New" pitchFamily="34" charset="-122"/>
                <a:cs typeface="Courier New" pitchFamily="34" charset="-120"/>
              </a:rPr>
              <a:t>CA-</a:t>
            </a:r>
            <a:r>
              <a:rPr lang="en-US" sz="1500" dirty="0">
                <a:solidFill>
                  <a:srgbClr val="212121"/>
                </a:solidFill>
                <a:latin typeface="Calibri" pitchFamily="34" charset="0"/>
                <a:ea typeface="Calibri" pitchFamily="34" charset="-122"/>
                <a:cs typeface="Calibri" pitchFamily="34" charset="-120"/>
              </a:rPr>
              <a:t>;  alt problem 2: </a:t>
            </a:r>
            <a:r>
              <a:rPr lang="en-US" sz="1500" dirty="0">
                <a:solidFill>
                  <a:srgbClr val="455A64"/>
                </a:solidFill>
                <a:latin typeface="Courier New" pitchFamily="34" charset="0"/>
                <a:ea typeface="Courier New" pitchFamily="34" charset="-122"/>
                <a:cs typeface="Courier New" pitchFamily="34" charset="-120"/>
              </a:rPr>
              <a:t>GCA</a:t>
            </a:r>
            <a:r>
              <a:rPr lang="en-US" sz="1500" dirty="0">
                <a:solidFill>
                  <a:srgbClr val="212121"/>
                </a:solidFill>
                <a:latin typeface="Calibri" pitchFamily="34" charset="0"/>
                <a:ea typeface="Calibri" pitchFamily="34" charset="-122"/>
                <a:cs typeface="Calibri" pitchFamily="34" charset="-120"/>
              </a:rPr>
              <a:t> ↔ </a:t>
            </a:r>
            <a:r>
              <a:rPr lang="en-US" sz="1500" dirty="0">
                <a:solidFill>
                  <a:srgbClr val="455A64"/>
                </a:solidFill>
                <a:latin typeface="Courier New" pitchFamily="34" charset="0"/>
                <a:ea typeface="Courier New" pitchFamily="34" charset="-122"/>
                <a:cs typeface="Courier New" pitchFamily="34" charset="-120"/>
              </a:rPr>
              <a:t>GCA</a:t>
            </a:r>
            <a:endParaRPr lang="en-US" sz="1500" dirty="0"/>
          </a:p>
          <a:p>
            <a:pPr marL="342900" indent="-342900">
              <a:spcAft>
                <a:spcPts val="600"/>
              </a:spcAft>
              <a:buSzPct val="100000"/>
              <a:buFont typeface="+mj-lt"/>
              <a:buAutoNum type="arabicPeriod" startAt="1"/>
            </a:pPr>
            <a:r>
              <a:rPr lang="en-US" sz="1500" dirty="0">
                <a:solidFill>
                  <a:srgbClr val="212121"/>
                </a:solidFill>
                <a:latin typeface="Calibri" pitchFamily="34" charset="0"/>
                <a:ea typeface="Calibri" pitchFamily="34" charset="-122"/>
                <a:cs typeface="Calibri" pitchFamily="34" charset="-120"/>
              </a:rPr>
              <a:t>Her düzeyde yalnızca </a:t>
            </a:r>
            <a:r>
              <a:rPr lang="en-US" sz="1500" b="1" dirty="0">
                <a:solidFill>
                  <a:srgbClr val="212121"/>
                </a:solidFill>
                <a:latin typeface="Calibri" pitchFamily="34" charset="0"/>
                <a:ea typeface="Calibri" pitchFamily="34" charset="-122"/>
                <a:cs typeface="Calibri" pitchFamily="34" charset="-120"/>
              </a:rPr>
              <a:t>iki satır</a:t>
            </a:r>
            <a:r>
              <a:rPr lang="en-US" sz="1500" dirty="0">
                <a:solidFill>
                  <a:srgbClr val="212121"/>
                </a:solidFill>
                <a:latin typeface="Calibri" pitchFamily="34" charset="0"/>
                <a:ea typeface="Calibri" pitchFamily="34" charset="-122"/>
                <a:cs typeface="Calibri" pitchFamily="34" charset="-120"/>
              </a:rPr>
              <a:t> bellekte; özyineleme derinliği O(log m)</a:t>
            </a:r>
            <a:endParaRPr lang="en-US" sz="15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6415888" y="2779776"/>
          <a:ext cx="5227168" cy="914400"/>
        </p:xfrm>
        <a:graphic>
          <a:graphicData uri="http://schemas.openxmlformats.org/drawingml/2006/table">
            <a:tbl>
              <a:tblPr/>
              <a:tblGrid>
                <a:gridCol w="1111183"/>
                <a:gridCol w="612302"/>
                <a:gridCol w="612302"/>
                <a:gridCol w="612302"/>
                <a:gridCol w="612302"/>
                <a:gridCol w="740789"/>
                <a:gridCol w="925986"/>
              </a:tblGrid>
              <a:tr h="0">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j</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5</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y[:j]</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C</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CA</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CAG</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CAGC</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CAGCA</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ileri</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−6</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geri</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−6</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toplam</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−7</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−9</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r>
            </a:tbl>
          </a:graphicData>
        </a:graphic>
      </p:graphicFrame>
      <p:sp>
        <p:nvSpPr>
          <p:cNvPr id="8" name="Shape 5"/>
          <p:cNvSpPr/>
          <p:nvPr/>
        </p:nvSpPr>
        <p:spPr>
          <a:xfrm>
            <a:off x="548640" y="5577840"/>
            <a:ext cx="11094415" cy="685800"/>
          </a:xfrm>
          <a:prstGeom prst="roundRect">
            <a:avLst>
              <a:gd name="adj" fmla="val 10667"/>
            </a:avLst>
          </a:prstGeom>
          <a:solidFill>
            <a:srgbClr val="FDECEA"/>
          </a:solidFill>
          <a:ln/>
        </p:spPr>
      </p:sp>
      <p:sp>
        <p:nvSpPr>
          <p:cNvPr id="9" name="Text 6"/>
          <p:cNvSpPr txBox="1"/>
          <p:nvPr/>
        </p:nvSpPr>
        <p:spPr>
          <a:xfrm>
            <a:off x="685800" y="5577840"/>
            <a:ext cx="10820095" cy="685800"/>
          </a:xfrm>
          <a:prstGeom prst="rect">
            <a:avLst/>
          </a:prstGeom>
          <a:noFill/>
          <a:ln/>
        </p:spPr>
        <p:txBody>
          <a:bodyPr wrap="square" lIns="0" tIns="0" rIns="0" bIns="0" rtlCol="0" anchor="ctr"/>
          <a:lstStyle/>
          <a:p>
            <a:pPr indent="0" marL="0">
              <a:buNone/>
            </a:pPr>
            <a:r>
              <a:rPr lang="en-US" sz="1800" b="1" dirty="0">
                <a:solidFill>
                  <a:srgbClr val="B71C1C"/>
                </a:solidFill>
                <a:latin typeface="Calibri" pitchFamily="34" charset="0"/>
                <a:ea typeface="Calibri" pitchFamily="34" charset="-122"/>
                <a:cs typeface="Calibri" pitchFamily="34" charset="-120"/>
              </a:rPr>
              <a:t>Sonuç  </a:t>
            </a:r>
            <a:r>
              <a:rPr lang="en-US" sz="1800" dirty="0">
                <a:solidFill>
                  <a:srgbClr val="212121"/>
                </a:solidFill>
                <a:latin typeface="Calibri" pitchFamily="34" charset="0"/>
                <a:ea typeface="Calibri" pitchFamily="34" charset="-122"/>
                <a:cs typeface="Calibri" pitchFamily="34" charset="-120"/>
              </a:rPr>
              <a:t>Birleştirme: </a:t>
            </a:r>
            <a:r>
              <a:rPr lang="en-US" sz="1800" dirty="0">
                <a:solidFill>
                  <a:srgbClr val="455A64"/>
                </a:solidFill>
                <a:latin typeface="Courier New" pitchFamily="34" charset="0"/>
                <a:ea typeface="Courier New" pitchFamily="34" charset="-122"/>
                <a:cs typeface="Courier New" pitchFamily="34" charset="-120"/>
              </a:rPr>
              <a:t>CATGCA</a:t>
            </a:r>
            <a:r>
              <a:rPr lang="en-US" sz="1800" dirty="0">
                <a:solidFill>
                  <a:srgbClr val="212121"/>
                </a:solidFill>
                <a:latin typeface="Calibri" pitchFamily="34" charset="0"/>
                <a:ea typeface="Calibri" pitchFamily="34" charset="-122"/>
                <a:cs typeface="Calibri" pitchFamily="34" charset="-120"/>
              </a:rPr>
              <a:t>/</a:t>
            </a:r>
            <a:r>
              <a:rPr lang="en-US" sz="1800" dirty="0">
                <a:solidFill>
                  <a:srgbClr val="455A64"/>
                </a:solidFill>
                <a:latin typeface="Courier New" pitchFamily="34" charset="0"/>
                <a:ea typeface="Courier New" pitchFamily="34" charset="-122"/>
                <a:cs typeface="Courier New" pitchFamily="34" charset="-120"/>
              </a:rPr>
              <a:t>CA-GCA</a:t>
            </a:r>
            <a:r>
              <a:rPr lang="en-US" sz="1800" dirty="0">
                <a:solidFill>
                  <a:srgbClr val="212121"/>
                </a:solidFill>
                <a:latin typeface="Calibri" pitchFamily="34" charset="0"/>
                <a:ea typeface="Calibri" pitchFamily="34" charset="-122"/>
                <a:cs typeface="Calibri" pitchFamily="34" charset="-120"/>
              </a:rPr>
              <a:t>, skor 3 — tam matrisle aynı sonuç, O(n) bellekle.</a:t>
            </a:r>
            <a:endParaRPr lang="en-US" sz="1800" dirty="0"/>
          </a:p>
        </p:txBody>
      </p:sp>
      <p:sp>
        <p:nvSpPr>
          <p:cNvPr id="10" name="Text 7"/>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6: Global hizalama (NW)</a:t>
            </a:r>
            <a:endParaRPr lang="en-US" sz="900" dirty="0"/>
          </a:p>
        </p:txBody>
      </p:sp>
      <p:sp>
        <p:nvSpPr>
          <p:cNvPr id="11" name="Text 8"/>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Sık yapılan hatalar</a:t>
            </a:r>
            <a:endParaRPr lang="en-US" sz="3000" dirty="0"/>
          </a:p>
        </p:txBody>
      </p:sp>
      <p:sp>
        <p:nvSpPr>
          <p:cNvPr id="3" name="Shape 1"/>
          <p:cNvSpPr/>
          <p:nvPr/>
        </p:nvSpPr>
        <p:spPr>
          <a:xfrm>
            <a:off x="548640" y="1234440"/>
            <a:ext cx="3515258" cy="2377440"/>
          </a:xfrm>
          <a:prstGeom prst="roundRect">
            <a:avLst>
              <a:gd name="adj" fmla="val 3077"/>
            </a:avLst>
          </a:prstGeom>
          <a:solidFill>
            <a:srgbClr val="F7F9FA"/>
          </a:solidFill>
          <a:ln w="12700">
            <a:solidFill>
              <a:srgbClr val="B0BEC5"/>
            </a:solidFill>
            <a:prstDash val="solid"/>
          </a:ln>
        </p:spPr>
      </p:sp>
      <p:sp>
        <p:nvSpPr>
          <p:cNvPr id="4" name="Text 2"/>
          <p:cNvSpPr txBox="1"/>
          <p:nvPr/>
        </p:nvSpPr>
        <p:spPr>
          <a:xfrm>
            <a:off x="731520" y="1344168"/>
            <a:ext cx="3149498" cy="457200"/>
          </a:xfrm>
          <a:prstGeom prst="rect">
            <a:avLst/>
          </a:prstGeom>
          <a:noFill/>
          <a:ln/>
        </p:spPr>
        <p:txBody>
          <a:bodyPr wrap="square" lIns="0" tIns="0" rIns="0" bIns="0" rtlCol="0" anchor="t"/>
          <a:lstStyle/>
          <a:p>
            <a:pPr indent="0" marL="0">
              <a:buNone/>
            </a:pPr>
            <a:r>
              <a:rPr lang="en-US" sz="1700" b="1" dirty="0">
                <a:solidFill>
                  <a:srgbClr val="263238"/>
                </a:solidFill>
              </a:rPr>
              <a:t>Dizin kayması</a:t>
            </a:r>
            <a:endParaRPr lang="en-US" sz="1700" dirty="0"/>
          </a:p>
        </p:txBody>
      </p:sp>
      <p:sp>
        <p:nvSpPr>
          <p:cNvPr id="5" name="Text 3"/>
          <p:cNvSpPr txBox="1"/>
          <p:nvPr/>
        </p:nvSpPr>
        <p:spPr>
          <a:xfrm>
            <a:off x="731520" y="1801368"/>
            <a:ext cx="3149498" cy="1719072"/>
          </a:xfrm>
          <a:prstGeom prst="rect">
            <a:avLst/>
          </a:prstGeom>
          <a:noFill/>
          <a:ln/>
        </p:spPr>
        <p:txBody>
          <a:bodyPr wrap="square" lIns="25400" tIns="25400" rIns="50800" bIns="25400" rtlCol="0" anchor="t"/>
          <a:lstStyle/>
          <a:p>
            <a:pPr algn="l" indent="0" marL="0">
              <a:spcAft>
                <a:spcPts val="600"/>
              </a:spcAft>
              <a:buNone/>
            </a:pPr>
            <a:r>
              <a:rPr lang="en-US" sz="1500" dirty="0">
                <a:solidFill>
                  <a:srgbClr val="212121"/>
                </a:solidFill>
                <a:latin typeface="Calibri" pitchFamily="34" charset="0"/>
                <a:ea typeface="Calibri" pitchFamily="34" charset="-122"/>
                <a:cs typeface="Calibri" pitchFamily="34" charset="-120"/>
              </a:rPr>
              <a:t>F'nin i. satırı </a:t>
            </a:r>
            <a:r>
              <a:rPr lang="en-US" sz="1500" dirty="0">
                <a:solidFill>
                  <a:srgbClr val="455A64"/>
                </a:solidFill>
                <a:latin typeface="Courier New" pitchFamily="34" charset="0"/>
                <a:ea typeface="Courier New" pitchFamily="34" charset="-122"/>
                <a:cs typeface="Courier New" pitchFamily="34" charset="-120"/>
              </a:rPr>
              <a:t>x[i-1]</a:t>
            </a:r>
            <a:r>
              <a:rPr lang="en-US" sz="1500" dirty="0">
                <a:solidFill>
                  <a:srgbClr val="212121"/>
                </a:solidFill>
                <a:latin typeface="Calibri" pitchFamily="34" charset="0"/>
                <a:ea typeface="Calibri" pitchFamily="34" charset="-122"/>
                <a:cs typeface="Calibri" pitchFamily="34" charset="-120"/>
              </a:rPr>
              <a:t>'e karşılık gelir. </a:t>
            </a:r>
            <a:r>
              <a:rPr lang="en-US" sz="1500" dirty="0">
                <a:solidFill>
                  <a:srgbClr val="455A64"/>
                </a:solidFill>
                <a:latin typeface="Courier New" pitchFamily="34" charset="0"/>
                <a:ea typeface="Courier New" pitchFamily="34" charset="-122"/>
                <a:cs typeface="Courier New" pitchFamily="34" charset="-120"/>
              </a:rPr>
              <a:t>x[i]</a:t>
            </a:r>
            <a:r>
              <a:rPr lang="en-US" sz="1500" dirty="0">
                <a:solidFill>
                  <a:srgbClr val="212121"/>
                </a:solidFill>
                <a:latin typeface="Calibri" pitchFamily="34" charset="0"/>
                <a:ea typeface="Calibri" pitchFamily="34" charset="-122"/>
                <a:cs typeface="Calibri" pitchFamily="34" charset="-120"/>
              </a:rPr>
              <a:t> yazmak son harfi atlar ve IndexError'a yol açar.</a:t>
            </a:r>
            <a:endParaRPr lang="en-US" sz="1500" dirty="0"/>
          </a:p>
        </p:txBody>
      </p:sp>
      <p:sp>
        <p:nvSpPr>
          <p:cNvPr id="6" name="Shape 4"/>
          <p:cNvSpPr/>
          <p:nvPr/>
        </p:nvSpPr>
        <p:spPr>
          <a:xfrm>
            <a:off x="4338218" y="1234440"/>
            <a:ext cx="3515258" cy="2377440"/>
          </a:xfrm>
          <a:prstGeom prst="roundRect">
            <a:avLst>
              <a:gd name="adj" fmla="val 3077"/>
            </a:avLst>
          </a:prstGeom>
          <a:solidFill>
            <a:srgbClr val="F7F9FA"/>
          </a:solidFill>
          <a:ln w="12700">
            <a:solidFill>
              <a:srgbClr val="B0BEC5"/>
            </a:solidFill>
            <a:prstDash val="solid"/>
          </a:ln>
        </p:spPr>
      </p:sp>
      <p:sp>
        <p:nvSpPr>
          <p:cNvPr id="7" name="Text 5"/>
          <p:cNvSpPr txBox="1"/>
          <p:nvPr/>
        </p:nvSpPr>
        <p:spPr>
          <a:xfrm>
            <a:off x="4521098" y="1344168"/>
            <a:ext cx="3149498" cy="457200"/>
          </a:xfrm>
          <a:prstGeom prst="rect">
            <a:avLst/>
          </a:prstGeom>
          <a:noFill/>
          <a:ln/>
        </p:spPr>
        <p:txBody>
          <a:bodyPr wrap="square" lIns="0" tIns="0" rIns="0" bIns="0" rtlCol="0" anchor="t"/>
          <a:lstStyle/>
          <a:p>
            <a:pPr indent="0" marL="0">
              <a:buNone/>
            </a:pPr>
            <a:r>
              <a:rPr lang="en-US" sz="1700" b="1" dirty="0">
                <a:solidFill>
                  <a:srgbClr val="263238"/>
                </a:solidFill>
              </a:rPr>
              <a:t>İlk satırı 0 bırakmak</a:t>
            </a:r>
            <a:endParaRPr lang="en-US" sz="1700" dirty="0"/>
          </a:p>
        </p:txBody>
      </p:sp>
      <p:sp>
        <p:nvSpPr>
          <p:cNvPr id="8" name="Text 6"/>
          <p:cNvSpPr txBox="1"/>
          <p:nvPr/>
        </p:nvSpPr>
        <p:spPr>
          <a:xfrm>
            <a:off x="4521098" y="1801368"/>
            <a:ext cx="3149498" cy="1719072"/>
          </a:xfrm>
          <a:prstGeom prst="rect">
            <a:avLst/>
          </a:prstGeom>
          <a:noFill/>
          <a:ln/>
        </p:spPr>
        <p:txBody>
          <a:bodyPr wrap="square" lIns="25400" tIns="25400" rIns="50800" bIns="25400" rtlCol="0" anchor="t"/>
          <a:lstStyle/>
          <a:p>
            <a:pPr algn="l" indent="0" marL="0">
              <a:spcAft>
                <a:spcPts val="600"/>
              </a:spcAft>
              <a:buNone/>
            </a:pPr>
            <a:r>
              <a:rPr lang="en-US" sz="1500" dirty="0">
                <a:solidFill>
                  <a:srgbClr val="212121"/>
                </a:solidFill>
                <a:latin typeface="Calibri" pitchFamily="34" charset="0"/>
                <a:ea typeface="Calibri" pitchFamily="34" charset="-122"/>
                <a:cs typeface="Calibri" pitchFamily="34" charset="-120"/>
              </a:rPr>
              <a:t>Global hizalamada ilk satır/sütun </a:t>
            </a:r>
            <a:r>
              <a:rPr lang="en-US" sz="1500" b="1" dirty="0">
                <a:solidFill>
                  <a:srgbClr val="212121"/>
                </a:solidFill>
                <a:latin typeface="Calibri" pitchFamily="34" charset="0"/>
                <a:ea typeface="Calibri" pitchFamily="34" charset="-122"/>
                <a:cs typeface="Calibri" pitchFamily="34" charset="-120"/>
              </a:rPr>
              <a:t>i·g</a:t>
            </a:r>
            <a:r>
              <a:rPr lang="en-US" sz="1500" dirty="0">
                <a:solidFill>
                  <a:srgbClr val="212121"/>
                </a:solidFill>
                <a:latin typeface="Calibri" pitchFamily="34" charset="0"/>
                <a:ea typeface="Calibri" pitchFamily="34" charset="-122"/>
                <a:cs typeface="Calibri" pitchFamily="34" charset="-120"/>
              </a:rPr>
              <a:t>; 0 bırakmak farkında olmadan yarı-global hizalama yapar.</a:t>
            </a:r>
            <a:endParaRPr lang="en-US" sz="1500" dirty="0"/>
          </a:p>
        </p:txBody>
      </p:sp>
      <p:sp>
        <p:nvSpPr>
          <p:cNvPr id="9" name="Shape 7"/>
          <p:cNvSpPr/>
          <p:nvPr/>
        </p:nvSpPr>
        <p:spPr>
          <a:xfrm>
            <a:off x="8127797" y="1234440"/>
            <a:ext cx="3515258" cy="2377440"/>
          </a:xfrm>
          <a:prstGeom prst="roundRect">
            <a:avLst>
              <a:gd name="adj" fmla="val 3077"/>
            </a:avLst>
          </a:prstGeom>
          <a:solidFill>
            <a:srgbClr val="F7F9FA"/>
          </a:solidFill>
          <a:ln w="12700">
            <a:solidFill>
              <a:srgbClr val="B0BEC5"/>
            </a:solidFill>
            <a:prstDash val="solid"/>
          </a:ln>
        </p:spPr>
      </p:sp>
      <p:sp>
        <p:nvSpPr>
          <p:cNvPr id="10" name="Text 8"/>
          <p:cNvSpPr txBox="1"/>
          <p:nvPr/>
        </p:nvSpPr>
        <p:spPr>
          <a:xfrm>
            <a:off x="8310677" y="1344168"/>
            <a:ext cx="3149498" cy="457200"/>
          </a:xfrm>
          <a:prstGeom prst="rect">
            <a:avLst/>
          </a:prstGeom>
          <a:noFill/>
          <a:ln/>
        </p:spPr>
        <p:txBody>
          <a:bodyPr wrap="square" lIns="0" tIns="0" rIns="0" bIns="0" rtlCol="0" anchor="t"/>
          <a:lstStyle/>
          <a:p>
            <a:pPr indent="0" marL="0">
              <a:buNone/>
            </a:pPr>
            <a:r>
              <a:rPr lang="en-US" sz="1700" b="1" dirty="0">
                <a:solidFill>
                  <a:srgbClr val="263238"/>
                </a:solidFill>
              </a:rPr>
              <a:t>Geri izlemeyi erken bitirmek</a:t>
            </a:r>
            <a:endParaRPr lang="en-US" sz="1700" dirty="0"/>
          </a:p>
        </p:txBody>
      </p:sp>
      <p:sp>
        <p:nvSpPr>
          <p:cNvPr id="11" name="Text 9"/>
          <p:cNvSpPr txBox="1"/>
          <p:nvPr/>
        </p:nvSpPr>
        <p:spPr>
          <a:xfrm>
            <a:off x="8310677" y="1801368"/>
            <a:ext cx="3149498" cy="1719072"/>
          </a:xfrm>
          <a:prstGeom prst="rect">
            <a:avLst/>
          </a:prstGeom>
          <a:noFill/>
          <a:ln/>
        </p:spPr>
        <p:txBody>
          <a:bodyPr wrap="square" lIns="25400" tIns="25400" rIns="50800" bIns="25400" rtlCol="0" anchor="t"/>
          <a:lstStyle/>
          <a:p>
            <a:pPr algn="l" indent="0" marL="0">
              <a:spcAft>
                <a:spcPts val="600"/>
              </a:spcAft>
              <a:buNone/>
            </a:pPr>
            <a:r>
              <a:rPr lang="en-US" sz="1500" dirty="0">
                <a:solidFill>
                  <a:srgbClr val="212121"/>
                </a:solidFill>
                <a:latin typeface="Calibri" pitchFamily="34" charset="0"/>
                <a:ea typeface="Calibri" pitchFamily="34" charset="-122"/>
                <a:cs typeface="Calibri" pitchFamily="34" charset="-120"/>
              </a:rPr>
              <a:t>​</a:t>
            </a:r>
            <a:r>
              <a:rPr lang="en-US" sz="1500" dirty="0">
                <a:solidFill>
                  <a:srgbClr val="455A64"/>
                </a:solidFill>
                <a:latin typeface="Courier New" pitchFamily="34" charset="0"/>
                <a:ea typeface="Courier New" pitchFamily="34" charset="-122"/>
                <a:cs typeface="Courier New" pitchFamily="34" charset="-120"/>
              </a:rPr>
              <a:t>while i &gt; 0 and j &gt; 0</a:t>
            </a:r>
            <a:r>
              <a:rPr lang="en-US" sz="1500" dirty="0">
                <a:solidFill>
                  <a:srgbClr val="212121"/>
                </a:solidFill>
                <a:latin typeface="Calibri" pitchFamily="34" charset="0"/>
                <a:ea typeface="Calibri" pitchFamily="34" charset="-122"/>
                <a:cs typeface="Calibri" pitchFamily="34" charset="-120"/>
              </a:rPr>
              <a:t> baştaki boşlukları kaybeder; doğru koşul </a:t>
            </a:r>
            <a:r>
              <a:rPr lang="en-US" sz="1500" dirty="0">
                <a:solidFill>
                  <a:srgbClr val="455A64"/>
                </a:solidFill>
                <a:latin typeface="Courier New" pitchFamily="34" charset="0"/>
                <a:ea typeface="Courier New" pitchFamily="34" charset="-122"/>
                <a:cs typeface="Courier New" pitchFamily="34" charset="-120"/>
              </a:rPr>
              <a:t>or</a:t>
            </a:r>
            <a:r>
              <a:rPr lang="en-US" sz="1500" dirty="0">
                <a:solidFill>
                  <a:srgbClr val="212121"/>
                </a:solidFill>
                <a:latin typeface="Calibri" pitchFamily="34" charset="0"/>
                <a:ea typeface="Calibri" pitchFamily="34" charset="-122"/>
                <a:cs typeface="Calibri" pitchFamily="34" charset="-120"/>
              </a:rPr>
              <a:t>.</a:t>
            </a:r>
            <a:endParaRPr lang="en-US" sz="1500" dirty="0"/>
          </a:p>
        </p:txBody>
      </p:sp>
      <p:sp>
        <p:nvSpPr>
          <p:cNvPr id="12" name="Shape 10"/>
          <p:cNvSpPr/>
          <p:nvPr/>
        </p:nvSpPr>
        <p:spPr>
          <a:xfrm>
            <a:off x="548640" y="3886200"/>
            <a:ext cx="3515258" cy="2377440"/>
          </a:xfrm>
          <a:prstGeom prst="roundRect">
            <a:avLst>
              <a:gd name="adj" fmla="val 3077"/>
            </a:avLst>
          </a:prstGeom>
          <a:solidFill>
            <a:srgbClr val="FDECEA"/>
          </a:solidFill>
          <a:ln w="12700">
            <a:solidFill>
              <a:srgbClr val="B0BEC5"/>
            </a:solidFill>
            <a:prstDash val="solid"/>
          </a:ln>
        </p:spPr>
      </p:sp>
      <p:sp>
        <p:nvSpPr>
          <p:cNvPr id="13" name="Text 11"/>
          <p:cNvSpPr txBox="1"/>
          <p:nvPr/>
        </p:nvSpPr>
        <p:spPr>
          <a:xfrm>
            <a:off x="731520" y="3995928"/>
            <a:ext cx="3149498" cy="457200"/>
          </a:xfrm>
          <a:prstGeom prst="rect">
            <a:avLst/>
          </a:prstGeom>
          <a:noFill/>
          <a:ln/>
        </p:spPr>
        <p:txBody>
          <a:bodyPr wrap="square" lIns="0" tIns="0" rIns="0" bIns="0" rtlCol="0" anchor="t"/>
          <a:lstStyle/>
          <a:p>
            <a:pPr indent="0" marL="0">
              <a:buNone/>
            </a:pPr>
            <a:r>
              <a:rPr lang="en-US" sz="1700" b="1" dirty="0">
                <a:solidFill>
                  <a:srgbClr val="B71C1C"/>
                </a:solidFill>
              </a:rPr>
              <a:t>Tek optimal varsaymak</a:t>
            </a:r>
            <a:endParaRPr lang="en-US" sz="1700" dirty="0"/>
          </a:p>
        </p:txBody>
      </p:sp>
      <p:sp>
        <p:nvSpPr>
          <p:cNvPr id="14" name="Text 12"/>
          <p:cNvSpPr txBox="1"/>
          <p:nvPr/>
        </p:nvSpPr>
        <p:spPr>
          <a:xfrm>
            <a:off x="731520" y="4453128"/>
            <a:ext cx="3149498" cy="1719072"/>
          </a:xfrm>
          <a:prstGeom prst="rect">
            <a:avLst/>
          </a:prstGeom>
          <a:noFill/>
          <a:ln/>
        </p:spPr>
        <p:txBody>
          <a:bodyPr wrap="square" lIns="25400" tIns="25400" rIns="50800" bIns="25400" rtlCol="0" anchor="t"/>
          <a:lstStyle/>
          <a:p>
            <a:pPr algn="l" indent="0" marL="0">
              <a:spcAft>
                <a:spcPts val="600"/>
              </a:spcAft>
              <a:buNone/>
            </a:pPr>
            <a:r>
              <a:rPr lang="en-US" sz="1500" dirty="0">
                <a:solidFill>
                  <a:srgbClr val="212121"/>
                </a:solidFill>
                <a:latin typeface="Calibri" pitchFamily="34" charset="0"/>
                <a:ea typeface="Calibri" pitchFamily="34" charset="-122"/>
                <a:cs typeface="Calibri" pitchFamily="34" charset="-120"/>
              </a:rPr>
              <a:t>Eşitliklerde birden çok hizalama optimaldir; </a:t>
            </a:r>
            <a:r>
              <a:rPr lang="en-US" sz="1500" dirty="0">
                <a:solidFill>
                  <a:srgbClr val="455A64"/>
                </a:solidFill>
                <a:latin typeface="Courier New" pitchFamily="34" charset="0"/>
                <a:ea typeface="Courier New" pitchFamily="34" charset="-122"/>
                <a:cs typeface="Courier New" pitchFamily="34" charset="-120"/>
              </a:rPr>
              <a:t>len(hizalamalar)</a:t>
            </a:r>
            <a:r>
              <a:rPr lang="en-US" sz="1500" dirty="0">
                <a:solidFill>
                  <a:srgbClr val="212121"/>
                </a:solidFill>
                <a:latin typeface="Calibri" pitchFamily="34" charset="0"/>
                <a:ea typeface="Calibri" pitchFamily="34" charset="-122"/>
                <a:cs typeface="Calibri" pitchFamily="34" charset="-120"/>
              </a:rPr>
              <a:t> kontrol edin.</a:t>
            </a:r>
            <a:endParaRPr lang="en-US" sz="1500" dirty="0"/>
          </a:p>
        </p:txBody>
      </p:sp>
      <p:sp>
        <p:nvSpPr>
          <p:cNvPr id="15" name="Shape 13"/>
          <p:cNvSpPr/>
          <p:nvPr/>
        </p:nvSpPr>
        <p:spPr>
          <a:xfrm>
            <a:off x="4338218" y="3886200"/>
            <a:ext cx="3515258" cy="2377440"/>
          </a:xfrm>
          <a:prstGeom prst="roundRect">
            <a:avLst>
              <a:gd name="adj" fmla="val 3077"/>
            </a:avLst>
          </a:prstGeom>
          <a:solidFill>
            <a:srgbClr val="F7F9FA"/>
          </a:solidFill>
          <a:ln w="12700">
            <a:solidFill>
              <a:srgbClr val="B0BEC5"/>
            </a:solidFill>
            <a:prstDash val="solid"/>
          </a:ln>
        </p:spPr>
      </p:sp>
      <p:sp>
        <p:nvSpPr>
          <p:cNvPr id="16" name="Text 14"/>
          <p:cNvSpPr txBox="1"/>
          <p:nvPr/>
        </p:nvSpPr>
        <p:spPr>
          <a:xfrm>
            <a:off x="4521098" y="3995928"/>
            <a:ext cx="3149498" cy="457200"/>
          </a:xfrm>
          <a:prstGeom prst="rect">
            <a:avLst/>
          </a:prstGeom>
          <a:noFill/>
          <a:ln/>
        </p:spPr>
        <p:txBody>
          <a:bodyPr wrap="square" lIns="0" tIns="0" rIns="0" bIns="0" rtlCol="0" anchor="t"/>
          <a:lstStyle/>
          <a:p>
            <a:pPr indent="0" marL="0">
              <a:buNone/>
            </a:pPr>
            <a:r>
              <a:rPr lang="en-US" sz="1700" b="1" dirty="0">
                <a:solidFill>
                  <a:srgbClr val="263238"/>
                </a:solidFill>
              </a:rPr>
              <a:t>% özdeşliği paydasız vermek</a:t>
            </a:r>
            <a:endParaRPr lang="en-US" sz="1700" dirty="0"/>
          </a:p>
        </p:txBody>
      </p:sp>
      <p:sp>
        <p:nvSpPr>
          <p:cNvPr id="17" name="Text 15"/>
          <p:cNvSpPr txBox="1"/>
          <p:nvPr/>
        </p:nvSpPr>
        <p:spPr>
          <a:xfrm>
            <a:off x="4521098" y="4453128"/>
            <a:ext cx="3149498" cy="1719072"/>
          </a:xfrm>
          <a:prstGeom prst="rect">
            <a:avLst/>
          </a:prstGeom>
          <a:noFill/>
          <a:ln/>
        </p:spPr>
        <p:txBody>
          <a:bodyPr wrap="square" lIns="25400" tIns="25400" rIns="50800" bIns="25400" rtlCol="0" anchor="t"/>
          <a:lstStyle/>
          <a:p>
            <a:pPr algn="l" indent="0" marL="0">
              <a:spcAft>
                <a:spcPts val="600"/>
              </a:spcAft>
              <a:buNone/>
            </a:pPr>
            <a:r>
              <a:rPr lang="en-US" sz="1500" dirty="0">
                <a:solidFill>
                  <a:srgbClr val="212121"/>
                </a:solidFill>
                <a:latin typeface="Calibri" pitchFamily="34" charset="0"/>
                <a:ea typeface="Calibri" pitchFamily="34" charset="-122"/>
                <a:cs typeface="Calibri" pitchFamily="34" charset="-120"/>
              </a:rPr>
              <a:t>Aynı hizalama %72.7 veya %88.9 olabilir; tanımı her zaman yazın.</a:t>
            </a:r>
            <a:endParaRPr lang="en-US" sz="1500" dirty="0"/>
          </a:p>
        </p:txBody>
      </p:sp>
      <p:sp>
        <p:nvSpPr>
          <p:cNvPr id="18" name="Shape 16"/>
          <p:cNvSpPr/>
          <p:nvPr/>
        </p:nvSpPr>
        <p:spPr>
          <a:xfrm>
            <a:off x="8127797" y="3886200"/>
            <a:ext cx="3515258" cy="2377440"/>
          </a:xfrm>
          <a:prstGeom prst="roundRect">
            <a:avLst>
              <a:gd name="adj" fmla="val 3077"/>
            </a:avLst>
          </a:prstGeom>
          <a:solidFill>
            <a:srgbClr val="F7F9FA"/>
          </a:solidFill>
          <a:ln w="12700">
            <a:solidFill>
              <a:srgbClr val="B0BEC5"/>
            </a:solidFill>
            <a:prstDash val="solid"/>
          </a:ln>
        </p:spPr>
      </p:sp>
      <p:sp>
        <p:nvSpPr>
          <p:cNvPr id="19" name="Text 17"/>
          <p:cNvSpPr txBox="1"/>
          <p:nvPr/>
        </p:nvSpPr>
        <p:spPr>
          <a:xfrm>
            <a:off x="8310677" y="3995928"/>
            <a:ext cx="3149498" cy="457200"/>
          </a:xfrm>
          <a:prstGeom prst="rect">
            <a:avLst/>
          </a:prstGeom>
          <a:noFill/>
          <a:ln/>
        </p:spPr>
        <p:txBody>
          <a:bodyPr wrap="square" lIns="0" tIns="0" rIns="0" bIns="0" rtlCol="0" anchor="t"/>
          <a:lstStyle/>
          <a:p>
            <a:pPr indent="0" marL="0">
              <a:buNone/>
            </a:pPr>
            <a:r>
              <a:rPr lang="en-US" sz="1700" b="1" dirty="0">
                <a:solidFill>
                  <a:srgbClr val="263238"/>
                </a:solidFill>
              </a:rPr>
              <a:t>Ham skorları kıyaslamak</a:t>
            </a:r>
            <a:endParaRPr lang="en-US" sz="1700" dirty="0"/>
          </a:p>
        </p:txBody>
      </p:sp>
      <p:sp>
        <p:nvSpPr>
          <p:cNvPr id="20" name="Text 18"/>
          <p:cNvSpPr txBox="1"/>
          <p:nvPr/>
        </p:nvSpPr>
        <p:spPr>
          <a:xfrm>
            <a:off x="8310677" y="4453128"/>
            <a:ext cx="3149498" cy="1719072"/>
          </a:xfrm>
          <a:prstGeom prst="rect">
            <a:avLst/>
          </a:prstGeom>
          <a:noFill/>
          <a:ln/>
        </p:spPr>
        <p:txBody>
          <a:bodyPr wrap="square" lIns="25400" tIns="25400" rIns="50800" bIns="25400" rtlCol="0" anchor="t"/>
          <a:lstStyle/>
          <a:p>
            <a:pPr algn="l" indent="0" marL="0">
              <a:spcAft>
                <a:spcPts val="600"/>
              </a:spcAft>
              <a:buNone/>
            </a:pPr>
            <a:r>
              <a:rPr lang="en-US" sz="1500" dirty="0">
                <a:solidFill>
                  <a:srgbClr val="212121"/>
                </a:solidFill>
                <a:latin typeface="Calibri" pitchFamily="34" charset="0"/>
                <a:ea typeface="Calibri" pitchFamily="34" charset="-122"/>
                <a:cs typeface="Calibri" pitchFamily="34" charset="-120"/>
              </a:rPr>
              <a:t>Skor uzunluk ve parametrelere bağlıdır; farklı uzunluktaki çiftlerde ham skor karşılaştırılmaz.</a:t>
            </a:r>
            <a:endParaRPr lang="en-US" sz="1500" dirty="0"/>
          </a:p>
        </p:txBody>
      </p:sp>
      <p:sp>
        <p:nvSpPr>
          <p:cNvPr id="21" name="Text 19"/>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6: Global hizalama (NW)</a:t>
            </a:r>
            <a:endParaRPr lang="en-US" sz="900" dirty="0"/>
          </a:p>
        </p:txBody>
      </p:sp>
      <p:sp>
        <p:nvSpPr>
          <p:cNvPr id="22" name="Text 20"/>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Sınav tipi soru</a:t>
            </a:r>
            <a:endParaRPr lang="en-US" sz="3000" dirty="0"/>
          </a:p>
        </p:txBody>
      </p:sp>
      <p:sp>
        <p:nvSpPr>
          <p:cNvPr id="3" name="Text 1"/>
          <p:cNvSpPr txBox="1"/>
          <p:nvPr/>
        </p:nvSpPr>
        <p:spPr>
          <a:xfrm>
            <a:off x="548640" y="987552"/>
            <a:ext cx="11094415" cy="365760"/>
          </a:xfrm>
          <a:prstGeom prst="rect">
            <a:avLst/>
          </a:prstGeom>
          <a:noFill/>
          <a:ln/>
        </p:spPr>
        <p:txBody>
          <a:bodyPr wrap="square" lIns="0" tIns="0" rIns="0" bIns="0" rtlCol="0" anchor="t"/>
          <a:lstStyle/>
          <a:p>
            <a:pPr indent="0" marL="0">
              <a:buNone/>
            </a:pPr>
            <a:r>
              <a:rPr lang="en-US" sz="1500" i="1" dirty="0">
                <a:solidFill>
                  <a:srgbClr val="546E7A"/>
                </a:solidFill>
                <a:latin typeface="Calibri" pitchFamily="34" charset="0"/>
                <a:ea typeface="Calibri" pitchFamily="34" charset="-122"/>
                <a:cs typeface="Calibri" pitchFamily="34" charset="-120"/>
              </a:rPr>
              <a:t>Elle NW — 5 × 4 matris</a:t>
            </a:r>
            <a:endParaRPr lang="en-US" sz="1500" dirty="0"/>
          </a:p>
        </p:txBody>
      </p:sp>
      <p:sp>
        <p:nvSpPr>
          <p:cNvPr id="4" name="Shape 2"/>
          <p:cNvSpPr/>
          <p:nvPr/>
        </p:nvSpPr>
        <p:spPr>
          <a:xfrm>
            <a:off x="548640" y="1463040"/>
            <a:ext cx="11094415" cy="1088136"/>
          </a:xfrm>
          <a:prstGeom prst="roundRect">
            <a:avLst>
              <a:gd name="adj" fmla="val 6723"/>
            </a:avLst>
          </a:prstGeom>
          <a:solidFill>
            <a:srgbClr val="ECEFF1"/>
          </a:solidFill>
          <a:ln/>
        </p:spPr>
      </p:sp>
      <p:sp>
        <p:nvSpPr>
          <p:cNvPr id="5" name="Text 3"/>
          <p:cNvSpPr txBox="1"/>
          <p:nvPr/>
        </p:nvSpPr>
        <p:spPr>
          <a:xfrm>
            <a:off x="685800" y="1508760"/>
            <a:ext cx="10820095" cy="996696"/>
          </a:xfrm>
          <a:prstGeom prst="rect">
            <a:avLst/>
          </a:prstGeom>
          <a:noFill/>
          <a:ln/>
        </p:spPr>
        <p:txBody>
          <a:bodyPr wrap="square" lIns="0" tIns="0" rIns="0" bIns="0" rtlCol="0" anchor="ctr"/>
          <a:lstStyle/>
          <a:p>
            <a:pPr indent="0" marL="0">
              <a:buNone/>
            </a:pPr>
            <a:r>
              <a:rPr lang="en-US" sz="1800" b="1" dirty="0">
                <a:solidFill>
                  <a:srgbClr val="B71C1C"/>
                </a:solidFill>
                <a:latin typeface="Calibri" pitchFamily="34" charset="0"/>
                <a:ea typeface="Calibri" pitchFamily="34" charset="-122"/>
                <a:cs typeface="Calibri" pitchFamily="34" charset="-120"/>
              </a:rPr>
              <a:t>Soru  </a:t>
            </a:r>
            <a:r>
              <a:rPr lang="en-US" sz="1800" dirty="0">
                <a:solidFill>
                  <a:srgbClr val="212121"/>
                </a:solidFill>
                <a:latin typeface="Calibri" pitchFamily="34" charset="0"/>
                <a:ea typeface="Calibri" pitchFamily="34" charset="-122"/>
                <a:cs typeface="Calibri" pitchFamily="34" charset="-120"/>
              </a:rPr>
              <a:t>x = </a:t>
            </a:r>
            <a:r>
              <a:rPr lang="en-US" sz="1800" dirty="0">
                <a:solidFill>
                  <a:srgbClr val="455A64"/>
                </a:solidFill>
                <a:latin typeface="Courier New" pitchFamily="34" charset="0"/>
                <a:ea typeface="Courier New" pitchFamily="34" charset="-122"/>
                <a:cs typeface="Courier New" pitchFamily="34" charset="-120"/>
              </a:rPr>
              <a:t>ACGT</a:t>
            </a:r>
            <a:r>
              <a:rPr lang="en-US" sz="1800" dirty="0">
                <a:solidFill>
                  <a:srgbClr val="212121"/>
                </a:solidFill>
                <a:latin typeface="Calibri" pitchFamily="34" charset="0"/>
                <a:ea typeface="Calibri" pitchFamily="34" charset="-122"/>
                <a:cs typeface="Calibri" pitchFamily="34" charset="-120"/>
              </a:rPr>
              <a:t>, y = </a:t>
            </a:r>
            <a:r>
              <a:rPr lang="en-US" sz="1800" dirty="0">
                <a:solidFill>
                  <a:srgbClr val="455A64"/>
                </a:solidFill>
                <a:latin typeface="Courier New" pitchFamily="34" charset="0"/>
                <a:ea typeface="Courier New" pitchFamily="34" charset="-122"/>
                <a:cs typeface="Courier New" pitchFamily="34" charset="-120"/>
              </a:rPr>
              <a:t>AGT</a:t>
            </a:r>
            <a:r>
              <a:rPr lang="en-US" sz="1800" dirty="0">
                <a:solidFill>
                  <a:srgbClr val="212121"/>
                </a:solidFill>
                <a:latin typeface="Calibri" pitchFamily="34" charset="0"/>
                <a:ea typeface="Calibri" pitchFamily="34" charset="-122"/>
                <a:cs typeface="Calibri" pitchFamily="34" charset="-120"/>
              </a:rPr>
              <a:t>; eşleşme +1, uyumsuzluk −1, boşluk −2. (a) Matrisi doldurun. (b) Skor ve hizalama? (c) Kaç optimal hizalama var?</a:t>
            </a:r>
            <a:endParaRPr lang="en-US" sz="1800" dirty="0"/>
          </a:p>
        </p:txBody>
      </p:sp>
      <p:sp>
        <p:nvSpPr>
          <p:cNvPr id="6" name="Text 4"/>
          <p:cNvSpPr txBox="1"/>
          <p:nvPr/>
        </p:nvSpPr>
        <p:spPr>
          <a:xfrm>
            <a:off x="548640" y="2779776"/>
            <a:ext cx="6434761" cy="2615184"/>
          </a:xfrm>
          <a:prstGeom prst="rect">
            <a:avLst/>
          </a:prstGeom>
          <a:noFill/>
          <a:ln/>
        </p:spPr>
        <p:txBody>
          <a:bodyPr wrap="square" lIns="25400" tIns="25400" rIns="50800" bIns="25400" rtlCol="0" anchor="t"/>
          <a:lstStyle/>
          <a:p>
            <a:pPr marL="342900" indent="-342900">
              <a:spcAft>
                <a:spcPts val="600"/>
              </a:spcAft>
              <a:buSzPct val="100000"/>
              <a:buFont typeface="+mj-lt"/>
              <a:buAutoNum type="arabicPeriod" startAt="1"/>
            </a:pPr>
            <a:r>
              <a:rPr lang="en-US" sz="1550" dirty="0">
                <a:solidFill>
                  <a:srgbClr val="212121"/>
                </a:solidFill>
                <a:latin typeface="Calibri" pitchFamily="34" charset="0"/>
                <a:ea typeface="Calibri" pitchFamily="34" charset="-122"/>
                <a:cs typeface="Calibri" pitchFamily="34" charset="-120"/>
              </a:rPr>
              <a:t>İlk satır 0, −2, −4, −6; ilk sütun 0, −2, −4, −6, −8</a:t>
            </a:r>
            <a:endParaRPr lang="en-US" sz="1550" dirty="0"/>
          </a:p>
          <a:p>
            <a:pPr marL="342900" indent="-342900">
              <a:spcAft>
                <a:spcPts val="600"/>
              </a:spcAft>
              <a:buSzPct val="100000"/>
              <a:buFont typeface="+mj-lt"/>
              <a:buAutoNum type="arabicPeriod" startAt="1"/>
            </a:pPr>
            <a:r>
              <a:rPr lang="en-US" sz="1550" dirty="0">
                <a:solidFill>
                  <a:srgbClr val="212121"/>
                </a:solidFill>
                <a:latin typeface="Calibri" pitchFamily="34" charset="0"/>
                <a:ea typeface="Calibri" pitchFamily="34" charset="-122"/>
                <a:cs typeface="Calibri" pitchFamily="34" charset="-120"/>
              </a:rPr>
              <a:t>A satırı: 1, −1, −3;  C satırı: −1, 0, −2</a:t>
            </a:r>
            <a:endParaRPr lang="en-US" sz="1550" dirty="0"/>
          </a:p>
          <a:p>
            <a:pPr marL="342900" indent="-342900">
              <a:spcAft>
                <a:spcPts val="600"/>
              </a:spcAft>
              <a:buSzPct val="100000"/>
              <a:buFont typeface="+mj-lt"/>
              <a:buAutoNum type="arabicPeriod" startAt="1"/>
            </a:pPr>
            <a:r>
              <a:rPr lang="en-US" sz="1550" dirty="0">
                <a:solidFill>
                  <a:srgbClr val="212121"/>
                </a:solidFill>
                <a:latin typeface="Calibri" pitchFamily="34" charset="0"/>
                <a:ea typeface="Calibri" pitchFamily="34" charset="-122"/>
                <a:cs typeface="Calibri" pitchFamily="34" charset="-120"/>
              </a:rPr>
              <a:t>G satırı: F(3,2) [G/G] = max(−1 + 1, 0 − 2, −3 − 2) = </a:t>
            </a:r>
            <a:r>
              <a:rPr lang="en-US" sz="1550" b="1" dirty="0">
                <a:solidFill>
                  <a:srgbClr val="212121"/>
                </a:solidFill>
                <a:latin typeface="Calibri" pitchFamily="34" charset="0"/>
                <a:ea typeface="Calibri" pitchFamily="34" charset="-122"/>
                <a:cs typeface="Calibri" pitchFamily="34" charset="-120"/>
              </a:rPr>
              <a:t>0</a:t>
            </a:r>
            <a:r>
              <a:rPr lang="en-US" sz="1550" dirty="0">
                <a:solidFill>
                  <a:srgbClr val="212121"/>
                </a:solidFill>
                <a:latin typeface="Calibri" pitchFamily="34" charset="0"/>
                <a:ea typeface="Calibri" pitchFamily="34" charset="-122"/>
                <a:cs typeface="Calibri" pitchFamily="34" charset="-120"/>
              </a:rPr>
              <a:t>; satır: −3, 0, −1</a:t>
            </a:r>
            <a:endParaRPr lang="en-US" sz="1550" dirty="0"/>
          </a:p>
          <a:p>
            <a:pPr marL="342900" indent="-342900">
              <a:spcAft>
                <a:spcPts val="600"/>
              </a:spcAft>
              <a:buSzPct val="100000"/>
              <a:buFont typeface="+mj-lt"/>
              <a:buAutoNum type="arabicPeriod" startAt="1"/>
            </a:pPr>
            <a:r>
              <a:rPr lang="en-US" sz="1550" dirty="0">
                <a:solidFill>
                  <a:srgbClr val="212121"/>
                </a:solidFill>
                <a:latin typeface="Calibri" pitchFamily="34" charset="0"/>
                <a:ea typeface="Calibri" pitchFamily="34" charset="-122"/>
                <a:cs typeface="Calibri" pitchFamily="34" charset="-120"/>
              </a:rPr>
              <a:t>T satırı: F(4,3) [T/T] = max(0 + 1, −1 − 2, −2 − 2) = </a:t>
            </a:r>
            <a:r>
              <a:rPr lang="en-US" sz="1550" b="1" dirty="0">
                <a:solidFill>
                  <a:srgbClr val="212121"/>
                </a:solidFill>
                <a:latin typeface="Calibri" pitchFamily="34" charset="0"/>
                <a:ea typeface="Calibri" pitchFamily="34" charset="-122"/>
                <a:cs typeface="Calibri" pitchFamily="34" charset="-120"/>
              </a:rPr>
              <a:t>1</a:t>
            </a:r>
            <a:r>
              <a:rPr lang="en-US" sz="1550" dirty="0">
                <a:solidFill>
                  <a:srgbClr val="212121"/>
                </a:solidFill>
                <a:latin typeface="Calibri" pitchFamily="34" charset="0"/>
                <a:ea typeface="Calibri" pitchFamily="34" charset="-122"/>
                <a:cs typeface="Calibri" pitchFamily="34" charset="-120"/>
              </a:rPr>
              <a:t>; satır: −5, −2, 1</a:t>
            </a:r>
            <a:endParaRPr lang="en-US" sz="1550" dirty="0"/>
          </a:p>
          <a:p>
            <a:pPr marL="342900" indent="-342900">
              <a:spcAft>
                <a:spcPts val="600"/>
              </a:spcAft>
              <a:buSzPct val="100000"/>
              <a:buFont typeface="+mj-lt"/>
              <a:buAutoNum type="arabicPeriod" startAt="1"/>
            </a:pPr>
            <a:r>
              <a:rPr lang="en-US" sz="1550" dirty="0">
                <a:solidFill>
                  <a:srgbClr val="212121"/>
                </a:solidFill>
                <a:latin typeface="Calibri" pitchFamily="34" charset="0"/>
                <a:ea typeface="Calibri" pitchFamily="34" charset="-122"/>
                <a:cs typeface="Calibri" pitchFamily="34" charset="-120"/>
              </a:rPr>
              <a:t>Geri izleme: (4,3) ↖ (3,2) ↖ (2,1) ↑ (1,1) ↖ (0,0) → </a:t>
            </a:r>
            <a:r>
              <a:rPr lang="en-US" sz="1550" dirty="0">
                <a:solidFill>
                  <a:srgbClr val="455A64"/>
                </a:solidFill>
                <a:latin typeface="Courier New" pitchFamily="34" charset="0"/>
                <a:ea typeface="Courier New" pitchFamily="34" charset="-122"/>
                <a:cs typeface="Courier New" pitchFamily="34" charset="-120"/>
              </a:rPr>
              <a:t>ACGT</a:t>
            </a:r>
            <a:r>
              <a:rPr lang="en-US" sz="1550" dirty="0">
                <a:solidFill>
                  <a:srgbClr val="212121"/>
                </a:solidFill>
                <a:latin typeface="Calibri" pitchFamily="34" charset="0"/>
                <a:ea typeface="Calibri" pitchFamily="34" charset="-122"/>
                <a:cs typeface="Calibri" pitchFamily="34" charset="-120"/>
              </a:rPr>
              <a:t>/</a:t>
            </a:r>
            <a:r>
              <a:rPr lang="en-US" sz="1550" dirty="0">
                <a:solidFill>
                  <a:srgbClr val="455A64"/>
                </a:solidFill>
                <a:latin typeface="Courier New" pitchFamily="34" charset="0"/>
                <a:ea typeface="Courier New" pitchFamily="34" charset="-122"/>
                <a:cs typeface="Courier New" pitchFamily="34" charset="-120"/>
              </a:rPr>
              <a:t>A-GT</a:t>
            </a:r>
            <a:endParaRPr lang="en-US" sz="1550" dirty="0"/>
          </a:p>
          <a:p>
            <a:pPr marL="342900" indent="-342900">
              <a:spcAft>
                <a:spcPts val="600"/>
              </a:spcAft>
              <a:buSzPct val="100000"/>
              <a:buFont typeface="+mj-lt"/>
              <a:buAutoNum type="arabicPeriod" startAt="1"/>
            </a:pPr>
            <a:r>
              <a:rPr lang="en-US" sz="1550" dirty="0">
                <a:solidFill>
                  <a:srgbClr val="212121"/>
                </a:solidFill>
                <a:latin typeface="Calibri" pitchFamily="34" charset="0"/>
                <a:ea typeface="Calibri" pitchFamily="34" charset="-122"/>
                <a:cs typeface="Calibri" pitchFamily="34" charset="-120"/>
              </a:rPr>
              <a:t>Yol üzerinde eşitlik yok → </a:t>
            </a:r>
            <a:r>
              <a:rPr lang="en-US" sz="1550" b="1" dirty="0">
                <a:solidFill>
                  <a:srgbClr val="212121"/>
                </a:solidFill>
                <a:latin typeface="Calibri" pitchFamily="34" charset="0"/>
                <a:ea typeface="Calibri" pitchFamily="34" charset="-122"/>
                <a:cs typeface="Calibri" pitchFamily="34" charset="-120"/>
              </a:rPr>
              <a:t>tek</a:t>
            </a:r>
            <a:r>
              <a:rPr lang="en-US" sz="1550" dirty="0">
                <a:solidFill>
                  <a:srgbClr val="212121"/>
                </a:solidFill>
                <a:latin typeface="Calibri" pitchFamily="34" charset="0"/>
                <a:ea typeface="Calibri" pitchFamily="34" charset="-122"/>
                <a:cs typeface="Calibri" pitchFamily="34" charset="-120"/>
              </a:rPr>
              <a:t> optimal hizalama</a:t>
            </a:r>
            <a:endParaRPr lang="en-US" sz="155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7303441" y="2779776"/>
          <a:ext cx="4339614" cy="914400"/>
        </p:xfrm>
        <a:graphic>
          <a:graphicData uri="http://schemas.openxmlformats.org/drawingml/2006/table">
            <a:tbl>
              <a:tblPr/>
              <a:tblGrid>
                <a:gridCol w="867923"/>
                <a:gridCol w="867923"/>
                <a:gridCol w="867923"/>
                <a:gridCol w="867923"/>
                <a:gridCol w="867923"/>
              </a:tblGrid>
              <a:tr h="0">
                <a:tc>
                  <a:txBody>
                    <a:bodyPr/>
                    <a:lstStyle/>
                    <a:p>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A</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G</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−6</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A</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C</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G</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−6</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−8</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−5</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bl>
          </a:graphicData>
        </a:graphic>
      </p:graphicFrame>
      <p:sp>
        <p:nvSpPr>
          <p:cNvPr id="8" name="Shape 5"/>
          <p:cNvSpPr/>
          <p:nvPr/>
        </p:nvSpPr>
        <p:spPr>
          <a:xfrm>
            <a:off x="548640" y="5577840"/>
            <a:ext cx="11094415" cy="685800"/>
          </a:xfrm>
          <a:prstGeom prst="roundRect">
            <a:avLst>
              <a:gd name="adj" fmla="val 10667"/>
            </a:avLst>
          </a:prstGeom>
          <a:solidFill>
            <a:srgbClr val="FDECEA"/>
          </a:solidFill>
          <a:ln/>
        </p:spPr>
      </p:sp>
      <p:sp>
        <p:nvSpPr>
          <p:cNvPr id="9" name="Text 6"/>
          <p:cNvSpPr txBox="1"/>
          <p:nvPr/>
        </p:nvSpPr>
        <p:spPr>
          <a:xfrm>
            <a:off x="685800" y="5577840"/>
            <a:ext cx="10820095" cy="685800"/>
          </a:xfrm>
          <a:prstGeom prst="rect">
            <a:avLst/>
          </a:prstGeom>
          <a:noFill/>
          <a:ln/>
        </p:spPr>
        <p:txBody>
          <a:bodyPr wrap="square" lIns="0" tIns="0" rIns="0" bIns="0" rtlCol="0" anchor="ctr"/>
          <a:lstStyle/>
          <a:p>
            <a:pPr indent="0" marL="0">
              <a:buNone/>
            </a:pPr>
            <a:r>
              <a:rPr lang="en-US" sz="1800" b="1" dirty="0">
                <a:solidFill>
                  <a:srgbClr val="B71C1C"/>
                </a:solidFill>
                <a:latin typeface="Calibri" pitchFamily="34" charset="0"/>
                <a:ea typeface="Calibri" pitchFamily="34" charset="-122"/>
                <a:cs typeface="Calibri" pitchFamily="34" charset="-120"/>
              </a:rPr>
              <a:t>Sonuç  </a:t>
            </a:r>
            <a:r>
              <a:rPr lang="en-US" sz="1800" dirty="0">
                <a:solidFill>
                  <a:srgbClr val="212121"/>
                </a:solidFill>
                <a:latin typeface="Calibri" pitchFamily="34" charset="0"/>
                <a:ea typeface="Calibri" pitchFamily="34" charset="-122"/>
                <a:cs typeface="Calibri" pitchFamily="34" charset="-120"/>
              </a:rPr>
              <a:t>Skor </a:t>
            </a:r>
            <a:r>
              <a:rPr lang="en-US" sz="1800" b="1" dirty="0">
                <a:solidFill>
                  <a:srgbClr val="212121"/>
                </a:solidFill>
                <a:latin typeface="Calibri" pitchFamily="34" charset="0"/>
                <a:ea typeface="Calibri" pitchFamily="34" charset="-122"/>
                <a:cs typeface="Calibri" pitchFamily="34" charset="-120"/>
              </a:rPr>
              <a:t>1</a:t>
            </a:r>
            <a:r>
              <a:rPr lang="en-US" sz="1800" dirty="0">
                <a:solidFill>
                  <a:srgbClr val="212121"/>
                </a:solidFill>
                <a:latin typeface="Calibri" pitchFamily="34" charset="0"/>
                <a:ea typeface="Calibri" pitchFamily="34" charset="-122"/>
                <a:cs typeface="Calibri" pitchFamily="34" charset="-120"/>
              </a:rPr>
              <a:t>: </a:t>
            </a:r>
            <a:r>
              <a:rPr lang="en-US" sz="1800" dirty="0">
                <a:solidFill>
                  <a:srgbClr val="455A64"/>
                </a:solidFill>
                <a:latin typeface="Courier New" pitchFamily="34" charset="0"/>
                <a:ea typeface="Courier New" pitchFamily="34" charset="-122"/>
                <a:cs typeface="Courier New" pitchFamily="34" charset="-120"/>
              </a:rPr>
              <a:t>ACGT</a:t>
            </a:r>
            <a:r>
              <a:rPr lang="en-US" sz="1800" dirty="0">
                <a:solidFill>
                  <a:srgbClr val="212121"/>
                </a:solidFill>
                <a:latin typeface="Calibri" pitchFamily="34" charset="0"/>
                <a:ea typeface="Calibri" pitchFamily="34" charset="-122"/>
                <a:cs typeface="Calibri" pitchFamily="34" charset="-120"/>
              </a:rPr>
              <a:t>/</a:t>
            </a:r>
            <a:r>
              <a:rPr lang="en-US" sz="1800" dirty="0">
                <a:solidFill>
                  <a:srgbClr val="455A64"/>
                </a:solidFill>
                <a:latin typeface="Courier New" pitchFamily="34" charset="0"/>
                <a:ea typeface="Courier New" pitchFamily="34" charset="-122"/>
                <a:cs typeface="Courier New" pitchFamily="34" charset="-120"/>
              </a:rPr>
              <a:t>A-GT</a:t>
            </a:r>
            <a:r>
              <a:rPr lang="en-US" sz="1800" dirty="0">
                <a:solidFill>
                  <a:srgbClr val="212121"/>
                </a:solidFill>
                <a:latin typeface="Calibri" pitchFamily="34" charset="0"/>
                <a:ea typeface="Calibri" pitchFamily="34" charset="-122"/>
                <a:cs typeface="Calibri" pitchFamily="34" charset="-120"/>
              </a:rPr>
              <a:t> (3 eşleşme − 2 boşluk). Biopython: skor 1.0, 1 optimal hizalama.</a:t>
            </a:r>
            <a:endParaRPr lang="en-US" sz="1800" dirty="0"/>
          </a:p>
        </p:txBody>
      </p:sp>
      <p:sp>
        <p:nvSpPr>
          <p:cNvPr id="10" name="Text 7"/>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6: Global hizalama (NW)</a:t>
            </a:r>
            <a:endParaRPr lang="en-US" sz="900" dirty="0"/>
          </a:p>
        </p:txBody>
      </p:sp>
      <p:sp>
        <p:nvSpPr>
          <p:cNvPr id="11" name="Text 8"/>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35</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Laboratuvar alıştırmaları</a:t>
            </a:r>
            <a:endParaRPr lang="en-US" sz="3000" dirty="0"/>
          </a:p>
        </p:txBody>
      </p:sp>
      <p:sp>
        <p:nvSpPr>
          <p:cNvPr id="3" name="Text 1"/>
          <p:cNvSpPr txBox="1"/>
          <p:nvPr/>
        </p:nvSpPr>
        <p:spPr>
          <a:xfrm>
            <a:off x="548640" y="987552"/>
            <a:ext cx="11094415" cy="365760"/>
          </a:xfrm>
          <a:prstGeom prst="rect">
            <a:avLst/>
          </a:prstGeom>
          <a:noFill/>
          <a:ln/>
        </p:spPr>
        <p:txBody>
          <a:bodyPr wrap="square" lIns="0" tIns="0" rIns="0" bIns="0" rtlCol="0" anchor="t"/>
          <a:lstStyle/>
          <a:p>
            <a:pPr indent="0" marL="0">
              <a:buNone/>
            </a:pPr>
            <a:r>
              <a:rPr lang="en-US" sz="1500" i="1" dirty="0">
                <a:solidFill>
                  <a:srgbClr val="546E7A"/>
                </a:solidFill>
                <a:latin typeface="Calibri" pitchFamily="34" charset="0"/>
                <a:ea typeface="Calibri" pitchFamily="34" charset="-122"/>
                <a:cs typeface="Calibri" pitchFamily="34" charset="-120"/>
              </a:rPr>
              <a:t>Notebook: hafta06_ikili_hizalama_global.ipynb  —  çözümler notebook'un sonunda</a:t>
            </a:r>
            <a:endParaRPr lang="en-US" sz="1500" dirty="0"/>
          </a:p>
        </p:txBody>
      </p:sp>
      <p:sp>
        <p:nvSpPr>
          <p:cNvPr id="4" name="Text 2"/>
          <p:cNvSpPr txBox="1"/>
          <p:nvPr/>
        </p:nvSpPr>
        <p:spPr>
          <a:xfrm>
            <a:off x="548640" y="1463040"/>
            <a:ext cx="11094415" cy="4754880"/>
          </a:xfrm>
          <a:prstGeom prst="rect">
            <a:avLst/>
          </a:prstGeom>
          <a:noFill/>
          <a:ln/>
        </p:spPr>
        <p:txBody>
          <a:bodyPr wrap="square" lIns="25400" tIns="25400" rIns="50800" bIns="25400" rtlCol="0" anchor="t"/>
          <a:lstStyle/>
          <a:p>
            <a:pPr marL="342900" indent="-342900">
              <a:spcAft>
                <a:spcPts val="8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a:t>
            </a:r>
            <a:r>
              <a:rPr lang="en-US" sz="1800" dirty="0">
                <a:solidFill>
                  <a:srgbClr val="455A64"/>
                </a:solidFill>
                <a:latin typeface="Courier New" pitchFamily="34" charset="0"/>
                <a:ea typeface="Courier New" pitchFamily="34" charset="-122"/>
                <a:cs typeface="Courier New" pitchFamily="34" charset="-120"/>
              </a:rPr>
              <a:t>GATTACA</a:t>
            </a:r>
            <a:r>
              <a:rPr lang="en-US" sz="1800" dirty="0">
                <a:solidFill>
                  <a:srgbClr val="212121"/>
                </a:solidFill>
                <a:latin typeface="Calibri" pitchFamily="34" charset="0"/>
                <a:ea typeface="Calibri" pitchFamily="34" charset="-122"/>
                <a:cs typeface="Calibri" pitchFamily="34" charset="-120"/>
              </a:rPr>
              <a:t> / </a:t>
            </a:r>
            <a:r>
              <a:rPr lang="en-US" sz="1800" dirty="0">
                <a:solidFill>
                  <a:srgbClr val="455A64"/>
                </a:solidFill>
                <a:latin typeface="Courier New" pitchFamily="34" charset="0"/>
                <a:ea typeface="Courier New" pitchFamily="34" charset="-122"/>
                <a:cs typeface="Courier New" pitchFamily="34" charset="-120"/>
              </a:rPr>
              <a:t>GCATGCA</a:t>
            </a:r>
            <a:r>
              <a:rPr lang="en-US" sz="1800" dirty="0">
                <a:solidFill>
                  <a:srgbClr val="212121"/>
                </a:solidFill>
                <a:latin typeface="Calibri" pitchFamily="34" charset="0"/>
                <a:ea typeface="Calibri" pitchFamily="34" charset="-122"/>
                <a:cs typeface="Calibri" pitchFamily="34" charset="-120"/>
              </a:rPr>
              <a:t> hizalamasını elle yapın (+1/−1/−2), kodla kontrol edin. (Cevap: skor </a:t>
            </a:r>
            <a:r>
              <a:rPr lang="en-US" sz="1800" b="1" dirty="0">
                <a:solidFill>
                  <a:srgbClr val="212121"/>
                </a:solidFill>
                <a:latin typeface="Calibri" pitchFamily="34" charset="0"/>
                <a:ea typeface="Calibri" pitchFamily="34" charset="-122"/>
                <a:cs typeface="Calibri" pitchFamily="34" charset="-120"/>
              </a:rPr>
              <a:t>1</a:t>
            </a:r>
            <a:r>
              <a:rPr lang="en-US" sz="1800" dirty="0">
                <a:solidFill>
                  <a:srgbClr val="212121"/>
                </a:solidFill>
                <a:latin typeface="Calibri" pitchFamily="34" charset="0"/>
                <a:ea typeface="Calibri" pitchFamily="34" charset="-122"/>
                <a:cs typeface="Calibri" pitchFamily="34" charset="-120"/>
              </a:rPr>
              <a:t>, </a:t>
            </a:r>
            <a:r>
              <a:rPr lang="en-US" sz="1800" dirty="0">
                <a:solidFill>
                  <a:srgbClr val="455A64"/>
                </a:solidFill>
                <a:latin typeface="Courier New" pitchFamily="34" charset="0"/>
                <a:ea typeface="Courier New" pitchFamily="34" charset="-122"/>
                <a:cs typeface="Courier New" pitchFamily="34" charset="-120"/>
              </a:rPr>
              <a:t>GATTACA</a:t>
            </a:r>
            <a:r>
              <a:rPr lang="en-US" sz="1800" dirty="0">
                <a:solidFill>
                  <a:srgbClr val="212121"/>
                </a:solidFill>
                <a:latin typeface="Calibri" pitchFamily="34" charset="0"/>
                <a:ea typeface="Calibri" pitchFamily="34" charset="-122"/>
                <a:cs typeface="Calibri" pitchFamily="34" charset="-120"/>
              </a:rPr>
              <a:t>/</a:t>
            </a:r>
            <a:r>
              <a:rPr lang="en-US" sz="1800" dirty="0">
                <a:solidFill>
                  <a:srgbClr val="455A64"/>
                </a:solidFill>
                <a:latin typeface="Courier New" pitchFamily="34" charset="0"/>
                <a:ea typeface="Courier New" pitchFamily="34" charset="-122"/>
                <a:cs typeface="Courier New" pitchFamily="34" charset="-120"/>
              </a:rPr>
              <a:t>GCATGCA</a:t>
            </a:r>
            <a:r>
              <a:rPr lang="en-US" sz="1800" dirty="0">
                <a:solidFill>
                  <a:srgbClr val="212121"/>
                </a:solidFill>
                <a:latin typeface="Calibri" pitchFamily="34" charset="0"/>
                <a:ea typeface="Calibri" pitchFamily="34" charset="-122"/>
                <a:cs typeface="Calibri" pitchFamily="34" charset="-120"/>
              </a:rPr>
              <a:t>, boşluksuz)</a:t>
            </a:r>
            <a:endParaRPr lang="en-US" sz="1800" dirty="0"/>
          </a:p>
          <a:p>
            <a:pPr marL="342900" indent="-342900">
              <a:spcAft>
                <a:spcPts val="8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a:t>
            </a:r>
            <a:r>
              <a:rPr lang="en-US" sz="1800" dirty="0">
                <a:solidFill>
                  <a:srgbClr val="455A64"/>
                </a:solidFill>
                <a:latin typeface="Courier New" pitchFamily="34" charset="0"/>
                <a:ea typeface="Courier New" pitchFamily="34" charset="-122"/>
                <a:cs typeface="Courier New" pitchFamily="34" charset="-120"/>
              </a:rPr>
              <a:t>needleman_wunsch</a:t>
            </a:r>
            <a:r>
              <a:rPr lang="en-US" sz="1800" dirty="0">
                <a:solidFill>
                  <a:srgbClr val="212121"/>
                </a:solidFill>
                <a:latin typeface="Calibri" pitchFamily="34" charset="0"/>
                <a:ea typeface="Calibri" pitchFamily="34" charset="-122"/>
                <a:cs typeface="Calibri" pitchFamily="34" charset="-120"/>
              </a:rPr>
              <a:t>'u yalnızca skoru döndüren ve </a:t>
            </a:r>
            <a:r>
              <a:rPr lang="en-US" sz="1800" b="1" dirty="0">
                <a:solidFill>
                  <a:srgbClr val="212121"/>
                </a:solidFill>
                <a:latin typeface="Calibri" pitchFamily="34" charset="0"/>
                <a:ea typeface="Calibri" pitchFamily="34" charset="-122"/>
                <a:cs typeface="Calibri" pitchFamily="34" charset="-120"/>
              </a:rPr>
              <a:t>iki satır</a:t>
            </a:r>
            <a:r>
              <a:rPr lang="en-US" sz="1800" dirty="0">
                <a:solidFill>
                  <a:srgbClr val="212121"/>
                </a:solidFill>
                <a:latin typeface="Calibri" pitchFamily="34" charset="0"/>
                <a:ea typeface="Calibri" pitchFamily="34" charset="-122"/>
                <a:cs typeface="Calibri" pitchFamily="34" charset="-120"/>
              </a:rPr>
              <a:t> bellek kullanan bir sürüme dönüştürün; aynı skoru verdiğini doğrulayın</a:t>
            </a:r>
            <a:endParaRPr lang="en-US" sz="1800" dirty="0"/>
          </a:p>
          <a:p>
            <a:pPr marL="342900" indent="-342900">
              <a:spcAft>
                <a:spcPts val="8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Yarı-global: </a:t>
            </a:r>
            <a:r>
              <a:rPr lang="en-US" sz="1800" dirty="0">
                <a:solidFill>
                  <a:srgbClr val="455A64"/>
                </a:solidFill>
                <a:latin typeface="Courier New" pitchFamily="34" charset="0"/>
                <a:ea typeface="Courier New" pitchFamily="34" charset="-122"/>
                <a:cs typeface="Courier New" pitchFamily="34" charset="-120"/>
              </a:rPr>
              <a:t>end_gap_score = 0</a:t>
            </a:r>
            <a:r>
              <a:rPr lang="en-US" sz="1800" dirty="0">
                <a:solidFill>
                  <a:srgbClr val="212121"/>
                </a:solidFill>
                <a:latin typeface="Calibri" pitchFamily="34" charset="0"/>
                <a:ea typeface="Calibri" pitchFamily="34" charset="-122"/>
                <a:cs typeface="Calibri" pitchFamily="34" charset="-120"/>
              </a:rPr>
              <a:t> ile </a:t>
            </a:r>
            <a:r>
              <a:rPr lang="en-US" sz="1800" dirty="0">
                <a:solidFill>
                  <a:srgbClr val="455A64"/>
                </a:solidFill>
                <a:latin typeface="Courier New" pitchFamily="34" charset="0"/>
                <a:ea typeface="Courier New" pitchFamily="34" charset="-122"/>
                <a:cs typeface="Courier New" pitchFamily="34" charset="-120"/>
              </a:rPr>
              <a:t>ACGTGA</a:t>
            </a:r>
            <a:r>
              <a:rPr lang="en-US" sz="1800" dirty="0">
                <a:solidFill>
                  <a:srgbClr val="212121"/>
                </a:solidFill>
                <a:latin typeface="Calibri" pitchFamily="34" charset="0"/>
                <a:ea typeface="Calibri" pitchFamily="34" charset="-122"/>
                <a:cs typeface="Calibri" pitchFamily="34" charset="-120"/>
              </a:rPr>
              <a:t> okumasını </a:t>
            </a:r>
            <a:r>
              <a:rPr lang="en-US" sz="1800" dirty="0">
                <a:solidFill>
                  <a:srgbClr val="455A64"/>
                </a:solidFill>
                <a:latin typeface="Courier New" pitchFamily="34" charset="0"/>
                <a:ea typeface="Courier New" pitchFamily="34" charset="-122"/>
                <a:cs typeface="Courier New" pitchFamily="34" charset="-120"/>
              </a:rPr>
              <a:t>TTTTACGTGATTTT</a:t>
            </a:r>
            <a:r>
              <a:rPr lang="en-US" sz="1800" dirty="0">
                <a:solidFill>
                  <a:srgbClr val="212121"/>
                </a:solidFill>
                <a:latin typeface="Calibri" pitchFamily="34" charset="0"/>
                <a:ea typeface="Calibri" pitchFamily="34" charset="-122"/>
                <a:cs typeface="Calibri" pitchFamily="34" charset="-120"/>
              </a:rPr>
              <a:t> içinde hizalayın (global −10, yarı-global </a:t>
            </a:r>
            <a:r>
              <a:rPr lang="en-US" sz="1800" b="1" dirty="0">
                <a:solidFill>
                  <a:srgbClr val="212121"/>
                </a:solidFill>
                <a:latin typeface="Calibri" pitchFamily="34" charset="0"/>
                <a:ea typeface="Calibri" pitchFamily="34" charset="-122"/>
                <a:cs typeface="Calibri" pitchFamily="34" charset="-120"/>
              </a:rPr>
              <a:t>6</a:t>
            </a:r>
            <a:r>
              <a:rPr lang="en-US" sz="1800" dirty="0">
                <a:solidFill>
                  <a:srgbClr val="212121"/>
                </a:solidFill>
                <a:latin typeface="Calibri" pitchFamily="34" charset="0"/>
                <a:ea typeface="Calibri" pitchFamily="34" charset="-122"/>
                <a:cs typeface="Calibri" pitchFamily="34" charset="-120"/>
              </a:rPr>
              <a:t>)</a:t>
            </a:r>
            <a:endParaRPr lang="en-US" sz="1800" dirty="0"/>
          </a:p>
          <a:p>
            <a:pPr marL="342900" indent="-342900">
              <a:spcAft>
                <a:spcPts val="8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a:t>
            </a:r>
            <a:r>
              <a:rPr lang="en-US" sz="1800" dirty="0">
                <a:solidFill>
                  <a:srgbClr val="455A64"/>
                </a:solidFill>
                <a:latin typeface="Courier New" pitchFamily="34" charset="0"/>
                <a:ea typeface="Courier New" pitchFamily="34" charset="-122"/>
                <a:cs typeface="Courier New" pitchFamily="34" charset="-120"/>
              </a:rPr>
              <a:t>protA1</a:t>
            </a:r>
            <a:r>
              <a:rPr lang="en-US" sz="1800" dirty="0">
                <a:solidFill>
                  <a:srgbClr val="212121"/>
                </a:solidFill>
                <a:latin typeface="Calibri" pitchFamily="34" charset="0"/>
                <a:ea typeface="Calibri" pitchFamily="34" charset="-122"/>
                <a:cs typeface="Calibri" pitchFamily="34" charset="-120"/>
              </a:rPr>
              <a:t> ile </a:t>
            </a:r>
            <a:r>
              <a:rPr lang="en-US" sz="1800" dirty="0">
                <a:solidFill>
                  <a:srgbClr val="455A64"/>
                </a:solidFill>
                <a:latin typeface="Courier New" pitchFamily="34" charset="0"/>
                <a:ea typeface="Courier New" pitchFamily="34" charset="-122"/>
                <a:cs typeface="Courier New" pitchFamily="34" charset="-120"/>
              </a:rPr>
              <a:t>ilgisiz1</a:t>
            </a:r>
            <a:r>
              <a:rPr lang="en-US" sz="1800" dirty="0">
                <a:solidFill>
                  <a:srgbClr val="212121"/>
                </a:solidFill>
                <a:latin typeface="Calibri" pitchFamily="34" charset="0"/>
                <a:ea typeface="Calibri" pitchFamily="34" charset="-122"/>
                <a:cs typeface="Calibri" pitchFamily="34" charset="-120"/>
              </a:rPr>
              <a:t>'i hizalayın; </a:t>
            </a:r>
            <a:r>
              <a:rPr lang="en-US" sz="1800" dirty="0">
                <a:solidFill>
                  <a:srgbClr val="455A64"/>
                </a:solidFill>
                <a:latin typeface="Courier New" pitchFamily="34" charset="0"/>
                <a:ea typeface="Courier New" pitchFamily="34" charset="-122"/>
                <a:cs typeface="Courier New" pitchFamily="34" charset="-120"/>
              </a:rPr>
              <a:t>ilgisiz1</a:t>
            </a:r>
            <a:r>
              <a:rPr lang="en-US" sz="1800" dirty="0">
                <a:solidFill>
                  <a:srgbClr val="212121"/>
                </a:solidFill>
                <a:latin typeface="Calibri" pitchFamily="34" charset="0"/>
                <a:ea typeface="Calibri" pitchFamily="34" charset="-122"/>
                <a:cs typeface="Calibri" pitchFamily="34" charset="-120"/>
              </a:rPr>
              <a:t>'i 100 kez karıştırıp skor dağılımını çizin (gerçek −102, ort. −104.9 ± 6.5, </a:t>
            </a:r>
            <a:r>
              <a:rPr lang="en-US" sz="1800" b="1" dirty="0">
                <a:solidFill>
                  <a:srgbClr val="212121"/>
                </a:solidFill>
                <a:latin typeface="Calibri" pitchFamily="34" charset="0"/>
                <a:ea typeface="Calibri" pitchFamily="34" charset="-122"/>
                <a:cs typeface="Calibri" pitchFamily="34" charset="-120"/>
              </a:rPr>
              <a:t>z = 0.45</a:t>
            </a:r>
            <a:r>
              <a:rPr lang="en-US" sz="1800" dirty="0">
                <a:solidFill>
                  <a:srgbClr val="212121"/>
                </a:solidFill>
                <a:latin typeface="Calibri" pitchFamily="34" charset="0"/>
                <a:ea typeface="Calibri" pitchFamily="34" charset="-122"/>
                <a:cs typeface="Calibri" pitchFamily="34" charset="-120"/>
              </a:rPr>
              <a:t>)</a:t>
            </a:r>
            <a:endParaRPr lang="en-US" sz="1800" dirty="0"/>
          </a:p>
          <a:p>
            <a:pPr marL="342900" indent="-342900">
              <a:spcAft>
                <a:spcPts val="800"/>
              </a:spcAft>
              <a:buSzPct val="100000"/>
              <a:buFont typeface="+mj-lt"/>
              <a:buAutoNum type="arabicPeriod" startAt="1"/>
            </a:pPr>
            <a:r>
              <a:rPr lang="en-US" sz="1800" b="1" dirty="0">
                <a:solidFill>
                  <a:srgbClr val="212121"/>
                </a:solidFill>
                <a:latin typeface="Calibri" pitchFamily="34" charset="0"/>
                <a:ea typeface="Calibri" pitchFamily="34" charset="-122"/>
                <a:cs typeface="Calibri" pitchFamily="34" charset="-120"/>
              </a:rPr>
              <a:t>Ek:</a:t>
            </a:r>
            <a:r>
              <a:rPr lang="en-US" sz="1800" dirty="0">
                <a:solidFill>
                  <a:srgbClr val="212121"/>
                </a:solidFill>
                <a:latin typeface="Calibri" pitchFamily="34" charset="0"/>
                <a:ea typeface="Calibri" pitchFamily="34" charset="-122"/>
                <a:cs typeface="Calibri" pitchFamily="34" charset="-120"/>
              </a:rPr>
              <a:t> Tüm optimal hizalamaları döndüren özyinelemeli bir geri izleme yazın; </a:t>
            </a:r>
            <a:r>
              <a:rPr lang="en-US" sz="1800" dirty="0">
                <a:solidFill>
                  <a:srgbClr val="455A64"/>
                </a:solidFill>
                <a:latin typeface="Courier New" pitchFamily="34" charset="0"/>
                <a:ea typeface="Courier New" pitchFamily="34" charset="-122"/>
                <a:cs typeface="Courier New" pitchFamily="34" charset="-120"/>
              </a:rPr>
              <a:t>GAATTC</a:t>
            </a:r>
            <a:r>
              <a:rPr lang="en-US" sz="1800" dirty="0">
                <a:solidFill>
                  <a:srgbClr val="212121"/>
                </a:solidFill>
                <a:latin typeface="Calibri" pitchFamily="34" charset="0"/>
                <a:ea typeface="Calibri" pitchFamily="34" charset="-122"/>
                <a:cs typeface="Calibri" pitchFamily="34" charset="-120"/>
              </a:rPr>
              <a:t>/</a:t>
            </a:r>
            <a:r>
              <a:rPr lang="en-US" sz="1800" dirty="0">
                <a:solidFill>
                  <a:srgbClr val="455A64"/>
                </a:solidFill>
                <a:latin typeface="Courier New" pitchFamily="34" charset="0"/>
                <a:ea typeface="Courier New" pitchFamily="34" charset="-122"/>
                <a:cs typeface="Courier New" pitchFamily="34" charset="-120"/>
              </a:rPr>
              <a:t>GATTA</a:t>
            </a:r>
            <a:r>
              <a:rPr lang="en-US" sz="1800" dirty="0">
                <a:solidFill>
                  <a:srgbClr val="212121"/>
                </a:solidFill>
                <a:latin typeface="Calibri" pitchFamily="34" charset="0"/>
                <a:ea typeface="Calibri" pitchFamily="34" charset="-122"/>
                <a:cs typeface="Calibri" pitchFamily="34" charset="-120"/>
              </a:rPr>
              <a:t> için 2 hizalama bulmalı</a:t>
            </a:r>
            <a:endParaRPr lang="en-US" sz="1800" dirty="0"/>
          </a:p>
        </p:txBody>
      </p:sp>
      <p:sp>
        <p:nvSpPr>
          <p:cNvPr id="5" name="Text 3"/>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6: Global hizalama (NW)</a:t>
            </a:r>
            <a:endParaRPr lang="en-US" sz="900" dirty="0"/>
          </a:p>
        </p:txBody>
      </p:sp>
      <p:sp>
        <p:nvSpPr>
          <p:cNvPr id="6" name="Text 4"/>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36</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263238"/>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731520"/>
          </a:xfrm>
          <a:prstGeom prst="rect">
            <a:avLst/>
          </a:prstGeom>
          <a:noFill/>
          <a:ln/>
        </p:spPr>
        <p:txBody>
          <a:bodyPr wrap="square" lIns="0" tIns="0" rIns="0" bIns="0" rtlCol="0" anchor="ctr"/>
          <a:lstStyle/>
          <a:p>
            <a:pPr indent="0" marL="0">
              <a:buNone/>
            </a:pPr>
            <a:r>
              <a:rPr lang="en-US" sz="3000" b="1" dirty="0">
                <a:solidFill>
                  <a:srgbClr val="FFFFFF"/>
                </a:solidFill>
              </a:rPr>
              <a:t>Özet ve sonraki hafta</a:t>
            </a:r>
            <a:endParaRPr lang="en-US" sz="3000" dirty="0"/>
          </a:p>
        </p:txBody>
      </p:sp>
      <p:sp>
        <p:nvSpPr>
          <p:cNvPr id="3" name="Text 1"/>
          <p:cNvSpPr txBox="1"/>
          <p:nvPr/>
        </p:nvSpPr>
        <p:spPr>
          <a:xfrm>
            <a:off x="548640" y="1325880"/>
            <a:ext cx="11094415" cy="4023360"/>
          </a:xfrm>
          <a:prstGeom prst="rect">
            <a:avLst/>
          </a:prstGeom>
          <a:noFill/>
          <a:ln/>
        </p:spPr>
        <p:txBody>
          <a:bodyPr wrap="square" lIns="0" tIns="0" rIns="0" bIns="0" rtlCol="0" anchor="t"/>
          <a:lstStyle/>
          <a:p>
            <a:pPr marL="228600" indent="-228600">
              <a:spcAft>
                <a:spcPts val="800"/>
              </a:spcAft>
              <a:buSzPct val="100000"/>
              <a:buChar char="•"/>
            </a:pPr>
            <a:r>
              <a:rPr lang="en-US" sz="2000" dirty="0">
                <a:solidFill>
                  <a:srgbClr val="ECEFF1"/>
                </a:solidFill>
                <a:latin typeface="Calibri" pitchFamily="34" charset="0"/>
                <a:ea typeface="Calibri" pitchFamily="34" charset="-122"/>
                <a:cs typeface="Calibri" pitchFamily="34" charset="-120"/>
              </a:rPr>
              <a:t>Hizalama = evrimsel olayların (yer değiştirme, indel) açıklaması; homoloji evet/hayır, özdeşlik ölçülebilir</a:t>
            </a:r>
            <a:endParaRPr lang="en-US" sz="2000" dirty="0"/>
          </a:p>
          <a:p>
            <a:pPr marL="228600" indent="-228600">
              <a:spcAft>
                <a:spcPts val="800"/>
              </a:spcAft>
              <a:buSzPct val="100000"/>
              <a:buChar char="•"/>
            </a:pPr>
            <a:r>
              <a:rPr lang="en-US" sz="2000" dirty="0">
                <a:solidFill>
                  <a:srgbClr val="ECEFF1"/>
                </a:solidFill>
                <a:latin typeface="Calibri" pitchFamily="34" charset="0"/>
                <a:ea typeface="Calibri" pitchFamily="34" charset="-122"/>
                <a:cs typeface="Calibri" pitchFamily="34" charset="-120"/>
              </a:rPr>
              <a:t>Olası hizalama sayısı </a:t>
            </a:r>
            <a:r>
              <a:rPr lang="en-US" sz="2000" b="1" dirty="0">
                <a:solidFill>
                  <a:srgbClr val="ECEFF1"/>
                </a:solidFill>
                <a:latin typeface="Calibri" pitchFamily="34" charset="0"/>
                <a:ea typeface="Calibri" pitchFamily="34" charset="-122"/>
                <a:cs typeface="Calibri" pitchFamily="34" charset="-120"/>
              </a:rPr>
              <a:t>üstel</a:t>
            </a:r>
            <a:r>
              <a:rPr lang="en-US" sz="2000" dirty="0">
                <a:solidFill>
                  <a:srgbClr val="ECEFF1"/>
                </a:solidFill>
                <a:latin typeface="Calibri" pitchFamily="34" charset="0"/>
                <a:ea typeface="Calibri" pitchFamily="34" charset="-122"/>
                <a:cs typeface="Calibri" pitchFamily="34" charset="-120"/>
              </a:rPr>
              <a:t>; DP optimal alt yapı sayesinde </a:t>
            </a:r>
            <a:r>
              <a:rPr lang="en-US" sz="2000" b="1" dirty="0">
                <a:solidFill>
                  <a:srgbClr val="ECEFF1"/>
                </a:solidFill>
                <a:latin typeface="Calibri" pitchFamily="34" charset="0"/>
                <a:ea typeface="Calibri" pitchFamily="34" charset="-122"/>
                <a:cs typeface="Calibri" pitchFamily="34" charset="-120"/>
              </a:rPr>
              <a:t>O(mn)</a:t>
            </a:r>
            <a:r>
              <a:rPr lang="en-US" sz="2000" dirty="0">
                <a:solidFill>
                  <a:srgbClr val="ECEFF1"/>
                </a:solidFill>
                <a:latin typeface="Calibri" pitchFamily="34" charset="0"/>
                <a:ea typeface="Calibri" pitchFamily="34" charset="-122"/>
                <a:cs typeface="Calibri" pitchFamily="34" charset="-120"/>
              </a:rPr>
              <a:t>'de kesin çözüm verir</a:t>
            </a:r>
            <a:endParaRPr lang="en-US" sz="2000" dirty="0"/>
          </a:p>
          <a:p>
            <a:pPr marL="228600" indent="-228600">
              <a:spcAft>
                <a:spcPts val="800"/>
              </a:spcAft>
              <a:buSzPct val="100000"/>
              <a:buChar char="•"/>
            </a:pPr>
            <a:r>
              <a:rPr lang="en-US" sz="2000" dirty="0">
                <a:solidFill>
                  <a:srgbClr val="ECEFF1"/>
                </a:solidFill>
                <a:latin typeface="Calibri" pitchFamily="34" charset="0"/>
                <a:ea typeface="Calibri" pitchFamily="34" charset="-122"/>
                <a:cs typeface="Calibri" pitchFamily="34" charset="-120"/>
              </a:rPr>
              <a:t>NW: ilk satır/sütun i·g; F(i,j) = max(çapraz, yukarı, sol); sağ alttan </a:t>
            </a:r>
            <a:r>
              <a:rPr lang="en-US" sz="2000" b="1" dirty="0">
                <a:solidFill>
                  <a:srgbClr val="ECEFF1"/>
                </a:solidFill>
                <a:latin typeface="Calibri" pitchFamily="34" charset="0"/>
                <a:ea typeface="Calibri" pitchFamily="34" charset="-122"/>
                <a:cs typeface="Calibri" pitchFamily="34" charset="-120"/>
              </a:rPr>
              <a:t>geri izleme</a:t>
            </a:r>
            <a:endParaRPr lang="en-US" sz="2000" dirty="0"/>
          </a:p>
          <a:p>
            <a:pPr marL="228600" indent="-228600">
              <a:spcAft>
                <a:spcPts val="800"/>
              </a:spcAft>
              <a:buSzPct val="100000"/>
              <a:buChar char="•"/>
            </a:pPr>
            <a:r>
              <a:rPr lang="en-US" sz="2000" dirty="0">
                <a:solidFill>
                  <a:srgbClr val="ECEFF1"/>
                </a:solidFill>
                <a:latin typeface="Calibri" pitchFamily="34" charset="0"/>
                <a:ea typeface="Calibri" pitchFamily="34" charset="-122"/>
                <a:cs typeface="Calibri" pitchFamily="34" charset="-120"/>
              </a:rPr>
              <a:t>Eşitlikler birden çok optimal hizalama doğurur; boşluk cezası sonucu niteliksel değiştirir (eşik </a:t>
            </a:r>
            <a:r>
              <a:rPr lang="en-US" sz="2000" b="1" dirty="0">
                <a:solidFill>
                  <a:srgbClr val="ECEFF1"/>
                </a:solidFill>
                <a:latin typeface="Calibri" pitchFamily="34" charset="0"/>
                <a:ea typeface="Calibri" pitchFamily="34" charset="-122"/>
                <a:cs typeface="Calibri" pitchFamily="34" charset="-120"/>
              </a:rPr>
              <a:t>g = −1.5</a:t>
            </a:r>
            <a:r>
              <a:rPr lang="en-US" sz="2000" dirty="0">
                <a:solidFill>
                  <a:srgbClr val="ECEFF1"/>
                </a:solidFill>
                <a:latin typeface="Calibri" pitchFamily="34" charset="0"/>
                <a:ea typeface="Calibri" pitchFamily="34" charset="-122"/>
                <a:cs typeface="Calibri" pitchFamily="34" charset="-120"/>
              </a:rPr>
              <a:t>)</a:t>
            </a:r>
            <a:endParaRPr lang="en-US" sz="2000" dirty="0"/>
          </a:p>
          <a:p>
            <a:pPr marL="228600" indent="-228600">
              <a:spcAft>
                <a:spcPts val="800"/>
              </a:spcAft>
              <a:buSzPct val="100000"/>
              <a:buChar char="•"/>
            </a:pPr>
            <a:r>
              <a:rPr lang="en-US" sz="2000" dirty="0">
                <a:solidFill>
                  <a:srgbClr val="ECEFF1"/>
                </a:solidFill>
                <a:latin typeface="Calibri" pitchFamily="34" charset="0"/>
                <a:ea typeface="Calibri" pitchFamily="34" charset="-122"/>
                <a:cs typeface="Calibri" pitchFamily="34" charset="-120"/>
              </a:rPr>
              <a:t>% özdeşliğin paydası belirtilmeli; bellek iki satıra (skor) ya da Hirschberg ile O(n)'e (hizalama) iner</a:t>
            </a:r>
            <a:endParaRPr lang="en-US" sz="2000" dirty="0"/>
          </a:p>
        </p:txBody>
      </p:sp>
      <p:sp>
        <p:nvSpPr>
          <p:cNvPr id="4" name="Shape 2"/>
          <p:cNvSpPr/>
          <p:nvPr/>
        </p:nvSpPr>
        <p:spPr>
          <a:xfrm>
            <a:off x="548640" y="5532120"/>
            <a:ext cx="11094415" cy="777240"/>
          </a:xfrm>
          <a:prstGeom prst="roundRect">
            <a:avLst>
              <a:gd name="adj" fmla="val 9412"/>
            </a:avLst>
          </a:prstGeom>
          <a:solidFill>
            <a:srgbClr val="37474F"/>
          </a:solidFill>
          <a:ln/>
        </p:spPr>
      </p:sp>
      <p:sp>
        <p:nvSpPr>
          <p:cNvPr id="5" name="Text 3"/>
          <p:cNvSpPr txBox="1"/>
          <p:nvPr/>
        </p:nvSpPr>
        <p:spPr>
          <a:xfrm>
            <a:off x="731520" y="5532120"/>
            <a:ext cx="10728655" cy="777240"/>
          </a:xfrm>
          <a:prstGeom prst="rect">
            <a:avLst/>
          </a:prstGeom>
          <a:noFill/>
          <a:ln/>
        </p:spPr>
        <p:txBody>
          <a:bodyPr wrap="square" lIns="0" tIns="0" rIns="0" bIns="0" rtlCol="0" anchor="ctr"/>
          <a:lstStyle/>
          <a:p>
            <a:pPr indent="0" marL="0">
              <a:buNone/>
            </a:pPr>
            <a:r>
              <a:rPr lang="en-US" sz="1600" b="1" dirty="0">
                <a:solidFill>
                  <a:srgbClr val="FFCDD2"/>
                </a:solidFill>
              </a:rPr>
              <a:t>Sonraki hafta  </a:t>
            </a:r>
            <a:r>
              <a:rPr lang="en-US" sz="1600" dirty="0">
                <a:solidFill>
                  <a:srgbClr val="FFFFFF"/>
                </a:solidFill>
              </a:rPr>
              <a:t>İkili hizalama II — Smith–Waterman yerel hizalama, afin boşluk, PAM/BLOSUM ve skorun anlamlılığı</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Hafta 6: İkili Dizi Hizalama I: Dinamik Programlama ve Needleman–Wunsch</dc:title>
  <dc:subject>PptxGenJS Presentation</dc:subject>
  <dc:creator>Biyoenformatiğe Giriş</dc:creator>
  <cp:lastModifiedBy>Biyoenformatiğe Giriş</cp:lastModifiedBy>
  <cp:revision>1</cp:revision>
  <dcterms:created xsi:type="dcterms:W3CDTF">2026-09-23T18:56:30Z</dcterms:created>
  <dcterms:modified xsi:type="dcterms:W3CDTF">2026-09-23T18:56:30Z</dcterms:modified>
</cp:coreProperties>
</file>