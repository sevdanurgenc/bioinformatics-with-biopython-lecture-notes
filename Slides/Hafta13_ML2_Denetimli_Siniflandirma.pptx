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hafta etiketli veriyle çalışıyoruz: 80 bazlık bir dizinin promotör olup olmadığını tahmin edeceğiz. Dört klasik modeli elle çözülmüş örneklerle kuracak, sonra doğru değerlendirmeyi öğreneceğiz.
11. haftadaki kesinlik/duyarlılık ve 12. haftadaki özellik çıkarımı bu hafta birleşiyor.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Hedefleri okurken dört modelin her birinin bir elle örneği olacağını söyleyin. Öğrencilere sorun: bir modelin iyi olduğunu nasıl anlarsınız? Cevaplarda muhtemelen 'doğruluk' çıkacak; haftanın sonunda bunun neden yetersiz olabileceğini göreceğiz.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İlk 15 dakika: veri seti, özellikler ve eğitim/test ayrımı. Test verisini koruma kuralını haftanın ana teması olarak koyun.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kümesini bir sınav kağıdına benzetin: sınav sorularını görüp çalışan öğrencinin notu bilgisini ölçmez. Veri sızıntısını (leakage) 14. haftada ayrıntılı işleyeceğiz; burada yalnızca kuralı koyun. Akıştaki vurgulu kutular sızıntının en sık görüldüğü adımlar.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Yanlılık–varyans dengesini sezgisel verin: basit model yanlı (sistematik hata), karmaşık model değişken (veriye çok duyarlı). Tahtada eğitim ve test hatasının model karmaşıklığına göre U eğrisini çizin; bölüm 4'teki derinlik grafiğiyle karşılaştıracağız.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Sağdaki histogram tek bir özelliğin (GC oranı) sınıfları kısmen ayırdığını ama büyük ölçüde örtüştüğünü gösteriyor. Negatiflere TATA motifi eklenmesinin amacı tek bir kurala dayanan basit bir sınıflandırıcıyı yetersiz kılmak. Gerçek promotör tahmininde bu motifler çok daha değişkendir.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Motif özelliklerinin biyolojik bilgiyle tasarlandığını vurgulayın: model TATA kavramını bilmiyor, biz ona bir sayı olarak veriyoruz. Bu 'alan bilgisi' özelliklerinin 64 boyutlu k-mer vektörüyle nasıl yarıştığını bölüm 4'te göreceğiz.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Birinci saatin geri kalanı. Her modelin bir elle örneği var; amaç kütüphane çağrısının arkasındaki hesabı görmek. Karar ağacı ve RF için gerçek modelden sayılar kullanıyoruz.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Küçük k gürültüye duyarlıdır (yüksek varyans), büyük k sınırları düzleştirir (yüksek yanlılık). Alıştırma 3'ün çözümünde CV doğruluğu k = 1'de 0.68, k = 51 civarında ≈ 0.80. Çift k değerlerinde eşitlik olabileceğini, bu yüzden ikili sınıflamada tek k seçildiğini belirtin.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Katsayıların yorumu: TATA varlığı log-oranı 2 artırır, yani oranı e² ≈ 7.4 kat artırır. Log-kaybın emin ama yanlış tahminleri çok cezalandırdığını gösterin: p = 0.01 iken y = 1 ise kayıp 4.6. Değerler notebook hücresinde doğrulandı.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Yeni örnek, numpy ile doğrulandı. (p − y)·x gradyanının zarifliğini vurgulayın: hata × girdi. Bu, 15. haftadaki sinir ağlarının geri yayılımında da aynen karşımıza çıkacak; lojistik regresyon tek nöronlu bir ağdır. C parametresi (ters düzenlileştirme gücü) büyük ağırlıkları cezalandırır.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ders notundaki örnek; (B) karşılaştırma için eklendi, Python ile doğrulandı. Açgözlü seçimin küresel olarak en iyi ağacı garanti etmediğini belirtin. Ağaçlar ölçeklemeye duyarsızdır çünkü yalnızca eşik karşılaştırması yaparlar. Alıştırma 2: 12+/4− → 10+/0− ve 2+/4− bölmesinin kazancı 0.208.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yeni örnek, ağaç çizimindeki (bölüm 5) sayıların elle doğrulanması. Öğrencilere sorun: GC-kutusu olmayan promotörleri bulmak neden daha zor? Hata analizi bölümünde yanlış sınıflandırılan promotörlerin hepsinin GC-kutusu olmayan diziler olduğunu göreceğiz.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Yeni örnek, Python ile doğrulandı. İlişkisiz hataların ortalamasının varyansı düşürdüğünü (bagging) basit bir istatistik argümanıyla açıklayın: bağımsız n tahminin ortalamasının varyansı σ²/n. Rastgele özellik seçimi ağaçları birbirinden farklılaştırmak (ilişkisizleştirmek) içindir.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scikit-learn'ün ortak arayüzünü vurgulayın: modeli değiştirmek tek satırlık iş, bu yüzden karşılaştırma kolay. Öğrencilere sorun: k-NN'de ölçekleme neden şart? (Büyük değerli özellik uzaklığa hakim olur.) Ağaçların yalnızca eşik karşılaştırması yaptığı için ölçeklemeden etkilenmediğini hatırlatın. LR'deki C = 0.1 güçlü bir düzenlileştirmedir.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doğrulukları arasındaki küçük farklar (0.808 ve 0.815) 400 örnekte istatistiksel olarak anlamlı olmayabilir: standart hata ≈ √(0.8·0.2/400) = 0.02. Bu yüzden bölüm 4'te çapraz doğrulama kullanacağız. Tablo notebook çıktısıyla birebir aynı.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İkinci saat. 11. haftadaki kesinlik/duyarlılık tablosunu hatırlatın. ROC eğrisini tahtada ızgara üzerinde adım adım çizdirin.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haftadaki DE gen listesi değerlendirmesiyle bağlantı kurun: orada da TP, FP, FN, TN kullanmıştık. Harmonik ortalamanın neden seçildiğini sorun: biri çok düşükse F1 de düşük olur; aritmetik ortalama bunu gizler.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Notebook'taki elle örnek hücresi aynı değerleri veriyor (sklearn ile). Veri hafif dengesiz (60/140); hepsine 'negatif' diyen bir model 0.70 doğruluk alırdı. Alıştırma 1'de daha dengesiz bir örnek var (%10 pozitif): orada 'hepsi negatif' modeli %90 doğruluk 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 notebook'taki ConfusionMatrixDisplay'den okunup elle doğrulandı. Öğrencilere sorun: bir tarama çalışmasında aday promotörleri deneyle doğrulayacaksak hangisi daha pahalı, kaçırma mı yanlış alarm mı? Cevaba göre karar eşiğini değiştirebiliriz (ROC bölümü).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yorum Mann–Whitney U istatistiğiyle aynıdır: AUC = U / (n₊·n₋). Eşitlik durumunda çift yarım puan alır. AUC = 0.5 rastgele sıralama, 1.0 mükemmel ayrım. Bir sonraki slaytta aynı sonucu ROC eğrisinin altındaki alan olarak bulacağız.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Yeni slayt; sklearn roc_curve(drop_intermediate=False) ile noktalar doğrulandı. Tahtada 3×3'lük bir ızgara çizip öğrencilere yolu yürütün: yukarı, yukarı, sağ, yukarı, sağ, sağ. Mükemmel sınıflandırıcıda önce üç yukarı sonra üç sağ adım gelir (AUC =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Elle hesapladığımız karışıklık matrisini ve AUC = 0.889 değerini Python'da doğruluyoruz. En sık hata: roc_auc_score'a predict çıktısını (0/1) vermek; bu durumda ROC tek bir noktaya iner. RF'nin test AUC'si 0.902, sonraki slayttaki grafikte de aynı değer görünüyor.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Sağ panel önemli: eşik 0.5 zorunlu değildir. Eşiği düşürürsek duyarlılık artar, kesinlik düşer. Kesişim yaklaşık 0.45 civarında. Uygulamanın maliyet yapısına göre eşik seçilmeli ve bu seçim de test verisiyle değil doğrulama verisiyle yapılmalıdır. LR ve RF'nin AUC'leri aynı: iki model farklı ama eşit derecede iyi sıralama yapıyor.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Üçüncü saatin başı. Tek bir eğitim/test bölmesinin şansa bağlı olduğunu vurgulayarak başlayın; ardından özellik setlerini ve model karmaşıklığını CV ile karşılaştırıyoruz.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 açıklayıcı; numpy ile doğrulandı (np.std = 0.0214). Std'nin katlar arası değişkenliği gösterdiğini, modeller arası farkın bu değişkenlikten küçükse anlamlı olmayabileceğini söyleyin. CV sonrası seçilen model, tüm eğitim verisiyle yeniden eğitilir ve test bir kez değerlendirilir.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 arttıkça boyut 4 katına çıkıyor ama kazanç azalıyor; k = 5'te 1024 özellik 2000 örneğe karşı aşırı öğrenme riski getirir. Tablo notebook çıktısından (sırası pedagojik olarak düzenlendi). Öğrencilere sorun: gerçek promotörlerde motif bilinmiyorsa ne yaparsınız? 15. haftada CNN'in motifleri kendisinin öğrendiğini göreceğiz.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Öğrenme eğrisini okumayı öğretin: eğitim ve doğrulama arasında büyük ve kapanmayan boşluk varyans sorununa, ikisinin de düşük olması yanlılık sorununa işaret eder. Alt panel, tahtada çizdiğimiz U eğrisinin gerçek karşılığı (hata yerine doğruluk çizildiği için ters çevrilmiş hâli). Grafik notebook'taki learning_curve ve validation_curve çağrılarının aynısıyla yeniden üretildi.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Son bölüm: model neyi öğrendi, nerede yanılıyor? Yorumlanabilirliğin biyolojide neden önemli olduğunu tartışın: bir tahmin ancak açıklanabilirse deneye dönüşür.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Ağacın okunabilirliği en büyük avantajı: bir biyolog bu kuralları doğrudan kontrol edebilir. Kök bölmenin Gini değerlerini daha önce elle doğruladık. Dikkat: ATT 3-meri TATA varyantlarının (TATAAA, TATAAT…) içinde geçmez; ağaçta ATT oranı yüksek olan dal ağırlıkla 'değil' sınıfına gidiyor ve LR'de de ATT katsayısı negatif. Yani ATT burada AT-zengin arka plan bileşimini yakalıyor; öğrencilere bir özelliğin biyolojik anlamının grafiğe bakıp doğrulanması gerektiğini gösterin.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 araştırmada bu tür yorumlar yeni hipotez üretir (ör. bilinmeyen bir bağlanma motifi). RF önemlerinin yüksek kardinaliteli ve ilişkili özelliklerde yanıltıcı olabileceğini, permütasyon öneminin daha güvenilir olduğunu (14. hafta) belirtin. Not: ders notundaki 'TAT/ATA' ifadesi bu çalıştırmanın grafiğinde öne çıkmıyor; TATA bilgisi zaten TATA_maks ve TATA_sayi özelliklerinde toplandığı için tek tek 3-merlere az önem kalıyor. Grafik notebook'taki modelle aynı ayarlarla yeniden çizildi (değerler birebir).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Hata analizi en az model seçimi kadar önemlidir. Karşılaştırma için: ilk dizilerden birinin TATA_maks değeri 8.97 idi (güçlü eşleşme). Öğrencilere sorun: bu hataları azaltmak için hangi özelliği eklerdiniz? (Başka bir çekirdek promotör motifi, GC oranının konuma göre profili…)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Son kart pratik bir sağlama yöntemi: karıştırılmış etiketlerle AUC 0.5'ten belirgin büyükse bir yerde sızıntı var demektir. Notebook'ta 0.508 çıktı. Pipeline konusunu 14. haftada ayrıntılı işleyeceğiz.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Hesaplar sklearn ile doğrulandı (roc_auc_score = 0.875). Sonuçtaki ek bilgi eşik değişiminin etkisini gösteriyor: eşik 0.4'te TP = 4, FP = 1 → kesinlik 0.80, duyarlılık 1.0. Sınavda ROC noktalarını da isteyebileceğinizi söyleyin.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Ek soru yeni: 0.75 skorlu pozitif 0.7 skorlu negatifi geçer, böylece tüm pozitifler tüm negatiflerden yüksek olur → AUC = 1. Alıştırma 3 ve 4'ün grafikleri notebook çözümlerinde: k-NN'de k = 1'de ≈ 0.68, k = 51'de ≈ 0.80.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Köprü: bu hafta test kümesini dikkatle korumaya çalıştık. Gelecek hafta sızıntının daha sinsi biçimlerini (ölçekleme, özellik seçimi, benzer diziler) ve dengesiz sınıflarla çalışmayı göreceğiz.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63238"/>
        </a:solidFill>
      </p:bgPr>
    </p:bg>
    <p:spTree>
      <p:nvGrpSpPr>
        <p:cNvPr id="1" name=""/>
        <p:cNvGrpSpPr/>
        <p:nvPr/>
      </p:nvGrpSpPr>
      <p:grpSpPr>
        <a:xfrm>
          <a:off x="0" y="0"/>
          <a:ext cx="0" cy="0"/>
          <a:chOff x="0" y="0"/>
          <a:chExt cx="0" cy="0"/>
        </a:xfrm>
      </p:grpSpPr>
      <p:sp>
        <p:nvSpPr>
          <p:cNvPr id="2" name="Shape 0"/>
          <p:cNvSpPr/>
          <p:nvPr/>
        </p:nvSpPr>
        <p:spPr>
          <a:xfrm>
            <a:off x="548640" y="1188720"/>
            <a:ext cx="1143000" cy="1143000"/>
          </a:xfrm>
          <a:prstGeom prst="roundRect">
            <a:avLst>
              <a:gd name="adj" fmla="val 9600"/>
            </a:avLst>
          </a:prstGeom>
          <a:solidFill>
            <a:srgbClr val="B71C1C"/>
          </a:solidFill>
          <a:ln/>
        </p:spPr>
      </p:sp>
      <p:sp>
        <p:nvSpPr>
          <p:cNvPr id="3" name="Text 1"/>
          <p:cNvSpPr txBox="1"/>
          <p:nvPr/>
        </p:nvSpPr>
        <p:spPr>
          <a:xfrm>
            <a:off x="548640" y="1188720"/>
            <a:ext cx="1143000" cy="11430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HAFTA</a:t>
            </a:r>
            <a:endParaRPr lang="en-US" sz="1200" dirty="0"/>
          </a:p>
          <a:p>
            <a:pPr algn="ctr" indent="0" marL="0">
              <a:buNone/>
            </a:pPr>
            <a:r>
              <a:rPr lang="en-US" sz="4000" b="1" dirty="0">
                <a:solidFill>
                  <a:srgbClr val="FFFFFF"/>
                </a:solidFill>
                <a:latin typeface="Calibri" pitchFamily="34" charset="0"/>
                <a:ea typeface="Calibri" pitchFamily="34" charset="-122"/>
                <a:cs typeface="Calibri" pitchFamily="34" charset="-120"/>
              </a:rPr>
              <a:t>13</a:t>
            </a:r>
            <a:endParaRPr lang="en-US" sz="1200" dirty="0"/>
          </a:p>
        </p:txBody>
      </p:sp>
      <p:sp>
        <p:nvSpPr>
          <p:cNvPr id="4" name="Text 2"/>
          <p:cNvSpPr txBox="1"/>
          <p:nvPr/>
        </p:nvSpPr>
        <p:spPr>
          <a:xfrm>
            <a:off x="548640" y="2606040"/>
            <a:ext cx="11094415" cy="1371600"/>
          </a:xfrm>
          <a:prstGeom prst="rect">
            <a:avLst/>
          </a:prstGeom>
          <a:noFill/>
          <a:ln/>
        </p:spPr>
        <p:txBody>
          <a:bodyPr wrap="square" lIns="0" tIns="0" rIns="0" bIns="0" rtlCol="0" anchor="t"/>
          <a:lstStyle/>
          <a:p>
            <a:pPr indent="0" marL="0">
              <a:buNone/>
            </a:pPr>
            <a:r>
              <a:rPr lang="en-US" sz="3600" b="1" dirty="0">
                <a:solidFill>
                  <a:srgbClr val="FFFFFF"/>
                </a:solidFill>
                <a:latin typeface="Calibri" pitchFamily="34" charset="0"/>
                <a:ea typeface="Calibri" pitchFamily="34" charset="-122"/>
                <a:cs typeface="Calibri" pitchFamily="34" charset="-120"/>
              </a:rPr>
              <a:t>Makine Öğrenmesi II: Denetimli Sınıflandırma — Promotör Tahmini</a:t>
            </a:r>
            <a:endParaRPr lang="en-US" sz="3600" dirty="0"/>
          </a:p>
        </p:txBody>
      </p:sp>
      <p:sp>
        <p:nvSpPr>
          <p:cNvPr id="5" name="Text 3"/>
          <p:cNvSpPr txBox="1"/>
          <p:nvPr/>
        </p:nvSpPr>
        <p:spPr>
          <a:xfrm>
            <a:off x="548640" y="4023360"/>
            <a:ext cx="11094415" cy="731520"/>
          </a:xfrm>
          <a:prstGeom prst="rect">
            <a:avLst/>
          </a:prstGeom>
          <a:noFill/>
          <a:ln/>
        </p:spPr>
        <p:txBody>
          <a:bodyPr wrap="square" lIns="0" tIns="0" rIns="0" bIns="0" rtlCol="0" anchor="t"/>
          <a:lstStyle/>
          <a:p>
            <a:pPr indent="0" marL="0">
              <a:buNone/>
            </a:pPr>
            <a:r>
              <a:rPr lang="en-US" sz="1800" dirty="0">
                <a:solidFill>
                  <a:srgbClr val="CFD8DC"/>
                </a:solidFill>
                <a:latin typeface="Calibri" pitchFamily="34" charset="0"/>
                <a:ea typeface="Calibri" pitchFamily="34" charset="-122"/>
                <a:cs typeface="Calibri" pitchFamily="34" charset="-120"/>
              </a:rPr>
              <a:t>k-NN, lojistik regresyon, karar ağacı ve rastgele orman; karışıklık matrisi, ROC–AUC ve çapraz doğrulama</a:t>
            </a:r>
            <a:endParaRPr lang="en-US" sz="1800" dirty="0"/>
          </a:p>
        </p:txBody>
      </p:sp>
      <p:sp>
        <p:nvSpPr>
          <p:cNvPr id="6" name="Text 4"/>
          <p:cNvSpPr txBox="1"/>
          <p:nvPr/>
        </p:nvSpPr>
        <p:spPr>
          <a:xfrm>
            <a:off x="548640" y="5760720"/>
            <a:ext cx="8229600" cy="365760"/>
          </a:xfrm>
          <a:prstGeom prst="rect">
            <a:avLst/>
          </a:prstGeom>
          <a:noFill/>
          <a:ln/>
        </p:spPr>
        <p:txBody>
          <a:bodyPr wrap="square" lIns="0" tIns="0" rIns="0" bIns="0" rtlCol="0" anchor="ctr"/>
          <a:lstStyle/>
          <a:p>
            <a:pPr indent="0" marL="0">
              <a:buNone/>
            </a:pPr>
            <a:r>
              <a:rPr lang="en-US" sz="1300" dirty="0">
                <a:solidFill>
                  <a:srgbClr val="90A4AE"/>
                </a:solidFill>
                <a:latin typeface="Calibri" pitchFamily="34" charset="0"/>
                <a:ea typeface="Calibri" pitchFamily="34" charset="-122"/>
                <a:cs typeface="Calibri" pitchFamily="34" charset="-120"/>
              </a:rPr>
              <a:t>Biyoenformatiğe Giriş  ·  Python ve Biopython ile uygulamalı ders</a:t>
            </a:r>
            <a:endParaRPr lang="en-US" sz="1300" dirty="0"/>
          </a:p>
        </p:txBody>
      </p:sp>
      <p:sp>
        <p:nvSpPr>
          <p:cNvPr id="7" name="Text 5"/>
          <p:cNvSpPr txBox="1"/>
          <p:nvPr/>
        </p:nvSpPr>
        <p:spPr>
          <a:xfrm>
            <a:off x="548640" y="6126480"/>
            <a:ext cx="10058400" cy="320040"/>
          </a:xfrm>
          <a:prstGeom prst="rect">
            <a:avLst/>
          </a:prstGeom>
          <a:noFill/>
          <a:ln/>
        </p:spPr>
        <p:txBody>
          <a:bodyPr wrap="square" lIns="0" tIns="0" rIns="0" bIns="0" rtlCol="0" anchor="ctr"/>
          <a:lstStyle/>
          <a:p>
            <a:pPr indent="0" marL="0">
              <a:buNone/>
            </a:pPr>
            <a:r>
              <a:rPr lang="en-US" sz="1100" dirty="0">
                <a:solidFill>
                  <a:srgbClr val="90A4AE"/>
                </a:solidFill>
                <a:latin typeface="Courier New" pitchFamily="34" charset="0"/>
                <a:ea typeface="Courier New" pitchFamily="34" charset="-122"/>
                <a:cs typeface="Courier New" pitchFamily="34" charset="-120"/>
              </a:rPr>
              <a:t>Colab: hafta13_ml2_denetimli_siniflandirma.ipynb</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Bu haftanın hedefleri</a:t>
            </a:r>
            <a:endParaRPr lang="en-US" sz="3000" dirty="0"/>
          </a:p>
        </p:txBody>
      </p:sp>
      <p:sp>
        <p:nvSpPr>
          <p:cNvPr id="3" name="Text 1"/>
          <p:cNvSpPr txBox="1"/>
          <p:nvPr/>
        </p:nvSpPr>
        <p:spPr>
          <a:xfrm>
            <a:off x="548640" y="1234440"/>
            <a:ext cx="5486400" cy="4983480"/>
          </a:xfrm>
          <a:prstGeom prst="rect">
            <a:avLst/>
          </a:prstGeom>
          <a:noFill/>
          <a:ln/>
        </p:spPr>
        <p:txBody>
          <a:bodyPr wrap="square" lIns="25400" tIns="25400" rIns="50800" bIns="25400" rtlCol="0" anchor="t"/>
          <a:lstStyle/>
          <a:p>
            <a:pPr marL="228600" indent="-228600">
              <a:spcAft>
                <a:spcPts val="700"/>
              </a:spcAft>
              <a:buSzPct val="100000"/>
              <a:buChar char="•"/>
            </a:pPr>
            <a:r>
              <a:rPr lang="en-US" sz="1800" b="1" dirty="0">
                <a:solidFill>
                  <a:srgbClr val="212121"/>
                </a:solidFill>
                <a:latin typeface="Calibri" pitchFamily="34" charset="0"/>
                <a:ea typeface="Calibri" pitchFamily="34" charset="-122"/>
                <a:cs typeface="Calibri" pitchFamily="34" charset="-120"/>
              </a:rPr>
              <a:t>Eğitim/test</a:t>
            </a:r>
            <a:r>
              <a:rPr lang="en-US" sz="1800" dirty="0">
                <a:solidFill>
                  <a:srgbClr val="212121"/>
                </a:solidFill>
                <a:latin typeface="Calibri" pitchFamily="34" charset="0"/>
                <a:ea typeface="Calibri" pitchFamily="34" charset="-122"/>
                <a:cs typeface="Calibri" pitchFamily="34" charset="-120"/>
              </a:rPr>
              <a:t> ayrımı, </a:t>
            </a:r>
            <a:r>
              <a:rPr lang="en-US" sz="1800" b="1" dirty="0">
                <a:solidFill>
                  <a:srgbClr val="212121"/>
                </a:solidFill>
                <a:latin typeface="Calibri" pitchFamily="34" charset="0"/>
                <a:ea typeface="Calibri" pitchFamily="34" charset="-122"/>
                <a:cs typeface="Calibri" pitchFamily="34" charset="-120"/>
              </a:rPr>
              <a:t>aşırı öğrenme</a:t>
            </a:r>
            <a:r>
              <a:rPr lang="en-US" sz="1800" dirty="0">
                <a:solidFill>
                  <a:srgbClr val="212121"/>
                </a:solidFill>
                <a:latin typeface="Calibri" pitchFamily="34" charset="0"/>
                <a:ea typeface="Calibri" pitchFamily="34" charset="-122"/>
                <a:cs typeface="Calibri" pitchFamily="34" charset="-120"/>
              </a:rPr>
              <a:t> ve </a:t>
            </a:r>
            <a:r>
              <a:rPr lang="en-US" sz="1800" b="1" dirty="0">
                <a:solidFill>
                  <a:srgbClr val="212121"/>
                </a:solidFill>
                <a:latin typeface="Calibri" pitchFamily="34" charset="0"/>
                <a:ea typeface="Calibri" pitchFamily="34" charset="-122"/>
                <a:cs typeface="Calibri" pitchFamily="34" charset="-120"/>
              </a:rPr>
              <a:t>çapraz doğrulamayı</a:t>
            </a:r>
            <a:r>
              <a:rPr lang="en-US" sz="1800" dirty="0">
                <a:solidFill>
                  <a:srgbClr val="212121"/>
                </a:solidFill>
                <a:latin typeface="Calibri" pitchFamily="34" charset="0"/>
                <a:ea typeface="Calibri" pitchFamily="34" charset="-122"/>
                <a:cs typeface="Calibri" pitchFamily="34" charset="-120"/>
              </a:rPr>
              <a:t> uygulamak</a:t>
            </a:r>
            <a:endParaRPr lang="en-US" sz="1800" dirty="0"/>
          </a:p>
          <a:p>
            <a:pPr marL="228600" indent="-228600">
              <a:spcAft>
                <a:spcPts val="700"/>
              </a:spcAft>
              <a:buSzPct val="100000"/>
              <a:buChar char="•"/>
            </a:pPr>
            <a:r>
              <a:rPr lang="en-US" sz="1800" dirty="0">
                <a:solidFill>
                  <a:srgbClr val="212121"/>
                </a:solidFill>
                <a:latin typeface="Calibri" pitchFamily="34" charset="0"/>
                <a:ea typeface="Calibri" pitchFamily="34" charset="-122"/>
                <a:cs typeface="Calibri" pitchFamily="34" charset="-120"/>
              </a:rPr>
              <a:t>k-NN, lojistik regresyon, karar ağacı ve rastgele ormanın mantığını </a:t>
            </a:r>
            <a:r>
              <a:rPr lang="en-US" sz="1800" b="1" dirty="0">
                <a:solidFill>
                  <a:srgbClr val="212121"/>
                </a:solidFill>
                <a:latin typeface="Calibri" pitchFamily="34" charset="0"/>
                <a:ea typeface="Calibri" pitchFamily="34" charset="-122"/>
                <a:cs typeface="Calibri" pitchFamily="34" charset="-120"/>
              </a:rPr>
              <a:t>elle çözülmüş örneklerle</a:t>
            </a:r>
            <a:r>
              <a:rPr lang="en-US" sz="1800" dirty="0">
                <a:solidFill>
                  <a:srgbClr val="212121"/>
                </a:solidFill>
                <a:latin typeface="Calibri" pitchFamily="34" charset="0"/>
                <a:ea typeface="Calibri" pitchFamily="34" charset="-122"/>
                <a:cs typeface="Calibri" pitchFamily="34" charset="-120"/>
              </a:rPr>
              <a:t> kavramak</a:t>
            </a:r>
            <a:endParaRPr lang="en-US" sz="1800" dirty="0"/>
          </a:p>
          <a:p>
            <a:pPr marL="228600" indent="-228600">
              <a:spcAft>
                <a:spcPts val="700"/>
              </a:spcAft>
              <a:buSzPct val="100000"/>
              <a:buChar char="•"/>
            </a:pPr>
            <a:r>
              <a:rPr lang="en-US" sz="1800" dirty="0">
                <a:solidFill>
                  <a:srgbClr val="212121"/>
                </a:solidFill>
                <a:latin typeface="Calibri" pitchFamily="34" charset="0"/>
                <a:ea typeface="Calibri" pitchFamily="34" charset="-122"/>
                <a:cs typeface="Calibri" pitchFamily="34" charset="-120"/>
              </a:rPr>
              <a:t>Karışıklık matrisi, doğruluk, kesinlik, duyarlılık, F1 hesaplamak</a:t>
            </a:r>
            <a:endParaRPr lang="en-US" sz="1800" dirty="0"/>
          </a:p>
          <a:p>
            <a:pPr marL="228600" indent="-228600">
              <a:spcAft>
                <a:spcPts val="700"/>
              </a:spcAft>
              <a:buSzPct val="100000"/>
              <a:buChar char="•"/>
            </a:pPr>
            <a:r>
              <a:rPr lang="en-US" sz="1800" b="1" dirty="0">
                <a:solidFill>
                  <a:srgbClr val="212121"/>
                </a:solidFill>
                <a:latin typeface="Calibri" pitchFamily="34" charset="0"/>
                <a:ea typeface="Calibri" pitchFamily="34" charset="-122"/>
                <a:cs typeface="Calibri" pitchFamily="34" charset="-120"/>
              </a:rPr>
              <a:t>ROC eğrisini</a:t>
            </a:r>
            <a:r>
              <a:rPr lang="en-US" sz="1800" dirty="0">
                <a:solidFill>
                  <a:srgbClr val="212121"/>
                </a:solidFill>
                <a:latin typeface="Calibri" pitchFamily="34" charset="0"/>
                <a:ea typeface="Calibri" pitchFamily="34" charset="-122"/>
                <a:cs typeface="Calibri" pitchFamily="34" charset="-120"/>
              </a:rPr>
              <a:t> adım adım çizmek ve </a:t>
            </a:r>
            <a:r>
              <a:rPr lang="en-US" sz="1800" b="1" dirty="0">
                <a:solidFill>
                  <a:srgbClr val="212121"/>
                </a:solidFill>
                <a:latin typeface="Calibri" pitchFamily="34" charset="0"/>
                <a:ea typeface="Calibri" pitchFamily="34" charset="-122"/>
                <a:cs typeface="Calibri" pitchFamily="34" charset="-120"/>
              </a:rPr>
              <a:t>AUC</a:t>
            </a:r>
            <a:r>
              <a:rPr lang="en-US" sz="1800" dirty="0">
                <a:solidFill>
                  <a:srgbClr val="212121"/>
                </a:solidFill>
                <a:latin typeface="Calibri" pitchFamily="34" charset="0"/>
                <a:ea typeface="Calibri" pitchFamily="34" charset="-122"/>
                <a:cs typeface="Calibri" pitchFamily="34" charset="-120"/>
              </a:rPr>
              <a:t>'yi yorumlamak</a:t>
            </a:r>
            <a:endParaRPr lang="en-US" sz="1800" dirty="0"/>
          </a:p>
          <a:p>
            <a:pPr marL="228600" indent="-228600">
              <a:spcAft>
                <a:spcPts val="700"/>
              </a:spcAft>
              <a:buSzPct val="100000"/>
              <a:buChar char="•"/>
            </a:pPr>
            <a:r>
              <a:rPr lang="en-US" sz="1800" dirty="0">
                <a:solidFill>
                  <a:srgbClr val="212121"/>
                </a:solidFill>
                <a:latin typeface="Calibri" pitchFamily="34" charset="0"/>
                <a:ea typeface="Calibri" pitchFamily="34" charset="-122"/>
                <a:cs typeface="Calibri" pitchFamily="34" charset="-120"/>
              </a:rPr>
              <a:t>DNA'dan k-mer + motif özellikleriyle </a:t>
            </a:r>
            <a:r>
              <a:rPr lang="en-US" sz="1800" b="1" dirty="0">
                <a:solidFill>
                  <a:srgbClr val="212121"/>
                </a:solidFill>
                <a:latin typeface="Calibri" pitchFamily="34" charset="0"/>
                <a:ea typeface="Calibri" pitchFamily="34" charset="-122"/>
                <a:cs typeface="Calibri" pitchFamily="34" charset="-120"/>
              </a:rPr>
              <a:t>promotör sınıflandırıcısı</a:t>
            </a:r>
            <a:r>
              <a:rPr lang="en-US" sz="1800" dirty="0">
                <a:solidFill>
                  <a:srgbClr val="212121"/>
                </a:solidFill>
                <a:latin typeface="Calibri" pitchFamily="34" charset="0"/>
                <a:ea typeface="Calibri" pitchFamily="34" charset="-122"/>
                <a:cs typeface="Calibri" pitchFamily="34" charset="-120"/>
              </a:rPr>
              <a:t> kurmak</a:t>
            </a:r>
            <a:endParaRPr lang="en-US" sz="1800" dirty="0"/>
          </a:p>
          <a:p>
            <a:pPr marL="228600" indent="-228600">
              <a:spcAft>
                <a:spcPts val="700"/>
              </a:spcAft>
              <a:buSzPct val="100000"/>
              <a:buChar char="•"/>
            </a:pPr>
            <a:r>
              <a:rPr lang="en-US" sz="1800" dirty="0">
                <a:solidFill>
                  <a:srgbClr val="212121"/>
                </a:solidFill>
                <a:latin typeface="Calibri" pitchFamily="34" charset="0"/>
                <a:ea typeface="Calibri" pitchFamily="34" charset="-122"/>
                <a:cs typeface="Calibri" pitchFamily="34" charset="-120"/>
              </a:rPr>
              <a:t>Modeli </a:t>
            </a:r>
            <a:r>
              <a:rPr lang="en-US" sz="1800" b="1" dirty="0">
                <a:solidFill>
                  <a:srgbClr val="212121"/>
                </a:solidFill>
                <a:latin typeface="Calibri" pitchFamily="34" charset="0"/>
                <a:ea typeface="Calibri" pitchFamily="34" charset="-122"/>
                <a:cs typeface="Calibri" pitchFamily="34" charset="-120"/>
              </a:rPr>
              <a:t>yorumlamak</a:t>
            </a:r>
            <a:r>
              <a:rPr lang="en-US" sz="1800" dirty="0">
                <a:solidFill>
                  <a:srgbClr val="212121"/>
                </a:solidFill>
                <a:latin typeface="Calibri" pitchFamily="34" charset="0"/>
                <a:ea typeface="Calibri" pitchFamily="34" charset="-122"/>
                <a:cs typeface="Calibri" pitchFamily="34" charset="-120"/>
              </a:rPr>
              <a:t> ve hataları analiz etmek</a:t>
            </a:r>
            <a:endParaRPr lang="en-US" sz="1800" dirty="0"/>
          </a:p>
        </p:txBody>
      </p:sp>
      <p:sp>
        <p:nvSpPr>
          <p:cNvPr id="4" name="Text 2"/>
          <p:cNvSpPr txBox="1"/>
          <p:nvPr/>
        </p:nvSpPr>
        <p:spPr>
          <a:xfrm>
            <a:off x="6400800" y="1234440"/>
            <a:ext cx="5242255" cy="365760"/>
          </a:xfrm>
          <a:prstGeom prst="rect">
            <a:avLst/>
          </a:prstGeom>
          <a:noFill/>
          <a:ln/>
        </p:spPr>
        <p:txBody>
          <a:bodyPr wrap="square" lIns="0" tIns="0" rIns="0" bIns="0" rtlCol="0" anchor="ctr"/>
          <a:lstStyle/>
          <a:p>
            <a:pPr indent="0" marL="0">
              <a:buNone/>
            </a:pPr>
            <a:r>
              <a:rPr lang="en-US" sz="1600" b="1" dirty="0">
                <a:solidFill>
                  <a:srgbClr val="263238"/>
                </a:solidFill>
              </a:rPr>
              <a:t>Ders akışı (3 saat)</a:t>
            </a:r>
            <a:endParaRPr lang="en-US" sz="1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400800" y="1691640"/>
          <a:ext cx="5242255" cy="914400"/>
        </p:xfrm>
        <a:graphic>
          <a:graphicData uri="http://schemas.openxmlformats.org/drawingml/2006/table">
            <a:tbl>
              <a:tblPr/>
              <a:tblGrid>
                <a:gridCol w="1048451"/>
                <a:gridCol w="4193804"/>
              </a:tblGrid>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Saat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İçerik</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 saat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Denetimli öğrenme akışı; dört modelin mantığı (k-NN, sigmoid, Gini, bootstrap elle)</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 saat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Ölçütler, ROC–AUC elle; model karşılaştırma ve eşik (Notebook 13: bölüm 1–5)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 saat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Çapraz doğrulama, özellik setleri, öğrenme eğrisi, yorumlama, hata analizi (bölüm 6–10)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13: ML II: denetimli sınıflandırma</a:t>
            </a:r>
            <a:endParaRPr lang="en-US" sz="900" dirty="0"/>
          </a:p>
        </p:txBody>
      </p:sp>
      <p:sp>
        <p:nvSpPr>
          <p:cNvPr id="7" name="Text 4"/>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CEFF1"/>
        </a:solidFill>
      </p:bgPr>
    </p:bg>
    <p:spTree>
      <p:nvGrpSpPr>
        <p:cNvPr id="1" name=""/>
        <p:cNvGrpSpPr/>
        <p:nvPr/>
      </p:nvGrpSpPr>
      <p:grpSpPr>
        <a:xfrm>
          <a:off x="0" y="0"/>
          <a:ext cx="0" cy="0"/>
          <a:chOff x="0" y="0"/>
          <a:chExt cx="0" cy="0"/>
        </a:xfrm>
      </p:grpSpPr>
      <p:sp>
        <p:nvSpPr>
          <p:cNvPr id="2" name="Text 0"/>
          <p:cNvSpPr txBox="1"/>
          <p:nvPr/>
        </p:nvSpPr>
        <p:spPr>
          <a:xfrm>
            <a:off x="548640" y="1920240"/>
            <a:ext cx="2011680" cy="2011680"/>
          </a:xfrm>
          <a:prstGeom prst="rect">
            <a:avLst/>
          </a:prstGeom>
          <a:noFill/>
          <a:ln/>
        </p:spPr>
        <p:txBody>
          <a:bodyPr wrap="square" lIns="0" tIns="0" rIns="0" bIns="0" rtlCol="0" anchor="ctr"/>
          <a:lstStyle/>
          <a:p>
            <a:pPr indent="0" marL="0">
              <a:buNone/>
            </a:pPr>
            <a:r>
              <a:rPr lang="en-US" sz="11000" b="1" dirty="0">
                <a:solidFill>
                  <a:srgbClr val="B71C1C"/>
                </a:solidFill>
                <a:latin typeface="Calibri" pitchFamily="34" charset="0"/>
                <a:ea typeface="Calibri" pitchFamily="34" charset="-122"/>
                <a:cs typeface="Calibri" pitchFamily="34" charset="-120"/>
              </a:rPr>
              <a:t>1</a:t>
            </a:r>
            <a:endParaRPr lang="en-US" sz="11000" dirty="0"/>
          </a:p>
        </p:txBody>
      </p:sp>
      <p:sp>
        <p:nvSpPr>
          <p:cNvPr id="3" name="Text 1"/>
          <p:cNvSpPr txBox="1"/>
          <p:nvPr/>
        </p:nvSpPr>
        <p:spPr>
          <a:xfrm>
            <a:off x="2834640" y="2103120"/>
            <a:ext cx="8808415" cy="1005840"/>
          </a:xfrm>
          <a:prstGeom prst="rect">
            <a:avLst/>
          </a:prstGeom>
          <a:noFill/>
          <a:ln/>
        </p:spPr>
        <p:txBody>
          <a:bodyPr wrap="square" lIns="0" tIns="0" rIns="0" bIns="0" rtlCol="0" anchor="b"/>
          <a:lstStyle/>
          <a:p>
            <a:pPr indent="0" marL="0">
              <a:buNone/>
            </a:pPr>
            <a:r>
              <a:rPr lang="en-US" sz="3400" b="1" dirty="0">
                <a:solidFill>
                  <a:srgbClr val="263238"/>
                </a:solidFill>
                <a:latin typeface="Calibri" pitchFamily="34" charset="0"/>
                <a:ea typeface="Calibri" pitchFamily="34" charset="-122"/>
                <a:cs typeface="Calibri" pitchFamily="34" charset="-120"/>
              </a:rPr>
              <a:t>Denetimli öğrenme akışı</a:t>
            </a:r>
            <a:endParaRPr lang="en-US" sz="3400" dirty="0"/>
          </a:p>
        </p:txBody>
      </p:sp>
      <p:sp>
        <p:nvSpPr>
          <p:cNvPr id="4" name="Text 2"/>
          <p:cNvSpPr txBox="1"/>
          <p:nvPr/>
        </p:nvSpPr>
        <p:spPr>
          <a:xfrm>
            <a:off x="2834640" y="3200400"/>
            <a:ext cx="8808415" cy="1097280"/>
          </a:xfrm>
          <a:prstGeom prst="rect">
            <a:avLst/>
          </a:prstGeom>
          <a:noFill/>
          <a:ln/>
        </p:spPr>
        <p:txBody>
          <a:bodyPr wrap="square" lIns="0" tIns="0" rIns="0" bIns="0" rtlCol="0" anchor="t"/>
          <a:lstStyle/>
          <a:p>
            <a:pPr indent="0" marL="0">
              <a:buNone/>
            </a:pPr>
            <a:r>
              <a:rPr lang="en-US" sz="1700" dirty="0">
                <a:solidFill>
                  <a:srgbClr val="546E7A"/>
                </a:solidFill>
                <a:latin typeface="Calibri" pitchFamily="34" charset="0"/>
                <a:ea typeface="Calibri" pitchFamily="34" charset="-122"/>
                <a:cs typeface="Calibri" pitchFamily="34" charset="-120"/>
              </a:rPr>
              <a:t>Etiketli veri, eğitim/test ayrımı ve altın kural</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Denetimli öğrenme iş akışı</a:t>
            </a:r>
            <a:endParaRPr lang="en-US" sz="3000" dirty="0"/>
          </a:p>
        </p:txBody>
      </p:sp>
      <p:sp>
        <p:nvSpPr>
          <p:cNvPr id="3" name="Shape 1"/>
          <p:cNvSpPr/>
          <p:nvPr/>
        </p:nvSpPr>
        <p:spPr>
          <a:xfrm>
            <a:off x="548640" y="1417320"/>
            <a:ext cx="3423818" cy="1234440"/>
          </a:xfrm>
          <a:prstGeom prst="roundRect">
            <a:avLst>
              <a:gd name="adj" fmla="val 5926"/>
            </a:avLst>
          </a:prstGeom>
          <a:solidFill>
            <a:srgbClr val="F7F9FA"/>
          </a:solidFill>
          <a:ln w="12700">
            <a:solidFill>
              <a:srgbClr val="B0BEC5"/>
            </a:solidFill>
            <a:prstDash val="solid"/>
          </a:ln>
        </p:spPr>
      </p:sp>
      <p:sp>
        <p:nvSpPr>
          <p:cNvPr id="4" name="Text 2"/>
          <p:cNvSpPr txBox="1"/>
          <p:nvPr/>
        </p:nvSpPr>
        <p:spPr>
          <a:xfrm>
            <a:off x="621792" y="1417320"/>
            <a:ext cx="3277514" cy="1234440"/>
          </a:xfrm>
          <a:prstGeom prst="rect">
            <a:avLst/>
          </a:prstGeom>
          <a:noFill/>
          <a:ln/>
        </p:spPr>
        <p:txBody>
          <a:bodyPr wrap="square" lIns="0" tIns="0" rIns="0" bIns="0" rtlCol="0" anchor="ctr"/>
          <a:lstStyle/>
          <a:p>
            <a:pPr algn="ctr" indent="0" marL="0">
              <a:buNone/>
            </a:pPr>
            <a:r>
              <a:rPr lang="en-US" sz="1500" b="1" dirty="0">
                <a:solidFill>
                  <a:srgbClr val="263238"/>
                </a:solidFill>
                <a:latin typeface="Calibri" pitchFamily="34" charset="0"/>
                <a:ea typeface="Calibri" pitchFamily="34" charset="-122"/>
                <a:cs typeface="Calibri" pitchFamily="34" charset="-120"/>
              </a:rPr>
              <a:t>Etiketli veri</a:t>
            </a:r>
            <a:endParaRPr lang="en-US" sz="1500" dirty="0"/>
          </a:p>
          <a:p>
            <a:pPr algn="ctr" indent="0" marL="0">
              <a:buNone/>
            </a:pPr>
            <a:r>
              <a:rPr lang="en-US" sz="1200" dirty="0">
                <a:solidFill>
                  <a:srgbClr val="37474F"/>
                </a:solidFill>
                <a:latin typeface="Calibri" pitchFamily="34" charset="0"/>
                <a:ea typeface="Calibri" pitchFamily="34" charset="-122"/>
                <a:cs typeface="Calibri" pitchFamily="34" charset="-120"/>
              </a:rPr>
              <a:t>(dizi, etiket) çiftleri</a:t>
            </a:r>
            <a:endParaRPr lang="en-US" sz="1500" dirty="0"/>
          </a:p>
        </p:txBody>
      </p:sp>
      <p:sp>
        <p:nvSpPr>
          <p:cNvPr id="5" name="Shape 3"/>
          <p:cNvSpPr/>
          <p:nvPr/>
        </p:nvSpPr>
        <p:spPr>
          <a:xfrm>
            <a:off x="4018178" y="2034540"/>
            <a:ext cx="320040" cy="0"/>
          </a:xfrm>
          <a:prstGeom prst="line">
            <a:avLst/>
          </a:prstGeom>
          <a:noFill/>
          <a:ln w="19050">
            <a:solidFill>
              <a:srgbClr val="546E7A"/>
            </a:solidFill>
            <a:prstDash val="solid"/>
            <a:tailEnd type="triangle"/>
          </a:ln>
        </p:spPr>
      </p:sp>
      <p:sp>
        <p:nvSpPr>
          <p:cNvPr id="6" name="Shape 4"/>
          <p:cNvSpPr/>
          <p:nvPr/>
        </p:nvSpPr>
        <p:spPr>
          <a:xfrm>
            <a:off x="4383938" y="1417320"/>
            <a:ext cx="3423818" cy="1234440"/>
          </a:xfrm>
          <a:prstGeom prst="roundRect">
            <a:avLst>
              <a:gd name="adj" fmla="val 5926"/>
            </a:avLst>
          </a:prstGeom>
          <a:solidFill>
            <a:srgbClr val="F7F9FA"/>
          </a:solidFill>
          <a:ln w="12700">
            <a:solidFill>
              <a:srgbClr val="B0BEC5"/>
            </a:solidFill>
            <a:prstDash val="solid"/>
          </a:ln>
        </p:spPr>
      </p:sp>
      <p:sp>
        <p:nvSpPr>
          <p:cNvPr id="7" name="Text 5"/>
          <p:cNvSpPr txBox="1"/>
          <p:nvPr/>
        </p:nvSpPr>
        <p:spPr>
          <a:xfrm>
            <a:off x="4457090" y="1417320"/>
            <a:ext cx="3277514" cy="1234440"/>
          </a:xfrm>
          <a:prstGeom prst="rect">
            <a:avLst/>
          </a:prstGeom>
          <a:noFill/>
          <a:ln/>
        </p:spPr>
        <p:txBody>
          <a:bodyPr wrap="square" lIns="0" tIns="0" rIns="0" bIns="0" rtlCol="0" anchor="ctr"/>
          <a:lstStyle/>
          <a:p>
            <a:pPr algn="ctr" indent="0" marL="0">
              <a:buNone/>
            </a:pPr>
            <a:r>
              <a:rPr lang="en-US" sz="1500" b="1" dirty="0">
                <a:solidFill>
                  <a:srgbClr val="263238"/>
                </a:solidFill>
                <a:latin typeface="Calibri" pitchFamily="34" charset="0"/>
                <a:ea typeface="Calibri" pitchFamily="34" charset="-122"/>
                <a:cs typeface="Calibri" pitchFamily="34" charset="-120"/>
              </a:rPr>
              <a:t>Özellik çıkarımı</a:t>
            </a:r>
            <a:endParaRPr lang="en-US" sz="1500" dirty="0"/>
          </a:p>
          <a:p>
            <a:pPr algn="ctr" indent="0" marL="0">
              <a:buNone/>
            </a:pPr>
            <a:r>
              <a:rPr lang="en-US" sz="1200" dirty="0">
                <a:solidFill>
                  <a:srgbClr val="37474F"/>
                </a:solidFill>
                <a:latin typeface="Calibri" pitchFamily="34" charset="0"/>
                <a:ea typeface="Calibri" pitchFamily="34" charset="-122"/>
                <a:cs typeface="Calibri" pitchFamily="34" charset="-120"/>
              </a:rPr>
              <a:t>k-mer, motif skoru</a:t>
            </a:r>
            <a:endParaRPr lang="en-US" sz="1500" dirty="0"/>
          </a:p>
        </p:txBody>
      </p:sp>
      <p:sp>
        <p:nvSpPr>
          <p:cNvPr id="8" name="Shape 6"/>
          <p:cNvSpPr/>
          <p:nvPr/>
        </p:nvSpPr>
        <p:spPr>
          <a:xfrm>
            <a:off x="7853477" y="2034540"/>
            <a:ext cx="320040" cy="0"/>
          </a:xfrm>
          <a:prstGeom prst="line">
            <a:avLst/>
          </a:prstGeom>
          <a:noFill/>
          <a:ln w="19050">
            <a:solidFill>
              <a:srgbClr val="546E7A"/>
            </a:solidFill>
            <a:prstDash val="solid"/>
            <a:tailEnd type="triangle"/>
          </a:ln>
        </p:spPr>
      </p:sp>
      <p:sp>
        <p:nvSpPr>
          <p:cNvPr id="9" name="Shape 7"/>
          <p:cNvSpPr/>
          <p:nvPr/>
        </p:nvSpPr>
        <p:spPr>
          <a:xfrm>
            <a:off x="8219237" y="1417320"/>
            <a:ext cx="3423818" cy="1234440"/>
          </a:xfrm>
          <a:prstGeom prst="roundRect">
            <a:avLst>
              <a:gd name="adj" fmla="val 5926"/>
            </a:avLst>
          </a:prstGeom>
          <a:solidFill>
            <a:srgbClr val="FDECEA"/>
          </a:solidFill>
          <a:ln w="12700">
            <a:solidFill>
              <a:srgbClr val="B71C1C"/>
            </a:solidFill>
            <a:prstDash val="solid"/>
          </a:ln>
        </p:spPr>
      </p:sp>
      <p:sp>
        <p:nvSpPr>
          <p:cNvPr id="10" name="Text 8"/>
          <p:cNvSpPr txBox="1"/>
          <p:nvPr/>
        </p:nvSpPr>
        <p:spPr>
          <a:xfrm>
            <a:off x="8292389" y="1417320"/>
            <a:ext cx="3277514" cy="1234440"/>
          </a:xfrm>
          <a:prstGeom prst="rect">
            <a:avLst/>
          </a:prstGeom>
          <a:noFill/>
          <a:ln/>
        </p:spPr>
        <p:txBody>
          <a:bodyPr wrap="square" lIns="0" tIns="0" rIns="0" bIns="0" rtlCol="0" anchor="ctr"/>
          <a:lstStyle/>
          <a:p>
            <a:pPr algn="ctr" indent="0" marL="0">
              <a:buNone/>
            </a:pPr>
            <a:r>
              <a:rPr lang="en-US" sz="1500" b="1" dirty="0">
                <a:solidFill>
                  <a:srgbClr val="263238"/>
                </a:solidFill>
                <a:latin typeface="Calibri" pitchFamily="34" charset="0"/>
                <a:ea typeface="Calibri" pitchFamily="34" charset="-122"/>
                <a:cs typeface="Calibri" pitchFamily="34" charset="-120"/>
              </a:rPr>
              <a:t>Ayır</a:t>
            </a:r>
            <a:endParaRPr lang="en-US" sz="1500" dirty="0"/>
          </a:p>
          <a:p>
            <a:pPr algn="ctr" indent="0" marL="0">
              <a:buNone/>
            </a:pPr>
            <a:r>
              <a:rPr lang="en-US" sz="1200" dirty="0">
                <a:solidFill>
                  <a:srgbClr val="37474F"/>
                </a:solidFill>
                <a:latin typeface="Calibri" pitchFamily="34" charset="0"/>
                <a:ea typeface="Calibri" pitchFamily="34" charset="-122"/>
                <a:cs typeface="Calibri" pitchFamily="34" charset="-120"/>
              </a:rPr>
              <a:t>Eğitim %80 / test %20 (stratify)</a:t>
            </a:r>
            <a:endParaRPr lang="en-US" sz="1500" dirty="0"/>
          </a:p>
        </p:txBody>
      </p:sp>
      <p:sp>
        <p:nvSpPr>
          <p:cNvPr id="11" name="Shape 9"/>
          <p:cNvSpPr/>
          <p:nvPr/>
        </p:nvSpPr>
        <p:spPr>
          <a:xfrm>
            <a:off x="548640" y="3200400"/>
            <a:ext cx="3423818" cy="1234440"/>
          </a:xfrm>
          <a:prstGeom prst="roundRect">
            <a:avLst>
              <a:gd name="adj" fmla="val 5926"/>
            </a:avLst>
          </a:prstGeom>
          <a:solidFill>
            <a:srgbClr val="F7F9FA"/>
          </a:solidFill>
          <a:ln w="12700">
            <a:solidFill>
              <a:srgbClr val="B0BEC5"/>
            </a:solidFill>
            <a:prstDash val="solid"/>
          </a:ln>
        </p:spPr>
      </p:sp>
      <p:sp>
        <p:nvSpPr>
          <p:cNvPr id="12" name="Text 10"/>
          <p:cNvSpPr txBox="1"/>
          <p:nvPr/>
        </p:nvSpPr>
        <p:spPr>
          <a:xfrm>
            <a:off x="621792" y="3200400"/>
            <a:ext cx="3277514" cy="1234440"/>
          </a:xfrm>
          <a:prstGeom prst="rect">
            <a:avLst/>
          </a:prstGeom>
          <a:noFill/>
          <a:ln/>
        </p:spPr>
        <p:txBody>
          <a:bodyPr wrap="square" lIns="0" tIns="0" rIns="0" bIns="0" rtlCol="0" anchor="ctr"/>
          <a:lstStyle/>
          <a:p>
            <a:pPr algn="ctr" indent="0" marL="0">
              <a:buNone/>
            </a:pPr>
            <a:r>
              <a:rPr lang="en-US" sz="1500" b="1" dirty="0">
                <a:solidFill>
                  <a:srgbClr val="263238"/>
                </a:solidFill>
                <a:latin typeface="Calibri" pitchFamily="34" charset="0"/>
                <a:ea typeface="Calibri" pitchFamily="34" charset="-122"/>
                <a:cs typeface="Calibri" pitchFamily="34" charset="-120"/>
              </a:rPr>
              <a:t>Model geliştir</a:t>
            </a:r>
            <a:endParaRPr lang="en-US" sz="1500" dirty="0"/>
          </a:p>
          <a:p>
            <a:pPr algn="ctr" indent="0" marL="0">
              <a:buNone/>
            </a:pPr>
            <a:r>
              <a:rPr lang="en-US" sz="1200" dirty="0">
                <a:solidFill>
                  <a:srgbClr val="37474F"/>
                </a:solidFill>
                <a:latin typeface="Calibri" pitchFamily="34" charset="0"/>
                <a:ea typeface="Calibri" pitchFamily="34" charset="-122"/>
                <a:cs typeface="Calibri" pitchFamily="34" charset="-120"/>
              </a:rPr>
              <a:t>fit + CV ile hiperparametre</a:t>
            </a:r>
            <a:endParaRPr lang="en-US" sz="1500" dirty="0"/>
          </a:p>
        </p:txBody>
      </p:sp>
      <p:sp>
        <p:nvSpPr>
          <p:cNvPr id="13" name="Shape 11"/>
          <p:cNvSpPr/>
          <p:nvPr/>
        </p:nvSpPr>
        <p:spPr>
          <a:xfrm>
            <a:off x="4018178" y="3817620"/>
            <a:ext cx="320040" cy="0"/>
          </a:xfrm>
          <a:prstGeom prst="line">
            <a:avLst/>
          </a:prstGeom>
          <a:noFill/>
          <a:ln w="19050">
            <a:solidFill>
              <a:srgbClr val="546E7A"/>
            </a:solidFill>
            <a:prstDash val="solid"/>
            <a:tailEnd type="triangle"/>
          </a:ln>
        </p:spPr>
      </p:sp>
      <p:sp>
        <p:nvSpPr>
          <p:cNvPr id="14" name="Shape 12"/>
          <p:cNvSpPr/>
          <p:nvPr/>
        </p:nvSpPr>
        <p:spPr>
          <a:xfrm>
            <a:off x="4383938" y="3200400"/>
            <a:ext cx="3423818" cy="1234440"/>
          </a:xfrm>
          <a:prstGeom prst="roundRect">
            <a:avLst>
              <a:gd name="adj" fmla="val 5926"/>
            </a:avLst>
          </a:prstGeom>
          <a:solidFill>
            <a:srgbClr val="FDECEA"/>
          </a:solidFill>
          <a:ln w="12700">
            <a:solidFill>
              <a:srgbClr val="B71C1C"/>
            </a:solidFill>
            <a:prstDash val="solid"/>
          </a:ln>
        </p:spPr>
      </p:sp>
      <p:sp>
        <p:nvSpPr>
          <p:cNvPr id="15" name="Text 13"/>
          <p:cNvSpPr txBox="1"/>
          <p:nvPr/>
        </p:nvSpPr>
        <p:spPr>
          <a:xfrm>
            <a:off x="4457090" y="3200400"/>
            <a:ext cx="3277514" cy="1234440"/>
          </a:xfrm>
          <a:prstGeom prst="rect">
            <a:avLst/>
          </a:prstGeom>
          <a:noFill/>
          <a:ln/>
        </p:spPr>
        <p:txBody>
          <a:bodyPr wrap="square" lIns="0" tIns="0" rIns="0" bIns="0" rtlCol="0" anchor="ctr"/>
          <a:lstStyle/>
          <a:p>
            <a:pPr algn="ctr" indent="0" marL="0">
              <a:buNone/>
            </a:pPr>
            <a:r>
              <a:rPr lang="en-US" sz="1500" b="1" dirty="0">
                <a:solidFill>
                  <a:srgbClr val="263238"/>
                </a:solidFill>
                <a:latin typeface="Calibri" pitchFamily="34" charset="0"/>
                <a:ea typeface="Calibri" pitchFamily="34" charset="-122"/>
                <a:cs typeface="Calibri" pitchFamily="34" charset="-120"/>
              </a:rPr>
              <a:t>Test</a:t>
            </a:r>
            <a:endParaRPr lang="en-US" sz="1500" dirty="0"/>
          </a:p>
          <a:p>
            <a:pPr algn="ctr" indent="0" marL="0">
              <a:buNone/>
            </a:pPr>
            <a:r>
              <a:rPr lang="en-US" sz="1200" dirty="0">
                <a:solidFill>
                  <a:srgbClr val="37474F"/>
                </a:solidFill>
                <a:latin typeface="Calibri" pitchFamily="34" charset="0"/>
                <a:ea typeface="Calibri" pitchFamily="34" charset="-122"/>
                <a:cs typeface="Calibri" pitchFamily="34" charset="-120"/>
              </a:rPr>
              <a:t>En sonda </a:t>
            </a:r>
            <a:r>
              <a:rPr lang="en-US" sz="1200" b="1" dirty="0">
                <a:solidFill>
                  <a:srgbClr val="37474F"/>
                </a:solidFill>
                <a:latin typeface="Calibri" pitchFamily="34" charset="0"/>
                <a:ea typeface="Calibri" pitchFamily="34" charset="-122"/>
                <a:cs typeface="Calibri" pitchFamily="34" charset="-120"/>
              </a:rPr>
              <a:t>bir kez</a:t>
            </a:r>
            <a:endParaRPr lang="en-US" sz="1500" dirty="0"/>
          </a:p>
        </p:txBody>
      </p:sp>
      <p:sp>
        <p:nvSpPr>
          <p:cNvPr id="16" name="Shape 14"/>
          <p:cNvSpPr/>
          <p:nvPr/>
        </p:nvSpPr>
        <p:spPr>
          <a:xfrm>
            <a:off x="7853477" y="3817620"/>
            <a:ext cx="320040" cy="0"/>
          </a:xfrm>
          <a:prstGeom prst="line">
            <a:avLst/>
          </a:prstGeom>
          <a:noFill/>
          <a:ln w="19050">
            <a:solidFill>
              <a:srgbClr val="546E7A"/>
            </a:solidFill>
            <a:prstDash val="solid"/>
            <a:tailEnd type="triangle"/>
          </a:ln>
        </p:spPr>
      </p:sp>
      <p:sp>
        <p:nvSpPr>
          <p:cNvPr id="17" name="Shape 15"/>
          <p:cNvSpPr/>
          <p:nvPr/>
        </p:nvSpPr>
        <p:spPr>
          <a:xfrm>
            <a:off x="8219237" y="3200400"/>
            <a:ext cx="3423818" cy="1234440"/>
          </a:xfrm>
          <a:prstGeom prst="roundRect">
            <a:avLst>
              <a:gd name="adj" fmla="val 5926"/>
            </a:avLst>
          </a:prstGeom>
          <a:solidFill>
            <a:srgbClr val="F7F9FA"/>
          </a:solidFill>
          <a:ln w="12700">
            <a:solidFill>
              <a:srgbClr val="B0BEC5"/>
            </a:solidFill>
            <a:prstDash val="solid"/>
          </a:ln>
        </p:spPr>
      </p:sp>
      <p:sp>
        <p:nvSpPr>
          <p:cNvPr id="18" name="Text 16"/>
          <p:cNvSpPr txBox="1"/>
          <p:nvPr/>
        </p:nvSpPr>
        <p:spPr>
          <a:xfrm>
            <a:off x="8292389" y="3200400"/>
            <a:ext cx="3277514" cy="1234440"/>
          </a:xfrm>
          <a:prstGeom prst="rect">
            <a:avLst/>
          </a:prstGeom>
          <a:noFill/>
          <a:ln/>
        </p:spPr>
        <p:txBody>
          <a:bodyPr wrap="square" lIns="0" tIns="0" rIns="0" bIns="0" rtlCol="0" anchor="ctr"/>
          <a:lstStyle/>
          <a:p>
            <a:pPr algn="ctr" indent="0" marL="0">
              <a:buNone/>
            </a:pPr>
            <a:r>
              <a:rPr lang="en-US" sz="1500" b="1" dirty="0">
                <a:solidFill>
                  <a:srgbClr val="263238"/>
                </a:solidFill>
                <a:latin typeface="Calibri" pitchFamily="34" charset="0"/>
                <a:ea typeface="Calibri" pitchFamily="34" charset="-122"/>
                <a:cs typeface="Calibri" pitchFamily="34" charset="-120"/>
              </a:rPr>
              <a:t>Yorum</a:t>
            </a:r>
            <a:endParaRPr lang="en-US" sz="1500" dirty="0"/>
          </a:p>
          <a:p>
            <a:pPr algn="ctr" indent="0" marL="0">
              <a:buNone/>
            </a:pPr>
            <a:r>
              <a:rPr lang="en-US" sz="1200" dirty="0">
                <a:solidFill>
                  <a:srgbClr val="37474F"/>
                </a:solidFill>
                <a:latin typeface="Calibri" pitchFamily="34" charset="0"/>
                <a:ea typeface="Calibri" pitchFamily="34" charset="-122"/>
                <a:cs typeface="Calibri" pitchFamily="34" charset="-120"/>
              </a:rPr>
              <a:t>Özellik önemi, hata analizi</a:t>
            </a:r>
            <a:endParaRPr lang="en-US" sz="1500" dirty="0"/>
          </a:p>
        </p:txBody>
      </p:sp>
      <p:sp>
        <p:nvSpPr>
          <p:cNvPr id="19" name="Text 17"/>
          <p:cNvSpPr txBox="1"/>
          <p:nvPr/>
        </p:nvSpPr>
        <p:spPr>
          <a:xfrm>
            <a:off x="548640" y="4983480"/>
            <a:ext cx="11094415" cy="1280160"/>
          </a:xfrm>
          <a:prstGeom prst="rect">
            <a:avLst/>
          </a:prstGeom>
          <a:noFill/>
          <a:ln/>
        </p:spPr>
        <p:txBody>
          <a:bodyPr wrap="square" lIns="25400" tIns="25400" rIns="50800" bIns="25400" rtlCol="0" anchor="t"/>
          <a:lstStyle/>
          <a:p>
            <a:pPr marL="228600" indent="-228600">
              <a:spcAft>
                <a:spcPts val="700"/>
              </a:spcAft>
              <a:buSzPct val="100000"/>
              <a:buChar char="•"/>
            </a:pPr>
            <a:r>
              <a:rPr lang="en-US" sz="1700" b="1" dirty="0">
                <a:solidFill>
                  <a:srgbClr val="212121"/>
                </a:solidFill>
                <a:latin typeface="Calibri" pitchFamily="34" charset="0"/>
                <a:ea typeface="Calibri" pitchFamily="34" charset="-122"/>
                <a:cs typeface="Calibri" pitchFamily="34" charset="-120"/>
              </a:rPr>
              <a:t>Altın kural:</a:t>
            </a:r>
            <a:r>
              <a:rPr lang="en-US" sz="1700" dirty="0">
                <a:solidFill>
                  <a:srgbClr val="212121"/>
                </a:solidFill>
                <a:latin typeface="Calibri" pitchFamily="34" charset="0"/>
                <a:ea typeface="Calibri" pitchFamily="34" charset="-122"/>
                <a:cs typeface="Calibri" pitchFamily="34" charset="-120"/>
              </a:rPr>
              <a:t> özellik seçimi, ölçekleme, parametre ayarı dahil </a:t>
            </a:r>
            <a:r>
              <a:rPr lang="en-US" sz="1700" b="1" dirty="0">
                <a:solidFill>
                  <a:srgbClr val="212121"/>
                </a:solidFill>
                <a:latin typeface="Calibri" pitchFamily="34" charset="0"/>
                <a:ea typeface="Calibri" pitchFamily="34" charset="-122"/>
                <a:cs typeface="Calibri" pitchFamily="34" charset="-120"/>
              </a:rPr>
              <a:t>hiçbir</a:t>
            </a:r>
            <a:r>
              <a:rPr lang="en-US" sz="1700" dirty="0">
                <a:solidFill>
                  <a:srgbClr val="212121"/>
                </a:solidFill>
                <a:latin typeface="Calibri" pitchFamily="34" charset="0"/>
                <a:ea typeface="Calibri" pitchFamily="34" charset="-122"/>
                <a:cs typeface="Calibri" pitchFamily="34" charset="-120"/>
              </a:rPr>
              <a:t> geliştirme adımı test verisini görmez</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stratify=y</a:t>
            </a:r>
            <a:r>
              <a:rPr lang="en-US" sz="1700" dirty="0">
                <a:solidFill>
                  <a:srgbClr val="212121"/>
                </a:solidFill>
                <a:latin typeface="Calibri" pitchFamily="34" charset="0"/>
                <a:ea typeface="Calibri" pitchFamily="34" charset="-122"/>
                <a:cs typeface="Calibri" pitchFamily="34" charset="-120"/>
              </a:rPr>
              <a:t> → sınıf oranları eğitim ve testte aynı (burada her ikisinde de %50)</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Test skoru, modelin </a:t>
            </a:r>
            <a:r>
              <a:rPr lang="en-US" sz="1700" b="1" dirty="0">
                <a:solidFill>
                  <a:srgbClr val="212121"/>
                </a:solidFill>
                <a:latin typeface="Calibri" pitchFamily="34" charset="0"/>
                <a:ea typeface="Calibri" pitchFamily="34" charset="-122"/>
                <a:cs typeface="Calibri" pitchFamily="34" charset="-120"/>
              </a:rPr>
              <a:t>görülmemiş veride</a:t>
            </a:r>
            <a:r>
              <a:rPr lang="en-US" sz="1700" dirty="0">
                <a:solidFill>
                  <a:srgbClr val="212121"/>
                </a:solidFill>
                <a:latin typeface="Calibri" pitchFamily="34" charset="0"/>
                <a:ea typeface="Calibri" pitchFamily="34" charset="-122"/>
                <a:cs typeface="Calibri" pitchFamily="34" charset="-120"/>
              </a:rPr>
              <a:t> başarısının tarafsız tahminidir; test tekrar tekrar kullanılırsa bu özellik kaybolur</a:t>
            </a:r>
            <a:endParaRPr lang="en-US" sz="1700" dirty="0"/>
          </a:p>
        </p:txBody>
      </p:sp>
      <p:sp>
        <p:nvSpPr>
          <p:cNvPr id="20" name="Text 18"/>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13: ML II: denetimli sınıflandırma</a:t>
            </a:r>
            <a:endParaRPr lang="en-US" sz="900" dirty="0"/>
          </a:p>
        </p:txBody>
      </p:sp>
      <p:sp>
        <p:nvSpPr>
          <p:cNvPr id="21" name="Text 19"/>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Az öğrenme ve aşırı öğrenme</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2383924"/>
                <a:gridCol w="2842371"/>
                <a:gridCol w="2750681"/>
                <a:gridCol w="3117439"/>
              </a:tblGrid>
              <a:tr h="0">
                <a:tc>
                  <a:txBody>
                    <a:bodyPr/>
                    <a:lstStyle/>
                    <a:p>
                      <a:pPr algn="l" indent="0" marL="0">
                        <a:buNone/>
                      </a:pPr>
                      <a:r>
                        <a:rPr lang="en-US" sz="1800" b="1" dirty="0">
                          <a:solidFill>
                            <a:srgbClr val="212121"/>
                          </a:solidFill>
                          <a:latin typeface="Calibri" pitchFamily="34" charset="0"/>
                          <a:ea typeface="Calibri" pitchFamily="34" charset="-122"/>
                          <a:cs typeface="Calibri" pitchFamily="34" charset="-120"/>
                        </a:rPr>
                        <a:t>Kavram</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800" b="1" dirty="0">
                          <a:solidFill>
                            <a:srgbClr val="212121"/>
                          </a:solidFill>
                          <a:latin typeface="Calibri" pitchFamily="34" charset="0"/>
                          <a:ea typeface="Calibri" pitchFamily="34" charset="-122"/>
                          <a:cs typeface="Calibri" pitchFamily="34" charset="-120"/>
                        </a:rPr>
                        <a:t>Belirti</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800" b="1" dirty="0">
                          <a:solidFill>
                            <a:srgbClr val="212121"/>
                          </a:solidFill>
                          <a:latin typeface="Calibri" pitchFamily="34" charset="0"/>
                          <a:ea typeface="Calibri" pitchFamily="34" charset="-122"/>
                          <a:cs typeface="Calibri" pitchFamily="34" charset="-120"/>
                        </a:rPr>
                        <a:t>Olası neden</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800" b="1" dirty="0">
                          <a:solidFill>
                            <a:srgbClr val="212121"/>
                          </a:solidFill>
                          <a:latin typeface="Calibri" pitchFamily="34" charset="0"/>
                          <a:ea typeface="Calibri" pitchFamily="34" charset="-122"/>
                          <a:cs typeface="Calibri" pitchFamily="34" charset="-120"/>
                        </a:rPr>
                        <a:t>Çözüm</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Az öğrenme (underfitting)</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Eğitim </a:t>
                      </a:r>
                      <a:r>
                        <a:rPr lang="en-US" sz="1800" b="1" dirty="0">
                          <a:solidFill>
                            <a:srgbClr val="212121"/>
                          </a:solidFill>
                          <a:latin typeface="Calibri" pitchFamily="34" charset="0"/>
                          <a:ea typeface="Calibri" pitchFamily="34" charset="-122"/>
                          <a:cs typeface="Calibri" pitchFamily="34" charset="-120"/>
                        </a:rPr>
                        <a:t>ve</a:t>
                      </a:r>
                      <a:r>
                        <a:rPr lang="en-US" sz="1800" dirty="0">
                          <a:solidFill>
                            <a:srgbClr val="212121"/>
                          </a:solidFill>
                          <a:latin typeface="Calibri" pitchFamily="34" charset="0"/>
                          <a:ea typeface="Calibri" pitchFamily="34" charset="-122"/>
                          <a:cs typeface="Calibri" pitchFamily="34" charset="-120"/>
                        </a:rPr>
                        <a:t> test başarısı düşük</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Model çok basit, özellikler zayıf</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Daha karmaşık model, daha iyi özellikler</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Aşırı öğrenme (overfitting)</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Eğitim çok yüksek, test düşük</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Model gürültüyü ezberliyor</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Düzenlileştirme, daha fazla veri, daha basit model, topluluk</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İyi uyum</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Eğitim ≈ test, ikisi de yüksek</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Çapraz doğrulamayla doğrula</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4096512"/>
            <a:ext cx="11094415" cy="822960"/>
          </a:xfrm>
          <a:prstGeom prst="roundRect">
            <a:avLst>
              <a:gd name="adj" fmla="val 8889"/>
            </a:avLst>
          </a:prstGeom>
          <a:solidFill>
            <a:srgbClr val="FDECEA"/>
          </a:solidFill>
          <a:ln/>
        </p:spPr>
      </p:sp>
      <p:sp>
        <p:nvSpPr>
          <p:cNvPr id="5" name="Text 2"/>
          <p:cNvSpPr txBox="1"/>
          <p:nvPr/>
        </p:nvSpPr>
        <p:spPr>
          <a:xfrm>
            <a:off x="731520" y="4096512"/>
            <a:ext cx="10728655" cy="822960"/>
          </a:xfrm>
          <a:prstGeom prst="rect">
            <a:avLst/>
          </a:prstGeom>
          <a:noFill/>
          <a:ln/>
        </p:spPr>
        <p:txBody>
          <a:bodyPr wrap="square" lIns="0" tIns="0" rIns="0" bIns="0" rtlCol="0" anchor="ctr"/>
          <a:lstStyle/>
          <a:p>
            <a:pPr indent="0" marL="0">
              <a:buNone/>
            </a:pPr>
            <a:r>
              <a:rPr lang="en-US" sz="1600" dirty="0">
                <a:solidFill>
                  <a:srgbClr val="212121"/>
                </a:solidFill>
                <a:latin typeface="Calibri" pitchFamily="34" charset="0"/>
                <a:ea typeface="Calibri" pitchFamily="34" charset="-122"/>
                <a:cs typeface="Calibri" pitchFamily="34" charset="-120"/>
              </a:rPr>
              <a:t>Bu haftanın somut örneği: derinliği sınırsız karar ağacı eğitimde </a:t>
            </a:r>
            <a:r>
              <a:rPr lang="en-US" sz="1600" b="1" dirty="0">
                <a:solidFill>
                  <a:srgbClr val="212121"/>
                </a:solidFill>
                <a:latin typeface="Calibri" pitchFamily="34" charset="0"/>
                <a:ea typeface="Calibri" pitchFamily="34" charset="-122"/>
                <a:cs typeface="Calibri" pitchFamily="34" charset="-120"/>
              </a:rPr>
              <a:t>1.000</a:t>
            </a:r>
            <a:r>
              <a:rPr lang="en-US" sz="1600" dirty="0">
                <a:solidFill>
                  <a:srgbClr val="212121"/>
                </a:solidFill>
                <a:latin typeface="Calibri" pitchFamily="34" charset="0"/>
                <a:ea typeface="Calibri" pitchFamily="34" charset="-122"/>
                <a:cs typeface="Calibri" pitchFamily="34" charset="-120"/>
              </a:rPr>
              <a:t>, testte </a:t>
            </a:r>
            <a:r>
              <a:rPr lang="en-US" sz="1600" b="1" dirty="0">
                <a:solidFill>
                  <a:srgbClr val="212121"/>
                </a:solidFill>
                <a:latin typeface="Calibri" pitchFamily="34" charset="0"/>
                <a:ea typeface="Calibri" pitchFamily="34" charset="-122"/>
                <a:cs typeface="Calibri" pitchFamily="34" charset="-120"/>
              </a:rPr>
              <a:t>0.710</a:t>
            </a:r>
            <a:r>
              <a:rPr lang="en-US" sz="1600" dirty="0">
                <a:solidFill>
                  <a:srgbClr val="212121"/>
                </a:solidFill>
                <a:latin typeface="Calibri" pitchFamily="34" charset="0"/>
                <a:ea typeface="Calibri" pitchFamily="34" charset="-122"/>
                <a:cs typeface="Calibri" pitchFamily="34" charset="-120"/>
              </a:rPr>
              <a:t> doğruluk → aşırı öğrenme. Derinlik 4'te: 0.802 / 0.768.</a:t>
            </a:r>
            <a:endParaRPr lang="en-US" sz="1600" dirty="0"/>
          </a:p>
        </p:txBody>
      </p:sp>
      <p:sp>
        <p:nvSpPr>
          <p:cNvPr id="6" name="Text 3"/>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13: ML II: denetimli sınıflandırma</a:t>
            </a:r>
            <a:endParaRPr lang="en-US" sz="900" dirty="0"/>
          </a:p>
        </p:txBody>
      </p:sp>
      <p:sp>
        <p:nvSpPr>
          <p:cNvPr id="7" name="Text 4"/>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Veri seti ve özellikler</a:t>
            </a:r>
            <a:endParaRPr lang="en-US" sz="3000" dirty="0"/>
          </a:p>
        </p:txBody>
      </p:sp>
      <p:sp>
        <p:nvSpPr>
          <p:cNvPr id="3" name="Text 1"/>
          <p:cNvSpPr txBox="1"/>
          <p:nvPr/>
        </p:nvSpPr>
        <p:spPr>
          <a:xfrm>
            <a:off x="548640" y="1234440"/>
            <a:ext cx="6336609"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900" dirty="0">
                <a:solidFill>
                  <a:srgbClr val="212121"/>
                </a:solidFill>
                <a:latin typeface="Calibri" pitchFamily="34" charset="0"/>
                <a:ea typeface="Calibri" pitchFamily="34" charset="-122"/>
                <a:cs typeface="Calibri" pitchFamily="34" charset="-120"/>
              </a:rPr>
              <a:t>​</a:t>
            </a:r>
            <a:r>
              <a:rPr lang="en-US" sz="1900" dirty="0">
                <a:solidFill>
                  <a:srgbClr val="455A64"/>
                </a:solidFill>
                <a:latin typeface="Courier New" pitchFamily="34" charset="0"/>
                <a:ea typeface="Courier New" pitchFamily="34" charset="-122"/>
                <a:cs typeface="Courier New" pitchFamily="34" charset="-120"/>
              </a:rPr>
              <a:t>promotor_veriseti.csv</a:t>
            </a:r>
            <a:r>
              <a:rPr lang="en-US" sz="1900" dirty="0">
                <a:solidFill>
                  <a:srgbClr val="212121"/>
                </a:solidFill>
                <a:latin typeface="Calibri" pitchFamily="34" charset="0"/>
                <a:ea typeface="Calibri" pitchFamily="34" charset="-122"/>
                <a:cs typeface="Calibri" pitchFamily="34" charset="-120"/>
              </a:rPr>
              <a:t>: </a:t>
            </a:r>
            <a:r>
              <a:rPr lang="en-US" sz="1900" b="1" dirty="0">
                <a:solidFill>
                  <a:srgbClr val="212121"/>
                </a:solidFill>
                <a:latin typeface="Calibri" pitchFamily="34" charset="0"/>
                <a:ea typeface="Calibri" pitchFamily="34" charset="-122"/>
                <a:cs typeface="Calibri" pitchFamily="34" charset="-120"/>
              </a:rPr>
              <a:t>2000 dizi × 80 bp</a:t>
            </a:r>
            <a:r>
              <a:rPr lang="en-US" sz="1900" dirty="0">
                <a:solidFill>
                  <a:srgbClr val="212121"/>
                </a:solidFill>
                <a:latin typeface="Calibri" pitchFamily="34" charset="0"/>
                <a:ea typeface="Calibri" pitchFamily="34" charset="-122"/>
                <a:cs typeface="Calibri" pitchFamily="34" charset="-120"/>
              </a:rPr>
              <a:t>, 1000 promotör + 1000 değil (sentetik)</a:t>
            </a:r>
            <a:endParaRPr lang="en-US" sz="1900" dirty="0"/>
          </a:p>
          <a:p>
            <a:pPr lvl="1" marL="406400" indent="-203200">
              <a:spcAft>
                <a:spcPts val="300"/>
              </a:spcAft>
              <a:buSzPct val="100000"/>
              <a:buChar char="–"/>
            </a:pPr>
            <a:r>
              <a:rPr lang="en-US" sz="1700" dirty="0">
                <a:solidFill>
                  <a:srgbClr val="37474F"/>
                </a:solidFill>
                <a:latin typeface="Calibri" pitchFamily="34" charset="0"/>
                <a:ea typeface="Calibri" pitchFamily="34" charset="-122"/>
                <a:cs typeface="Calibri" pitchFamily="34" charset="-120"/>
              </a:rPr>
              <a:t>Promotörlerin çoğunda </a:t>
            </a:r>
            <a:r>
              <a:rPr lang="en-US" sz="1700" b="1" dirty="0">
                <a:solidFill>
                  <a:srgbClr val="37474F"/>
                </a:solidFill>
                <a:latin typeface="Calibri" pitchFamily="34" charset="0"/>
                <a:ea typeface="Calibri" pitchFamily="34" charset="-122"/>
                <a:cs typeface="Calibri" pitchFamily="34" charset="-120"/>
              </a:rPr>
              <a:t>TATA benzeri</a:t>
            </a:r>
            <a:r>
              <a:rPr lang="en-US" sz="1700" dirty="0">
                <a:solidFill>
                  <a:srgbClr val="37474F"/>
                </a:solidFill>
                <a:latin typeface="Calibri" pitchFamily="34" charset="0"/>
                <a:ea typeface="Calibri" pitchFamily="34" charset="-122"/>
                <a:cs typeface="Calibri" pitchFamily="34" charset="-120"/>
              </a:rPr>
              <a:t> motif, bir kısmında </a:t>
            </a:r>
            <a:r>
              <a:rPr lang="en-US" sz="1700" b="1" dirty="0">
                <a:solidFill>
                  <a:srgbClr val="37474F"/>
                </a:solidFill>
                <a:latin typeface="Calibri" pitchFamily="34" charset="0"/>
                <a:ea typeface="Calibri" pitchFamily="34" charset="-122"/>
                <a:cs typeface="Calibri" pitchFamily="34" charset="-120"/>
              </a:rPr>
              <a:t>GC-kutusu</a:t>
            </a:r>
            <a:r>
              <a:rPr lang="en-US" sz="1700" dirty="0">
                <a:solidFill>
                  <a:srgbClr val="37474F"/>
                </a:solidFill>
                <a:latin typeface="Calibri" pitchFamily="34" charset="0"/>
                <a:ea typeface="Calibri" pitchFamily="34" charset="-122"/>
                <a:cs typeface="Calibri" pitchFamily="34" charset="-120"/>
              </a:rPr>
              <a:t> (</a:t>
            </a:r>
            <a:r>
              <a:rPr lang="en-US" sz="1700" dirty="0">
                <a:solidFill>
                  <a:srgbClr val="455A64"/>
                </a:solidFill>
                <a:latin typeface="Courier New" pitchFamily="34" charset="0"/>
                <a:ea typeface="Courier New" pitchFamily="34" charset="-122"/>
                <a:cs typeface="Courier New" pitchFamily="34" charset="-120"/>
              </a:rPr>
              <a:t>GGGCGG</a:t>
            </a:r>
            <a:r>
              <a:rPr lang="en-US" sz="1700" dirty="0">
                <a:solidFill>
                  <a:srgbClr val="37474F"/>
                </a:solidFill>
                <a:latin typeface="Calibri" pitchFamily="34" charset="0"/>
                <a:ea typeface="Calibri" pitchFamily="34" charset="-122"/>
                <a:cs typeface="Calibri" pitchFamily="34" charset="-120"/>
              </a:rPr>
              <a:t>); GC oranı biraz yüksek</a:t>
            </a:r>
            <a:endParaRPr lang="en-US" sz="1900" dirty="0"/>
          </a:p>
          <a:p>
            <a:pPr lvl="1" marL="406400" indent="-203200">
              <a:spcAft>
                <a:spcPts val="300"/>
              </a:spcAft>
              <a:buSzPct val="100000"/>
              <a:buChar char="–"/>
            </a:pPr>
            <a:r>
              <a:rPr lang="en-US" sz="1700" dirty="0">
                <a:solidFill>
                  <a:srgbClr val="37474F"/>
                </a:solidFill>
                <a:latin typeface="Calibri" pitchFamily="34" charset="0"/>
                <a:ea typeface="Calibri" pitchFamily="34" charset="-122"/>
                <a:cs typeface="Calibri" pitchFamily="34" charset="-120"/>
              </a:rPr>
              <a:t>Negatiflerin </a:t>
            </a:r>
            <a:r>
              <a:rPr lang="en-US" sz="1700" b="1" dirty="0">
                <a:solidFill>
                  <a:srgbClr val="37474F"/>
                </a:solidFill>
                <a:latin typeface="Calibri" pitchFamily="34" charset="0"/>
                <a:ea typeface="Calibri" pitchFamily="34" charset="-122"/>
                <a:cs typeface="Calibri" pitchFamily="34" charset="-120"/>
              </a:rPr>
              <a:t>%20'sinde</a:t>
            </a:r>
            <a:r>
              <a:rPr lang="en-US" sz="1700" dirty="0">
                <a:solidFill>
                  <a:srgbClr val="37474F"/>
                </a:solidFill>
                <a:latin typeface="Calibri" pitchFamily="34" charset="0"/>
                <a:ea typeface="Calibri" pitchFamily="34" charset="-122"/>
                <a:cs typeface="Calibri" pitchFamily="34" charset="-120"/>
              </a:rPr>
              <a:t> rastgele konumda TATA benzeri motif (zorlaştırıcı)</a:t>
            </a:r>
            <a:endParaRPr lang="en-US" sz="1900" dirty="0"/>
          </a:p>
          <a:p>
            <a:pPr marL="228600" indent="-228600">
              <a:spcAft>
                <a:spcPts val="700"/>
              </a:spcAft>
              <a:buSzPct val="100000"/>
              <a:buChar char="•"/>
            </a:pPr>
            <a:r>
              <a:rPr lang="en-US" sz="1900" b="1" dirty="0">
                <a:solidFill>
                  <a:srgbClr val="212121"/>
                </a:solidFill>
                <a:latin typeface="Calibri" pitchFamily="34" charset="0"/>
                <a:ea typeface="Calibri" pitchFamily="34" charset="-122"/>
                <a:cs typeface="Calibri" pitchFamily="34" charset="-120"/>
              </a:rPr>
              <a:t>k-mer frekansları:</a:t>
            </a:r>
            <a:r>
              <a:rPr lang="en-US" sz="1900" dirty="0">
                <a:solidFill>
                  <a:srgbClr val="212121"/>
                </a:solidFill>
                <a:latin typeface="Calibri" pitchFamily="34" charset="0"/>
                <a:ea typeface="Calibri" pitchFamily="34" charset="-122"/>
                <a:cs typeface="Calibri" pitchFamily="34" charset="-120"/>
              </a:rPr>
              <a:t> k = 1, 2, 3, 4 → 4, 16, 64, 256 özellik</a:t>
            </a:r>
            <a:endParaRPr lang="en-US" sz="1900" dirty="0"/>
          </a:p>
          <a:p>
            <a:pPr marL="228600" indent="-228600">
              <a:spcAft>
                <a:spcPts val="700"/>
              </a:spcAft>
              <a:buSzPct val="100000"/>
              <a:buChar char="•"/>
            </a:pPr>
            <a:r>
              <a:rPr lang="en-US" sz="1900" b="1" dirty="0">
                <a:solidFill>
                  <a:srgbClr val="212121"/>
                </a:solidFill>
                <a:latin typeface="Calibri" pitchFamily="34" charset="0"/>
                <a:ea typeface="Calibri" pitchFamily="34" charset="-122"/>
                <a:cs typeface="Calibri" pitchFamily="34" charset="-120"/>
              </a:rPr>
              <a:t>Motif özellikleri</a:t>
            </a:r>
            <a:r>
              <a:rPr lang="en-US" sz="1900" dirty="0">
                <a:solidFill>
                  <a:srgbClr val="212121"/>
                </a:solidFill>
                <a:latin typeface="Calibri" pitchFamily="34" charset="0"/>
                <a:ea typeface="Calibri" pitchFamily="34" charset="-122"/>
                <a:cs typeface="Calibri" pitchFamily="34" charset="-120"/>
              </a:rPr>
              <a:t> (5. haftadaki PSSM): TATA maksimum skoru, eşik (&gt; 5) üstü isabet sayısı, GC-kutusu var/yok</a:t>
            </a:r>
            <a:endParaRPr lang="en-US" sz="1900" dirty="0"/>
          </a:p>
          <a:p>
            <a:pPr marL="228600" indent="-228600">
              <a:spcAft>
                <a:spcPts val="700"/>
              </a:spcAft>
              <a:buSzPct val="100000"/>
              <a:buChar char="•"/>
            </a:pPr>
            <a:r>
              <a:rPr lang="en-US" sz="1900" dirty="0">
                <a:solidFill>
                  <a:srgbClr val="212121"/>
                </a:solidFill>
                <a:latin typeface="Calibri" pitchFamily="34" charset="0"/>
                <a:ea typeface="Calibri" pitchFamily="34" charset="-122"/>
                <a:cs typeface="Calibri" pitchFamily="34" charset="-120"/>
              </a:rPr>
              <a:t>Ana set: k = 3 + motif = </a:t>
            </a:r>
            <a:r>
              <a:rPr lang="en-US" sz="1900" b="1" dirty="0">
                <a:solidFill>
                  <a:srgbClr val="212121"/>
                </a:solidFill>
                <a:latin typeface="Calibri" pitchFamily="34" charset="0"/>
                <a:ea typeface="Calibri" pitchFamily="34" charset="-122"/>
                <a:cs typeface="Calibri" pitchFamily="34" charset="-120"/>
              </a:rPr>
              <a:t>67 özellik</a:t>
            </a:r>
            <a:r>
              <a:rPr lang="en-US" sz="1900" dirty="0">
                <a:solidFill>
                  <a:srgbClr val="212121"/>
                </a:solidFill>
                <a:latin typeface="Calibri" pitchFamily="34" charset="0"/>
                <a:ea typeface="Calibri" pitchFamily="34" charset="-122"/>
                <a:cs typeface="Calibri" pitchFamily="34" charset="-120"/>
              </a:rPr>
              <a:t>; eğitim 1600, test 400</a:t>
            </a:r>
            <a:endParaRPr lang="en-US" sz="1900" dirty="0"/>
          </a:p>
        </p:txBody>
      </p:sp>
      <p:pic>
        <p:nvPicPr>
          <p:cNvPr id="4" name="Image 0" descr="p13_gc_hist.png">    </p:cNvPr>
          <p:cNvPicPr>
            <a:picLocks noChangeAspect="1"/>
          </p:cNvPicPr>
          <p:nvPr/>
        </p:nvPicPr>
        <p:blipFill>
          <a:blip r:embed="rId1"/>
          <a:stretch>
            <a:fillRect/>
          </a:stretch>
        </p:blipFill>
        <p:spPr>
          <a:xfrm>
            <a:off x="7205289" y="2435824"/>
            <a:ext cx="4437766" cy="2626433"/>
          </a:xfrm>
          <a:prstGeom prst="rect">
            <a:avLst/>
          </a:prstGeom>
        </p:spPr>
      </p:pic>
      <p:sp>
        <p:nvSpPr>
          <p:cNvPr id="5"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13: ML II: denetimli sınıflandırma</a:t>
            </a:r>
            <a:endParaRPr lang="en-US" sz="900" dirty="0"/>
          </a:p>
        </p:txBody>
      </p:sp>
      <p:sp>
        <p:nvSpPr>
          <p:cNvPr id="6" name="Text 3"/>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2800" b="1" dirty="0">
                <a:solidFill>
                  <a:srgbClr val="263238"/>
                </a:solidFill>
                <a:latin typeface="Calibri" pitchFamily="34" charset="0"/>
                <a:ea typeface="Calibri" pitchFamily="34" charset="-122"/>
                <a:cs typeface="Calibri" pitchFamily="34" charset="-120"/>
              </a:rPr>
              <a:t>Motif özellikleri ve katmanlı eğitim/test ayrımı</a:t>
            </a:r>
            <a:endParaRPr lang="en-US" sz="2800" dirty="0"/>
          </a:p>
        </p:txBody>
      </p:sp>
      <p:sp>
        <p:nvSpPr>
          <p:cNvPr id="3" name="Text 1"/>
          <p:cNvSpPr txBox="1"/>
          <p:nvPr/>
        </p:nvSpPr>
        <p:spPr>
          <a:xfrm>
            <a:off x="548640" y="5513832"/>
            <a:ext cx="1828800" cy="228600"/>
          </a:xfrm>
          <a:prstGeom prst="rect">
            <a:avLst/>
          </a:prstGeom>
          <a:noFill/>
          <a:ln/>
        </p:spPr>
        <p:txBody>
          <a:bodyPr wrap="square" lIns="0" tIns="0" rIns="0" bIns="0" rtlCol="0" anchor="ctr"/>
          <a:lstStyle/>
          <a:p>
            <a:pPr indent="0" marL="0">
              <a:buNone/>
            </a:pPr>
            <a:r>
              <a:rPr lang="en-US" sz="1100" b="1" dirty="0">
                <a:solidFill>
                  <a:srgbClr val="546E7A"/>
                </a:solidFill>
              </a:rPr>
              <a:t>Çıktı</a:t>
            </a:r>
            <a:endParaRPr lang="en-US" sz="1100" dirty="0"/>
          </a:p>
        </p:txBody>
      </p:sp>
      <p:sp>
        <p:nvSpPr>
          <p:cNvPr id="4" name="Shape 2"/>
          <p:cNvSpPr/>
          <p:nvPr/>
        </p:nvSpPr>
        <p:spPr>
          <a:xfrm>
            <a:off x="548640" y="5742432"/>
            <a:ext cx="6878537" cy="521208"/>
          </a:xfrm>
          <a:prstGeom prst="roundRect">
            <a:avLst>
              <a:gd name="adj" fmla="val 14035"/>
            </a:avLst>
          </a:prstGeom>
          <a:solidFill>
            <a:srgbClr val="FFFFFF"/>
          </a:solidFill>
          <a:ln w="12700">
            <a:solidFill>
              <a:srgbClr val="B0BEC5"/>
            </a:solidFill>
            <a:prstDash val="solid"/>
          </a:ln>
        </p:spPr>
      </p:sp>
      <p:sp>
        <p:nvSpPr>
          <p:cNvPr id="5" name="Text 3"/>
          <p:cNvSpPr txBox="1"/>
          <p:nvPr/>
        </p:nvSpPr>
        <p:spPr>
          <a:xfrm>
            <a:off x="658368" y="5815584"/>
            <a:ext cx="6659081" cy="374904"/>
          </a:xfrm>
          <a:prstGeom prst="rect">
            <a:avLst/>
          </a:prstGeom>
          <a:noFill/>
          <a:ln/>
        </p:spPr>
        <p:txBody>
          <a:bodyPr wrap="square" lIns="0" tIns="0" rIns="0" bIns="0" rtlCol="0" anchor="t"/>
          <a:lstStyle/>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(1600, 67) (400, 67) 0.5</a:t>
            </a:r>
            <a:endParaRPr lang="en-US" sz="1300" dirty="0"/>
          </a:p>
        </p:txBody>
      </p:sp>
      <p:sp>
        <p:nvSpPr>
          <p:cNvPr id="6" name="Shape 4"/>
          <p:cNvSpPr/>
          <p:nvPr/>
        </p:nvSpPr>
        <p:spPr>
          <a:xfrm>
            <a:off x="548640" y="1234440"/>
            <a:ext cx="6878537" cy="4233672"/>
          </a:xfrm>
          <a:prstGeom prst="roundRect">
            <a:avLst>
              <a:gd name="adj" fmla="val 1728"/>
            </a:avLst>
          </a:prstGeom>
          <a:solidFill>
            <a:srgbClr val="F4F6F7"/>
          </a:solidFill>
          <a:ln w="12700">
            <a:solidFill>
              <a:srgbClr val="B0BEC5"/>
            </a:solidFill>
            <a:prstDash val="solid"/>
          </a:ln>
        </p:spPr>
      </p:sp>
      <p:sp>
        <p:nvSpPr>
          <p:cNvPr id="7" name="Text 5"/>
          <p:cNvSpPr txBox="1"/>
          <p:nvPr/>
        </p:nvSpPr>
        <p:spPr>
          <a:xfrm>
            <a:off x="658368" y="1307592"/>
            <a:ext cx="6659081" cy="4087368"/>
          </a:xfrm>
          <a:prstGeom prst="rect">
            <a:avLst/>
          </a:prstGeom>
          <a:noFill/>
          <a:ln/>
        </p:spPr>
        <p:txBody>
          <a:bodyPr wrap="square" lIns="0" tIns="0" rIns="0" bIns="0" rtlCol="0" anchor="t"/>
          <a:lstStyle/>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from Bio import motifs</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from Bio.Seq import Seq</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tata = motifs.create([Seq(s) for s in</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    ["TATAAA", "TATAAA", "TATATA", "TATAAT", "TATAAG"]])</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pssm = tata.counts.normalize(pseudocounts=0.5).log_odds()</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def motif_ozellikleri(s):</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    skor = pssm.calculate(Seq(s))</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    return [skor.max(), (skor &gt; 5).sum(),</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            int("GGGCGG" in s)]</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Xm = np.array([motif_ozellikleri(s) for s in veri.dizi])</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X_tum = np.hstack([X3, Xm])                # 64 + 3 = 67</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from sklearn.model_selection import train_test_split</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X_egt, X_test, y_egt, y_test = train_test_split(</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    X_tum, y, test_size=0.2, stratify=y, random_state=42)</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print(X_egt.shape, X_test.shape, y_test.mean())</a:t>
            </a:r>
            <a:endParaRPr lang="en-US" sz="1500" dirty="0"/>
          </a:p>
        </p:txBody>
      </p:sp>
      <p:sp>
        <p:nvSpPr>
          <p:cNvPr id="8" name="Text 6"/>
          <p:cNvSpPr txBox="1"/>
          <p:nvPr/>
        </p:nvSpPr>
        <p:spPr>
          <a:xfrm>
            <a:off x="7747217" y="1234440"/>
            <a:ext cx="3895838"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PSSM log-odds skoru her konumda hesaplanır (5. hafta)</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skor.max()</a:t>
            </a:r>
            <a:r>
              <a:rPr lang="en-US" sz="1700" dirty="0">
                <a:solidFill>
                  <a:srgbClr val="212121"/>
                </a:solidFill>
                <a:latin typeface="Calibri" pitchFamily="34" charset="0"/>
                <a:ea typeface="Calibri" pitchFamily="34" charset="-122"/>
                <a:cs typeface="Calibri" pitchFamily="34" charset="-120"/>
              </a:rPr>
              <a:t>: en iyi TATA eşleşmesinin gücü</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(skor &gt; 5).sum()</a:t>
            </a:r>
            <a:r>
              <a:rPr lang="en-US" sz="1700" dirty="0">
                <a:solidFill>
                  <a:srgbClr val="212121"/>
                </a:solidFill>
                <a:latin typeface="Calibri" pitchFamily="34" charset="0"/>
                <a:ea typeface="Calibri" pitchFamily="34" charset="-122"/>
                <a:cs typeface="Calibri" pitchFamily="34" charset="-120"/>
              </a:rPr>
              <a:t>: güçlü isabet sayısı</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İlk dizinin motif özellikleri: [2.70, 0, 0]; ikincisinin: [5.80, 2, 1]</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random_state</a:t>
            </a:r>
            <a:r>
              <a:rPr lang="en-US" sz="1700" dirty="0">
                <a:solidFill>
                  <a:srgbClr val="212121"/>
                </a:solidFill>
                <a:latin typeface="Calibri" pitchFamily="34" charset="0"/>
                <a:ea typeface="Calibri" pitchFamily="34" charset="-122"/>
                <a:cs typeface="Calibri" pitchFamily="34" charset="-120"/>
              </a:rPr>
              <a:t> sabit → tekrarlanabilir bölme</a:t>
            </a:r>
            <a:endParaRPr lang="en-US" sz="1700" dirty="0"/>
          </a:p>
        </p:txBody>
      </p:sp>
      <p:sp>
        <p:nvSpPr>
          <p:cNvPr id="9"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13: ML II: denetimli sınıflandırma</a:t>
            </a:r>
            <a:endParaRPr lang="en-US" sz="900" dirty="0"/>
          </a:p>
        </p:txBody>
      </p:sp>
      <p:sp>
        <p:nvSpPr>
          <p:cNvPr id="10"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CEFF1"/>
        </a:solidFill>
      </p:bgPr>
    </p:bg>
    <p:spTree>
      <p:nvGrpSpPr>
        <p:cNvPr id="1" name=""/>
        <p:cNvGrpSpPr/>
        <p:nvPr/>
      </p:nvGrpSpPr>
      <p:grpSpPr>
        <a:xfrm>
          <a:off x="0" y="0"/>
          <a:ext cx="0" cy="0"/>
          <a:chOff x="0" y="0"/>
          <a:chExt cx="0" cy="0"/>
        </a:xfrm>
      </p:grpSpPr>
      <p:sp>
        <p:nvSpPr>
          <p:cNvPr id="2" name="Text 0"/>
          <p:cNvSpPr txBox="1"/>
          <p:nvPr/>
        </p:nvSpPr>
        <p:spPr>
          <a:xfrm>
            <a:off x="548640" y="1920240"/>
            <a:ext cx="2011680" cy="2011680"/>
          </a:xfrm>
          <a:prstGeom prst="rect">
            <a:avLst/>
          </a:prstGeom>
          <a:noFill/>
          <a:ln/>
        </p:spPr>
        <p:txBody>
          <a:bodyPr wrap="square" lIns="0" tIns="0" rIns="0" bIns="0" rtlCol="0" anchor="ctr"/>
          <a:lstStyle/>
          <a:p>
            <a:pPr indent="0" marL="0">
              <a:buNone/>
            </a:pPr>
            <a:r>
              <a:rPr lang="en-US" sz="11000" b="1" dirty="0">
                <a:solidFill>
                  <a:srgbClr val="B71C1C"/>
                </a:solidFill>
                <a:latin typeface="Calibri" pitchFamily="34" charset="0"/>
                <a:ea typeface="Calibri" pitchFamily="34" charset="-122"/>
                <a:cs typeface="Calibri" pitchFamily="34" charset="-120"/>
              </a:rPr>
              <a:t>2</a:t>
            </a:r>
            <a:endParaRPr lang="en-US" sz="11000" dirty="0"/>
          </a:p>
        </p:txBody>
      </p:sp>
      <p:sp>
        <p:nvSpPr>
          <p:cNvPr id="3" name="Text 1"/>
          <p:cNvSpPr txBox="1"/>
          <p:nvPr/>
        </p:nvSpPr>
        <p:spPr>
          <a:xfrm>
            <a:off x="2834640" y="2103120"/>
            <a:ext cx="8808415" cy="1005840"/>
          </a:xfrm>
          <a:prstGeom prst="rect">
            <a:avLst/>
          </a:prstGeom>
          <a:noFill/>
          <a:ln/>
        </p:spPr>
        <p:txBody>
          <a:bodyPr wrap="square" lIns="0" tIns="0" rIns="0" bIns="0" rtlCol="0" anchor="b"/>
          <a:lstStyle/>
          <a:p>
            <a:pPr indent="0" marL="0">
              <a:buNone/>
            </a:pPr>
            <a:r>
              <a:rPr lang="en-US" sz="3400" b="1" dirty="0">
                <a:solidFill>
                  <a:srgbClr val="263238"/>
                </a:solidFill>
                <a:latin typeface="Calibri" pitchFamily="34" charset="0"/>
                <a:ea typeface="Calibri" pitchFamily="34" charset="-122"/>
                <a:cs typeface="Calibri" pitchFamily="34" charset="-120"/>
              </a:rPr>
              <a:t>Dört sınıflandırıcı</a:t>
            </a:r>
            <a:endParaRPr lang="en-US" sz="3400" dirty="0"/>
          </a:p>
        </p:txBody>
      </p:sp>
      <p:sp>
        <p:nvSpPr>
          <p:cNvPr id="4" name="Text 2"/>
          <p:cNvSpPr txBox="1"/>
          <p:nvPr/>
        </p:nvSpPr>
        <p:spPr>
          <a:xfrm>
            <a:off x="2834640" y="3200400"/>
            <a:ext cx="8808415" cy="1097280"/>
          </a:xfrm>
          <a:prstGeom prst="rect">
            <a:avLst/>
          </a:prstGeom>
          <a:noFill/>
          <a:ln/>
        </p:spPr>
        <p:txBody>
          <a:bodyPr wrap="square" lIns="0" tIns="0" rIns="0" bIns="0" rtlCol="0" anchor="t"/>
          <a:lstStyle/>
          <a:p>
            <a:pPr indent="0" marL="0">
              <a:buNone/>
            </a:pPr>
            <a:r>
              <a:rPr lang="en-US" sz="1700" dirty="0">
                <a:solidFill>
                  <a:srgbClr val="546E7A"/>
                </a:solidFill>
                <a:latin typeface="Calibri" pitchFamily="34" charset="0"/>
                <a:ea typeface="Calibri" pitchFamily="34" charset="-122"/>
                <a:cs typeface="Calibri" pitchFamily="34" charset="-120"/>
              </a:rPr>
              <a:t>k-NN, lojistik regresyon, karar ağacı ve rastgele orman — her biri bir elle örnekle</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k-en yakın komşu (k-NN)</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Eğitim (GC oranı, sınıf): (0.40, 0), (0.45, 0), (0.50, 1), (0.55, 1), (0.60, 1). Yeni örneğin GC oranı 0.47. k = 3 ve k = 1 için sınıfı tahmin edin.</a:t>
            </a:r>
            <a:endParaRPr lang="en-US" sz="1800" dirty="0"/>
          </a:p>
        </p:txBody>
      </p:sp>
      <p:sp>
        <p:nvSpPr>
          <p:cNvPr id="6" name="Text 4"/>
          <p:cNvSpPr txBox="1"/>
          <p:nvPr/>
        </p:nvSpPr>
        <p:spPr>
          <a:xfrm>
            <a:off x="548640" y="2779776"/>
            <a:ext cx="6212873"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750" dirty="0">
                <a:solidFill>
                  <a:srgbClr val="212121"/>
                </a:solidFill>
                <a:latin typeface="Calibri" pitchFamily="34" charset="0"/>
                <a:ea typeface="Calibri" pitchFamily="34" charset="-122"/>
                <a:cs typeface="Calibri" pitchFamily="34" charset="-120"/>
              </a:rPr>
              <a:t>Uzaklıklar |0.47 − xᵢ|: 0.07, </a:t>
            </a:r>
            <a:r>
              <a:rPr lang="en-US" sz="1750" b="1" dirty="0">
                <a:solidFill>
                  <a:srgbClr val="212121"/>
                </a:solidFill>
                <a:latin typeface="Calibri" pitchFamily="34" charset="0"/>
                <a:ea typeface="Calibri" pitchFamily="34" charset="-122"/>
                <a:cs typeface="Calibri" pitchFamily="34" charset="-120"/>
              </a:rPr>
              <a:t>0.02</a:t>
            </a:r>
            <a:r>
              <a:rPr lang="en-US" sz="1750" dirty="0">
                <a:solidFill>
                  <a:srgbClr val="212121"/>
                </a:solidFill>
                <a:latin typeface="Calibri" pitchFamily="34" charset="0"/>
                <a:ea typeface="Calibri" pitchFamily="34" charset="-122"/>
                <a:cs typeface="Calibri" pitchFamily="34" charset="-120"/>
              </a:rPr>
              <a:t>, </a:t>
            </a:r>
            <a:r>
              <a:rPr lang="en-US" sz="1750" b="1" dirty="0">
                <a:solidFill>
                  <a:srgbClr val="212121"/>
                </a:solidFill>
                <a:latin typeface="Calibri" pitchFamily="34" charset="0"/>
                <a:ea typeface="Calibri" pitchFamily="34" charset="-122"/>
                <a:cs typeface="Calibri" pitchFamily="34" charset="-120"/>
              </a:rPr>
              <a:t>0.03</a:t>
            </a:r>
            <a:r>
              <a:rPr lang="en-US" sz="1750" dirty="0">
                <a:solidFill>
                  <a:srgbClr val="212121"/>
                </a:solidFill>
                <a:latin typeface="Calibri" pitchFamily="34" charset="0"/>
                <a:ea typeface="Calibri" pitchFamily="34" charset="-122"/>
                <a:cs typeface="Calibri" pitchFamily="34" charset="-120"/>
              </a:rPr>
              <a:t>, 0.08, 0.13</a:t>
            </a:r>
            <a:endParaRPr lang="en-US" sz="1750" dirty="0"/>
          </a:p>
          <a:p>
            <a:pPr marL="342900" indent="-342900">
              <a:spcAft>
                <a:spcPts val="600"/>
              </a:spcAft>
              <a:buSzPct val="100000"/>
              <a:buFont typeface="+mj-lt"/>
              <a:buAutoNum type="arabicPeriod" startAt="1"/>
            </a:pPr>
            <a:r>
              <a:rPr lang="en-US" sz="1750" dirty="0">
                <a:solidFill>
                  <a:srgbClr val="212121"/>
                </a:solidFill>
                <a:latin typeface="Calibri" pitchFamily="34" charset="0"/>
                <a:ea typeface="Calibri" pitchFamily="34" charset="-122"/>
                <a:cs typeface="Calibri" pitchFamily="34" charset="-120"/>
              </a:rPr>
              <a:t>Sırala: 0.45 (0) → 0.50 (1) → 0.40 (0) → 0.55 (1) → 0.60 (1)</a:t>
            </a:r>
            <a:endParaRPr lang="en-US" sz="1750" dirty="0"/>
          </a:p>
          <a:p>
            <a:pPr marL="342900" indent="-342900">
              <a:spcAft>
                <a:spcPts val="600"/>
              </a:spcAft>
              <a:buSzPct val="100000"/>
              <a:buFont typeface="+mj-lt"/>
              <a:buAutoNum type="arabicPeriod" startAt="1"/>
            </a:pPr>
            <a:r>
              <a:rPr lang="en-US" sz="1750" dirty="0">
                <a:solidFill>
                  <a:srgbClr val="212121"/>
                </a:solidFill>
                <a:latin typeface="Calibri" pitchFamily="34" charset="0"/>
                <a:ea typeface="Calibri" pitchFamily="34" charset="-122"/>
                <a:cs typeface="Calibri" pitchFamily="34" charset="-120"/>
              </a:rPr>
              <a:t>k = 3: en yakın üçü {0, 1, 0} → çoğunluk </a:t>
            </a:r>
            <a:r>
              <a:rPr lang="en-US" sz="1750" b="1" dirty="0">
                <a:solidFill>
                  <a:srgbClr val="212121"/>
                </a:solidFill>
                <a:latin typeface="Calibri" pitchFamily="34" charset="0"/>
                <a:ea typeface="Calibri" pitchFamily="34" charset="-122"/>
                <a:cs typeface="Calibri" pitchFamily="34" charset="-120"/>
              </a:rPr>
              <a:t>sınıf 0</a:t>
            </a:r>
            <a:r>
              <a:rPr lang="en-US" sz="1750" dirty="0">
                <a:solidFill>
                  <a:srgbClr val="212121"/>
                </a:solidFill>
                <a:latin typeface="Calibri" pitchFamily="34" charset="0"/>
                <a:ea typeface="Calibri" pitchFamily="34" charset="-122"/>
                <a:cs typeface="Calibri" pitchFamily="34" charset="-120"/>
              </a:rPr>
              <a:t> (2'ye 1)</a:t>
            </a:r>
            <a:endParaRPr lang="en-US" sz="1750" dirty="0"/>
          </a:p>
          <a:p>
            <a:pPr marL="342900" indent="-342900">
              <a:spcAft>
                <a:spcPts val="600"/>
              </a:spcAft>
              <a:buSzPct val="100000"/>
              <a:buFont typeface="+mj-lt"/>
              <a:buAutoNum type="arabicPeriod" startAt="1"/>
            </a:pPr>
            <a:r>
              <a:rPr lang="en-US" sz="1750" dirty="0">
                <a:solidFill>
                  <a:srgbClr val="212121"/>
                </a:solidFill>
                <a:latin typeface="Calibri" pitchFamily="34" charset="0"/>
                <a:ea typeface="Calibri" pitchFamily="34" charset="-122"/>
                <a:cs typeface="Calibri" pitchFamily="34" charset="-120"/>
              </a:rPr>
              <a:t>k = 1: en yakın tek komşu 0.45 → </a:t>
            </a:r>
            <a:r>
              <a:rPr lang="en-US" sz="1750" b="1" dirty="0">
                <a:solidFill>
                  <a:srgbClr val="212121"/>
                </a:solidFill>
                <a:latin typeface="Calibri" pitchFamily="34" charset="0"/>
                <a:ea typeface="Calibri" pitchFamily="34" charset="-122"/>
                <a:cs typeface="Calibri" pitchFamily="34" charset="-120"/>
              </a:rPr>
              <a:t>sınıf 0</a:t>
            </a:r>
            <a:endParaRPr lang="en-US" sz="1750" dirty="0"/>
          </a:p>
          <a:p>
            <a:pPr marL="342900" indent="-342900">
              <a:spcAft>
                <a:spcPts val="600"/>
              </a:spcAft>
              <a:buSzPct val="100000"/>
              <a:buFont typeface="+mj-lt"/>
              <a:buAutoNum type="arabicPeriod" startAt="1"/>
            </a:pPr>
            <a:r>
              <a:rPr lang="en-US" sz="1750" dirty="0">
                <a:solidFill>
                  <a:srgbClr val="212121"/>
                </a:solidFill>
                <a:latin typeface="Calibri" pitchFamily="34" charset="0"/>
                <a:ea typeface="Calibri" pitchFamily="34" charset="-122"/>
                <a:cs typeface="Calibri" pitchFamily="34" charset="-120"/>
              </a:rPr>
              <a:t>k = 5: {0, 0, 1, 1, 1} → sınıf 1 — k büyüdükçe karar çoğunluk sınıfına kayar</a:t>
            </a:r>
            <a:endParaRPr lang="en-US" sz="17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081553" y="2779776"/>
          <a:ext cx="4561503" cy="914400"/>
        </p:xfrm>
        <a:graphic>
          <a:graphicData uri="http://schemas.openxmlformats.org/drawingml/2006/table">
            <a:tbl>
              <a:tblPr/>
              <a:tblGrid>
                <a:gridCol w="760250"/>
                <a:gridCol w="950313"/>
                <a:gridCol w="2090689"/>
                <a:gridCol w="760250"/>
              </a:tblGrid>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xᵢ</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sınıf</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|0.47 − xᵢ|</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sıra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0.40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0.07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0.45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0.02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0.50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0.03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0.55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0.08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0.60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0.13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k = 3 → </a:t>
            </a:r>
            <a:r>
              <a:rPr lang="en-US" sz="1700" b="1" dirty="0">
                <a:solidFill>
                  <a:srgbClr val="212121"/>
                </a:solidFill>
                <a:latin typeface="Calibri" pitchFamily="34" charset="0"/>
                <a:ea typeface="Calibri" pitchFamily="34" charset="-122"/>
                <a:cs typeface="Calibri" pitchFamily="34" charset="-120"/>
              </a:rPr>
              <a:t>sınıf 0</a:t>
            </a:r>
            <a:r>
              <a:rPr lang="en-US" sz="1700" dirty="0">
                <a:solidFill>
                  <a:srgbClr val="212121"/>
                </a:solidFill>
                <a:latin typeface="Calibri" pitchFamily="34" charset="0"/>
                <a:ea typeface="Calibri" pitchFamily="34" charset="-122"/>
                <a:cs typeface="Calibri" pitchFamily="34" charset="-120"/>
              </a:rPr>
              <a:t>. k-NN </a:t>
            </a:r>
            <a:r>
              <a:rPr lang="en-US" sz="1700" b="1" dirty="0">
                <a:solidFill>
                  <a:srgbClr val="212121"/>
                </a:solidFill>
                <a:latin typeface="Calibri" pitchFamily="34" charset="0"/>
                <a:ea typeface="Calibri" pitchFamily="34" charset="-122"/>
                <a:cs typeface="Calibri" pitchFamily="34" charset="-120"/>
              </a:rPr>
              <a:t>eğitim yapmaz</a:t>
            </a:r>
            <a:r>
              <a:rPr lang="en-US" sz="1700" dirty="0">
                <a:solidFill>
                  <a:srgbClr val="212121"/>
                </a:solidFill>
                <a:latin typeface="Calibri" pitchFamily="34" charset="0"/>
                <a:ea typeface="Calibri" pitchFamily="34" charset="-122"/>
                <a:cs typeface="Calibri" pitchFamily="34" charset="-120"/>
              </a:rPr>
              <a:t> (tembel öğrenici); tahmin maliyeti O(n·p); ölçeklemeye duyarlı. Notebook: </a:t>
            </a:r>
            <a:r>
              <a:rPr lang="en-US" sz="1700" dirty="0">
                <a:solidFill>
                  <a:srgbClr val="455A64"/>
                </a:solidFill>
                <a:latin typeface="Courier New" pitchFamily="34" charset="0"/>
                <a:ea typeface="Courier New" pitchFamily="34" charset="-122"/>
                <a:cs typeface="Courier New" pitchFamily="34" charset="-120"/>
              </a:rPr>
              <a:t>KNeighborsClassifier(3)</a:t>
            </a:r>
            <a:r>
              <a:rPr lang="en-US" sz="1700" dirty="0">
                <a:solidFill>
                  <a:srgbClr val="212121"/>
                </a:solidFill>
                <a:latin typeface="Calibri" pitchFamily="34" charset="0"/>
                <a:ea typeface="Calibri" pitchFamily="34" charset="-122"/>
                <a:cs typeface="Calibri" pitchFamily="34" charset="-120"/>
              </a:rPr>
              <a:t> → 0.</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13: ML II: denetimli sınıflandırma</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Lojistik regresyon: sigmoid ve olasılık</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w = (2.0 [TATA var], 1.5 [GC]), b = −1.0. x₁ = (1, 0.6) ve x₂ = (0, 0.4) için P(promotör) nedir? x₁'in gerçek etiketi 1 ise log-kaybı nedir?</a:t>
            </a:r>
            <a:endParaRPr lang="en-US" sz="1800" dirty="0"/>
          </a:p>
        </p:txBody>
      </p:sp>
      <p:sp>
        <p:nvSpPr>
          <p:cNvPr id="6" name="Text 4"/>
          <p:cNvSpPr txBox="1"/>
          <p:nvPr/>
        </p:nvSpPr>
        <p:spPr>
          <a:xfrm>
            <a:off x="548640" y="2779776"/>
            <a:ext cx="5214375"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650" dirty="0">
                <a:solidFill>
                  <a:srgbClr val="212121"/>
                </a:solidFill>
                <a:latin typeface="Calibri" pitchFamily="34" charset="0"/>
                <a:ea typeface="Calibri" pitchFamily="34" charset="-122"/>
                <a:cs typeface="Calibri" pitchFamily="34" charset="-120"/>
              </a:rPr>
              <a:t>z₁ = 2.0·1 + 1.5·0.6 − 1.0 = 2 + 0.9 − 1 = </a:t>
            </a:r>
            <a:r>
              <a:rPr lang="en-US" sz="1650" b="1" dirty="0">
                <a:solidFill>
                  <a:srgbClr val="212121"/>
                </a:solidFill>
                <a:latin typeface="Calibri" pitchFamily="34" charset="0"/>
                <a:ea typeface="Calibri" pitchFamily="34" charset="-122"/>
                <a:cs typeface="Calibri" pitchFamily="34" charset="-120"/>
              </a:rPr>
              <a:t>1.9</a:t>
            </a:r>
            <a:endParaRPr lang="en-US" sz="1650" dirty="0"/>
          </a:p>
          <a:p>
            <a:pPr marL="342900" indent="-342900">
              <a:spcAft>
                <a:spcPts val="600"/>
              </a:spcAft>
              <a:buSzPct val="100000"/>
              <a:buFont typeface="+mj-lt"/>
              <a:buAutoNum type="arabicPeriod" startAt="1"/>
            </a:pPr>
            <a:r>
              <a:rPr lang="en-US" sz="1650" dirty="0">
                <a:solidFill>
                  <a:srgbClr val="212121"/>
                </a:solidFill>
                <a:latin typeface="Calibri" pitchFamily="34" charset="0"/>
                <a:ea typeface="Calibri" pitchFamily="34" charset="-122"/>
                <a:cs typeface="Calibri" pitchFamily="34" charset="-120"/>
              </a:rPr>
              <a:t>p₁ = σ(1.9) = 1 / (1 + e⁻¹·⁹) = 1 / 1.150 = </a:t>
            </a:r>
            <a:r>
              <a:rPr lang="en-US" sz="1650" b="1" dirty="0">
                <a:solidFill>
                  <a:srgbClr val="212121"/>
                </a:solidFill>
                <a:latin typeface="Calibri" pitchFamily="34" charset="0"/>
                <a:ea typeface="Calibri" pitchFamily="34" charset="-122"/>
                <a:cs typeface="Calibri" pitchFamily="34" charset="-120"/>
              </a:rPr>
              <a:t>0.870</a:t>
            </a:r>
            <a:r>
              <a:rPr lang="en-US" sz="1650" dirty="0">
                <a:solidFill>
                  <a:srgbClr val="212121"/>
                </a:solidFill>
                <a:latin typeface="Calibri" pitchFamily="34" charset="0"/>
                <a:ea typeface="Calibri" pitchFamily="34" charset="-122"/>
                <a:cs typeface="Calibri" pitchFamily="34" charset="-120"/>
              </a:rPr>
              <a:t> → promotör</a:t>
            </a:r>
            <a:endParaRPr lang="en-US" sz="1650" dirty="0"/>
          </a:p>
          <a:p>
            <a:pPr marL="342900" indent="-342900">
              <a:spcAft>
                <a:spcPts val="600"/>
              </a:spcAft>
              <a:buSzPct val="100000"/>
              <a:buFont typeface="+mj-lt"/>
              <a:buAutoNum type="arabicPeriod" startAt="1"/>
            </a:pPr>
            <a:r>
              <a:rPr lang="en-US" sz="1650" dirty="0">
                <a:solidFill>
                  <a:srgbClr val="212121"/>
                </a:solidFill>
                <a:latin typeface="Calibri" pitchFamily="34" charset="0"/>
                <a:ea typeface="Calibri" pitchFamily="34" charset="-122"/>
                <a:cs typeface="Calibri" pitchFamily="34" charset="-120"/>
              </a:rPr>
              <a:t>z₂ = 0 + 1.5·0.4 − 1 = </a:t>
            </a:r>
            <a:r>
              <a:rPr lang="en-US" sz="1650" b="1" dirty="0">
                <a:solidFill>
                  <a:srgbClr val="212121"/>
                </a:solidFill>
                <a:latin typeface="Calibri" pitchFamily="34" charset="0"/>
                <a:ea typeface="Calibri" pitchFamily="34" charset="-122"/>
                <a:cs typeface="Calibri" pitchFamily="34" charset="-120"/>
              </a:rPr>
              <a:t>−0.4</a:t>
            </a:r>
            <a:r>
              <a:rPr lang="en-US" sz="1650" dirty="0">
                <a:solidFill>
                  <a:srgbClr val="212121"/>
                </a:solidFill>
                <a:latin typeface="Calibri" pitchFamily="34" charset="0"/>
                <a:ea typeface="Calibri" pitchFamily="34" charset="-122"/>
                <a:cs typeface="Calibri" pitchFamily="34" charset="-120"/>
              </a:rPr>
              <a:t> → p₂ = 1 / (1 + e⁰·⁴) = </a:t>
            </a:r>
            <a:r>
              <a:rPr lang="en-US" sz="1650" b="1" dirty="0">
                <a:solidFill>
                  <a:srgbClr val="212121"/>
                </a:solidFill>
                <a:latin typeface="Calibri" pitchFamily="34" charset="0"/>
                <a:ea typeface="Calibri" pitchFamily="34" charset="-122"/>
                <a:cs typeface="Calibri" pitchFamily="34" charset="-120"/>
              </a:rPr>
              <a:t>0.401</a:t>
            </a:r>
            <a:r>
              <a:rPr lang="en-US" sz="1650" dirty="0">
                <a:solidFill>
                  <a:srgbClr val="212121"/>
                </a:solidFill>
                <a:latin typeface="Calibri" pitchFamily="34" charset="0"/>
                <a:ea typeface="Calibri" pitchFamily="34" charset="-122"/>
                <a:cs typeface="Calibri" pitchFamily="34" charset="-120"/>
              </a:rPr>
              <a:t> → değil</a:t>
            </a:r>
            <a:endParaRPr lang="en-US" sz="1650" dirty="0"/>
          </a:p>
          <a:p>
            <a:pPr marL="342900" indent="-342900">
              <a:spcAft>
                <a:spcPts val="600"/>
              </a:spcAft>
              <a:buSzPct val="100000"/>
              <a:buFont typeface="+mj-lt"/>
              <a:buAutoNum type="arabicPeriod" startAt="1"/>
            </a:pPr>
            <a:r>
              <a:rPr lang="en-US" sz="1650" dirty="0">
                <a:solidFill>
                  <a:srgbClr val="212121"/>
                </a:solidFill>
                <a:latin typeface="Calibri" pitchFamily="34" charset="0"/>
                <a:ea typeface="Calibri" pitchFamily="34" charset="-122"/>
                <a:cs typeface="Calibri" pitchFamily="34" charset="-120"/>
              </a:rPr>
              <a:t>Log-kayıp: L = −[y·ln p + (1 − y)·ln(1 − p)]</a:t>
            </a:r>
            <a:endParaRPr lang="en-US" sz="1650" dirty="0"/>
          </a:p>
          <a:p>
            <a:pPr marL="342900" indent="-342900">
              <a:spcAft>
                <a:spcPts val="600"/>
              </a:spcAft>
              <a:buSzPct val="100000"/>
              <a:buFont typeface="+mj-lt"/>
              <a:buAutoNum type="arabicPeriod" startAt="1"/>
            </a:pPr>
            <a:r>
              <a:rPr lang="en-US" sz="1650" dirty="0">
                <a:solidFill>
                  <a:srgbClr val="212121"/>
                </a:solidFill>
                <a:latin typeface="Calibri" pitchFamily="34" charset="0"/>
                <a:ea typeface="Calibri" pitchFamily="34" charset="-122"/>
                <a:cs typeface="Calibri" pitchFamily="34" charset="-120"/>
              </a:rPr>
              <a:t>y₁ = 1: L = −ln 0.870 = </a:t>
            </a:r>
            <a:r>
              <a:rPr lang="en-US" sz="1650" b="1" dirty="0">
                <a:solidFill>
                  <a:srgbClr val="212121"/>
                </a:solidFill>
                <a:latin typeface="Calibri" pitchFamily="34" charset="0"/>
                <a:ea typeface="Calibri" pitchFamily="34" charset="-122"/>
                <a:cs typeface="Calibri" pitchFamily="34" charset="-120"/>
              </a:rPr>
              <a:t>0.139</a:t>
            </a:r>
            <a:r>
              <a:rPr lang="en-US" sz="1650" dirty="0">
                <a:solidFill>
                  <a:srgbClr val="212121"/>
                </a:solidFill>
                <a:latin typeface="Calibri" pitchFamily="34" charset="0"/>
                <a:ea typeface="Calibri" pitchFamily="34" charset="-122"/>
                <a:cs typeface="Calibri" pitchFamily="34" charset="-120"/>
              </a:rPr>
              <a:t>; x₂'nin etiketi 1 olsaydı L = −ln 0.401 = 0.913</a:t>
            </a:r>
            <a:endParaRPr lang="en-US" sz="1650" dirty="0"/>
          </a:p>
        </p:txBody>
      </p:sp>
      <p:pic>
        <p:nvPicPr>
          <p:cNvPr id="7" name="Image 0" descr="p13_sigmoid.png">    </p:cNvPr>
          <p:cNvPicPr>
            <a:picLocks noChangeAspect="1"/>
          </p:cNvPicPr>
          <p:nvPr/>
        </p:nvPicPr>
        <p:blipFill>
          <a:blip r:embed="rId1"/>
          <a:stretch>
            <a:fillRect/>
          </a:stretch>
        </p:blipFill>
        <p:spPr>
          <a:xfrm>
            <a:off x="6938102" y="2779776"/>
            <a:ext cx="3849907" cy="2615184"/>
          </a:xfrm>
          <a:prstGeom prst="rect">
            <a:avLst/>
          </a:prstGeom>
        </p:spPr>
      </p:pic>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p₁ = 0.870, p₂ = 0.401; kayıp 0.139. Karar sınırı z = 0 (p = 0.5): 2·TATA + 1.5·GC = 1 </a:t>
            </a:r>
            <a:r>
              <a:rPr lang="en-US" sz="1700" b="1" dirty="0">
                <a:solidFill>
                  <a:srgbClr val="212121"/>
                </a:solidFill>
                <a:latin typeface="Calibri" pitchFamily="34" charset="0"/>
                <a:ea typeface="Calibri" pitchFamily="34" charset="-122"/>
                <a:cs typeface="Calibri" pitchFamily="34" charset="-120"/>
              </a:rPr>
              <a:t>doğrusal</a:t>
            </a:r>
            <a:r>
              <a:rPr lang="en-US" sz="1700" dirty="0">
                <a:solidFill>
                  <a:srgbClr val="212121"/>
                </a:solidFill>
                <a:latin typeface="Calibri" pitchFamily="34" charset="0"/>
                <a:ea typeface="Calibri" pitchFamily="34" charset="-122"/>
                <a:cs typeface="Calibri" pitchFamily="34" charset="-120"/>
              </a:rPr>
              <a:t> bir sınırdır.</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13: ML II: denetimli sınıflandırma</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Lojistik regresyon: bir gradyan adımı</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Önceki örnekte x₁ = (1, 0.6), y = 1, p = 0.870. Öğrenme hızı η = 1 ile bir gradyan iniş adımı atın; yeni p ve kayıp ne olur?</a:t>
            </a:r>
            <a:endParaRPr lang="en-US" sz="1800" dirty="0"/>
          </a:p>
        </p:txBody>
      </p:sp>
      <p:sp>
        <p:nvSpPr>
          <p:cNvPr id="6" name="Text 4"/>
          <p:cNvSpPr txBox="1"/>
          <p:nvPr/>
        </p:nvSpPr>
        <p:spPr>
          <a:xfrm>
            <a:off x="548640" y="2779776"/>
            <a:ext cx="6434761"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750" dirty="0">
                <a:solidFill>
                  <a:srgbClr val="212121"/>
                </a:solidFill>
                <a:latin typeface="Calibri" pitchFamily="34" charset="0"/>
                <a:ea typeface="Calibri" pitchFamily="34" charset="-122"/>
                <a:cs typeface="Calibri" pitchFamily="34" charset="-120"/>
              </a:rPr>
              <a:t>Log-kaybın gradyanı: ∂L/∂w = (p − y)·x, ∂L/∂b = (p − y)</a:t>
            </a:r>
            <a:endParaRPr lang="en-US" sz="1750" dirty="0"/>
          </a:p>
          <a:p>
            <a:pPr marL="342900" indent="-342900">
              <a:spcAft>
                <a:spcPts val="600"/>
              </a:spcAft>
              <a:buSzPct val="100000"/>
              <a:buFont typeface="+mj-lt"/>
              <a:buAutoNum type="arabicPeriod" startAt="1"/>
            </a:pPr>
            <a:r>
              <a:rPr lang="en-US" sz="1750" dirty="0">
                <a:solidFill>
                  <a:srgbClr val="212121"/>
                </a:solidFill>
                <a:latin typeface="Calibri" pitchFamily="34" charset="0"/>
                <a:ea typeface="Calibri" pitchFamily="34" charset="-122"/>
                <a:cs typeface="Calibri" pitchFamily="34" charset="-120"/>
              </a:rPr>
              <a:t>p − y = 0.870 − 1 = </a:t>
            </a:r>
            <a:r>
              <a:rPr lang="en-US" sz="1750" b="1" dirty="0">
                <a:solidFill>
                  <a:srgbClr val="212121"/>
                </a:solidFill>
                <a:latin typeface="Calibri" pitchFamily="34" charset="0"/>
                <a:ea typeface="Calibri" pitchFamily="34" charset="-122"/>
                <a:cs typeface="Calibri" pitchFamily="34" charset="-120"/>
              </a:rPr>
              <a:t>−0.130</a:t>
            </a:r>
            <a:endParaRPr lang="en-US" sz="1750" dirty="0"/>
          </a:p>
          <a:p>
            <a:pPr marL="342900" indent="-342900">
              <a:spcAft>
                <a:spcPts val="600"/>
              </a:spcAft>
              <a:buSzPct val="100000"/>
              <a:buFont typeface="+mj-lt"/>
              <a:buAutoNum type="arabicPeriod" startAt="1"/>
            </a:pPr>
            <a:r>
              <a:rPr lang="en-US" sz="1750" dirty="0">
                <a:solidFill>
                  <a:srgbClr val="212121"/>
                </a:solidFill>
                <a:latin typeface="Calibri" pitchFamily="34" charset="0"/>
                <a:ea typeface="Calibri" pitchFamily="34" charset="-122"/>
                <a:cs typeface="Calibri" pitchFamily="34" charset="-120"/>
              </a:rPr>
              <a:t>∂L/∂w = −0.130·(1, 0.6) = (−0.130, −0.078); ∂L/∂b = −0.130</a:t>
            </a:r>
            <a:endParaRPr lang="en-US" sz="1750" dirty="0"/>
          </a:p>
          <a:p>
            <a:pPr marL="342900" indent="-342900">
              <a:spcAft>
                <a:spcPts val="600"/>
              </a:spcAft>
              <a:buSzPct val="100000"/>
              <a:buFont typeface="+mj-lt"/>
              <a:buAutoNum type="arabicPeriod" startAt="1"/>
            </a:pPr>
            <a:r>
              <a:rPr lang="en-US" sz="1750" dirty="0">
                <a:solidFill>
                  <a:srgbClr val="212121"/>
                </a:solidFill>
                <a:latin typeface="Calibri" pitchFamily="34" charset="0"/>
                <a:ea typeface="Calibri" pitchFamily="34" charset="-122"/>
                <a:cs typeface="Calibri" pitchFamily="34" charset="-120"/>
              </a:rPr>
              <a:t>Güncelle w ← w − η·∇: w = (2.130, 1.578), b = −0.870</a:t>
            </a:r>
            <a:endParaRPr lang="en-US" sz="1750" dirty="0"/>
          </a:p>
          <a:p>
            <a:pPr marL="342900" indent="-342900">
              <a:spcAft>
                <a:spcPts val="600"/>
              </a:spcAft>
              <a:buSzPct val="100000"/>
              <a:buFont typeface="+mj-lt"/>
              <a:buAutoNum type="arabicPeriod" startAt="1"/>
            </a:pPr>
            <a:r>
              <a:rPr lang="en-US" sz="1750" dirty="0">
                <a:solidFill>
                  <a:srgbClr val="212121"/>
                </a:solidFill>
                <a:latin typeface="Calibri" pitchFamily="34" charset="0"/>
                <a:ea typeface="Calibri" pitchFamily="34" charset="-122"/>
                <a:cs typeface="Calibri" pitchFamily="34" charset="-120"/>
              </a:rPr>
              <a:t>Yeni z = 2.130 + 1.578·0.6 − 0.870 = </a:t>
            </a:r>
            <a:r>
              <a:rPr lang="en-US" sz="1750" b="1" dirty="0">
                <a:solidFill>
                  <a:srgbClr val="212121"/>
                </a:solidFill>
                <a:latin typeface="Calibri" pitchFamily="34" charset="0"/>
                <a:ea typeface="Calibri" pitchFamily="34" charset="-122"/>
                <a:cs typeface="Calibri" pitchFamily="34" charset="-120"/>
              </a:rPr>
              <a:t>2.207</a:t>
            </a:r>
            <a:r>
              <a:rPr lang="en-US" sz="1750" dirty="0">
                <a:solidFill>
                  <a:srgbClr val="212121"/>
                </a:solidFill>
                <a:latin typeface="Calibri" pitchFamily="34" charset="0"/>
                <a:ea typeface="Calibri" pitchFamily="34" charset="-122"/>
                <a:cs typeface="Calibri" pitchFamily="34" charset="-120"/>
              </a:rPr>
              <a:t> → p = </a:t>
            </a:r>
            <a:r>
              <a:rPr lang="en-US" sz="1750" b="1" dirty="0">
                <a:solidFill>
                  <a:srgbClr val="212121"/>
                </a:solidFill>
                <a:latin typeface="Calibri" pitchFamily="34" charset="0"/>
                <a:ea typeface="Calibri" pitchFamily="34" charset="-122"/>
                <a:cs typeface="Calibri" pitchFamily="34" charset="-120"/>
              </a:rPr>
              <a:t>0.901</a:t>
            </a:r>
            <a:endParaRPr lang="en-US" sz="1750" dirty="0"/>
          </a:p>
          <a:p>
            <a:pPr marL="342900" indent="-342900">
              <a:spcAft>
                <a:spcPts val="600"/>
              </a:spcAft>
              <a:buSzPct val="100000"/>
              <a:buFont typeface="+mj-lt"/>
              <a:buAutoNum type="arabicPeriod" startAt="1"/>
            </a:pPr>
            <a:r>
              <a:rPr lang="en-US" sz="1750" dirty="0">
                <a:solidFill>
                  <a:srgbClr val="212121"/>
                </a:solidFill>
                <a:latin typeface="Calibri" pitchFamily="34" charset="0"/>
                <a:ea typeface="Calibri" pitchFamily="34" charset="-122"/>
                <a:cs typeface="Calibri" pitchFamily="34" charset="-120"/>
              </a:rPr>
              <a:t>Yeni kayıp = −ln 0.901 = </a:t>
            </a:r>
            <a:r>
              <a:rPr lang="en-US" sz="1750" b="1" dirty="0">
                <a:solidFill>
                  <a:srgbClr val="212121"/>
                </a:solidFill>
                <a:latin typeface="Calibri" pitchFamily="34" charset="0"/>
                <a:ea typeface="Calibri" pitchFamily="34" charset="-122"/>
                <a:cs typeface="Calibri" pitchFamily="34" charset="-120"/>
              </a:rPr>
              <a:t>0.104</a:t>
            </a:r>
            <a:r>
              <a:rPr lang="en-US" sz="1750" dirty="0">
                <a:solidFill>
                  <a:srgbClr val="212121"/>
                </a:solidFill>
                <a:latin typeface="Calibri" pitchFamily="34" charset="0"/>
                <a:ea typeface="Calibri" pitchFamily="34" charset="-122"/>
                <a:cs typeface="Calibri" pitchFamily="34" charset="-120"/>
              </a:rPr>
              <a:t> (önce 0.139)</a:t>
            </a:r>
            <a:endParaRPr lang="en-US" sz="17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303441" y="2779776"/>
          <a:ext cx="4339614" cy="914400"/>
        </p:xfrm>
        <a:graphic>
          <a:graphicData uri="http://schemas.openxmlformats.org/drawingml/2006/table">
            <a:tbl>
              <a:tblPr/>
              <a:tblGrid>
                <a:gridCol w="1859835"/>
                <a:gridCol w="1239890"/>
                <a:gridCol w="1239890"/>
              </a:tblGrid>
              <a:tr h="0">
                <a:tc>
                  <a:txBody>
                    <a:bodyPr/>
                    <a:lstStyle/>
                    <a:p>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Önce</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Sonra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w₁ (TATA)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2.000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2.130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w₂ (GC)</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1.500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1.578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b</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−1.000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−0.870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z</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1.900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2.207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p</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0.870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0.901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kayıp</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0.139</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0.104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Gradyan adımı doğru sınıfın olasılığını artırdı ve kaybı düşürdü. </a:t>
            </a:r>
            <a:r>
              <a:rPr lang="en-US" sz="1700" dirty="0">
                <a:solidFill>
                  <a:srgbClr val="455A64"/>
                </a:solidFill>
                <a:latin typeface="Courier New" pitchFamily="34" charset="0"/>
                <a:ea typeface="Courier New" pitchFamily="34" charset="-122"/>
                <a:cs typeface="Courier New" pitchFamily="34" charset="-120"/>
              </a:rPr>
              <a:t>LogisticRegression.fit</a:t>
            </a:r>
            <a:r>
              <a:rPr lang="en-US" sz="1700" dirty="0">
                <a:solidFill>
                  <a:srgbClr val="212121"/>
                </a:solidFill>
                <a:latin typeface="Calibri" pitchFamily="34" charset="0"/>
                <a:ea typeface="Calibri" pitchFamily="34" charset="-122"/>
                <a:cs typeface="Calibri" pitchFamily="34" charset="-120"/>
              </a:rPr>
              <a:t> bunu tüm örnekler üzerinde yakınsayana kadar yapar (düzenlileştirme C ile).</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13: ML II: denetimli sınıflandırma</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Karar ağacı: Gini ile en iyi bölmeyi seçmek</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Düğümde 10 promotör, 10 değil. Aday bölmeler: (A) "TATA var mı?" → 8+/2− ve 2+/8−; (B) "GC-kutusu var mı?" → 5+/0− ve 5+/10−. Hangisi seçilir?</a:t>
            </a:r>
            <a:endParaRPr lang="en-US" sz="1800" dirty="0"/>
          </a:p>
        </p:txBody>
      </p:sp>
      <p:sp>
        <p:nvSpPr>
          <p:cNvPr id="6" name="Text 4"/>
          <p:cNvSpPr txBox="1"/>
          <p:nvPr/>
        </p:nvSpPr>
        <p:spPr>
          <a:xfrm>
            <a:off x="548640" y="2779776"/>
            <a:ext cx="5214375"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Gini: G = 1 − Σ pₖ²; kök: 1 − 0.5² − 0.5² = </a:t>
            </a:r>
            <a:r>
              <a:rPr lang="en-US" sz="1550" b="1" dirty="0">
                <a:solidFill>
                  <a:srgbClr val="212121"/>
                </a:solidFill>
                <a:latin typeface="Calibri" pitchFamily="34" charset="0"/>
                <a:ea typeface="Calibri" pitchFamily="34" charset="-122"/>
                <a:cs typeface="Calibri" pitchFamily="34" charset="-120"/>
              </a:rPr>
              <a:t>0.5</a:t>
            </a:r>
            <a:endParaRPr lang="en-US" sz="1550" dirty="0"/>
          </a:p>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(A) sol 8+/2−: 1 − 0.8² − 0.2² = 0.32; sağ 2+/8−: 0.32 → ağırlıklı 0.32</a:t>
            </a:r>
            <a:endParaRPr lang="en-US" sz="1550" dirty="0"/>
          </a:p>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(A) kazanç = 0.5 − 0.32 = </a:t>
            </a:r>
            <a:r>
              <a:rPr lang="en-US" sz="1550" b="1" dirty="0">
                <a:solidFill>
                  <a:srgbClr val="212121"/>
                </a:solidFill>
                <a:latin typeface="Calibri" pitchFamily="34" charset="0"/>
                <a:ea typeface="Calibri" pitchFamily="34" charset="-122"/>
                <a:cs typeface="Calibri" pitchFamily="34" charset="-120"/>
              </a:rPr>
              <a:t>0.180</a:t>
            </a:r>
            <a:endParaRPr lang="en-US" sz="1550" dirty="0"/>
          </a:p>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(B) sol 5+/0−: G = 0 (saf); sağ 5+/10−: 1 − (1/3)² − (2/3)² = 0.444</a:t>
            </a:r>
            <a:endParaRPr lang="en-US" sz="1550" dirty="0"/>
          </a:p>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(B) ağırlıklı = (5/20)·0 + (15/20)·0.444 = 0.333 → kazanç = </a:t>
            </a:r>
            <a:r>
              <a:rPr lang="en-US" sz="1550" b="1" dirty="0">
                <a:solidFill>
                  <a:srgbClr val="212121"/>
                </a:solidFill>
                <a:latin typeface="Calibri" pitchFamily="34" charset="0"/>
                <a:ea typeface="Calibri" pitchFamily="34" charset="-122"/>
                <a:cs typeface="Calibri" pitchFamily="34" charset="-120"/>
              </a:rPr>
              <a:t>0.167</a:t>
            </a:r>
            <a:endParaRPr lang="en-US" sz="1550" dirty="0"/>
          </a:p>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0.180 &gt; 0.167 → </a:t>
            </a:r>
            <a:r>
              <a:rPr lang="en-US" sz="1550" b="1" dirty="0">
                <a:solidFill>
                  <a:srgbClr val="212121"/>
                </a:solidFill>
                <a:latin typeface="Calibri" pitchFamily="34" charset="0"/>
                <a:ea typeface="Calibri" pitchFamily="34" charset="-122"/>
                <a:cs typeface="Calibri" pitchFamily="34" charset="-120"/>
              </a:rPr>
              <a:t>(A) TATA bölmesi</a:t>
            </a:r>
            <a:r>
              <a:rPr lang="en-US" sz="1550" dirty="0">
                <a:solidFill>
                  <a:srgbClr val="212121"/>
                </a:solidFill>
                <a:latin typeface="Calibri" pitchFamily="34" charset="0"/>
                <a:ea typeface="Calibri" pitchFamily="34" charset="-122"/>
                <a:cs typeface="Calibri" pitchFamily="34" charset="-120"/>
              </a:rPr>
              <a:t> seçilir</a:t>
            </a:r>
            <a:endParaRPr lang="en-US" sz="15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083055" y="2779776"/>
          <a:ext cx="5560000" cy="914400"/>
        </p:xfrm>
        <a:graphic>
          <a:graphicData uri="http://schemas.openxmlformats.org/drawingml/2006/table">
            <a:tbl>
              <a:tblPr/>
              <a:tblGrid>
                <a:gridCol w="1226471"/>
                <a:gridCol w="1144706"/>
                <a:gridCol w="1308235"/>
                <a:gridCol w="981176"/>
                <a:gridCol w="899412"/>
              </a:tblGrid>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Bölme</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Sol</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Sağ</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Ağırl. G</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Kazanç</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 TATA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8+/2− (0.32)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2+/8− (0.32)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0.320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0.180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(B) GC-kutusu</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5+/0− (0)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5+/10− (0.444)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0.333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0.167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Saf bir yaprak üretmesine rağmen (B) daha az kazanç sağlar; ağaç </a:t>
            </a:r>
            <a:r>
              <a:rPr lang="en-US" sz="1700" b="1" dirty="0">
                <a:solidFill>
                  <a:srgbClr val="212121"/>
                </a:solidFill>
                <a:latin typeface="Calibri" pitchFamily="34" charset="0"/>
                <a:ea typeface="Calibri" pitchFamily="34" charset="-122"/>
                <a:cs typeface="Calibri" pitchFamily="34" charset="-120"/>
              </a:rPr>
              <a:t>açgözlü</a:t>
            </a:r>
            <a:r>
              <a:rPr lang="en-US" sz="1700" dirty="0">
                <a:solidFill>
                  <a:srgbClr val="212121"/>
                </a:solidFill>
                <a:latin typeface="Calibri" pitchFamily="34" charset="0"/>
                <a:ea typeface="Calibri" pitchFamily="34" charset="-122"/>
                <a:cs typeface="Calibri" pitchFamily="34" charset="-120"/>
              </a:rPr>
              <a:t> olarak her düğümde en büyük kazancı seçer.</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13: ML II: denetimli sınıflandırma</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Gerçek ağacın kök bölmesi</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Notebook'taki derinlik 3 ağacının kökü: 1600 örnek [800 değil, 800 promotör]. </a:t>
            </a:r>
            <a:r>
              <a:rPr lang="en-US" sz="1800" dirty="0">
                <a:solidFill>
                  <a:srgbClr val="455A64"/>
                </a:solidFill>
                <a:latin typeface="Courier New" pitchFamily="34" charset="0"/>
                <a:ea typeface="Courier New" pitchFamily="34" charset="-122"/>
                <a:cs typeface="Courier New" pitchFamily="34" charset="-120"/>
              </a:rPr>
              <a:t>GC_kutusu ≤ 0.5</a:t>
            </a:r>
            <a:r>
              <a:rPr lang="en-US" sz="1800" dirty="0">
                <a:solidFill>
                  <a:srgbClr val="212121"/>
                </a:solidFill>
                <a:latin typeface="Calibri" pitchFamily="34" charset="0"/>
                <a:ea typeface="Calibri" pitchFamily="34" charset="-122"/>
                <a:cs typeface="Calibri" pitchFamily="34" charset="-120"/>
              </a:rPr>
              <a:t> bölmesi sol: [788, 378], sağ: [12, 422]. Gini değerlerini ve kazancı doğrulayın.</a:t>
            </a:r>
            <a:endParaRPr lang="en-US" sz="1800" dirty="0"/>
          </a:p>
        </p:txBody>
      </p:sp>
      <p:sp>
        <p:nvSpPr>
          <p:cNvPr id="6" name="Text 4"/>
          <p:cNvSpPr txBox="1"/>
          <p:nvPr/>
        </p:nvSpPr>
        <p:spPr>
          <a:xfrm>
            <a:off x="548640" y="2779776"/>
            <a:ext cx="6434761"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Kök: G = 1 − 0.5² − 0.5² = </a:t>
            </a:r>
            <a:r>
              <a:rPr lang="en-US" sz="1800" b="1" dirty="0">
                <a:solidFill>
                  <a:srgbClr val="212121"/>
                </a:solidFill>
                <a:latin typeface="Calibri" pitchFamily="34" charset="0"/>
                <a:ea typeface="Calibri" pitchFamily="34" charset="-122"/>
                <a:cs typeface="Calibri" pitchFamily="34" charset="-120"/>
              </a:rPr>
              <a:t>0.5</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Sol (GC-kutusu yok, 1166): 1 − (788/1166)² − (378/1166)² = 1 − 0.457 − 0.105 = </a:t>
            </a:r>
            <a:r>
              <a:rPr lang="en-US" sz="1800" b="1" dirty="0">
                <a:solidFill>
                  <a:srgbClr val="212121"/>
                </a:solidFill>
                <a:latin typeface="Calibri" pitchFamily="34" charset="0"/>
                <a:ea typeface="Calibri" pitchFamily="34" charset="-122"/>
                <a:cs typeface="Calibri" pitchFamily="34" charset="-120"/>
              </a:rPr>
              <a:t>0.438</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Sağ (GC-kutusu var, 434): 1 − (12/434)² − (422/434)² = </a:t>
            </a:r>
            <a:r>
              <a:rPr lang="en-US" sz="1800" b="1" dirty="0">
                <a:solidFill>
                  <a:srgbClr val="212121"/>
                </a:solidFill>
                <a:latin typeface="Calibri" pitchFamily="34" charset="0"/>
                <a:ea typeface="Calibri" pitchFamily="34" charset="-122"/>
                <a:cs typeface="Calibri" pitchFamily="34" charset="-120"/>
              </a:rPr>
              <a:t>0.054</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Ağırlıklı: (1166·0.438 + 434·0.054) / 1600 = </a:t>
            </a:r>
            <a:r>
              <a:rPr lang="en-US" sz="1800" b="1" dirty="0">
                <a:solidFill>
                  <a:srgbClr val="212121"/>
                </a:solidFill>
                <a:latin typeface="Calibri" pitchFamily="34" charset="0"/>
                <a:ea typeface="Calibri" pitchFamily="34" charset="-122"/>
                <a:cs typeface="Calibri" pitchFamily="34" charset="-120"/>
              </a:rPr>
              <a:t>0.334</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Kazanç = 0.5 − 0.334 = </a:t>
            </a:r>
            <a:r>
              <a:rPr lang="en-US" sz="1800" b="1" dirty="0">
                <a:solidFill>
                  <a:srgbClr val="212121"/>
                </a:solidFill>
                <a:latin typeface="Calibri" pitchFamily="34" charset="0"/>
                <a:ea typeface="Calibri" pitchFamily="34" charset="-122"/>
                <a:cs typeface="Calibri" pitchFamily="34" charset="-120"/>
              </a:rPr>
              <a:t>0.166</a:t>
            </a:r>
            <a:r>
              <a:rPr lang="en-US" sz="1800" dirty="0">
                <a:solidFill>
                  <a:srgbClr val="212121"/>
                </a:solidFill>
                <a:latin typeface="Calibri" pitchFamily="34" charset="0"/>
                <a:ea typeface="Calibri" pitchFamily="34" charset="-122"/>
                <a:cs typeface="Calibri" pitchFamily="34" charset="-120"/>
              </a:rPr>
              <a:t> → en iyi ilk bölme</a:t>
            </a:r>
            <a:endParaRPr lang="en-US" sz="1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303441" y="2779776"/>
          <a:ext cx="4339614" cy="914400"/>
        </p:xfrm>
        <a:graphic>
          <a:graphicData uri="http://schemas.openxmlformats.org/drawingml/2006/table">
            <a:tbl>
              <a:tblPr/>
              <a:tblGrid>
                <a:gridCol w="771352"/>
                <a:gridCol w="637124"/>
                <a:gridCol w="2159786"/>
                <a:gridCol w="771352"/>
              </a:tblGrid>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Düğüm</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n</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[değil, prom.]</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Gini</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Kök</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1600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[800, 800]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0.500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Sol</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1166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[788, 378]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0.438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Sağ</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434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[12, 422]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0.054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GC-kutusu olan dizilerin %97'si (422/434) promotör: neredeyse saf yaprak. Kalan 378 promotör sol dalda ATT 3-meri ve TATA isabet sayısı (TATA_sayi) ile ayrılmaya çalışılır.</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13: ML II: denetimli sınıflandırma</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Rastgele orman: bootstrap ve oylama</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(a) n örnekten iadeli n çekişle oluşturulan bootstrap örneğinde belirli bir örneğin yer alma olasılığı nedir? (b) 5 ağacın bir dizi için oyları 1, 1, 0, 1, 0 ise tahmin nedir?</a:t>
            </a:r>
            <a:endParaRPr lang="en-US" sz="1800" dirty="0"/>
          </a:p>
        </p:txBody>
      </p:sp>
      <p:sp>
        <p:nvSpPr>
          <p:cNvPr id="6" name="Text 4"/>
          <p:cNvSpPr txBox="1"/>
          <p:nvPr/>
        </p:nvSpPr>
        <p:spPr>
          <a:xfrm>
            <a:off x="548640" y="2779776"/>
            <a:ext cx="6101928"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600" dirty="0">
                <a:solidFill>
                  <a:srgbClr val="212121"/>
                </a:solidFill>
                <a:latin typeface="Calibri" pitchFamily="34" charset="0"/>
                <a:ea typeface="Calibri" pitchFamily="34" charset="-122"/>
                <a:cs typeface="Calibri" pitchFamily="34" charset="-120"/>
              </a:rPr>
              <a:t>Bir çekişte seçilmeme olasılığı: 1 − 1/n; n çekişte: (1 − 1/n)ⁿ</a:t>
            </a:r>
            <a:endParaRPr lang="en-US" sz="1600" dirty="0"/>
          </a:p>
          <a:p>
            <a:pPr marL="342900" indent="-342900">
              <a:spcAft>
                <a:spcPts val="600"/>
              </a:spcAft>
              <a:buSzPct val="100000"/>
              <a:buFont typeface="+mj-lt"/>
              <a:buAutoNum type="arabicPeriod" startAt="1"/>
            </a:pPr>
            <a:r>
              <a:rPr lang="en-US" sz="1600" dirty="0">
                <a:solidFill>
                  <a:srgbClr val="212121"/>
                </a:solidFill>
                <a:latin typeface="Calibri" pitchFamily="34" charset="0"/>
                <a:ea typeface="Calibri" pitchFamily="34" charset="-122"/>
                <a:cs typeface="Calibri" pitchFamily="34" charset="-120"/>
              </a:rPr>
              <a:t>n = 5: yer alma = 1 − 0.8⁵ = 1 − 0.328 = </a:t>
            </a:r>
            <a:r>
              <a:rPr lang="en-US" sz="1600" b="1" dirty="0">
                <a:solidFill>
                  <a:srgbClr val="212121"/>
                </a:solidFill>
                <a:latin typeface="Calibri" pitchFamily="34" charset="0"/>
                <a:ea typeface="Calibri" pitchFamily="34" charset="-122"/>
                <a:cs typeface="Calibri" pitchFamily="34" charset="-120"/>
              </a:rPr>
              <a:t>0.672</a:t>
            </a:r>
            <a:endParaRPr lang="en-US" sz="1600" dirty="0"/>
          </a:p>
          <a:p>
            <a:pPr marL="342900" indent="-342900">
              <a:spcAft>
                <a:spcPts val="600"/>
              </a:spcAft>
              <a:buSzPct val="100000"/>
              <a:buFont typeface="+mj-lt"/>
              <a:buAutoNum type="arabicPeriod" startAt="1"/>
            </a:pPr>
            <a:r>
              <a:rPr lang="en-US" sz="1600" dirty="0">
                <a:solidFill>
                  <a:srgbClr val="212121"/>
                </a:solidFill>
                <a:latin typeface="Calibri" pitchFamily="34" charset="0"/>
                <a:ea typeface="Calibri" pitchFamily="34" charset="-122"/>
                <a:cs typeface="Calibri" pitchFamily="34" charset="-120"/>
              </a:rPr>
              <a:t>n → ∞: 1 − e⁻¹ = </a:t>
            </a:r>
            <a:r>
              <a:rPr lang="en-US" sz="1600" b="1" dirty="0">
                <a:solidFill>
                  <a:srgbClr val="212121"/>
                </a:solidFill>
                <a:latin typeface="Calibri" pitchFamily="34" charset="0"/>
                <a:ea typeface="Calibri" pitchFamily="34" charset="-122"/>
                <a:cs typeface="Calibri" pitchFamily="34" charset="-120"/>
              </a:rPr>
              <a:t>0.632</a:t>
            </a:r>
            <a:r>
              <a:rPr lang="en-US" sz="1600" dirty="0">
                <a:solidFill>
                  <a:srgbClr val="212121"/>
                </a:solidFill>
                <a:latin typeface="Calibri" pitchFamily="34" charset="0"/>
                <a:ea typeface="Calibri" pitchFamily="34" charset="-122"/>
                <a:cs typeface="Calibri" pitchFamily="34" charset="-120"/>
              </a:rPr>
              <a:t> → her ağaç verinin ≈ %63'ünü görür</a:t>
            </a:r>
            <a:endParaRPr lang="en-US" sz="1600" dirty="0"/>
          </a:p>
          <a:p>
            <a:pPr marL="342900" indent="-342900">
              <a:spcAft>
                <a:spcPts val="600"/>
              </a:spcAft>
              <a:buSzPct val="100000"/>
              <a:buFont typeface="+mj-lt"/>
              <a:buAutoNum type="arabicPeriod" startAt="1"/>
            </a:pPr>
            <a:r>
              <a:rPr lang="en-US" sz="1600" dirty="0">
                <a:solidFill>
                  <a:srgbClr val="212121"/>
                </a:solidFill>
                <a:latin typeface="Calibri" pitchFamily="34" charset="0"/>
                <a:ea typeface="Calibri" pitchFamily="34" charset="-122"/>
                <a:cs typeface="Calibri" pitchFamily="34" charset="-120"/>
              </a:rPr>
              <a:t>Kalan ≈ %37: </a:t>
            </a:r>
            <a:r>
              <a:rPr lang="en-US" sz="1600" b="1" dirty="0">
                <a:solidFill>
                  <a:srgbClr val="212121"/>
                </a:solidFill>
                <a:latin typeface="Calibri" pitchFamily="34" charset="0"/>
                <a:ea typeface="Calibri" pitchFamily="34" charset="-122"/>
                <a:cs typeface="Calibri" pitchFamily="34" charset="-120"/>
              </a:rPr>
              <a:t>torba dışı</a:t>
            </a:r>
            <a:r>
              <a:rPr lang="en-US" sz="1600" dirty="0">
                <a:solidFill>
                  <a:srgbClr val="212121"/>
                </a:solidFill>
                <a:latin typeface="Calibri" pitchFamily="34" charset="0"/>
                <a:ea typeface="Calibri" pitchFamily="34" charset="-122"/>
                <a:cs typeface="Calibri" pitchFamily="34" charset="-120"/>
              </a:rPr>
              <a:t> (OOB) örnekler → ücretsiz doğrulama</a:t>
            </a:r>
            <a:endParaRPr lang="en-US" sz="1600" dirty="0"/>
          </a:p>
          <a:p>
            <a:pPr marL="342900" indent="-342900">
              <a:spcAft>
                <a:spcPts val="600"/>
              </a:spcAft>
              <a:buSzPct val="100000"/>
              <a:buFont typeface="+mj-lt"/>
              <a:buAutoNum type="arabicPeriod" startAt="1"/>
            </a:pPr>
            <a:r>
              <a:rPr lang="en-US" sz="1600" dirty="0">
                <a:solidFill>
                  <a:srgbClr val="212121"/>
                </a:solidFill>
                <a:latin typeface="Calibri" pitchFamily="34" charset="0"/>
                <a:ea typeface="Calibri" pitchFamily="34" charset="-122"/>
                <a:cs typeface="Calibri" pitchFamily="34" charset="-120"/>
              </a:rPr>
              <a:t>(b) Oylar: 3 × "promotör", 2 × "değil" → </a:t>
            </a:r>
            <a:r>
              <a:rPr lang="en-US" sz="1600" b="1" dirty="0">
                <a:solidFill>
                  <a:srgbClr val="212121"/>
                </a:solidFill>
                <a:latin typeface="Calibri" pitchFamily="34" charset="0"/>
                <a:ea typeface="Calibri" pitchFamily="34" charset="-122"/>
                <a:cs typeface="Calibri" pitchFamily="34" charset="-120"/>
              </a:rPr>
              <a:t>promotör</a:t>
            </a:r>
            <a:r>
              <a:rPr lang="en-US" sz="1600" dirty="0">
                <a:solidFill>
                  <a:srgbClr val="212121"/>
                </a:solidFill>
                <a:latin typeface="Calibri" pitchFamily="34" charset="0"/>
                <a:ea typeface="Calibri" pitchFamily="34" charset="-122"/>
                <a:cs typeface="Calibri" pitchFamily="34" charset="-120"/>
              </a:rPr>
              <a:t>, olasılık = 3/5 = 0.6</a:t>
            </a:r>
            <a:endParaRPr lang="en-US" sz="1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970608" y="2779776"/>
          <a:ext cx="4672447" cy="914400"/>
        </p:xfrm>
        <a:graphic>
          <a:graphicData uri="http://schemas.openxmlformats.org/drawingml/2006/table">
            <a:tbl>
              <a:tblPr/>
              <a:tblGrid>
                <a:gridCol w="2175105"/>
                <a:gridCol w="2497342"/>
              </a:tblGrid>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Bileşen</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Rolü</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Bootstrap</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Her ağaca farklı veri</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Rastgele özellik alt kümesi</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Her bölmede √p özellik (≈ 8/67)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Oylama / ortalama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Varyansı düşürür</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Özellik önemi</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Gini azalışlarının toplamı</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Tek tek aşırı öğrenen, birbirinden </a:t>
            </a:r>
            <a:r>
              <a:rPr lang="en-US" sz="1700" b="1" dirty="0">
                <a:solidFill>
                  <a:srgbClr val="212121"/>
                </a:solidFill>
                <a:latin typeface="Calibri" pitchFamily="34" charset="0"/>
                <a:ea typeface="Calibri" pitchFamily="34" charset="-122"/>
                <a:cs typeface="Calibri" pitchFamily="34" charset="-120"/>
              </a:rPr>
              <a:t>farklı</a:t>
            </a:r>
            <a:r>
              <a:rPr lang="en-US" sz="1700" dirty="0">
                <a:solidFill>
                  <a:srgbClr val="212121"/>
                </a:solidFill>
                <a:latin typeface="Calibri" pitchFamily="34" charset="0"/>
                <a:ea typeface="Calibri" pitchFamily="34" charset="-122"/>
                <a:cs typeface="Calibri" pitchFamily="34" charset="-120"/>
              </a:rPr>
              <a:t> ağaçların ortalaması daha kararlıdır: RF eğitimde 1.000 ama testte </a:t>
            </a:r>
            <a:r>
              <a:rPr lang="en-US" sz="1700" b="1" dirty="0">
                <a:solidFill>
                  <a:srgbClr val="212121"/>
                </a:solidFill>
                <a:latin typeface="Calibri" pitchFamily="34" charset="0"/>
                <a:ea typeface="Calibri" pitchFamily="34" charset="-122"/>
                <a:cs typeface="Calibri" pitchFamily="34" charset="-120"/>
              </a:rPr>
              <a:t>0.815</a:t>
            </a:r>
            <a:r>
              <a:rPr lang="en-US" sz="1700" dirty="0">
                <a:solidFill>
                  <a:srgbClr val="212121"/>
                </a:solidFill>
                <a:latin typeface="Calibri" pitchFamily="34" charset="0"/>
                <a:ea typeface="Calibri" pitchFamily="34" charset="-122"/>
                <a:cs typeface="Calibri" pitchFamily="34" charset="-120"/>
              </a:rPr>
              <a:t> (tek ağaç 0.710).</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13: ML II: denetimli sınıflandırma</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Beş modeli aynı veriyle eğitmek</a:t>
            </a:r>
            <a:endParaRPr lang="en-US" sz="3000" dirty="0"/>
          </a:p>
        </p:txBody>
      </p:sp>
      <p:sp>
        <p:nvSpPr>
          <p:cNvPr id="3" name="Shape 1"/>
          <p:cNvSpPr/>
          <p:nvPr/>
        </p:nvSpPr>
        <p:spPr>
          <a:xfrm>
            <a:off x="548640" y="1234440"/>
            <a:ext cx="6656649" cy="5029200"/>
          </a:xfrm>
          <a:prstGeom prst="roundRect">
            <a:avLst>
              <a:gd name="adj" fmla="val 1455"/>
            </a:avLst>
          </a:prstGeom>
          <a:solidFill>
            <a:srgbClr val="F4F6F7"/>
          </a:solidFill>
          <a:ln w="12700">
            <a:solidFill>
              <a:srgbClr val="B0BEC5"/>
            </a:solidFill>
            <a:prstDash val="solid"/>
          </a:ln>
        </p:spPr>
      </p:sp>
      <p:sp>
        <p:nvSpPr>
          <p:cNvPr id="4" name="Text 2"/>
          <p:cNvSpPr txBox="1"/>
          <p:nvPr/>
        </p:nvSpPr>
        <p:spPr>
          <a:xfrm>
            <a:off x="658368" y="1307592"/>
            <a:ext cx="6437193" cy="4882896"/>
          </a:xfrm>
          <a:prstGeom prst="rect">
            <a:avLst/>
          </a:prstGeom>
          <a:noFill/>
          <a:ln/>
        </p:spPr>
        <p:txBody>
          <a:bodyPr wrap="square" lIns="0" tIns="0" rIns="0" bIns="0" rtlCol="0" anchor="t"/>
          <a:lstStyle/>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from sklearn.pipeline import make_pipeline</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from sklearn.preprocessing import StandardScaler</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from sklearn.neighbors import KNeighborsClassifier</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from sklearn.linear_model import LogisticRegression</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from sklearn.tree import DecisionTreeClassifier</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from sklearn.ensemble import RandomForestClassifier</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from sklearn.metrics import accuracy_score</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modeller = {</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"k-NN (k=15)": make_pipeline(StandardScaler(),</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KNeighborsClassifier(n_neighbors=15)),</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"Lojistik regresyon": make_pipeline(StandardScaler(),</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LogisticRegression(C=0.1, max_iter=2000)),</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"Ağaç (sınırsız)": DecisionTreeClassifier(random_state=0),</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"Ağaç (derinlik 4)": DecisionTreeClassifier(max_depth=4,</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random_state=0),</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"RF (300 ağaç)": RandomForestClassifier(n_estimators=300,</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random_state=0),</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for ad, m in modeller.items():</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m.fit(X_egt, y_egt)</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print(ad, accuracy_score(y_egt, m.predict(X_egt)),</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accuracy_score(y_test, m.predict(X_test)))</a:t>
            </a:r>
            <a:endParaRPr lang="en-US" sz="1300" dirty="0"/>
          </a:p>
        </p:txBody>
      </p:sp>
      <p:sp>
        <p:nvSpPr>
          <p:cNvPr id="5" name="Text 3"/>
          <p:cNvSpPr txBox="1"/>
          <p:nvPr/>
        </p:nvSpPr>
        <p:spPr>
          <a:xfrm>
            <a:off x="7525329" y="1234440"/>
            <a:ext cx="4117726"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Tüm modellerde aynı arayüz: </a:t>
            </a:r>
            <a:r>
              <a:rPr lang="en-US" sz="1700" dirty="0">
                <a:solidFill>
                  <a:srgbClr val="455A64"/>
                </a:solidFill>
                <a:latin typeface="Courier New" pitchFamily="34" charset="0"/>
                <a:ea typeface="Courier New" pitchFamily="34" charset="-122"/>
                <a:cs typeface="Courier New" pitchFamily="34" charset="-120"/>
              </a:rPr>
              <a:t>fit</a:t>
            </a:r>
            <a:r>
              <a:rPr lang="en-US" sz="1700" dirty="0">
                <a:solidFill>
                  <a:srgbClr val="212121"/>
                </a:solidFill>
                <a:latin typeface="Calibri" pitchFamily="34" charset="0"/>
                <a:ea typeface="Calibri" pitchFamily="34" charset="-122"/>
                <a:cs typeface="Calibri" pitchFamily="34" charset="-120"/>
              </a:rPr>
              <a:t> → </a:t>
            </a:r>
            <a:r>
              <a:rPr lang="en-US" sz="1700" dirty="0">
                <a:solidFill>
                  <a:srgbClr val="455A64"/>
                </a:solidFill>
                <a:latin typeface="Courier New" pitchFamily="34" charset="0"/>
                <a:ea typeface="Courier New" pitchFamily="34" charset="-122"/>
                <a:cs typeface="Courier New" pitchFamily="34" charset="-120"/>
              </a:rPr>
              <a:t>predict</a:t>
            </a:r>
            <a:r>
              <a:rPr lang="en-US" sz="1700" dirty="0">
                <a:solidFill>
                  <a:srgbClr val="212121"/>
                </a:solidFill>
                <a:latin typeface="Calibri" pitchFamily="34" charset="0"/>
                <a:ea typeface="Calibri" pitchFamily="34" charset="-122"/>
                <a:cs typeface="Calibri" pitchFamily="34" charset="-120"/>
              </a:rPr>
              <a:t> / </a:t>
            </a:r>
            <a:r>
              <a:rPr lang="en-US" sz="1700" dirty="0">
                <a:solidFill>
                  <a:srgbClr val="455A64"/>
                </a:solidFill>
                <a:latin typeface="Courier New" pitchFamily="34" charset="0"/>
                <a:ea typeface="Courier New" pitchFamily="34" charset="-122"/>
                <a:cs typeface="Courier New" pitchFamily="34" charset="-120"/>
              </a:rPr>
              <a:t>predict_proba</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Uzaklık ve katsayı kullanan modeller (k-NN, LR) </a:t>
            </a:r>
            <a:r>
              <a:rPr lang="en-US" sz="1700" b="1" dirty="0">
                <a:solidFill>
                  <a:srgbClr val="212121"/>
                </a:solidFill>
                <a:latin typeface="Calibri" pitchFamily="34" charset="0"/>
                <a:ea typeface="Calibri" pitchFamily="34" charset="-122"/>
                <a:cs typeface="Calibri" pitchFamily="34" charset="-120"/>
              </a:rPr>
              <a:t>ölçeklenir</a:t>
            </a:r>
            <a:r>
              <a:rPr lang="en-US" sz="1700" dirty="0">
                <a:solidFill>
                  <a:srgbClr val="212121"/>
                </a:solidFill>
                <a:latin typeface="Calibri" pitchFamily="34" charset="0"/>
                <a:ea typeface="Calibri" pitchFamily="34" charset="-122"/>
                <a:cs typeface="Calibri" pitchFamily="34" charset="-120"/>
              </a:rPr>
              <a:t>; ağaçlar ölçeklemeye duyarsız</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make_pipeline</a:t>
            </a:r>
            <a:r>
              <a:rPr lang="en-US" sz="1700" dirty="0">
                <a:solidFill>
                  <a:srgbClr val="212121"/>
                </a:solidFill>
                <a:latin typeface="Calibri" pitchFamily="34" charset="0"/>
                <a:ea typeface="Calibri" pitchFamily="34" charset="-122"/>
                <a:cs typeface="Calibri" pitchFamily="34" charset="-120"/>
              </a:rPr>
              <a:t>: ölçekleyici yalnızca eğitim verisine fit edilir → sızıntı yok</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random_state</a:t>
            </a:r>
            <a:r>
              <a:rPr lang="en-US" sz="1700" dirty="0">
                <a:solidFill>
                  <a:srgbClr val="212121"/>
                </a:solidFill>
                <a:latin typeface="Calibri" pitchFamily="34" charset="0"/>
                <a:ea typeface="Calibri" pitchFamily="34" charset="-122"/>
                <a:cs typeface="Calibri" pitchFamily="34" charset="-120"/>
              </a:rPr>
              <a:t> sabit → aynı sonuçlar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Çıktı bir sonraki slayttaki tablodur</a:t>
            </a:r>
            <a:endParaRPr lang="en-US" sz="1700" dirty="0"/>
          </a:p>
        </p:txBody>
      </p:sp>
      <p:sp>
        <p:nvSpPr>
          <p:cNvPr id="6" name="Text 4"/>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13: ML II: denetimli sınıflandırma</a:t>
            </a:r>
            <a:endParaRPr lang="en-US" sz="900" dirty="0"/>
          </a:p>
        </p:txBody>
      </p:sp>
      <p:sp>
        <p:nvSpPr>
          <p:cNvPr id="7" name="Text 5"/>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Promotör verisinde beş model</a:t>
            </a:r>
            <a:endParaRPr lang="en-US" sz="3000" dirty="0"/>
          </a:p>
        </p:txBody>
      </p:sp>
      <p:sp>
        <p:nvSpPr>
          <p:cNvPr id="3" name="Text 1"/>
          <p:cNvSpPr txBox="1"/>
          <p:nvPr/>
        </p:nvSpPr>
        <p:spPr>
          <a:xfrm>
            <a:off x="548640" y="1234440"/>
            <a:ext cx="11094415" cy="457200"/>
          </a:xfrm>
          <a:prstGeom prst="rect">
            <a:avLst/>
          </a:prstGeom>
          <a:noFill/>
          <a:ln/>
        </p:spPr>
        <p:txBody>
          <a:bodyPr wrap="square" lIns="25400" tIns="25400" rIns="50800" bIns="25400" rtlCol="0" anchor="t"/>
          <a:lstStyle/>
          <a:p>
            <a:pPr algn="l" indent="0" marL="0">
              <a:spcAft>
                <a:spcPts val="600"/>
              </a:spcAft>
              <a:buNone/>
            </a:pPr>
            <a:r>
              <a:rPr lang="en-US" sz="1400" dirty="0">
                <a:solidFill>
                  <a:srgbClr val="212121"/>
                </a:solidFill>
                <a:latin typeface="Calibri" pitchFamily="34" charset="0"/>
                <a:ea typeface="Calibri" pitchFamily="34" charset="-122"/>
                <a:cs typeface="Calibri" pitchFamily="34" charset="-120"/>
              </a:rPr>
              <a:t>67 özellik (k = 3 + motif), eğitim 1600 / test 400 dizi. Ölçeklemeye duyarlı modeller </a:t>
            </a:r>
            <a:r>
              <a:rPr lang="en-US" sz="1400" dirty="0">
                <a:solidFill>
                  <a:srgbClr val="455A64"/>
                </a:solidFill>
                <a:latin typeface="Courier New" pitchFamily="34" charset="0"/>
                <a:ea typeface="Courier New" pitchFamily="34" charset="-122"/>
                <a:cs typeface="Courier New" pitchFamily="34" charset="-120"/>
              </a:rPr>
              <a:t>make_pipeline(StandardScaler(), …)</a:t>
            </a:r>
            <a:r>
              <a:rPr lang="en-US" sz="1400" dirty="0">
                <a:solidFill>
                  <a:srgbClr val="212121"/>
                </a:solidFill>
                <a:latin typeface="Calibri" pitchFamily="34" charset="0"/>
                <a:ea typeface="Calibri" pitchFamily="34" charset="-122"/>
                <a:cs typeface="Calibri" pitchFamily="34" charset="-120"/>
              </a:rPr>
              <a:t> ile.</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3328325"/>
                <a:gridCol w="1849069"/>
                <a:gridCol w="1849069"/>
                <a:gridCol w="4067952"/>
              </a:tblGrid>
              <a:tr h="0">
                <a:tc>
                  <a:txBody>
                    <a:bodyPr/>
                    <a:lstStyle/>
                    <a:p>
                      <a:pPr algn="l" indent="0" marL="0">
                        <a:buNone/>
                      </a:pPr>
                      <a:r>
                        <a:rPr lang="en-US" sz="1900" b="1" dirty="0">
                          <a:solidFill>
                            <a:srgbClr val="212121"/>
                          </a:solidFill>
                          <a:latin typeface="Calibri" pitchFamily="34" charset="0"/>
                          <a:ea typeface="Calibri" pitchFamily="34" charset="-122"/>
                          <a:cs typeface="Calibri" pitchFamily="34" charset="-120"/>
                        </a:rPr>
                        <a:t>Model</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900" b="1" dirty="0">
                          <a:solidFill>
                            <a:srgbClr val="212121"/>
                          </a:solidFill>
                          <a:latin typeface="Calibri" pitchFamily="34" charset="0"/>
                          <a:ea typeface="Calibri" pitchFamily="34" charset="-122"/>
                          <a:cs typeface="Calibri" pitchFamily="34" charset="-120"/>
                        </a:rPr>
                        <a:t>Eğitim doğruluğu</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900" b="1" dirty="0">
                          <a:solidFill>
                            <a:srgbClr val="212121"/>
                          </a:solidFill>
                          <a:latin typeface="Calibri" pitchFamily="34" charset="0"/>
                          <a:ea typeface="Calibri" pitchFamily="34" charset="-122"/>
                          <a:cs typeface="Calibri" pitchFamily="34" charset="-120"/>
                        </a:rPr>
                        <a:t>Test doğruluğu</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900" b="1" dirty="0">
                          <a:solidFill>
                            <a:srgbClr val="212121"/>
                          </a:solidFill>
                          <a:latin typeface="Calibri" pitchFamily="34" charset="0"/>
                          <a:ea typeface="Calibri" pitchFamily="34" charset="-122"/>
                          <a:cs typeface="Calibri" pitchFamily="34" charset="-120"/>
                        </a:rPr>
                        <a:t>Yorum</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900" dirty="0">
                          <a:solidFill>
                            <a:srgbClr val="212121"/>
                          </a:solidFill>
                          <a:latin typeface="Calibri" pitchFamily="34" charset="0"/>
                          <a:ea typeface="Calibri" pitchFamily="34" charset="-122"/>
                          <a:cs typeface="Calibri" pitchFamily="34" charset="-120"/>
                        </a:rPr>
                        <a:t>k-NN (k = 15)</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12121"/>
                          </a:solidFill>
                          <a:latin typeface="Calibri" pitchFamily="34" charset="0"/>
                          <a:ea typeface="Calibri" pitchFamily="34" charset="-122"/>
                          <a:cs typeface="Calibri" pitchFamily="34" charset="-120"/>
                        </a:rPr>
                        <a:t>0.806</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12121"/>
                          </a:solidFill>
                          <a:latin typeface="Calibri" pitchFamily="34" charset="0"/>
                          <a:ea typeface="Calibri" pitchFamily="34" charset="-122"/>
                          <a:cs typeface="Calibri" pitchFamily="34" charset="-120"/>
                        </a:rPr>
                        <a:t>0.785</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12121"/>
                          </a:solidFill>
                          <a:latin typeface="Calibri" pitchFamily="34" charset="0"/>
                          <a:ea typeface="Calibri" pitchFamily="34" charset="-122"/>
                          <a:cs typeface="Calibri" pitchFamily="34" charset="-120"/>
                        </a:rPr>
                        <a:t>Uyumlu, orta başarı</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900" dirty="0">
                          <a:solidFill>
                            <a:srgbClr val="212121"/>
                          </a:solidFill>
                          <a:latin typeface="Calibri" pitchFamily="34" charset="0"/>
                          <a:ea typeface="Calibri" pitchFamily="34" charset="-122"/>
                          <a:cs typeface="Calibri" pitchFamily="34" charset="-120"/>
                        </a:rPr>
                        <a:t>Lojistik regresyon (C = 0.1)</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900" dirty="0">
                          <a:solidFill>
                            <a:srgbClr val="212121"/>
                          </a:solidFill>
                          <a:latin typeface="Calibri" pitchFamily="34" charset="0"/>
                          <a:ea typeface="Calibri" pitchFamily="34" charset="-122"/>
                          <a:cs typeface="Calibri" pitchFamily="34" charset="-120"/>
                        </a:rPr>
                        <a:t>0.836</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900" dirty="0">
                          <a:solidFill>
                            <a:srgbClr val="212121"/>
                          </a:solidFill>
                          <a:latin typeface="Calibri" pitchFamily="34" charset="0"/>
                          <a:ea typeface="Calibri" pitchFamily="34" charset="-122"/>
                          <a:cs typeface="Calibri" pitchFamily="34" charset="-120"/>
                        </a:rPr>
                        <a:t>0.808</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900" dirty="0">
                          <a:solidFill>
                            <a:srgbClr val="212121"/>
                          </a:solidFill>
                          <a:latin typeface="Calibri" pitchFamily="34" charset="0"/>
                          <a:ea typeface="Calibri" pitchFamily="34" charset="-122"/>
                          <a:cs typeface="Calibri" pitchFamily="34" charset="-120"/>
                        </a:rPr>
                        <a:t>Basit, iyi genelleme</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900" dirty="0">
                          <a:solidFill>
                            <a:srgbClr val="212121"/>
                          </a:solidFill>
                          <a:latin typeface="Calibri" pitchFamily="34" charset="0"/>
                          <a:ea typeface="Calibri" pitchFamily="34" charset="-122"/>
                          <a:cs typeface="Calibri" pitchFamily="34" charset="-120"/>
                        </a:rPr>
                        <a:t>Karar ağacı (sınırsız)</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900" b="1" dirty="0">
                          <a:solidFill>
                            <a:srgbClr val="212121"/>
                          </a:solidFill>
                          <a:latin typeface="Calibri" pitchFamily="34" charset="0"/>
                          <a:ea typeface="Calibri" pitchFamily="34" charset="-122"/>
                          <a:cs typeface="Calibri" pitchFamily="34" charset="-120"/>
                        </a:rPr>
                        <a:t>1.000</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900" b="1" dirty="0">
                          <a:solidFill>
                            <a:srgbClr val="212121"/>
                          </a:solidFill>
                          <a:latin typeface="Calibri" pitchFamily="34" charset="0"/>
                          <a:ea typeface="Calibri" pitchFamily="34" charset="-122"/>
                          <a:cs typeface="Calibri" pitchFamily="34" charset="-120"/>
                        </a:rPr>
                        <a:t>0.710</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900" dirty="0">
                          <a:solidFill>
                            <a:srgbClr val="212121"/>
                          </a:solidFill>
                          <a:latin typeface="Calibri" pitchFamily="34" charset="0"/>
                          <a:ea typeface="Calibri" pitchFamily="34" charset="-122"/>
                          <a:cs typeface="Calibri" pitchFamily="34" charset="-120"/>
                        </a:rPr>
                        <a:t>Aşırı öğrenme</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r h="0">
                <a:tc>
                  <a:txBody>
                    <a:bodyPr/>
                    <a:lstStyle/>
                    <a:p>
                      <a:pPr algn="l" indent="0" marL="0">
                        <a:buNone/>
                      </a:pPr>
                      <a:r>
                        <a:rPr lang="en-US" sz="1900" dirty="0">
                          <a:solidFill>
                            <a:srgbClr val="212121"/>
                          </a:solidFill>
                          <a:latin typeface="Calibri" pitchFamily="34" charset="0"/>
                          <a:ea typeface="Calibri" pitchFamily="34" charset="-122"/>
                          <a:cs typeface="Calibri" pitchFamily="34" charset="-120"/>
                        </a:rPr>
                        <a:t>Karar ağacı (derinlik 4)</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900" dirty="0">
                          <a:solidFill>
                            <a:srgbClr val="212121"/>
                          </a:solidFill>
                          <a:latin typeface="Calibri" pitchFamily="34" charset="0"/>
                          <a:ea typeface="Calibri" pitchFamily="34" charset="-122"/>
                          <a:cs typeface="Calibri" pitchFamily="34" charset="-120"/>
                        </a:rPr>
                        <a:t>0.802</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900" dirty="0">
                          <a:solidFill>
                            <a:srgbClr val="212121"/>
                          </a:solidFill>
                          <a:latin typeface="Calibri" pitchFamily="34" charset="0"/>
                          <a:ea typeface="Calibri" pitchFamily="34" charset="-122"/>
                          <a:cs typeface="Calibri" pitchFamily="34" charset="-120"/>
                        </a:rPr>
                        <a:t>0.768</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900" dirty="0">
                          <a:solidFill>
                            <a:srgbClr val="212121"/>
                          </a:solidFill>
                          <a:latin typeface="Calibri" pitchFamily="34" charset="0"/>
                          <a:ea typeface="Calibri" pitchFamily="34" charset="-122"/>
                          <a:cs typeface="Calibri" pitchFamily="34" charset="-120"/>
                        </a:rPr>
                        <a:t>Budama yardımcı oldu</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900" dirty="0">
                          <a:solidFill>
                            <a:srgbClr val="212121"/>
                          </a:solidFill>
                          <a:latin typeface="Calibri" pitchFamily="34" charset="0"/>
                          <a:ea typeface="Calibri" pitchFamily="34" charset="-122"/>
                          <a:cs typeface="Calibri" pitchFamily="34" charset="-120"/>
                        </a:rPr>
                        <a:t>Rastgele orman (300 ağaç)</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900" dirty="0">
                          <a:solidFill>
                            <a:srgbClr val="212121"/>
                          </a:solidFill>
                          <a:latin typeface="Calibri" pitchFamily="34" charset="0"/>
                          <a:ea typeface="Calibri" pitchFamily="34" charset="-122"/>
                          <a:cs typeface="Calibri" pitchFamily="34" charset="-120"/>
                        </a:rPr>
                        <a:t>1.000</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900" b="1" dirty="0">
                          <a:solidFill>
                            <a:srgbClr val="212121"/>
                          </a:solidFill>
                          <a:latin typeface="Calibri" pitchFamily="34" charset="0"/>
                          <a:ea typeface="Calibri" pitchFamily="34" charset="-122"/>
                          <a:cs typeface="Calibri" pitchFamily="34" charset="-120"/>
                        </a:rPr>
                        <a:t>0.815</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900" dirty="0">
                          <a:solidFill>
                            <a:srgbClr val="212121"/>
                          </a:solidFill>
                          <a:latin typeface="Calibri" pitchFamily="34" charset="0"/>
                          <a:ea typeface="Calibri" pitchFamily="34" charset="-122"/>
                          <a:cs typeface="Calibri" pitchFamily="34" charset="-120"/>
                        </a:rPr>
                        <a:t>Ezberliyor ama en iyi genelleme</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bl>
          </a:graphicData>
        </a:graphic>
      </p:graphicFrame>
      <p:sp>
        <p:nvSpPr>
          <p:cNvPr id="5" name="Shape 2"/>
          <p:cNvSpPr/>
          <p:nvPr/>
        </p:nvSpPr>
        <p:spPr>
          <a:xfrm>
            <a:off x="548640" y="4986528"/>
            <a:ext cx="11094415" cy="822960"/>
          </a:xfrm>
          <a:prstGeom prst="roundRect">
            <a:avLst>
              <a:gd name="adj" fmla="val 8889"/>
            </a:avLst>
          </a:prstGeom>
          <a:solidFill>
            <a:srgbClr val="FDECEA"/>
          </a:solidFill>
          <a:ln/>
        </p:spPr>
      </p:sp>
      <p:sp>
        <p:nvSpPr>
          <p:cNvPr id="6" name="Text 3"/>
          <p:cNvSpPr txBox="1"/>
          <p:nvPr/>
        </p:nvSpPr>
        <p:spPr>
          <a:xfrm>
            <a:off x="731520" y="4986528"/>
            <a:ext cx="10728655" cy="822960"/>
          </a:xfrm>
          <a:prstGeom prst="rect">
            <a:avLst/>
          </a:prstGeom>
          <a:noFill/>
          <a:ln/>
        </p:spPr>
        <p:txBody>
          <a:bodyPr wrap="square" lIns="0" tIns="0" rIns="0" bIns="0" rtlCol="0" anchor="ctr"/>
          <a:lstStyle/>
          <a:p>
            <a:pPr indent="0" marL="0">
              <a:buNone/>
            </a:pPr>
            <a:r>
              <a:rPr lang="en-US" sz="1600" dirty="0">
                <a:solidFill>
                  <a:srgbClr val="212121"/>
                </a:solidFill>
                <a:latin typeface="Calibri" pitchFamily="34" charset="0"/>
                <a:ea typeface="Calibri" pitchFamily="34" charset="-122"/>
                <a:cs typeface="Calibri" pitchFamily="34" charset="-120"/>
              </a:rPr>
              <a:t>Eğitim–test farkı tek başına ölçüt değildir: RF de eğitimi ezberliyor ama oylama sayesinde testte en iyi. </a:t>
            </a:r>
            <a:r>
              <a:rPr lang="en-US" sz="1600" b="1" dirty="0">
                <a:solidFill>
                  <a:srgbClr val="212121"/>
                </a:solidFill>
                <a:latin typeface="Calibri" pitchFamily="34" charset="0"/>
                <a:ea typeface="Calibri" pitchFamily="34" charset="-122"/>
                <a:cs typeface="Calibri" pitchFamily="34" charset="-120"/>
              </a:rPr>
              <a:t>Asıl ölçüt görülmemiş veride başarıdır.</a:t>
            </a:r>
            <a:endParaRPr lang="en-US" sz="1600" dirty="0"/>
          </a:p>
        </p:txBody>
      </p:sp>
      <p:sp>
        <p:nvSpPr>
          <p:cNvPr id="7" name="Text 4"/>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13: ML II: denetimli sınıflandırma</a:t>
            </a:r>
            <a:endParaRPr lang="en-US" sz="900" dirty="0"/>
          </a:p>
        </p:txBody>
      </p:sp>
      <p:sp>
        <p:nvSpPr>
          <p:cNvPr id="8" name="Text 5"/>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CEFF1"/>
        </a:solidFill>
      </p:bgPr>
    </p:bg>
    <p:spTree>
      <p:nvGrpSpPr>
        <p:cNvPr id="1" name=""/>
        <p:cNvGrpSpPr/>
        <p:nvPr/>
      </p:nvGrpSpPr>
      <p:grpSpPr>
        <a:xfrm>
          <a:off x="0" y="0"/>
          <a:ext cx="0" cy="0"/>
          <a:chOff x="0" y="0"/>
          <a:chExt cx="0" cy="0"/>
        </a:xfrm>
      </p:grpSpPr>
      <p:sp>
        <p:nvSpPr>
          <p:cNvPr id="2" name="Text 0"/>
          <p:cNvSpPr txBox="1"/>
          <p:nvPr/>
        </p:nvSpPr>
        <p:spPr>
          <a:xfrm>
            <a:off x="548640" y="1920240"/>
            <a:ext cx="2011680" cy="2011680"/>
          </a:xfrm>
          <a:prstGeom prst="rect">
            <a:avLst/>
          </a:prstGeom>
          <a:noFill/>
          <a:ln/>
        </p:spPr>
        <p:txBody>
          <a:bodyPr wrap="square" lIns="0" tIns="0" rIns="0" bIns="0" rtlCol="0" anchor="ctr"/>
          <a:lstStyle/>
          <a:p>
            <a:pPr indent="0" marL="0">
              <a:buNone/>
            </a:pPr>
            <a:r>
              <a:rPr lang="en-US" sz="11000" b="1" dirty="0">
                <a:solidFill>
                  <a:srgbClr val="B71C1C"/>
                </a:solidFill>
                <a:latin typeface="Calibri" pitchFamily="34" charset="0"/>
                <a:ea typeface="Calibri" pitchFamily="34" charset="-122"/>
                <a:cs typeface="Calibri" pitchFamily="34" charset="-120"/>
              </a:rPr>
              <a:t>3</a:t>
            </a:r>
            <a:endParaRPr lang="en-US" sz="11000" dirty="0"/>
          </a:p>
        </p:txBody>
      </p:sp>
      <p:sp>
        <p:nvSpPr>
          <p:cNvPr id="3" name="Text 1"/>
          <p:cNvSpPr txBox="1"/>
          <p:nvPr/>
        </p:nvSpPr>
        <p:spPr>
          <a:xfrm>
            <a:off x="2834640" y="2103120"/>
            <a:ext cx="8808415" cy="1005840"/>
          </a:xfrm>
          <a:prstGeom prst="rect">
            <a:avLst/>
          </a:prstGeom>
          <a:noFill/>
          <a:ln/>
        </p:spPr>
        <p:txBody>
          <a:bodyPr wrap="square" lIns="0" tIns="0" rIns="0" bIns="0" rtlCol="0" anchor="b"/>
          <a:lstStyle/>
          <a:p>
            <a:pPr indent="0" marL="0">
              <a:buNone/>
            </a:pPr>
            <a:r>
              <a:rPr lang="en-US" sz="3400" b="1" dirty="0">
                <a:solidFill>
                  <a:srgbClr val="263238"/>
                </a:solidFill>
                <a:latin typeface="Calibri" pitchFamily="34" charset="0"/>
                <a:ea typeface="Calibri" pitchFamily="34" charset="-122"/>
                <a:cs typeface="Calibri" pitchFamily="34" charset="-120"/>
              </a:rPr>
              <a:t>Değerlendirme ölçütleri</a:t>
            </a:r>
            <a:endParaRPr lang="en-US" sz="3400" dirty="0"/>
          </a:p>
        </p:txBody>
      </p:sp>
      <p:sp>
        <p:nvSpPr>
          <p:cNvPr id="4" name="Text 2"/>
          <p:cNvSpPr txBox="1"/>
          <p:nvPr/>
        </p:nvSpPr>
        <p:spPr>
          <a:xfrm>
            <a:off x="2834640" y="3200400"/>
            <a:ext cx="8808415" cy="1097280"/>
          </a:xfrm>
          <a:prstGeom prst="rect">
            <a:avLst/>
          </a:prstGeom>
          <a:noFill/>
          <a:ln/>
        </p:spPr>
        <p:txBody>
          <a:bodyPr wrap="square" lIns="0" tIns="0" rIns="0" bIns="0" rtlCol="0" anchor="t"/>
          <a:lstStyle/>
          <a:p>
            <a:pPr indent="0" marL="0">
              <a:buNone/>
            </a:pPr>
            <a:r>
              <a:rPr lang="en-US" sz="1700" dirty="0">
                <a:solidFill>
                  <a:srgbClr val="546E7A"/>
                </a:solidFill>
                <a:latin typeface="Calibri" pitchFamily="34" charset="0"/>
                <a:ea typeface="Calibri" pitchFamily="34" charset="-122"/>
                <a:cs typeface="Calibri" pitchFamily="34" charset="-120"/>
              </a:rPr>
              <a:t>Karışıklık matrisi, kesinlik–duyarlılık, ROC eğrisi ve AUC</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Karışıklık matrisi ve ölçütler</a:t>
            </a:r>
            <a:endParaRPr lang="en-US" sz="3000" dirty="0"/>
          </a:p>
        </p:txBody>
      </p:sp>
      <p:sp>
        <p:nvSpPr>
          <p:cNvPr id="3" name="Text 1"/>
          <p:cNvSpPr txBox="1"/>
          <p:nvPr/>
        </p:nvSpPr>
        <p:spPr>
          <a:xfrm>
            <a:off x="548640" y="1234440"/>
            <a:ext cx="11094415" cy="457200"/>
          </a:xfrm>
          <a:prstGeom prst="rect">
            <a:avLst/>
          </a:prstGeom>
          <a:noFill/>
          <a:ln/>
        </p:spPr>
        <p:txBody>
          <a:bodyPr wrap="square" lIns="25400" tIns="25400" rIns="50800" bIns="25400" rtlCol="0" anchor="t"/>
          <a:lstStyle/>
          <a:p>
            <a:pPr algn="l" indent="0" marL="0">
              <a:spcAft>
                <a:spcPts val="600"/>
              </a:spcAft>
              <a:buNone/>
            </a:pPr>
            <a:r>
              <a:rPr lang="en-US" sz="1550" dirty="0">
                <a:solidFill>
                  <a:srgbClr val="212121"/>
                </a:solidFill>
                <a:latin typeface="Calibri" pitchFamily="34" charset="0"/>
                <a:ea typeface="Calibri" pitchFamily="34" charset="-122"/>
                <a:cs typeface="Calibri" pitchFamily="34" charset="-120"/>
              </a:rPr>
              <a:t>Satır: gerçek sınıf, sütun: tahmin. TP: doğru pozitif, FN: kaçırılan pozitif, FP: yanlış alarm, TN: doğru negatif.</a:t>
            </a:r>
            <a:endParaRPr lang="en-US" sz="15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2567303"/>
                <a:gridCol w="2383924"/>
                <a:gridCol w="6143189"/>
              </a:tblGrid>
              <a:tr h="0">
                <a:tc>
                  <a:txBody>
                    <a:bodyPr/>
                    <a:lstStyle/>
                    <a:p>
                      <a:pPr algn="l" indent="0" marL="0">
                        <a:buNone/>
                      </a:pPr>
                      <a:r>
                        <a:rPr lang="en-US" sz="1900" b="1" dirty="0">
                          <a:solidFill>
                            <a:srgbClr val="212121"/>
                          </a:solidFill>
                          <a:latin typeface="Calibri" pitchFamily="34" charset="0"/>
                          <a:ea typeface="Calibri" pitchFamily="34" charset="-122"/>
                          <a:cs typeface="Calibri" pitchFamily="34" charset="-120"/>
                        </a:rPr>
                        <a:t>Ölçüt</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900" b="1" dirty="0">
                          <a:solidFill>
                            <a:srgbClr val="212121"/>
                          </a:solidFill>
                          <a:latin typeface="Calibri" pitchFamily="34" charset="0"/>
                          <a:ea typeface="Calibri" pitchFamily="34" charset="-122"/>
                          <a:cs typeface="Calibri" pitchFamily="34" charset="-120"/>
                        </a:rPr>
                        <a:t>Formül</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900" b="1" dirty="0">
                          <a:solidFill>
                            <a:srgbClr val="212121"/>
                          </a:solidFill>
                          <a:latin typeface="Calibri" pitchFamily="34" charset="0"/>
                          <a:ea typeface="Calibri" pitchFamily="34" charset="-122"/>
                          <a:cs typeface="Calibri" pitchFamily="34" charset="-120"/>
                        </a:rPr>
                        <a:t>Sorduğu soru</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900" dirty="0">
                          <a:solidFill>
                            <a:srgbClr val="212121"/>
                          </a:solidFill>
                          <a:latin typeface="Calibri" pitchFamily="34" charset="0"/>
                          <a:ea typeface="Calibri" pitchFamily="34" charset="-122"/>
                          <a:cs typeface="Calibri" pitchFamily="34" charset="-120"/>
                        </a:rPr>
                        <a:t>Doğruluk</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12121"/>
                          </a:solidFill>
                          <a:latin typeface="Calibri" pitchFamily="34" charset="0"/>
                          <a:ea typeface="Calibri" pitchFamily="34" charset="-122"/>
                          <a:cs typeface="Calibri" pitchFamily="34" charset="-120"/>
                        </a:rPr>
                        <a:t>(TP + TN) / N</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12121"/>
                          </a:solidFill>
                          <a:latin typeface="Calibri" pitchFamily="34" charset="0"/>
                          <a:ea typeface="Calibri" pitchFamily="34" charset="-122"/>
                          <a:cs typeface="Calibri" pitchFamily="34" charset="-120"/>
                        </a:rPr>
                        <a:t>Ne kadarını doğru bildik?</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900" dirty="0">
                          <a:solidFill>
                            <a:srgbClr val="212121"/>
                          </a:solidFill>
                          <a:latin typeface="Calibri" pitchFamily="34" charset="0"/>
                          <a:ea typeface="Calibri" pitchFamily="34" charset="-122"/>
                          <a:cs typeface="Calibri" pitchFamily="34" charset="-120"/>
                        </a:rPr>
                        <a:t>Kesinlik (precision)</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900" dirty="0">
                          <a:solidFill>
                            <a:srgbClr val="212121"/>
                          </a:solidFill>
                          <a:latin typeface="Calibri" pitchFamily="34" charset="0"/>
                          <a:ea typeface="Calibri" pitchFamily="34" charset="-122"/>
                          <a:cs typeface="Calibri" pitchFamily="34" charset="-120"/>
                        </a:rPr>
                        <a:t>TP / (TP + FP)</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900" dirty="0">
                          <a:solidFill>
                            <a:srgbClr val="212121"/>
                          </a:solidFill>
                          <a:latin typeface="Calibri" pitchFamily="34" charset="0"/>
                          <a:ea typeface="Calibri" pitchFamily="34" charset="-122"/>
                          <a:cs typeface="Calibri" pitchFamily="34" charset="-120"/>
                        </a:rPr>
                        <a:t>"Promotör" dediklerimizin ne kadarı gerçekten promotör?</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900" dirty="0">
                          <a:solidFill>
                            <a:srgbClr val="212121"/>
                          </a:solidFill>
                          <a:latin typeface="Calibri" pitchFamily="34" charset="0"/>
                          <a:ea typeface="Calibri" pitchFamily="34" charset="-122"/>
                          <a:cs typeface="Calibri" pitchFamily="34" charset="-120"/>
                        </a:rPr>
                        <a:t>Duyarlılık (recall, TPR)</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12121"/>
                          </a:solidFill>
                          <a:latin typeface="Calibri" pitchFamily="34" charset="0"/>
                          <a:ea typeface="Calibri" pitchFamily="34" charset="-122"/>
                          <a:cs typeface="Calibri" pitchFamily="34" charset="-120"/>
                        </a:rPr>
                        <a:t>TP / (TP + FN)</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12121"/>
                          </a:solidFill>
                          <a:latin typeface="Calibri" pitchFamily="34" charset="0"/>
                          <a:ea typeface="Calibri" pitchFamily="34" charset="-122"/>
                          <a:cs typeface="Calibri" pitchFamily="34" charset="-120"/>
                        </a:rPr>
                        <a:t>Gerçek promotörlerin ne kadarını yakaladık?</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900" dirty="0">
                          <a:solidFill>
                            <a:srgbClr val="212121"/>
                          </a:solidFill>
                          <a:latin typeface="Calibri" pitchFamily="34" charset="0"/>
                          <a:ea typeface="Calibri" pitchFamily="34" charset="-122"/>
                          <a:cs typeface="Calibri" pitchFamily="34" charset="-120"/>
                        </a:rPr>
                        <a:t>Özgüllük (TNR)</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900" dirty="0">
                          <a:solidFill>
                            <a:srgbClr val="212121"/>
                          </a:solidFill>
                          <a:latin typeface="Calibri" pitchFamily="34" charset="0"/>
                          <a:ea typeface="Calibri" pitchFamily="34" charset="-122"/>
                          <a:cs typeface="Calibri" pitchFamily="34" charset="-120"/>
                        </a:rPr>
                        <a:t>TN / (TN + FP)</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900" dirty="0">
                          <a:solidFill>
                            <a:srgbClr val="212121"/>
                          </a:solidFill>
                          <a:latin typeface="Calibri" pitchFamily="34" charset="0"/>
                          <a:ea typeface="Calibri" pitchFamily="34" charset="-122"/>
                          <a:cs typeface="Calibri" pitchFamily="34" charset="-120"/>
                        </a:rPr>
                        <a:t>Negatiflerin ne kadarını doğru reddettik? (FPR = 1 − TNR)</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900" dirty="0">
                          <a:solidFill>
                            <a:srgbClr val="212121"/>
                          </a:solidFill>
                          <a:latin typeface="Calibri" pitchFamily="34" charset="0"/>
                          <a:ea typeface="Calibri" pitchFamily="34" charset="-122"/>
                          <a:cs typeface="Calibri" pitchFamily="34" charset="-120"/>
                        </a:rPr>
                        <a:t>F1</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12121"/>
                          </a:solidFill>
                          <a:latin typeface="Calibri" pitchFamily="34" charset="0"/>
                          <a:ea typeface="Calibri" pitchFamily="34" charset="-122"/>
                          <a:cs typeface="Calibri" pitchFamily="34" charset="-120"/>
                        </a:rPr>
                        <a:t>2·P·R / (P + R)</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12121"/>
                          </a:solidFill>
                          <a:latin typeface="Calibri" pitchFamily="34" charset="0"/>
                          <a:ea typeface="Calibri" pitchFamily="34" charset="-122"/>
                          <a:cs typeface="Calibri" pitchFamily="34" charset="-120"/>
                        </a:rPr>
                        <a:t>Kesinlik ve duyarlılığın harmonik ortalaması</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13: ML II: denetimli sınıflandırma</a:t>
            </a:r>
            <a:endParaRPr lang="en-US" sz="900" dirty="0"/>
          </a:p>
        </p:txBody>
      </p:sp>
      <p:sp>
        <p:nvSpPr>
          <p:cNvPr id="6" name="Text 3"/>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Ölçütleri elle hesaplamak</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Bir sınıflandırıcının karışıklık matrisi: TP = 40, FN = 20, FP = 10, TN = 130 (N = 200). Tüm ölçütleri hesaplayın.</a:t>
            </a:r>
            <a:endParaRPr lang="en-US" sz="1800" dirty="0"/>
          </a:p>
        </p:txBody>
      </p:sp>
      <p:sp>
        <p:nvSpPr>
          <p:cNvPr id="6" name="Text 4"/>
          <p:cNvSpPr txBox="1"/>
          <p:nvPr/>
        </p:nvSpPr>
        <p:spPr>
          <a:xfrm>
            <a:off x="548640" y="2779776"/>
            <a:ext cx="5769096"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Doğruluk = (40 + 130) / 200 = 170/200 = </a:t>
            </a:r>
            <a:r>
              <a:rPr lang="en-US" sz="1800" b="1" dirty="0">
                <a:solidFill>
                  <a:srgbClr val="212121"/>
                </a:solidFill>
                <a:latin typeface="Calibri" pitchFamily="34" charset="0"/>
                <a:ea typeface="Calibri" pitchFamily="34" charset="-122"/>
                <a:cs typeface="Calibri" pitchFamily="34" charset="-120"/>
              </a:rPr>
              <a:t>0.850</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Kesinlik = 40 / (40 + 10) = 40/50 = </a:t>
            </a:r>
            <a:r>
              <a:rPr lang="en-US" sz="1800" b="1" dirty="0">
                <a:solidFill>
                  <a:srgbClr val="212121"/>
                </a:solidFill>
                <a:latin typeface="Calibri" pitchFamily="34" charset="0"/>
                <a:ea typeface="Calibri" pitchFamily="34" charset="-122"/>
                <a:cs typeface="Calibri" pitchFamily="34" charset="-120"/>
              </a:rPr>
              <a:t>0.800</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Duyarlılık = 40 / (40 + 20) = 40/60 = </a:t>
            </a:r>
            <a:r>
              <a:rPr lang="en-US" sz="1800" b="1" dirty="0">
                <a:solidFill>
                  <a:srgbClr val="212121"/>
                </a:solidFill>
                <a:latin typeface="Calibri" pitchFamily="34" charset="0"/>
                <a:ea typeface="Calibri" pitchFamily="34" charset="-122"/>
                <a:cs typeface="Calibri" pitchFamily="34" charset="-120"/>
              </a:rPr>
              <a:t>0.667</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Özgüllük = 130 / (130 + 10) = 130/140 = </a:t>
            </a:r>
            <a:r>
              <a:rPr lang="en-US" sz="1800" b="1" dirty="0">
                <a:solidFill>
                  <a:srgbClr val="212121"/>
                </a:solidFill>
                <a:latin typeface="Calibri" pitchFamily="34" charset="0"/>
                <a:ea typeface="Calibri" pitchFamily="34" charset="-122"/>
                <a:cs typeface="Calibri" pitchFamily="34" charset="-120"/>
              </a:rPr>
              <a:t>0.929</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F1 = 2·0.800·0.667 / (0.800 + 0.667) = 1.067/1.467 = </a:t>
            </a:r>
            <a:r>
              <a:rPr lang="en-US" sz="1800" b="1" dirty="0">
                <a:solidFill>
                  <a:srgbClr val="212121"/>
                </a:solidFill>
                <a:latin typeface="Calibri" pitchFamily="34" charset="0"/>
                <a:ea typeface="Calibri" pitchFamily="34" charset="-122"/>
                <a:cs typeface="Calibri" pitchFamily="34" charset="-120"/>
              </a:rPr>
              <a:t>0.727</a:t>
            </a:r>
            <a:endParaRPr lang="en-US" sz="1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37776" y="2779776"/>
          <a:ext cx="5005279" cy="914400"/>
        </p:xfrm>
        <a:graphic>
          <a:graphicData uri="http://schemas.openxmlformats.org/drawingml/2006/table">
            <a:tbl>
              <a:tblPr/>
              <a:tblGrid>
                <a:gridCol w="1334741"/>
                <a:gridCol w="1334741"/>
                <a:gridCol w="1334741"/>
                <a:gridCol w="1001056"/>
              </a:tblGrid>
              <a:tr h="0">
                <a:tc>
                  <a:txBody>
                    <a:bodyPr/>
                    <a:lstStyle/>
                    <a:p>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Tahmin 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Tahmin 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Toplam</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Gerçek 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TP = 40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FN = 20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60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Gerçek 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FP = 10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TN = 130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140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Toplam</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50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150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200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Doğruluk 0.85 iyi görünse de model gerçek pozitiflerin </a:t>
            </a:r>
            <a:r>
              <a:rPr lang="en-US" sz="1700" b="1" dirty="0">
                <a:solidFill>
                  <a:srgbClr val="212121"/>
                </a:solidFill>
                <a:latin typeface="Calibri" pitchFamily="34" charset="0"/>
                <a:ea typeface="Calibri" pitchFamily="34" charset="-122"/>
                <a:cs typeface="Calibri" pitchFamily="34" charset="-120"/>
              </a:rPr>
              <a:t>üçte birini kaçırıyor</a:t>
            </a:r>
            <a:r>
              <a:rPr lang="en-US" sz="1700" dirty="0">
                <a:solidFill>
                  <a:srgbClr val="212121"/>
                </a:solidFill>
                <a:latin typeface="Calibri" pitchFamily="34" charset="0"/>
                <a:ea typeface="Calibri" pitchFamily="34" charset="-122"/>
                <a:cs typeface="Calibri" pitchFamily="34" charset="-120"/>
              </a:rPr>
              <a:t> (duyarlılık 0.667). Tek bir sayı yetmez.</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13: ML II: denetimli sınıflandırma</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Gerçek model: rastgele ormanın test sonucu</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Rastgele orman 400 test dizisinde: 173 negatifi doğru, 27 negatifi yanlış (promotör dedi); 153 promotörü doğru, 47 promotörü kaçırdı. Ölçütleri hesaplayın.</a:t>
            </a:r>
            <a:endParaRPr lang="en-US" sz="1800" dirty="0"/>
          </a:p>
        </p:txBody>
      </p:sp>
      <p:sp>
        <p:nvSpPr>
          <p:cNvPr id="6" name="Text 4"/>
          <p:cNvSpPr txBox="1"/>
          <p:nvPr/>
        </p:nvSpPr>
        <p:spPr>
          <a:xfrm>
            <a:off x="548640" y="2779776"/>
            <a:ext cx="6101928"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TP = 153, FN = 47, FP = 27, TN = 173</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Doğruluk = (153 + 173) / 400 = </a:t>
            </a:r>
            <a:r>
              <a:rPr lang="en-US" sz="1800" b="1" dirty="0">
                <a:solidFill>
                  <a:srgbClr val="212121"/>
                </a:solidFill>
                <a:latin typeface="Calibri" pitchFamily="34" charset="0"/>
                <a:ea typeface="Calibri" pitchFamily="34" charset="-122"/>
                <a:cs typeface="Calibri" pitchFamily="34" charset="-120"/>
              </a:rPr>
              <a:t>0.815</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Kesinlik = 153 / 180 = </a:t>
            </a:r>
            <a:r>
              <a:rPr lang="en-US" sz="1800" b="1" dirty="0">
                <a:solidFill>
                  <a:srgbClr val="212121"/>
                </a:solidFill>
                <a:latin typeface="Calibri" pitchFamily="34" charset="0"/>
                <a:ea typeface="Calibri" pitchFamily="34" charset="-122"/>
                <a:cs typeface="Calibri" pitchFamily="34" charset="-120"/>
              </a:rPr>
              <a:t>0.850</a:t>
            </a:r>
            <a:r>
              <a:rPr lang="en-US" sz="1800" dirty="0">
                <a:solidFill>
                  <a:srgbClr val="212121"/>
                </a:solidFill>
                <a:latin typeface="Calibri" pitchFamily="34" charset="0"/>
                <a:ea typeface="Calibri" pitchFamily="34" charset="-122"/>
                <a:cs typeface="Calibri" pitchFamily="34" charset="-120"/>
              </a:rPr>
              <a:t>; duyarlılık = 153 / 200 = </a:t>
            </a:r>
            <a:r>
              <a:rPr lang="en-US" sz="1800" b="1" dirty="0">
                <a:solidFill>
                  <a:srgbClr val="212121"/>
                </a:solidFill>
                <a:latin typeface="Calibri" pitchFamily="34" charset="0"/>
                <a:ea typeface="Calibri" pitchFamily="34" charset="-122"/>
                <a:cs typeface="Calibri" pitchFamily="34" charset="-120"/>
              </a:rPr>
              <a:t>0.765</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Özgüllük = 173 / 200 = </a:t>
            </a:r>
            <a:r>
              <a:rPr lang="en-US" sz="1800" b="1" dirty="0">
                <a:solidFill>
                  <a:srgbClr val="212121"/>
                </a:solidFill>
                <a:latin typeface="Calibri" pitchFamily="34" charset="0"/>
                <a:ea typeface="Calibri" pitchFamily="34" charset="-122"/>
                <a:cs typeface="Calibri" pitchFamily="34" charset="-120"/>
              </a:rPr>
              <a:t>0.865</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F1 = 2·0.85·0.765 / 1.615 = </a:t>
            </a:r>
            <a:r>
              <a:rPr lang="en-US" sz="1800" b="1" dirty="0">
                <a:solidFill>
                  <a:srgbClr val="212121"/>
                </a:solidFill>
                <a:latin typeface="Calibri" pitchFamily="34" charset="0"/>
                <a:ea typeface="Calibri" pitchFamily="34" charset="-122"/>
                <a:cs typeface="Calibri" pitchFamily="34" charset="-120"/>
              </a:rPr>
              <a:t>0.805</a:t>
            </a:r>
            <a:endParaRPr lang="en-US" sz="18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970608" y="2779776"/>
          <a:ext cx="4672447" cy="914400"/>
        </p:xfrm>
        <a:graphic>
          <a:graphicData uri="http://schemas.openxmlformats.org/drawingml/2006/table">
            <a:tbl>
              <a:tblPr/>
              <a:tblGrid>
                <a:gridCol w="1557482"/>
                <a:gridCol w="1557482"/>
                <a:gridCol w="1557482"/>
              </a:tblGrid>
              <a:tr h="0">
                <a:tc>
                  <a:txBody>
                    <a:bodyPr/>
                    <a:lstStyle/>
                    <a:p>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Tahmin: değil</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Tahmin: prom.</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Gerçek: değil</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TN = 173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FP = 27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Gerçek: prom.</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FN = 47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TP = 153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classification_report</a:t>
            </a:r>
            <a:r>
              <a:rPr lang="en-US" sz="1700" dirty="0">
                <a:solidFill>
                  <a:srgbClr val="212121"/>
                </a:solidFill>
                <a:latin typeface="Calibri" pitchFamily="34" charset="0"/>
                <a:ea typeface="Calibri" pitchFamily="34" charset="-122"/>
                <a:cs typeface="Calibri" pitchFamily="34" charset="-120"/>
              </a:rPr>
              <a:t>: promotör için kesinlik 0.85, duyarlılık 0.77, F1 0.81. Model temkinli: </a:t>
            </a:r>
            <a:r>
              <a:rPr lang="en-US" sz="1700" b="1" dirty="0">
                <a:solidFill>
                  <a:srgbClr val="212121"/>
                </a:solidFill>
                <a:latin typeface="Calibri" pitchFamily="34" charset="0"/>
                <a:ea typeface="Calibri" pitchFamily="34" charset="-122"/>
                <a:cs typeface="Calibri" pitchFamily="34" charset="-120"/>
              </a:rPr>
              <a:t>kaçırma</a:t>
            </a:r>
            <a:r>
              <a:rPr lang="en-US" sz="1700" dirty="0">
                <a:solidFill>
                  <a:srgbClr val="212121"/>
                </a:solidFill>
                <a:latin typeface="Calibri" pitchFamily="34" charset="0"/>
                <a:ea typeface="Calibri" pitchFamily="34" charset="-122"/>
                <a:cs typeface="Calibri" pitchFamily="34" charset="-120"/>
              </a:rPr>
              <a:t> (47) yanlış alarmdan (27) fazla.</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13: ML II: denetimli sınıflandırma</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AUC'nin olasılık yorumu</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Pozitif örneklerin skorları {0.9, 0.8, 0.4}, negatiflerin {0.7, 0.3, 0.2}. AUC'yi "pozitif–negatif çiftleri" yöntemiyle hesaplayın.</a:t>
            </a:r>
            <a:endParaRPr lang="en-US" sz="1800" dirty="0"/>
          </a:p>
        </p:txBody>
      </p:sp>
      <p:sp>
        <p:nvSpPr>
          <p:cNvPr id="6" name="Text 4"/>
          <p:cNvSpPr txBox="1"/>
          <p:nvPr/>
        </p:nvSpPr>
        <p:spPr>
          <a:xfrm>
            <a:off x="548640" y="2779776"/>
            <a:ext cx="6101928"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AUC = P(rastgele pozitifin skoru &gt; rastgele negatifin skoru)</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Çift sayısı = 3 × 3 = </a:t>
            </a:r>
            <a:r>
              <a:rPr lang="en-US" sz="1800" b="1" dirty="0">
                <a:solidFill>
                  <a:srgbClr val="212121"/>
                </a:solidFill>
                <a:latin typeface="Calibri" pitchFamily="34" charset="0"/>
                <a:ea typeface="Calibri" pitchFamily="34" charset="-122"/>
                <a:cs typeface="Calibri" pitchFamily="34" charset="-120"/>
              </a:rPr>
              <a:t>9</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0.9: 0.7, 0.3, 0.2'yi geçer → 3; 0.8 → 3</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0.4: 0.3 ve 0.2'yi geçer, 0.7'ye kaybeder → 2</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Kazanılan = 3 + 3 + 2 = 8 → AUC = 8/9 = </a:t>
            </a:r>
            <a:r>
              <a:rPr lang="en-US" sz="1800" b="1" dirty="0">
                <a:solidFill>
                  <a:srgbClr val="212121"/>
                </a:solidFill>
                <a:latin typeface="Calibri" pitchFamily="34" charset="0"/>
                <a:ea typeface="Calibri" pitchFamily="34" charset="-122"/>
                <a:cs typeface="Calibri" pitchFamily="34" charset="-120"/>
              </a:rPr>
              <a:t>0.889</a:t>
            </a:r>
            <a:endParaRPr lang="en-US" sz="18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970608" y="2779776"/>
          <a:ext cx="4672447" cy="914400"/>
        </p:xfrm>
        <a:graphic>
          <a:graphicData uri="http://schemas.openxmlformats.org/drawingml/2006/table">
            <a:tbl>
              <a:tblPr/>
              <a:tblGrid>
                <a:gridCol w="2944013"/>
                <a:gridCol w="576145"/>
                <a:gridCol w="576145"/>
                <a:gridCol w="576145"/>
              </a:tblGrid>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Pozitif ↓ / Negatif →</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0.7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0.3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0.2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0.9</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AUC = 0.889. </a:t>
            </a:r>
            <a:r>
              <a:rPr lang="en-US" sz="1700" dirty="0">
                <a:solidFill>
                  <a:srgbClr val="455A64"/>
                </a:solidFill>
                <a:latin typeface="Courier New" pitchFamily="34" charset="0"/>
                <a:ea typeface="Courier New" pitchFamily="34" charset="-122"/>
                <a:cs typeface="Courier New" pitchFamily="34" charset="-120"/>
              </a:rPr>
              <a:t>roc_auc_score([1,1,1,0,0,0], [0.9,0.8,0.4,0.7,0.3,0.2])</a:t>
            </a:r>
            <a:r>
              <a:rPr lang="en-US" sz="1700" dirty="0">
                <a:solidFill>
                  <a:srgbClr val="212121"/>
                </a:solidFill>
                <a:latin typeface="Calibri" pitchFamily="34" charset="0"/>
                <a:ea typeface="Calibri" pitchFamily="34" charset="-122"/>
                <a:cs typeface="Calibri" pitchFamily="34" charset="-120"/>
              </a:rPr>
              <a:t> → 0.889. AUC eşikten bağımsızdır; yalnızca </a:t>
            </a:r>
            <a:r>
              <a:rPr lang="en-US" sz="1700" b="1" dirty="0">
                <a:solidFill>
                  <a:srgbClr val="212121"/>
                </a:solidFill>
                <a:latin typeface="Calibri" pitchFamily="34" charset="0"/>
                <a:ea typeface="Calibri" pitchFamily="34" charset="-122"/>
                <a:cs typeface="Calibri" pitchFamily="34" charset="-120"/>
              </a:rPr>
              <a:t>sıralamaya</a:t>
            </a:r>
            <a:r>
              <a:rPr lang="en-US" sz="1700" dirty="0">
                <a:solidFill>
                  <a:srgbClr val="212121"/>
                </a:solidFill>
                <a:latin typeface="Calibri" pitchFamily="34" charset="0"/>
                <a:ea typeface="Calibri" pitchFamily="34" charset="-122"/>
                <a:cs typeface="Calibri" pitchFamily="34" charset="-120"/>
              </a:rPr>
              <a:t> bakar.</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13: ML II: denetimli sınıflandırma</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ROC noktalarını adım adım hesaplamak</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Aynı 6 örneği skora göre sırala: 0.9(+), 0.8(+), 0.7(−), 0.4(+), 0.3(−), 0.2(−). Eşiği yukarıdan aşağı indirerek (FPR, TPR) noktalarını bulun ve alanı hesaplayın.</a:t>
            </a:r>
            <a:endParaRPr lang="en-US" sz="1800" dirty="0"/>
          </a:p>
        </p:txBody>
      </p:sp>
      <p:sp>
        <p:nvSpPr>
          <p:cNvPr id="6" name="Text 4"/>
          <p:cNvSpPr txBox="1"/>
          <p:nvPr/>
        </p:nvSpPr>
        <p:spPr>
          <a:xfrm>
            <a:off x="548640" y="2779776"/>
            <a:ext cx="5769096"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750" dirty="0">
                <a:solidFill>
                  <a:srgbClr val="212121"/>
                </a:solidFill>
                <a:latin typeface="Calibri" pitchFamily="34" charset="0"/>
                <a:ea typeface="Calibri" pitchFamily="34" charset="-122"/>
                <a:cs typeface="Calibri" pitchFamily="34" charset="-120"/>
              </a:rPr>
              <a:t>Eşik &gt; 0.9: hiç pozitif tahmin yok → (0, 0)</a:t>
            </a:r>
            <a:endParaRPr lang="en-US" sz="1750" dirty="0"/>
          </a:p>
          <a:p>
            <a:pPr marL="342900" indent="-342900">
              <a:spcAft>
                <a:spcPts val="600"/>
              </a:spcAft>
              <a:buSzPct val="100000"/>
              <a:buFont typeface="+mj-lt"/>
              <a:buAutoNum type="arabicPeriod" startAt="1"/>
            </a:pPr>
            <a:r>
              <a:rPr lang="en-US" sz="1750" dirty="0">
                <a:solidFill>
                  <a:srgbClr val="212121"/>
                </a:solidFill>
                <a:latin typeface="Calibri" pitchFamily="34" charset="0"/>
                <a:ea typeface="Calibri" pitchFamily="34" charset="-122"/>
                <a:cs typeface="Calibri" pitchFamily="34" charset="-120"/>
              </a:rPr>
              <a:t>≥ 0.9: TP = 1 → (0, 1/3); ≥ 0.8: TP = 2 → (0, 2/3)</a:t>
            </a:r>
            <a:endParaRPr lang="en-US" sz="1750" dirty="0"/>
          </a:p>
          <a:p>
            <a:pPr marL="342900" indent="-342900">
              <a:spcAft>
                <a:spcPts val="600"/>
              </a:spcAft>
              <a:buSzPct val="100000"/>
              <a:buFont typeface="+mj-lt"/>
              <a:buAutoNum type="arabicPeriod" startAt="1"/>
            </a:pPr>
            <a:r>
              <a:rPr lang="en-US" sz="1750" dirty="0">
                <a:solidFill>
                  <a:srgbClr val="212121"/>
                </a:solidFill>
                <a:latin typeface="Calibri" pitchFamily="34" charset="0"/>
                <a:ea typeface="Calibri" pitchFamily="34" charset="-122"/>
                <a:cs typeface="Calibri" pitchFamily="34" charset="-120"/>
              </a:rPr>
              <a:t>≥ 0.7: FP = 1 → (1/3, 2/3); ≥ 0.4: TP = 3 → (1/3, 1)</a:t>
            </a:r>
            <a:endParaRPr lang="en-US" sz="1750" dirty="0"/>
          </a:p>
          <a:p>
            <a:pPr marL="342900" indent="-342900">
              <a:spcAft>
                <a:spcPts val="600"/>
              </a:spcAft>
              <a:buSzPct val="100000"/>
              <a:buFont typeface="+mj-lt"/>
              <a:buAutoNum type="arabicPeriod" startAt="1"/>
            </a:pPr>
            <a:r>
              <a:rPr lang="en-US" sz="1750" dirty="0">
                <a:solidFill>
                  <a:srgbClr val="212121"/>
                </a:solidFill>
                <a:latin typeface="Calibri" pitchFamily="34" charset="0"/>
                <a:ea typeface="Calibri" pitchFamily="34" charset="-122"/>
                <a:cs typeface="Calibri" pitchFamily="34" charset="-120"/>
              </a:rPr>
              <a:t>≥ 0.3: FP = 2 → (2/3, 1); ≥ 0.2: FP = 3 → (1, 1)</a:t>
            </a:r>
            <a:endParaRPr lang="en-US" sz="1750" dirty="0"/>
          </a:p>
          <a:p>
            <a:pPr marL="342900" indent="-342900">
              <a:spcAft>
                <a:spcPts val="600"/>
              </a:spcAft>
              <a:buSzPct val="100000"/>
              <a:buFont typeface="+mj-lt"/>
              <a:buAutoNum type="arabicPeriod" startAt="1"/>
            </a:pPr>
            <a:r>
              <a:rPr lang="en-US" sz="1750" dirty="0">
                <a:solidFill>
                  <a:srgbClr val="212121"/>
                </a:solidFill>
                <a:latin typeface="Calibri" pitchFamily="34" charset="0"/>
                <a:ea typeface="Calibri" pitchFamily="34" charset="-122"/>
                <a:cs typeface="Calibri" pitchFamily="34" charset="-120"/>
              </a:rPr>
              <a:t>Alan (dikdörtgenler): 1/3·2/3 + 1/3·1 + 1/3·1 = 2/9 + 3/9 + 3/9 = </a:t>
            </a:r>
            <a:r>
              <a:rPr lang="en-US" sz="1750" b="1" dirty="0">
                <a:solidFill>
                  <a:srgbClr val="212121"/>
                </a:solidFill>
                <a:latin typeface="Calibri" pitchFamily="34" charset="0"/>
                <a:ea typeface="Calibri" pitchFamily="34" charset="-122"/>
                <a:cs typeface="Calibri" pitchFamily="34" charset="-120"/>
              </a:rPr>
              <a:t>8/9</a:t>
            </a:r>
            <a:endParaRPr lang="en-US" sz="1750" dirty="0"/>
          </a:p>
        </p:txBody>
      </p:sp>
      <p:pic>
        <p:nvPicPr>
          <p:cNvPr id="7" name="Image 0" descr="p13_roc_elle.png">    </p:cNvPr>
          <p:cNvPicPr>
            <a:picLocks noChangeAspect="1"/>
          </p:cNvPicPr>
          <p:nvPr/>
        </p:nvPicPr>
        <p:blipFill>
          <a:blip r:embed="rId1"/>
          <a:stretch>
            <a:fillRect/>
          </a:stretch>
        </p:blipFill>
        <p:spPr>
          <a:xfrm>
            <a:off x="7713952" y="2779776"/>
            <a:ext cx="2852928" cy="2615184"/>
          </a:xfrm>
          <a:prstGeom prst="rect">
            <a:avLst/>
          </a:prstGeom>
        </p:spPr>
      </p:pic>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ROC altındaki alan = 8/9 = </a:t>
            </a:r>
            <a:r>
              <a:rPr lang="en-US" sz="1700" b="1" dirty="0">
                <a:solidFill>
                  <a:srgbClr val="212121"/>
                </a:solidFill>
                <a:latin typeface="Calibri" pitchFamily="34" charset="0"/>
                <a:ea typeface="Calibri" pitchFamily="34" charset="-122"/>
                <a:cs typeface="Calibri" pitchFamily="34" charset="-120"/>
              </a:rPr>
              <a:t>0.889</a:t>
            </a:r>
            <a:r>
              <a:rPr lang="en-US" sz="1700" dirty="0">
                <a:solidFill>
                  <a:srgbClr val="212121"/>
                </a:solidFill>
                <a:latin typeface="Calibri" pitchFamily="34" charset="0"/>
                <a:ea typeface="Calibri" pitchFamily="34" charset="-122"/>
                <a:cs typeface="Calibri" pitchFamily="34" charset="-120"/>
              </a:rPr>
              <a:t>, çift sayma yöntemiyle aynı. Pozitif görünce </a:t>
            </a:r>
            <a:r>
              <a:rPr lang="en-US" sz="1700" b="1" dirty="0">
                <a:solidFill>
                  <a:srgbClr val="212121"/>
                </a:solidFill>
                <a:latin typeface="Calibri" pitchFamily="34" charset="0"/>
                <a:ea typeface="Calibri" pitchFamily="34" charset="-122"/>
                <a:cs typeface="Calibri" pitchFamily="34" charset="-120"/>
              </a:rPr>
              <a:t>yukarı</a:t>
            </a:r>
            <a:r>
              <a:rPr lang="en-US" sz="1700" dirty="0">
                <a:solidFill>
                  <a:srgbClr val="212121"/>
                </a:solidFill>
                <a:latin typeface="Calibri" pitchFamily="34" charset="0"/>
                <a:ea typeface="Calibri" pitchFamily="34" charset="-122"/>
                <a:cs typeface="Calibri" pitchFamily="34" charset="-120"/>
              </a:rPr>
              <a:t>, negatif görünce </a:t>
            </a:r>
            <a:r>
              <a:rPr lang="en-US" sz="1700" b="1" dirty="0">
                <a:solidFill>
                  <a:srgbClr val="212121"/>
                </a:solidFill>
                <a:latin typeface="Calibri" pitchFamily="34" charset="0"/>
                <a:ea typeface="Calibri" pitchFamily="34" charset="-122"/>
                <a:cs typeface="Calibri" pitchFamily="34" charset="-120"/>
              </a:rPr>
              <a:t>sağa</a:t>
            </a:r>
            <a:r>
              <a:rPr lang="en-US" sz="1700" dirty="0">
                <a:solidFill>
                  <a:srgbClr val="212121"/>
                </a:solidFill>
                <a:latin typeface="Calibri" pitchFamily="34" charset="0"/>
                <a:ea typeface="Calibri" pitchFamily="34" charset="-122"/>
                <a:cs typeface="Calibri" pitchFamily="34" charset="-120"/>
              </a:rPr>
              <a:t> adım at.</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13: ML II: denetimli sınıflandırma</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Ölçütler ve ROC eğrisi Python'da</a:t>
            </a:r>
            <a:endParaRPr lang="en-US" sz="3000" dirty="0"/>
          </a:p>
        </p:txBody>
      </p:sp>
      <p:sp>
        <p:nvSpPr>
          <p:cNvPr id="3" name="Text 1"/>
          <p:cNvSpPr txBox="1"/>
          <p:nvPr/>
        </p:nvSpPr>
        <p:spPr>
          <a:xfrm>
            <a:off x="548640" y="4910328"/>
            <a:ext cx="1828800" cy="228600"/>
          </a:xfrm>
          <a:prstGeom prst="rect">
            <a:avLst/>
          </a:prstGeom>
          <a:noFill/>
          <a:ln/>
        </p:spPr>
        <p:txBody>
          <a:bodyPr wrap="square" lIns="0" tIns="0" rIns="0" bIns="0" rtlCol="0" anchor="ctr"/>
          <a:lstStyle/>
          <a:p>
            <a:pPr indent="0" marL="0">
              <a:buNone/>
            </a:pPr>
            <a:r>
              <a:rPr lang="en-US" sz="1100" b="1" dirty="0">
                <a:solidFill>
                  <a:srgbClr val="546E7A"/>
                </a:solidFill>
              </a:rPr>
              <a:t>Çıktı</a:t>
            </a:r>
            <a:endParaRPr lang="en-US" sz="1100" dirty="0"/>
          </a:p>
        </p:txBody>
      </p:sp>
      <p:sp>
        <p:nvSpPr>
          <p:cNvPr id="4" name="Shape 2"/>
          <p:cNvSpPr/>
          <p:nvPr/>
        </p:nvSpPr>
        <p:spPr>
          <a:xfrm>
            <a:off x="548640" y="5138928"/>
            <a:ext cx="6656649" cy="1124712"/>
          </a:xfrm>
          <a:prstGeom prst="roundRect">
            <a:avLst>
              <a:gd name="adj" fmla="val 6504"/>
            </a:avLst>
          </a:prstGeom>
          <a:solidFill>
            <a:srgbClr val="FFFFFF"/>
          </a:solidFill>
          <a:ln w="12700">
            <a:solidFill>
              <a:srgbClr val="B0BEC5"/>
            </a:solidFill>
            <a:prstDash val="solid"/>
          </a:ln>
        </p:spPr>
      </p:sp>
      <p:sp>
        <p:nvSpPr>
          <p:cNvPr id="5" name="Text 3"/>
          <p:cNvSpPr txBox="1"/>
          <p:nvPr/>
        </p:nvSpPr>
        <p:spPr>
          <a:xfrm>
            <a:off x="658368" y="5212080"/>
            <a:ext cx="6437193" cy="978408"/>
          </a:xfrm>
          <a:prstGeom prst="rect">
            <a:avLst/>
          </a:prstGeom>
          <a:noFill/>
          <a:ln/>
        </p:spPr>
        <p:txBody>
          <a:bodyPr wrap="square" lIns="0" tIns="0" rIns="0" bIns="0" rtlCol="0" anchor="t"/>
          <a:lstStyle/>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[[ 40  20]</a:t>
            </a:r>
            <a:endParaRPr lang="en-US" sz="1300" dirty="0"/>
          </a:p>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 [ 10 130]]</a:t>
            </a:r>
            <a:endParaRPr lang="en-US" sz="1300" dirty="0"/>
          </a:p>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0.889</a:t>
            </a:r>
            <a:endParaRPr lang="en-US" sz="1300" dirty="0"/>
          </a:p>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0.902</a:t>
            </a:r>
            <a:endParaRPr lang="en-US" sz="1300" dirty="0"/>
          </a:p>
        </p:txBody>
      </p:sp>
      <p:sp>
        <p:nvSpPr>
          <p:cNvPr id="6" name="Shape 4"/>
          <p:cNvSpPr/>
          <p:nvPr/>
        </p:nvSpPr>
        <p:spPr>
          <a:xfrm>
            <a:off x="548640" y="1234440"/>
            <a:ext cx="6656649" cy="3630168"/>
          </a:xfrm>
          <a:prstGeom prst="roundRect">
            <a:avLst>
              <a:gd name="adj" fmla="val 2015"/>
            </a:avLst>
          </a:prstGeom>
          <a:solidFill>
            <a:srgbClr val="F4F6F7"/>
          </a:solidFill>
          <a:ln w="12700">
            <a:solidFill>
              <a:srgbClr val="B0BEC5"/>
            </a:solidFill>
            <a:prstDash val="solid"/>
          </a:ln>
        </p:spPr>
      </p:sp>
      <p:sp>
        <p:nvSpPr>
          <p:cNvPr id="7" name="Text 5"/>
          <p:cNvSpPr txBox="1"/>
          <p:nvPr/>
        </p:nvSpPr>
        <p:spPr>
          <a:xfrm>
            <a:off x="658368" y="1307592"/>
            <a:ext cx="6437193" cy="3483864"/>
          </a:xfrm>
          <a:prstGeom prst="rect">
            <a:avLst/>
          </a:prstGeom>
          <a:noFill/>
          <a:ln/>
        </p:spPr>
        <p:txBody>
          <a:bodyPr wrap="square" lIns="0" tIns="0" rIns="0" bIns="0" rtlCol="0" anchor="t"/>
          <a:lstStyle/>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from sklearn.metrics import (confusion_matrix,</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    roc_curve, roc_auc_score)</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 elle örnek: 60 pozitif, 140 negatif</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y_g = np.array([1]*60 + [0]*140)</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y_t = np.array([1]*40 + [0]*20 + [1]*10 + [0]*130)</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print(confusion_matrix(y_g, y_t, labels=[1, 0]))</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 ROC: olasılık skoru gerekir, etiket değil</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print(roc_auc_score([1,1,1,0,0,0],</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                    [0.9,0.8,0.4,0.7,0.3,0.2]))</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rf = modeller["RF (300 ağaç)"]</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p = rf.predict_proba(X_test)[:, 1]</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fpr, tpr, esik = roc_curve(y_test, p)</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print(round(roc_auc_score(y_test, p), 3))</a:t>
            </a:r>
            <a:endParaRPr lang="en-US" sz="1400" dirty="0"/>
          </a:p>
        </p:txBody>
      </p:sp>
      <p:sp>
        <p:nvSpPr>
          <p:cNvPr id="8" name="Text 6"/>
          <p:cNvSpPr txBox="1"/>
          <p:nvPr/>
        </p:nvSpPr>
        <p:spPr>
          <a:xfrm>
            <a:off x="7525329" y="1234440"/>
            <a:ext cx="4117726"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confusion_matrix</a:t>
            </a:r>
            <a:r>
              <a:rPr lang="en-US" sz="1700" dirty="0">
                <a:solidFill>
                  <a:srgbClr val="212121"/>
                </a:solidFill>
                <a:latin typeface="Calibri" pitchFamily="34" charset="0"/>
                <a:ea typeface="Calibri" pitchFamily="34" charset="-122"/>
                <a:cs typeface="Calibri" pitchFamily="34" charset="-120"/>
              </a:rPr>
              <a:t>: satır gerçek, sütun tahmin; </a:t>
            </a:r>
            <a:r>
              <a:rPr lang="en-US" sz="1700" dirty="0">
                <a:solidFill>
                  <a:srgbClr val="455A64"/>
                </a:solidFill>
                <a:latin typeface="Courier New" pitchFamily="34" charset="0"/>
                <a:ea typeface="Courier New" pitchFamily="34" charset="-122"/>
                <a:cs typeface="Courier New" pitchFamily="34" charset="-120"/>
              </a:rPr>
              <a:t>labels=[1, 0]</a:t>
            </a:r>
            <a:r>
              <a:rPr lang="en-US" sz="1700" dirty="0">
                <a:solidFill>
                  <a:srgbClr val="212121"/>
                </a:solidFill>
                <a:latin typeface="Calibri" pitchFamily="34" charset="0"/>
                <a:ea typeface="Calibri" pitchFamily="34" charset="-122"/>
                <a:cs typeface="Calibri" pitchFamily="34" charset="-120"/>
              </a:rPr>
              <a:t> ile TP sol üstte</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roc_curve</a:t>
            </a:r>
            <a:r>
              <a:rPr lang="en-US" sz="1700" dirty="0">
                <a:solidFill>
                  <a:srgbClr val="212121"/>
                </a:solidFill>
                <a:latin typeface="Calibri" pitchFamily="34" charset="0"/>
                <a:ea typeface="Calibri" pitchFamily="34" charset="-122"/>
                <a:cs typeface="Calibri" pitchFamily="34" charset="-120"/>
              </a:rPr>
              <a:t> her eşik için (FPR, TPR) döndürür — elle yaptığımız tablonun aynısı</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predict_proba(...)[:, 1]</a:t>
            </a:r>
            <a:r>
              <a:rPr lang="en-US" sz="1700" dirty="0">
                <a:solidFill>
                  <a:srgbClr val="212121"/>
                </a:solidFill>
                <a:latin typeface="Calibri" pitchFamily="34" charset="0"/>
                <a:ea typeface="Calibri" pitchFamily="34" charset="-122"/>
                <a:cs typeface="Calibri" pitchFamily="34" charset="-120"/>
              </a:rPr>
              <a:t>: pozitif sınıf olasılığı</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AUC için </a:t>
            </a:r>
            <a:r>
              <a:rPr lang="en-US" sz="1700" b="1" dirty="0">
                <a:solidFill>
                  <a:srgbClr val="212121"/>
                </a:solidFill>
                <a:latin typeface="Calibri" pitchFamily="34" charset="0"/>
                <a:ea typeface="Calibri" pitchFamily="34" charset="-122"/>
                <a:cs typeface="Calibri" pitchFamily="34" charset="-120"/>
              </a:rPr>
              <a:t>etiket değil skor</a:t>
            </a:r>
            <a:r>
              <a:rPr lang="en-US" sz="1700" dirty="0">
                <a:solidFill>
                  <a:srgbClr val="212121"/>
                </a:solidFill>
                <a:latin typeface="Calibri" pitchFamily="34" charset="0"/>
                <a:ea typeface="Calibri" pitchFamily="34" charset="-122"/>
                <a:cs typeface="Calibri" pitchFamily="34" charset="-120"/>
              </a:rPr>
              <a:t> verilmeli; </a:t>
            </a:r>
            <a:r>
              <a:rPr lang="en-US" sz="1700" dirty="0">
                <a:solidFill>
                  <a:srgbClr val="455A64"/>
                </a:solidFill>
                <a:latin typeface="Courier New" pitchFamily="34" charset="0"/>
                <a:ea typeface="Courier New" pitchFamily="34" charset="-122"/>
                <a:cs typeface="Courier New" pitchFamily="34" charset="-120"/>
              </a:rPr>
              <a:t>predict</a:t>
            </a:r>
            <a:r>
              <a:rPr lang="en-US" sz="1700" dirty="0">
                <a:solidFill>
                  <a:srgbClr val="212121"/>
                </a:solidFill>
                <a:latin typeface="Calibri" pitchFamily="34" charset="0"/>
                <a:ea typeface="Calibri" pitchFamily="34" charset="-122"/>
                <a:cs typeface="Calibri" pitchFamily="34" charset="-120"/>
              </a:rPr>
              <a:t> ile AUC yanlış olur</a:t>
            </a:r>
            <a:endParaRPr lang="en-US" sz="1700" dirty="0"/>
          </a:p>
        </p:txBody>
      </p:sp>
      <p:sp>
        <p:nvSpPr>
          <p:cNvPr id="9"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13: ML II: denetimli sınıflandırma</a:t>
            </a:r>
            <a:endParaRPr lang="en-US" sz="900" dirty="0"/>
          </a:p>
        </p:txBody>
      </p:sp>
      <p:sp>
        <p:nvSpPr>
          <p:cNvPr id="10"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Test verisinde ROC ve karar eşiği</a:t>
            </a:r>
            <a:endParaRPr lang="en-US" sz="3000" dirty="0"/>
          </a:p>
        </p:txBody>
      </p:sp>
      <p:pic>
        <p:nvPicPr>
          <p:cNvPr id="3" name="Image 0" descr="g13_roc.png">    </p:cNvPr>
          <p:cNvPicPr>
            <a:picLocks noChangeAspect="1"/>
          </p:cNvPicPr>
          <p:nvPr/>
        </p:nvPicPr>
        <p:blipFill>
          <a:blip r:embed="rId1"/>
          <a:stretch>
            <a:fillRect/>
          </a:stretch>
        </p:blipFill>
        <p:spPr>
          <a:xfrm>
            <a:off x="548640" y="2044055"/>
            <a:ext cx="11094415" cy="2998491"/>
          </a:xfrm>
          <a:prstGeom prst="rect">
            <a:avLst/>
          </a:prstGeom>
        </p:spPr>
      </p:pic>
      <p:sp>
        <p:nvSpPr>
          <p:cNvPr id="4" name="Text 1"/>
          <p:cNvSpPr txBox="1"/>
          <p:nvPr/>
        </p:nvSpPr>
        <p:spPr>
          <a:xfrm>
            <a:off x="548640" y="5115697"/>
            <a:ext cx="11094415" cy="320040"/>
          </a:xfrm>
          <a:prstGeom prst="rect">
            <a:avLst/>
          </a:prstGeom>
          <a:noFill/>
          <a:ln/>
        </p:spPr>
        <p:txBody>
          <a:bodyPr wrap="square" lIns="0" tIns="0" rIns="0" bIns="0" rtlCol="0" anchor="ctr"/>
          <a:lstStyle/>
          <a:p>
            <a:pPr algn="ctr" indent="0" marL="0">
              <a:buNone/>
            </a:pPr>
            <a:r>
              <a:rPr lang="en-US" sz="1200" i="1" dirty="0">
                <a:solidFill>
                  <a:srgbClr val="546E7A"/>
                </a:solidFill>
              </a:rPr>
              <a:t>Sol: RF karışıklık matrisi. Orta: ROC (LR 0.902, RF 0.902, k-NN 0.858). Sağ: eşik değiştikçe kesinlik ve duyarlılık (LR)</a:t>
            </a:r>
            <a:endParaRPr lang="en-US" sz="1200" dirty="0"/>
          </a:p>
        </p:txBody>
      </p:sp>
      <p:sp>
        <p:nvSpPr>
          <p:cNvPr id="5"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13: ML II: denetimli sınıflandırma</a:t>
            </a:r>
            <a:endParaRPr lang="en-US" sz="900" dirty="0"/>
          </a:p>
        </p:txBody>
      </p:sp>
      <p:sp>
        <p:nvSpPr>
          <p:cNvPr id="6" name="Text 3"/>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ECEFF1"/>
        </a:solidFill>
      </p:bgPr>
    </p:bg>
    <p:spTree>
      <p:nvGrpSpPr>
        <p:cNvPr id="1" name=""/>
        <p:cNvGrpSpPr/>
        <p:nvPr/>
      </p:nvGrpSpPr>
      <p:grpSpPr>
        <a:xfrm>
          <a:off x="0" y="0"/>
          <a:ext cx="0" cy="0"/>
          <a:chOff x="0" y="0"/>
          <a:chExt cx="0" cy="0"/>
        </a:xfrm>
      </p:grpSpPr>
      <p:sp>
        <p:nvSpPr>
          <p:cNvPr id="2" name="Text 0"/>
          <p:cNvSpPr txBox="1"/>
          <p:nvPr/>
        </p:nvSpPr>
        <p:spPr>
          <a:xfrm>
            <a:off x="548640" y="1920240"/>
            <a:ext cx="2011680" cy="2011680"/>
          </a:xfrm>
          <a:prstGeom prst="rect">
            <a:avLst/>
          </a:prstGeom>
          <a:noFill/>
          <a:ln/>
        </p:spPr>
        <p:txBody>
          <a:bodyPr wrap="square" lIns="0" tIns="0" rIns="0" bIns="0" rtlCol="0" anchor="ctr"/>
          <a:lstStyle/>
          <a:p>
            <a:pPr indent="0" marL="0">
              <a:buNone/>
            </a:pPr>
            <a:r>
              <a:rPr lang="en-US" sz="11000" b="1" dirty="0">
                <a:solidFill>
                  <a:srgbClr val="B71C1C"/>
                </a:solidFill>
                <a:latin typeface="Calibri" pitchFamily="34" charset="0"/>
                <a:ea typeface="Calibri" pitchFamily="34" charset="-122"/>
                <a:cs typeface="Calibri" pitchFamily="34" charset="-120"/>
              </a:rPr>
              <a:t>4</a:t>
            </a:r>
            <a:endParaRPr lang="en-US" sz="11000" dirty="0"/>
          </a:p>
        </p:txBody>
      </p:sp>
      <p:sp>
        <p:nvSpPr>
          <p:cNvPr id="3" name="Text 1"/>
          <p:cNvSpPr txBox="1"/>
          <p:nvPr/>
        </p:nvSpPr>
        <p:spPr>
          <a:xfrm>
            <a:off x="2834640" y="2103120"/>
            <a:ext cx="8808415" cy="1005840"/>
          </a:xfrm>
          <a:prstGeom prst="rect">
            <a:avLst/>
          </a:prstGeom>
          <a:noFill/>
          <a:ln/>
        </p:spPr>
        <p:txBody>
          <a:bodyPr wrap="square" lIns="0" tIns="0" rIns="0" bIns="0" rtlCol="0" anchor="b"/>
          <a:lstStyle/>
          <a:p>
            <a:pPr indent="0" marL="0">
              <a:buNone/>
            </a:pPr>
            <a:r>
              <a:rPr lang="en-US" sz="3400" b="1" dirty="0">
                <a:solidFill>
                  <a:srgbClr val="263238"/>
                </a:solidFill>
                <a:latin typeface="Calibri" pitchFamily="34" charset="0"/>
                <a:ea typeface="Calibri" pitchFamily="34" charset="-122"/>
                <a:cs typeface="Calibri" pitchFamily="34" charset="-120"/>
              </a:rPr>
              <a:t>Çapraz doğrulama ve model seçimi</a:t>
            </a:r>
            <a:endParaRPr lang="en-US" sz="3400" dirty="0"/>
          </a:p>
        </p:txBody>
      </p:sp>
      <p:sp>
        <p:nvSpPr>
          <p:cNvPr id="4" name="Text 2"/>
          <p:cNvSpPr txBox="1"/>
          <p:nvPr/>
        </p:nvSpPr>
        <p:spPr>
          <a:xfrm>
            <a:off x="2834640" y="3200400"/>
            <a:ext cx="8808415" cy="1097280"/>
          </a:xfrm>
          <a:prstGeom prst="rect">
            <a:avLst/>
          </a:prstGeom>
          <a:noFill/>
          <a:ln/>
        </p:spPr>
        <p:txBody>
          <a:bodyPr wrap="square" lIns="0" tIns="0" rIns="0" bIns="0" rtlCol="0" anchor="t"/>
          <a:lstStyle/>
          <a:p>
            <a:pPr indent="0" marL="0">
              <a:buNone/>
            </a:pPr>
            <a:r>
              <a:rPr lang="en-US" sz="1700" dirty="0">
                <a:solidFill>
                  <a:srgbClr val="546E7A"/>
                </a:solidFill>
                <a:latin typeface="Calibri" pitchFamily="34" charset="0"/>
                <a:ea typeface="Calibri" pitchFamily="34" charset="-122"/>
                <a:cs typeface="Calibri" pitchFamily="34" charset="-120"/>
              </a:rPr>
              <a:t>Tek bir bölmenin şansına güvenmemek; özellik setlerini ve karmaşıklığı karşılaştırmak</a:t>
            </a:r>
            <a:endParaRPr lang="en-US" sz="1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5 katlı çapraz doğrulama</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Eğitim verisi 5 kata bölünür; her turda bir kat doğrulama, dördü eğitim. Katlarda AUC = 0.90, 0.88, 0.91, 0.87, 0.93 bulunduysa CV skoru nedir? (Açıklayıcı sayılar)</a:t>
            </a:r>
            <a:endParaRPr lang="en-US" sz="1800" dirty="0"/>
          </a:p>
        </p:txBody>
      </p:sp>
      <p:sp>
        <p:nvSpPr>
          <p:cNvPr id="6" name="Text 4"/>
          <p:cNvSpPr txBox="1"/>
          <p:nvPr/>
        </p:nvSpPr>
        <p:spPr>
          <a:xfrm>
            <a:off x="548640" y="2779776"/>
            <a:ext cx="5103431"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650" dirty="0">
                <a:solidFill>
                  <a:srgbClr val="212121"/>
                </a:solidFill>
                <a:latin typeface="Calibri" pitchFamily="34" charset="0"/>
                <a:ea typeface="Calibri" pitchFamily="34" charset="-122"/>
                <a:cs typeface="Calibri" pitchFamily="34" charset="-120"/>
              </a:rPr>
              <a:t>Her örnek </a:t>
            </a:r>
            <a:r>
              <a:rPr lang="en-US" sz="1650" b="1" dirty="0">
                <a:solidFill>
                  <a:srgbClr val="212121"/>
                </a:solidFill>
                <a:latin typeface="Calibri" pitchFamily="34" charset="0"/>
                <a:ea typeface="Calibri" pitchFamily="34" charset="-122"/>
                <a:cs typeface="Calibri" pitchFamily="34" charset="-120"/>
              </a:rPr>
              <a:t>tam bir kez</a:t>
            </a:r>
            <a:r>
              <a:rPr lang="en-US" sz="1650" dirty="0">
                <a:solidFill>
                  <a:srgbClr val="212121"/>
                </a:solidFill>
                <a:latin typeface="Calibri" pitchFamily="34" charset="0"/>
                <a:ea typeface="Calibri" pitchFamily="34" charset="-122"/>
                <a:cs typeface="Calibri" pitchFamily="34" charset="-120"/>
              </a:rPr>
              <a:t> doğrulamada yer alır; 5 model eğitilir</a:t>
            </a:r>
            <a:endParaRPr lang="en-US" sz="1650" dirty="0"/>
          </a:p>
          <a:p>
            <a:pPr marL="342900" indent="-342900">
              <a:spcAft>
                <a:spcPts val="600"/>
              </a:spcAft>
              <a:buSzPct val="100000"/>
              <a:buFont typeface="+mj-lt"/>
              <a:buAutoNum type="arabicPeriod" startAt="1"/>
            </a:pPr>
            <a:r>
              <a:rPr lang="en-US" sz="1650" dirty="0">
                <a:solidFill>
                  <a:srgbClr val="212121"/>
                </a:solidFill>
                <a:latin typeface="Calibri" pitchFamily="34" charset="0"/>
                <a:ea typeface="Calibri" pitchFamily="34" charset="-122"/>
                <a:cs typeface="Calibri" pitchFamily="34" charset="-120"/>
              </a:rPr>
              <a:t>Ortalama = (0.90 + 0.88 + 0.91 + 0.87 + 0.93) / 5 = 4.49 / 5 = </a:t>
            </a:r>
            <a:r>
              <a:rPr lang="en-US" sz="1650" b="1" dirty="0">
                <a:solidFill>
                  <a:srgbClr val="212121"/>
                </a:solidFill>
                <a:latin typeface="Calibri" pitchFamily="34" charset="0"/>
                <a:ea typeface="Calibri" pitchFamily="34" charset="-122"/>
                <a:cs typeface="Calibri" pitchFamily="34" charset="-120"/>
              </a:rPr>
              <a:t>0.898</a:t>
            </a:r>
            <a:endParaRPr lang="en-US" sz="1650" dirty="0"/>
          </a:p>
          <a:p>
            <a:pPr marL="342900" indent="-342900">
              <a:spcAft>
                <a:spcPts val="600"/>
              </a:spcAft>
              <a:buSzPct val="100000"/>
              <a:buFont typeface="+mj-lt"/>
              <a:buAutoNum type="arabicPeriod" startAt="1"/>
            </a:pPr>
            <a:r>
              <a:rPr lang="en-US" sz="1650" dirty="0">
                <a:solidFill>
                  <a:srgbClr val="212121"/>
                </a:solidFill>
                <a:latin typeface="Calibri" pitchFamily="34" charset="0"/>
                <a:ea typeface="Calibri" pitchFamily="34" charset="-122"/>
                <a:cs typeface="Calibri" pitchFamily="34" charset="-120"/>
              </a:rPr>
              <a:t>Sapmalar: 0.002, −0.018, 0.012, −0.028, 0.032</a:t>
            </a:r>
            <a:endParaRPr lang="en-US" sz="1650" dirty="0"/>
          </a:p>
          <a:p>
            <a:pPr marL="342900" indent="-342900">
              <a:spcAft>
                <a:spcPts val="600"/>
              </a:spcAft>
              <a:buSzPct val="100000"/>
              <a:buFont typeface="+mj-lt"/>
              <a:buAutoNum type="arabicPeriod" startAt="1"/>
            </a:pPr>
            <a:r>
              <a:rPr lang="en-US" sz="1650" dirty="0">
                <a:solidFill>
                  <a:srgbClr val="212121"/>
                </a:solidFill>
                <a:latin typeface="Calibri" pitchFamily="34" charset="0"/>
                <a:ea typeface="Calibri" pitchFamily="34" charset="-122"/>
                <a:cs typeface="Calibri" pitchFamily="34" charset="-120"/>
              </a:rPr>
              <a:t>Std (n ile) = √(0.00228 / 5) = </a:t>
            </a:r>
            <a:r>
              <a:rPr lang="en-US" sz="1650" b="1" dirty="0">
                <a:solidFill>
                  <a:srgbClr val="212121"/>
                </a:solidFill>
                <a:latin typeface="Calibri" pitchFamily="34" charset="0"/>
                <a:ea typeface="Calibri" pitchFamily="34" charset="-122"/>
                <a:cs typeface="Calibri" pitchFamily="34" charset="-120"/>
              </a:rPr>
              <a:t>0.021</a:t>
            </a:r>
            <a:r>
              <a:rPr lang="en-US" sz="1650" dirty="0">
                <a:solidFill>
                  <a:srgbClr val="212121"/>
                </a:solidFill>
                <a:latin typeface="Calibri" pitchFamily="34" charset="0"/>
                <a:ea typeface="Calibri" pitchFamily="34" charset="-122"/>
                <a:cs typeface="Calibri" pitchFamily="34" charset="-120"/>
              </a:rPr>
              <a:t> (n − 1 ile 0.024)</a:t>
            </a:r>
            <a:endParaRPr lang="en-US" sz="1650" dirty="0"/>
          </a:p>
          <a:p>
            <a:pPr marL="342900" indent="-342900">
              <a:spcAft>
                <a:spcPts val="600"/>
              </a:spcAft>
              <a:buSzPct val="100000"/>
              <a:buFont typeface="+mj-lt"/>
              <a:buAutoNum type="arabicPeriod" startAt="1"/>
            </a:pPr>
            <a:r>
              <a:rPr lang="en-US" sz="1650" dirty="0">
                <a:solidFill>
                  <a:srgbClr val="212121"/>
                </a:solidFill>
                <a:latin typeface="Calibri" pitchFamily="34" charset="0"/>
                <a:ea typeface="Calibri" pitchFamily="34" charset="-122"/>
                <a:cs typeface="Calibri" pitchFamily="34" charset="-120"/>
              </a:rPr>
              <a:t>Rapor: </a:t>
            </a:r>
            <a:r>
              <a:rPr lang="en-US" sz="1650" b="1" dirty="0">
                <a:solidFill>
                  <a:srgbClr val="212121"/>
                </a:solidFill>
                <a:latin typeface="Calibri" pitchFamily="34" charset="0"/>
                <a:ea typeface="Calibri" pitchFamily="34" charset="-122"/>
                <a:cs typeface="Calibri" pitchFamily="34" charset="-120"/>
              </a:rPr>
              <a:t>AUC = 0.898 ± 0.021</a:t>
            </a:r>
            <a:endParaRPr lang="en-US" sz="1650" dirty="0"/>
          </a:p>
        </p:txBody>
      </p:sp>
      <p:pic>
        <p:nvPicPr>
          <p:cNvPr id="7" name="Image 0" descr="f13_cv.png">    </p:cNvPr>
          <p:cNvPicPr>
            <a:picLocks noChangeAspect="1"/>
          </p:cNvPicPr>
          <p:nvPr/>
        </p:nvPicPr>
        <p:blipFill>
          <a:blip r:embed="rId1"/>
          <a:stretch>
            <a:fillRect/>
          </a:stretch>
        </p:blipFill>
        <p:spPr>
          <a:xfrm>
            <a:off x="5972111" y="3044915"/>
            <a:ext cx="5670944" cy="2084906"/>
          </a:xfrm>
          <a:prstGeom prst="rect">
            <a:avLst/>
          </a:prstGeom>
        </p:spPr>
      </p:pic>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CV hem ortalama başarıyı hem </a:t>
            </a:r>
            <a:r>
              <a:rPr lang="en-US" sz="1700" b="1" dirty="0">
                <a:solidFill>
                  <a:srgbClr val="212121"/>
                </a:solidFill>
                <a:latin typeface="Calibri" pitchFamily="34" charset="0"/>
                <a:ea typeface="Calibri" pitchFamily="34" charset="-122"/>
                <a:cs typeface="Calibri" pitchFamily="34" charset="-120"/>
              </a:rPr>
              <a:t>belirsizliği</a:t>
            </a:r>
            <a:r>
              <a:rPr lang="en-US" sz="1700" dirty="0">
                <a:solidFill>
                  <a:srgbClr val="212121"/>
                </a:solidFill>
                <a:latin typeface="Calibri" pitchFamily="34" charset="0"/>
                <a:ea typeface="Calibri" pitchFamily="34" charset="-122"/>
                <a:cs typeface="Calibri" pitchFamily="34" charset="-120"/>
              </a:rPr>
              <a:t> verir. </a:t>
            </a:r>
            <a:r>
              <a:rPr lang="en-US" sz="1700" dirty="0">
                <a:solidFill>
                  <a:srgbClr val="455A64"/>
                </a:solidFill>
                <a:latin typeface="Courier New" pitchFamily="34" charset="0"/>
                <a:ea typeface="Courier New" pitchFamily="34" charset="-122"/>
                <a:cs typeface="Courier New" pitchFamily="34" charset="-120"/>
              </a:rPr>
              <a:t>StratifiedKFold(5, shuffle=True)</a:t>
            </a:r>
            <a:r>
              <a:rPr lang="en-US" sz="1700" dirty="0">
                <a:solidFill>
                  <a:srgbClr val="212121"/>
                </a:solidFill>
                <a:latin typeface="Calibri" pitchFamily="34" charset="0"/>
                <a:ea typeface="Calibri" pitchFamily="34" charset="-122"/>
                <a:cs typeface="Calibri" pitchFamily="34" charset="-120"/>
              </a:rPr>
              <a:t> her katta sınıf oranını korur.</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13: ML II: denetimli sınıflandırma</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2800" b="1" dirty="0">
                <a:solidFill>
                  <a:srgbClr val="263238"/>
                </a:solidFill>
                <a:latin typeface="Calibri" pitchFamily="34" charset="0"/>
                <a:ea typeface="Calibri" pitchFamily="34" charset="-122"/>
                <a:cs typeface="Calibri" pitchFamily="34" charset="-120"/>
              </a:rPr>
              <a:t>Özellik setlerinin karşılaştırması (5 katlı CV, AUC)</a:t>
            </a:r>
            <a:endParaRPr lang="en-US" sz="2800" dirty="0"/>
          </a:p>
        </p:txBody>
      </p:sp>
      <p:sp>
        <p:nvSpPr>
          <p:cNvPr id="3" name="Text 1"/>
          <p:cNvSpPr txBox="1"/>
          <p:nvPr/>
        </p:nvSpPr>
        <p:spPr>
          <a:xfrm>
            <a:off x="548640" y="1234440"/>
            <a:ext cx="11094415" cy="731520"/>
          </a:xfrm>
          <a:prstGeom prst="rect">
            <a:avLst/>
          </a:prstGeom>
          <a:noFill/>
          <a:ln/>
        </p:spPr>
        <p:txBody>
          <a:bodyPr wrap="square" lIns="25400" tIns="25400" rIns="50800" bIns="25400" rtlCol="0" anchor="t"/>
          <a:lstStyle/>
          <a:p>
            <a:pPr algn="l" indent="0" marL="0">
              <a:spcAft>
                <a:spcPts val="600"/>
              </a:spcAft>
              <a:buNone/>
            </a:pPr>
            <a:r>
              <a:rPr lang="en-US" sz="1600" dirty="0">
                <a:solidFill>
                  <a:srgbClr val="212121"/>
                </a:solidFill>
                <a:latin typeface="Calibri" pitchFamily="34" charset="0"/>
                <a:ea typeface="Calibri" pitchFamily="34" charset="-122"/>
                <a:cs typeface="Calibri" pitchFamily="34" charset="-120"/>
              </a:rPr>
              <a:t>Biyolojik bilgiyle tasarlanmış </a:t>
            </a:r>
            <a:r>
              <a:rPr lang="en-US" sz="1600" b="1" dirty="0">
                <a:solidFill>
                  <a:srgbClr val="212121"/>
                </a:solidFill>
                <a:latin typeface="Calibri" pitchFamily="34" charset="0"/>
                <a:ea typeface="Calibri" pitchFamily="34" charset="-122"/>
                <a:cs typeface="Calibri" pitchFamily="34" charset="-120"/>
              </a:rPr>
              <a:t>3 motif özelliği</a:t>
            </a:r>
            <a:r>
              <a:rPr lang="en-US" sz="1600" dirty="0">
                <a:solidFill>
                  <a:srgbClr val="212121"/>
                </a:solidFill>
                <a:latin typeface="Calibri" pitchFamily="34" charset="0"/>
                <a:ea typeface="Calibri" pitchFamily="34" charset="-122"/>
                <a:cs typeface="Calibri" pitchFamily="34" charset="-120"/>
              </a:rPr>
              <a:t>, 64–256 boyutlu k-mer vektörleriyle yarışıyor; birleşimi en iyisi → </a:t>
            </a:r>
            <a:r>
              <a:rPr lang="en-US" sz="1600" b="1" dirty="0">
                <a:solidFill>
                  <a:srgbClr val="212121"/>
                </a:solidFill>
                <a:latin typeface="Calibri" pitchFamily="34" charset="0"/>
                <a:ea typeface="Calibri" pitchFamily="34" charset="-122"/>
                <a:cs typeface="Calibri" pitchFamily="34" charset="-120"/>
              </a:rPr>
              <a:t>alan bilgisi + veri odaklı özellikler</a:t>
            </a:r>
            <a:r>
              <a:rPr lang="en-US" sz="1600" dirty="0">
                <a:solidFill>
                  <a:srgbClr val="212121"/>
                </a:solidFill>
                <a:latin typeface="Calibri" pitchFamily="34" charset="0"/>
                <a:ea typeface="Calibri" pitchFamily="34" charset="-122"/>
                <a:cs typeface="Calibri" pitchFamily="34" charset="-120"/>
              </a:rPr>
              <a:t>.</a:t>
            </a:r>
            <a:endParaRPr lang="en-US" sz="16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2057400"/>
          <a:ext cx="6434761" cy="914400"/>
        </p:xfrm>
        <a:graphic>
          <a:graphicData uri="http://schemas.openxmlformats.org/drawingml/2006/table">
            <a:tbl>
              <a:tblPr/>
              <a:tblGrid>
                <a:gridCol w="2169020"/>
                <a:gridCol w="939909"/>
                <a:gridCol w="1662916"/>
                <a:gridCol w="1662916"/>
              </a:tblGrid>
              <a:tr h="0">
                <a:tc>
                  <a:txBody>
                    <a:bodyPr/>
                    <a:lstStyle/>
                    <a:p>
                      <a:pPr algn="l" indent="0" marL="0">
                        <a:buNone/>
                      </a:pPr>
                      <a:r>
                        <a:rPr lang="en-US" sz="1700" b="1" dirty="0">
                          <a:solidFill>
                            <a:srgbClr val="212121"/>
                          </a:solidFill>
                          <a:latin typeface="Calibri" pitchFamily="34" charset="0"/>
                          <a:ea typeface="Calibri" pitchFamily="34" charset="-122"/>
                          <a:cs typeface="Calibri" pitchFamily="34" charset="-120"/>
                        </a:rPr>
                        <a:t>Özellikler</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700" b="1" dirty="0">
                          <a:solidFill>
                            <a:srgbClr val="212121"/>
                          </a:solidFill>
                          <a:latin typeface="Calibri" pitchFamily="34" charset="0"/>
                          <a:ea typeface="Calibri" pitchFamily="34" charset="-122"/>
                          <a:cs typeface="Calibri" pitchFamily="34" charset="-120"/>
                        </a:rPr>
                        <a:t>Boyut</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700" b="1" dirty="0">
                          <a:solidFill>
                            <a:srgbClr val="212121"/>
                          </a:solidFill>
                          <a:latin typeface="Calibri" pitchFamily="34" charset="0"/>
                          <a:ea typeface="Calibri" pitchFamily="34" charset="-122"/>
                          <a:cs typeface="Calibri" pitchFamily="34" charset="-120"/>
                        </a:rPr>
                        <a:t>Lojistik regresyon</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700" b="1" dirty="0">
                          <a:solidFill>
                            <a:srgbClr val="212121"/>
                          </a:solidFill>
                          <a:latin typeface="Calibri" pitchFamily="34" charset="0"/>
                          <a:ea typeface="Calibri" pitchFamily="34" charset="-122"/>
                          <a:cs typeface="Calibri" pitchFamily="34" charset="-120"/>
                        </a:rPr>
                        <a:t>Rastgele orman</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k = 1 (bileşim)</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4</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0.794</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0.730</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k = 2</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16</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0.815</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0.800</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k = 3</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64</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0.826</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0.829</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k = 4</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256</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0.842</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0.857</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Yalnızca motif</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700" b="1" dirty="0">
                          <a:solidFill>
                            <a:srgbClr val="212121"/>
                          </a:solidFill>
                          <a:latin typeface="Calibri" pitchFamily="34" charset="0"/>
                          <a:ea typeface="Calibri" pitchFamily="34" charset="-122"/>
                          <a:cs typeface="Calibri" pitchFamily="34" charset="-120"/>
                        </a:rPr>
                        <a:t>3</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0.816</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0.832</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r h="0">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k = 3 + motif</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67</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700" b="1" dirty="0">
                          <a:solidFill>
                            <a:srgbClr val="212121"/>
                          </a:solidFill>
                          <a:latin typeface="Calibri" pitchFamily="34" charset="0"/>
                          <a:ea typeface="Calibri" pitchFamily="34" charset="-122"/>
                          <a:cs typeface="Calibri" pitchFamily="34" charset="-120"/>
                        </a:rPr>
                        <a:t>0.899</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700" b="1" dirty="0">
                          <a:solidFill>
                            <a:srgbClr val="212121"/>
                          </a:solidFill>
                          <a:latin typeface="Calibri" pitchFamily="34" charset="0"/>
                          <a:ea typeface="Calibri" pitchFamily="34" charset="-122"/>
                          <a:cs typeface="Calibri" pitchFamily="34" charset="-120"/>
                        </a:rPr>
                        <a:t>0.889</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bl>
          </a:graphicData>
        </a:graphic>
      </p:graphicFrame>
      <p:pic>
        <p:nvPicPr>
          <p:cNvPr id="5" name="Image 0" descr="p13_ozellik_cv.png">    </p:cNvPr>
          <p:cNvPicPr>
            <a:picLocks noChangeAspect="1"/>
          </p:cNvPicPr>
          <p:nvPr/>
        </p:nvPicPr>
        <p:blipFill>
          <a:blip r:embed="rId1"/>
          <a:stretch>
            <a:fillRect/>
          </a:stretch>
        </p:blipFill>
        <p:spPr>
          <a:xfrm>
            <a:off x="7303441" y="2355726"/>
            <a:ext cx="4339614" cy="3563868"/>
          </a:xfrm>
          <a:prstGeom prst="rect">
            <a:avLst/>
          </a:prstGeom>
        </p:spPr>
      </p:pic>
      <p:sp>
        <p:nvSpPr>
          <p:cNvPr id="6"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13: ML II: denetimli sınıflandırma</a:t>
            </a:r>
            <a:endParaRPr lang="en-US" sz="900" dirty="0"/>
          </a:p>
        </p:txBody>
      </p:sp>
      <p:sp>
        <p:nvSpPr>
          <p:cNvPr id="7" name="Text 3"/>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Öğrenme eğrisi ve model karmaşıklığı</a:t>
            </a:r>
            <a:endParaRPr lang="en-US" sz="3000" dirty="0"/>
          </a:p>
        </p:txBody>
      </p:sp>
      <p:pic>
        <p:nvPicPr>
          <p:cNvPr id="3" name="Image 0" descr="p13_ogrenme.png">    </p:cNvPr>
          <p:cNvPicPr>
            <a:picLocks noChangeAspect="1"/>
          </p:cNvPicPr>
          <p:nvPr/>
        </p:nvPicPr>
        <p:blipFill>
          <a:blip r:embed="rId1"/>
          <a:stretch>
            <a:fillRect/>
          </a:stretch>
        </p:blipFill>
        <p:spPr>
          <a:xfrm>
            <a:off x="883844" y="1234440"/>
            <a:ext cx="4876800" cy="5029200"/>
          </a:xfrm>
          <a:prstGeom prst="rect">
            <a:avLst/>
          </a:prstGeom>
        </p:spPr>
      </p:pic>
      <p:sp>
        <p:nvSpPr>
          <p:cNvPr id="4" name="Text 1"/>
          <p:cNvSpPr txBox="1"/>
          <p:nvPr/>
        </p:nvSpPr>
        <p:spPr>
          <a:xfrm>
            <a:off x="6415888" y="1234440"/>
            <a:ext cx="5227168"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b="1" dirty="0">
                <a:solidFill>
                  <a:srgbClr val="212121"/>
                </a:solidFill>
                <a:latin typeface="Calibri" pitchFamily="34" charset="0"/>
                <a:ea typeface="Calibri" pitchFamily="34" charset="-122"/>
                <a:cs typeface="Calibri" pitchFamily="34" charset="-120"/>
              </a:rPr>
              <a:t>Üst (RF):</a:t>
            </a:r>
            <a:r>
              <a:rPr lang="en-US" sz="1700" dirty="0">
                <a:solidFill>
                  <a:srgbClr val="212121"/>
                </a:solidFill>
                <a:latin typeface="Calibri" pitchFamily="34" charset="0"/>
                <a:ea typeface="Calibri" pitchFamily="34" charset="-122"/>
                <a:cs typeface="Calibri" pitchFamily="34" charset="-120"/>
              </a:rPr>
              <a:t> eğitim hep 1.0; doğrulama 0.79 → 0.81 yavaş artıyor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Daha fazla veri </a:t>
            </a:r>
            <a:r>
              <a:rPr lang="en-US" sz="1700" b="1" dirty="0">
                <a:solidFill>
                  <a:srgbClr val="212121"/>
                </a:solidFill>
                <a:latin typeface="Calibri" pitchFamily="34" charset="0"/>
                <a:ea typeface="Calibri" pitchFamily="34" charset="-122"/>
                <a:cs typeface="Calibri" pitchFamily="34" charset="-120"/>
              </a:rPr>
              <a:t>az</a:t>
            </a:r>
            <a:r>
              <a:rPr lang="en-US" sz="1700" dirty="0">
                <a:solidFill>
                  <a:srgbClr val="212121"/>
                </a:solidFill>
                <a:latin typeface="Calibri" pitchFamily="34" charset="0"/>
                <a:ea typeface="Calibri" pitchFamily="34" charset="-122"/>
                <a:cs typeface="Calibri" pitchFamily="34" charset="-120"/>
              </a:rPr>
              <a:t> yardımcı olur; özellikler sınırlayıcı</a:t>
            </a:r>
            <a:endParaRPr lang="en-US" sz="1700" dirty="0"/>
          </a:p>
          <a:p>
            <a:pPr marL="228600" indent="-228600">
              <a:spcAft>
                <a:spcPts val="700"/>
              </a:spcAft>
              <a:buSzPct val="100000"/>
              <a:buChar char="•"/>
            </a:pPr>
            <a:r>
              <a:rPr lang="en-US" sz="1700" b="1" dirty="0">
                <a:solidFill>
                  <a:srgbClr val="212121"/>
                </a:solidFill>
                <a:latin typeface="Calibri" pitchFamily="34" charset="0"/>
                <a:ea typeface="Calibri" pitchFamily="34" charset="-122"/>
                <a:cs typeface="Calibri" pitchFamily="34" charset="-120"/>
              </a:rPr>
              <a:t>Alt (ağaç derinliği):</a:t>
            </a:r>
            <a:r>
              <a:rPr lang="en-US" sz="1700" dirty="0">
                <a:solidFill>
                  <a:srgbClr val="212121"/>
                </a:solidFill>
                <a:latin typeface="Calibri" pitchFamily="34" charset="0"/>
                <a:ea typeface="Calibri" pitchFamily="34" charset="-122"/>
                <a:cs typeface="Calibri" pitchFamily="34" charset="-120"/>
              </a:rPr>
              <a:t> eğitim sürekli artıyor (0.76 → 1.0)</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Doğrulama derinlik 6'da en yüksek (≈ 0.77), sonra düşüyor → </a:t>
            </a:r>
            <a:r>
              <a:rPr lang="en-US" sz="1700" b="1" dirty="0">
                <a:solidFill>
                  <a:srgbClr val="212121"/>
                </a:solidFill>
                <a:latin typeface="Calibri" pitchFamily="34" charset="0"/>
                <a:ea typeface="Calibri" pitchFamily="34" charset="-122"/>
                <a:cs typeface="Calibri" pitchFamily="34" charset="-120"/>
              </a:rPr>
              <a:t>aşırı öğrenme</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Hiperparametre bu eğrilerle, CV üzerinde seçilir</a:t>
            </a:r>
            <a:endParaRPr lang="en-US" sz="1700" dirty="0"/>
          </a:p>
        </p:txBody>
      </p:sp>
      <p:sp>
        <p:nvSpPr>
          <p:cNvPr id="5"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13: ML II: denetimli sınıflandırma</a:t>
            </a:r>
            <a:endParaRPr lang="en-US" sz="900" dirty="0"/>
          </a:p>
        </p:txBody>
      </p:sp>
      <p:sp>
        <p:nvSpPr>
          <p:cNvPr id="6" name="Text 3"/>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ECEFF1"/>
        </a:solidFill>
      </p:bgPr>
    </p:bg>
    <p:spTree>
      <p:nvGrpSpPr>
        <p:cNvPr id="1" name=""/>
        <p:cNvGrpSpPr/>
        <p:nvPr/>
      </p:nvGrpSpPr>
      <p:grpSpPr>
        <a:xfrm>
          <a:off x="0" y="0"/>
          <a:ext cx="0" cy="0"/>
          <a:chOff x="0" y="0"/>
          <a:chExt cx="0" cy="0"/>
        </a:xfrm>
      </p:grpSpPr>
      <p:sp>
        <p:nvSpPr>
          <p:cNvPr id="2" name="Text 0"/>
          <p:cNvSpPr txBox="1"/>
          <p:nvPr/>
        </p:nvSpPr>
        <p:spPr>
          <a:xfrm>
            <a:off x="548640" y="1920240"/>
            <a:ext cx="2011680" cy="2011680"/>
          </a:xfrm>
          <a:prstGeom prst="rect">
            <a:avLst/>
          </a:prstGeom>
          <a:noFill/>
          <a:ln/>
        </p:spPr>
        <p:txBody>
          <a:bodyPr wrap="square" lIns="0" tIns="0" rIns="0" bIns="0" rtlCol="0" anchor="ctr"/>
          <a:lstStyle/>
          <a:p>
            <a:pPr indent="0" marL="0">
              <a:buNone/>
            </a:pPr>
            <a:r>
              <a:rPr lang="en-US" sz="11000" b="1" dirty="0">
                <a:solidFill>
                  <a:srgbClr val="B71C1C"/>
                </a:solidFill>
                <a:latin typeface="Calibri" pitchFamily="34" charset="0"/>
                <a:ea typeface="Calibri" pitchFamily="34" charset="-122"/>
                <a:cs typeface="Calibri" pitchFamily="34" charset="-120"/>
              </a:rPr>
              <a:t>5</a:t>
            </a:r>
            <a:endParaRPr lang="en-US" sz="11000" dirty="0"/>
          </a:p>
        </p:txBody>
      </p:sp>
      <p:sp>
        <p:nvSpPr>
          <p:cNvPr id="3" name="Text 1"/>
          <p:cNvSpPr txBox="1"/>
          <p:nvPr/>
        </p:nvSpPr>
        <p:spPr>
          <a:xfrm>
            <a:off x="2834640" y="2103120"/>
            <a:ext cx="8808415" cy="1005840"/>
          </a:xfrm>
          <a:prstGeom prst="rect">
            <a:avLst/>
          </a:prstGeom>
          <a:noFill/>
          <a:ln/>
        </p:spPr>
        <p:txBody>
          <a:bodyPr wrap="square" lIns="0" tIns="0" rIns="0" bIns="0" rtlCol="0" anchor="b"/>
          <a:lstStyle/>
          <a:p>
            <a:pPr indent="0" marL="0">
              <a:buNone/>
            </a:pPr>
            <a:r>
              <a:rPr lang="en-US" sz="3400" b="1" dirty="0">
                <a:solidFill>
                  <a:srgbClr val="263238"/>
                </a:solidFill>
                <a:latin typeface="Calibri" pitchFamily="34" charset="0"/>
                <a:ea typeface="Calibri" pitchFamily="34" charset="-122"/>
                <a:cs typeface="Calibri" pitchFamily="34" charset="-120"/>
              </a:rPr>
              <a:t>Modeli yorumlamak ve hata analizi</a:t>
            </a:r>
            <a:endParaRPr lang="en-US" sz="3400" dirty="0"/>
          </a:p>
        </p:txBody>
      </p:sp>
      <p:sp>
        <p:nvSpPr>
          <p:cNvPr id="4" name="Text 2"/>
          <p:cNvSpPr txBox="1"/>
          <p:nvPr/>
        </p:nvSpPr>
        <p:spPr>
          <a:xfrm>
            <a:off x="2834640" y="3200400"/>
            <a:ext cx="8808415" cy="1097280"/>
          </a:xfrm>
          <a:prstGeom prst="rect">
            <a:avLst/>
          </a:prstGeom>
          <a:noFill/>
          <a:ln/>
        </p:spPr>
        <p:txBody>
          <a:bodyPr wrap="square" lIns="0" tIns="0" rIns="0" bIns="0" rtlCol="0" anchor="t"/>
          <a:lstStyle/>
          <a:p>
            <a:pPr indent="0" marL="0">
              <a:buNone/>
            </a:pPr>
            <a:r>
              <a:rPr lang="en-US" sz="1700" dirty="0">
                <a:solidFill>
                  <a:srgbClr val="546E7A"/>
                </a:solidFill>
                <a:latin typeface="Calibri" pitchFamily="34" charset="0"/>
                <a:ea typeface="Calibri" pitchFamily="34" charset="-122"/>
                <a:cs typeface="Calibri" pitchFamily="34" charset="-120"/>
              </a:rPr>
              <a:t>Model neyi öğrendi? Nerede yanılıyor?</a:t>
            </a:r>
            <a:endParaRPr lang="en-US" sz="1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Derinlik 3 karar ağacı</a:t>
            </a:r>
            <a:endParaRPr lang="en-US" sz="3000" dirty="0"/>
          </a:p>
        </p:txBody>
      </p:sp>
      <p:pic>
        <p:nvPicPr>
          <p:cNvPr id="3" name="Image 0" descr="g13_agac.png">    </p:cNvPr>
          <p:cNvPicPr>
            <a:picLocks noChangeAspect="1"/>
          </p:cNvPicPr>
          <p:nvPr/>
        </p:nvPicPr>
        <p:blipFill>
          <a:blip r:embed="rId1"/>
          <a:stretch>
            <a:fillRect/>
          </a:stretch>
        </p:blipFill>
        <p:spPr>
          <a:xfrm>
            <a:off x="548640" y="1361023"/>
            <a:ext cx="11094415" cy="4364554"/>
          </a:xfrm>
          <a:prstGeom prst="rect">
            <a:avLst/>
          </a:prstGeom>
        </p:spPr>
      </p:pic>
      <p:sp>
        <p:nvSpPr>
          <p:cNvPr id="4" name="Text 1"/>
          <p:cNvSpPr txBox="1"/>
          <p:nvPr/>
        </p:nvSpPr>
        <p:spPr>
          <a:xfrm>
            <a:off x="548640" y="5798729"/>
            <a:ext cx="11094415" cy="320040"/>
          </a:xfrm>
          <a:prstGeom prst="rect">
            <a:avLst/>
          </a:prstGeom>
          <a:noFill/>
          <a:ln/>
        </p:spPr>
        <p:txBody>
          <a:bodyPr wrap="square" lIns="0" tIns="0" rIns="0" bIns="0" rtlCol="0" anchor="ctr"/>
          <a:lstStyle/>
          <a:p>
            <a:pPr algn="ctr" indent="0" marL="0">
              <a:buNone/>
            </a:pPr>
            <a:r>
              <a:rPr lang="en-US" sz="1200" i="1" dirty="0">
                <a:solidFill>
                  <a:srgbClr val="546E7A"/>
                </a:solidFill>
              </a:rPr>
              <a:t>Kök: GC_kutusu (saf sağ dal: [12, 422]); sol dalda ATT 3-meri ve TATA isabet sayısı. Test doğruluğu 0.770</a:t>
            </a:r>
            <a:endParaRPr lang="en-US" sz="1200" dirty="0"/>
          </a:p>
        </p:txBody>
      </p:sp>
      <p:sp>
        <p:nvSpPr>
          <p:cNvPr id="5"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13: ML II: denetimli sınıflandırma</a:t>
            </a:r>
            <a:endParaRPr lang="en-US" sz="900" dirty="0"/>
          </a:p>
        </p:txBody>
      </p:sp>
      <p:sp>
        <p:nvSpPr>
          <p:cNvPr id="6" name="Text 3"/>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Özellik önemleri ve katsayılar</a:t>
            </a:r>
            <a:endParaRPr lang="en-US" sz="3000" dirty="0"/>
          </a:p>
        </p:txBody>
      </p:sp>
      <p:pic>
        <p:nvPicPr>
          <p:cNvPr id="3" name="Image 0" descr="p13_onem.png">    </p:cNvPr>
          <p:cNvPicPr>
            <a:picLocks noChangeAspect="1"/>
          </p:cNvPicPr>
          <p:nvPr/>
        </p:nvPicPr>
        <p:blipFill>
          <a:blip r:embed="rId1"/>
          <a:stretch>
            <a:fillRect/>
          </a:stretch>
        </p:blipFill>
        <p:spPr>
          <a:xfrm>
            <a:off x="548640" y="1902929"/>
            <a:ext cx="7100426" cy="3692221"/>
          </a:xfrm>
          <a:prstGeom prst="rect">
            <a:avLst/>
          </a:prstGeom>
        </p:spPr>
      </p:pic>
      <p:sp>
        <p:nvSpPr>
          <p:cNvPr id="4" name="Text 1"/>
          <p:cNvSpPr txBox="1"/>
          <p:nvPr/>
        </p:nvSpPr>
        <p:spPr>
          <a:xfrm>
            <a:off x="7969106" y="1234440"/>
            <a:ext cx="3673949"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b="1" dirty="0">
                <a:solidFill>
                  <a:srgbClr val="212121"/>
                </a:solidFill>
                <a:latin typeface="Calibri" pitchFamily="34" charset="0"/>
                <a:ea typeface="Calibri" pitchFamily="34" charset="-122"/>
                <a:cs typeface="Calibri" pitchFamily="34" charset="-120"/>
              </a:rPr>
              <a:t>RF:</a:t>
            </a:r>
            <a:r>
              <a:rPr lang="en-US" sz="1700" dirty="0">
                <a:solidFill>
                  <a:srgbClr val="212121"/>
                </a:solidFill>
                <a:latin typeface="Calibri" pitchFamily="34" charset="0"/>
                <a:ea typeface="Calibri" pitchFamily="34" charset="-122"/>
                <a:cs typeface="Calibri" pitchFamily="34" charset="-120"/>
              </a:rPr>
              <a:t> GC_kutusu açık ara birinci (0.14); sonra GC'ce zengin 3-merler (CGG, GGC, GCG, GGG) ve TATA_maks</a:t>
            </a:r>
            <a:endParaRPr lang="en-US" sz="1700" dirty="0"/>
          </a:p>
          <a:p>
            <a:pPr marL="228600" indent="-228600">
              <a:spcAft>
                <a:spcPts val="700"/>
              </a:spcAft>
              <a:buSzPct val="100000"/>
              <a:buChar char="•"/>
            </a:pPr>
            <a:r>
              <a:rPr lang="en-US" sz="1700" b="1" dirty="0">
                <a:solidFill>
                  <a:srgbClr val="212121"/>
                </a:solidFill>
                <a:latin typeface="Calibri" pitchFamily="34" charset="0"/>
                <a:ea typeface="Calibri" pitchFamily="34" charset="-122"/>
                <a:cs typeface="Calibri" pitchFamily="34" charset="-120"/>
              </a:rPr>
              <a:t>LR:</a:t>
            </a:r>
            <a:r>
              <a:rPr lang="en-US" sz="1700" dirty="0">
                <a:solidFill>
                  <a:srgbClr val="212121"/>
                </a:solidFill>
                <a:latin typeface="Calibri" pitchFamily="34" charset="0"/>
                <a:ea typeface="Calibri" pitchFamily="34" charset="-122"/>
                <a:cs typeface="Calibri" pitchFamily="34" charset="-120"/>
              </a:rPr>
              <a:t> en büyük pozitif katsayılar GC_kutusu (1.57) ve TATA_maks (0.67); TATA_sayi da pozitif</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ATT, GAA gibi AT-zengin 3-merler negatif yönde</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Model, veriye </a:t>
            </a:r>
            <a:r>
              <a:rPr lang="en-US" sz="1700" b="1" dirty="0">
                <a:solidFill>
                  <a:srgbClr val="212121"/>
                </a:solidFill>
                <a:latin typeface="Calibri" pitchFamily="34" charset="0"/>
                <a:ea typeface="Calibri" pitchFamily="34" charset="-122"/>
                <a:cs typeface="Calibri" pitchFamily="34" charset="-120"/>
              </a:rPr>
              <a:t>gömülen sinyalleri</a:t>
            </a:r>
            <a:r>
              <a:rPr lang="en-US" sz="1700" dirty="0">
                <a:solidFill>
                  <a:srgbClr val="212121"/>
                </a:solidFill>
                <a:latin typeface="Calibri" pitchFamily="34" charset="0"/>
                <a:ea typeface="Calibri" pitchFamily="34" charset="-122"/>
                <a:cs typeface="Calibri" pitchFamily="34" charset="-120"/>
              </a:rPr>
              <a:t> geri buldu</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Dikkat: ilişkili özellikler önemi paylaşır; katsayı ≠ nedensellik</a:t>
            </a:r>
            <a:endParaRPr lang="en-US" sz="1700" dirty="0"/>
          </a:p>
        </p:txBody>
      </p:sp>
      <p:sp>
        <p:nvSpPr>
          <p:cNvPr id="5"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13: ML II: denetimli sınıflandırma</a:t>
            </a:r>
            <a:endParaRPr lang="en-US" sz="900" dirty="0"/>
          </a:p>
        </p:txBody>
      </p:sp>
      <p:sp>
        <p:nvSpPr>
          <p:cNvPr id="6" name="Text 3"/>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Hata analizi: model nerede yanılıyor?</a:t>
            </a:r>
            <a:endParaRPr lang="en-US" sz="3000" dirty="0"/>
          </a:p>
        </p:txBody>
      </p:sp>
      <p:sp>
        <p:nvSpPr>
          <p:cNvPr id="3" name="Text 1"/>
          <p:cNvSpPr txBox="1"/>
          <p:nvPr/>
        </p:nvSpPr>
        <p:spPr>
          <a:xfrm>
            <a:off x="548640" y="1234440"/>
            <a:ext cx="11094415" cy="457200"/>
          </a:xfrm>
          <a:prstGeom prst="rect">
            <a:avLst/>
          </a:prstGeom>
          <a:noFill/>
          <a:ln/>
        </p:spPr>
        <p:txBody>
          <a:bodyPr wrap="square" lIns="25400" tIns="25400" rIns="50800" bIns="25400" rtlCol="0" anchor="t"/>
          <a:lstStyle/>
          <a:p>
            <a:pPr algn="l" indent="0" marL="0">
              <a:spcAft>
                <a:spcPts val="600"/>
              </a:spcAft>
              <a:buNone/>
            </a:pPr>
            <a:r>
              <a:rPr lang="en-US" sz="1600" dirty="0">
                <a:solidFill>
                  <a:srgbClr val="212121"/>
                </a:solidFill>
                <a:latin typeface="Calibri" pitchFamily="34" charset="0"/>
                <a:ea typeface="Calibri" pitchFamily="34" charset="-122"/>
                <a:cs typeface="Calibri" pitchFamily="34" charset="-120"/>
              </a:rPr>
              <a:t>RF'nin 400 test dizisinden </a:t>
            </a:r>
            <a:r>
              <a:rPr lang="en-US" sz="1600" b="1" dirty="0">
                <a:solidFill>
                  <a:srgbClr val="212121"/>
                </a:solidFill>
                <a:latin typeface="Calibri" pitchFamily="34" charset="0"/>
                <a:ea typeface="Calibri" pitchFamily="34" charset="-122"/>
                <a:cs typeface="Calibri" pitchFamily="34" charset="-120"/>
              </a:rPr>
              <a:t>76'sı</a:t>
            </a:r>
            <a:r>
              <a:rPr lang="en-US" sz="1600" dirty="0">
                <a:solidFill>
                  <a:srgbClr val="212121"/>
                </a:solidFill>
                <a:latin typeface="Calibri" pitchFamily="34" charset="0"/>
                <a:ea typeface="Calibri" pitchFamily="34" charset="-122"/>
                <a:cs typeface="Calibri" pitchFamily="34" charset="-120"/>
              </a:rPr>
              <a:t> hatalı. En emin olunan yanlış negatifler (gerçek promotör, düşük p):</a:t>
            </a:r>
            <a:endParaRPr lang="en-US" sz="16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1996995"/>
                <a:gridCol w="2218883"/>
                <a:gridCol w="2440771"/>
                <a:gridCol w="2218883"/>
                <a:gridCol w="2218883"/>
              </a:tblGrid>
              <a:tr h="0">
                <a:tc>
                  <a:txBody>
                    <a:bodyPr/>
                    <a:lstStyle/>
                    <a:p>
                      <a:pPr algn="l" indent="0" marL="0">
                        <a:buNone/>
                      </a:pPr>
                      <a:r>
                        <a:rPr lang="en-US" sz="1800" b="1" dirty="0">
                          <a:solidFill>
                            <a:srgbClr val="212121"/>
                          </a:solidFill>
                          <a:latin typeface="Calibri" pitchFamily="34" charset="0"/>
                          <a:ea typeface="Calibri" pitchFamily="34" charset="-122"/>
                          <a:cs typeface="Calibri" pitchFamily="34" charset="-120"/>
                        </a:rPr>
                        <a:t>Test sırası</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800" b="1" dirty="0">
                          <a:solidFill>
                            <a:srgbClr val="212121"/>
                          </a:solidFill>
                          <a:latin typeface="Calibri" pitchFamily="34" charset="0"/>
                          <a:ea typeface="Calibri" pitchFamily="34" charset="-122"/>
                          <a:cs typeface="Calibri" pitchFamily="34" charset="-120"/>
                        </a:rPr>
                        <a:t>Gerçek</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800" b="1" dirty="0">
                          <a:solidFill>
                            <a:srgbClr val="212121"/>
                          </a:solidFill>
                          <a:latin typeface="Calibri" pitchFamily="34" charset="0"/>
                          <a:ea typeface="Calibri" pitchFamily="34" charset="-122"/>
                          <a:cs typeface="Calibri" pitchFamily="34" charset="-120"/>
                        </a:rPr>
                        <a:t>p (promotör)</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800" b="1" dirty="0">
                          <a:solidFill>
                            <a:srgbClr val="212121"/>
                          </a:solidFill>
                          <a:latin typeface="Calibri" pitchFamily="34" charset="0"/>
                          <a:ea typeface="Calibri" pitchFamily="34" charset="-122"/>
                          <a:cs typeface="Calibri" pitchFamily="34" charset="-120"/>
                        </a:rPr>
                        <a:t>TATA_maks</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800" b="1" dirty="0">
                          <a:solidFill>
                            <a:srgbClr val="212121"/>
                          </a:solidFill>
                          <a:latin typeface="Calibri" pitchFamily="34" charset="0"/>
                          <a:ea typeface="Calibri" pitchFamily="34" charset="-122"/>
                          <a:cs typeface="Calibri" pitchFamily="34" charset="-120"/>
                        </a:rPr>
                        <a:t>GC_kutusu</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11</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promotör</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0.15</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4.3</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72</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promotör</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0.19</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2.3</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318</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promotör</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0.20</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5.5</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256</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promotör</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0.23</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4.3</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110</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promotör</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0.24</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2.7</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283</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promotör</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0.24</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4.3</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200</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promotör</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0.26</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5.8</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084064"/>
            <a:ext cx="11094415" cy="822960"/>
          </a:xfrm>
          <a:prstGeom prst="roundRect">
            <a:avLst>
              <a:gd name="adj" fmla="val 8889"/>
            </a:avLst>
          </a:prstGeom>
          <a:solidFill>
            <a:srgbClr val="FDECEA"/>
          </a:solidFill>
          <a:ln/>
        </p:spPr>
      </p:sp>
      <p:sp>
        <p:nvSpPr>
          <p:cNvPr id="6" name="Text 3"/>
          <p:cNvSpPr txBox="1"/>
          <p:nvPr/>
        </p:nvSpPr>
        <p:spPr>
          <a:xfrm>
            <a:off x="731520" y="5084064"/>
            <a:ext cx="10728655" cy="822960"/>
          </a:xfrm>
          <a:prstGeom prst="rect">
            <a:avLst/>
          </a:prstGeom>
          <a:noFill/>
          <a:ln/>
        </p:spPr>
        <p:txBody>
          <a:bodyPr wrap="square" lIns="0" tIns="0" rIns="0" bIns="0" rtlCol="0" anchor="ctr"/>
          <a:lstStyle/>
          <a:p>
            <a:pPr indent="0" marL="0">
              <a:buNone/>
            </a:pPr>
            <a:r>
              <a:rPr lang="en-US" sz="1600" dirty="0">
                <a:solidFill>
                  <a:srgbClr val="212121"/>
                </a:solidFill>
                <a:latin typeface="Calibri" pitchFamily="34" charset="0"/>
                <a:ea typeface="Calibri" pitchFamily="34" charset="-122"/>
                <a:cs typeface="Calibri" pitchFamily="34" charset="-120"/>
              </a:rPr>
              <a:t>Ortak desen: </a:t>
            </a:r>
            <a:r>
              <a:rPr lang="en-US" sz="1600" b="1" dirty="0">
                <a:solidFill>
                  <a:srgbClr val="212121"/>
                </a:solidFill>
                <a:latin typeface="Calibri" pitchFamily="34" charset="0"/>
                <a:ea typeface="Calibri" pitchFamily="34" charset="-122"/>
                <a:cs typeface="Calibri" pitchFamily="34" charset="-120"/>
              </a:rPr>
              <a:t>GC-kutusu yok</a:t>
            </a:r>
            <a:r>
              <a:rPr lang="en-US" sz="1600" dirty="0">
                <a:solidFill>
                  <a:srgbClr val="212121"/>
                </a:solidFill>
                <a:latin typeface="Calibri" pitchFamily="34" charset="0"/>
                <a:ea typeface="Calibri" pitchFamily="34" charset="-122"/>
                <a:cs typeface="Calibri" pitchFamily="34" charset="-120"/>
              </a:rPr>
              <a:t> ve TATA skoru düşük (güçlü TATA ≈ 9). Model </a:t>
            </a:r>
            <a:r>
              <a:rPr lang="en-US" sz="1600" b="1" dirty="0">
                <a:solidFill>
                  <a:srgbClr val="212121"/>
                </a:solidFill>
                <a:latin typeface="Calibri" pitchFamily="34" charset="0"/>
                <a:ea typeface="Calibri" pitchFamily="34" charset="-122"/>
                <a:cs typeface="Calibri" pitchFamily="34" charset="-120"/>
              </a:rPr>
              <a:t>motifsiz promotörlerde</a:t>
            </a:r>
            <a:r>
              <a:rPr lang="en-US" sz="1600" dirty="0">
                <a:solidFill>
                  <a:srgbClr val="212121"/>
                </a:solidFill>
                <a:latin typeface="Calibri" pitchFamily="34" charset="0"/>
                <a:ea typeface="Calibri" pitchFamily="34" charset="-122"/>
                <a:cs typeface="Calibri" pitchFamily="34" charset="-120"/>
              </a:rPr>
              <a:t> zorlanıyor → yeni özellik ya da yeni bir motif hipotezi.</a:t>
            </a:r>
            <a:endParaRPr lang="en-US" sz="1600" dirty="0"/>
          </a:p>
        </p:txBody>
      </p:sp>
      <p:sp>
        <p:nvSpPr>
          <p:cNvPr id="7" name="Text 4"/>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13: ML II: denetimli sınıflandırma</a:t>
            </a:r>
            <a:endParaRPr lang="en-US" sz="900" dirty="0"/>
          </a:p>
        </p:txBody>
      </p:sp>
      <p:sp>
        <p:nvSpPr>
          <p:cNvPr id="8" name="Text 5"/>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Sık yapılan hatalar</a:t>
            </a:r>
            <a:endParaRPr lang="en-US" sz="3000" dirty="0"/>
          </a:p>
        </p:txBody>
      </p:sp>
      <p:sp>
        <p:nvSpPr>
          <p:cNvPr id="3" name="Shape 1"/>
          <p:cNvSpPr/>
          <p:nvPr/>
        </p:nvSpPr>
        <p:spPr>
          <a:xfrm>
            <a:off x="548640" y="1234440"/>
            <a:ext cx="3515258" cy="2377440"/>
          </a:xfrm>
          <a:prstGeom prst="roundRect">
            <a:avLst>
              <a:gd name="adj" fmla="val 3077"/>
            </a:avLst>
          </a:prstGeom>
          <a:solidFill>
            <a:srgbClr val="F7F9FA"/>
          </a:solidFill>
          <a:ln w="12700">
            <a:solidFill>
              <a:srgbClr val="B0BEC5"/>
            </a:solidFill>
            <a:prstDash val="solid"/>
          </a:ln>
        </p:spPr>
      </p:sp>
      <p:sp>
        <p:nvSpPr>
          <p:cNvPr id="4" name="Text 2"/>
          <p:cNvSpPr txBox="1"/>
          <p:nvPr/>
        </p:nvSpPr>
        <p:spPr>
          <a:xfrm>
            <a:off x="731520" y="1344168"/>
            <a:ext cx="3149498" cy="457200"/>
          </a:xfrm>
          <a:prstGeom prst="rect">
            <a:avLst/>
          </a:prstGeom>
          <a:noFill/>
          <a:ln/>
        </p:spPr>
        <p:txBody>
          <a:bodyPr wrap="square" lIns="0" tIns="0" rIns="0" bIns="0" rtlCol="0" anchor="t"/>
          <a:lstStyle/>
          <a:p>
            <a:pPr indent="0" marL="0">
              <a:buNone/>
            </a:pPr>
            <a:r>
              <a:rPr lang="en-US" sz="1700" b="1" dirty="0">
                <a:solidFill>
                  <a:srgbClr val="263238"/>
                </a:solidFill>
              </a:rPr>
              <a:t>Testi tekrar kullanmak</a:t>
            </a:r>
            <a:endParaRPr lang="en-US" sz="1700" dirty="0"/>
          </a:p>
        </p:txBody>
      </p:sp>
      <p:sp>
        <p:nvSpPr>
          <p:cNvPr id="5" name="Text 3"/>
          <p:cNvSpPr txBox="1"/>
          <p:nvPr/>
        </p:nvSpPr>
        <p:spPr>
          <a:xfrm>
            <a:off x="640080" y="1801368"/>
            <a:ext cx="3332378" cy="1719072"/>
          </a:xfrm>
          <a:prstGeom prst="rect">
            <a:avLst/>
          </a:prstGeom>
          <a:noFill/>
          <a:ln/>
        </p:spPr>
        <p:txBody>
          <a:bodyPr wrap="square" lIns="25400" tIns="25400" rIns="50800" bIns="25400" rtlCol="0" anchor="t"/>
          <a:lstStyle/>
          <a:p>
            <a:pPr marL="228600" indent="-228600">
              <a:spcAft>
                <a:spcPts val="700"/>
              </a:spcAft>
              <a:buSzPct val="100000"/>
              <a:buChar char="•"/>
            </a:pPr>
            <a:r>
              <a:rPr lang="en-US" sz="1500" dirty="0">
                <a:solidFill>
                  <a:srgbClr val="212121"/>
                </a:solidFill>
                <a:latin typeface="Calibri" pitchFamily="34" charset="0"/>
                <a:ea typeface="Calibri" pitchFamily="34" charset="-122"/>
                <a:cs typeface="Calibri" pitchFamily="34" charset="-120"/>
              </a:rPr>
              <a:t>Test yalnızca en sonda, </a:t>
            </a:r>
            <a:r>
              <a:rPr lang="en-US" sz="1500" b="1" dirty="0">
                <a:solidFill>
                  <a:srgbClr val="212121"/>
                </a:solidFill>
                <a:latin typeface="Calibri" pitchFamily="34" charset="0"/>
                <a:ea typeface="Calibri" pitchFamily="34" charset="-122"/>
                <a:cs typeface="Calibri" pitchFamily="34" charset="-120"/>
              </a:rPr>
              <a:t>bir kez</a:t>
            </a:r>
            <a:endParaRPr lang="en-US" sz="1500" dirty="0"/>
          </a:p>
          <a:p>
            <a:pPr marL="228600" indent="-228600">
              <a:spcAft>
                <a:spcPts val="700"/>
              </a:spcAft>
              <a:buSzPct val="100000"/>
              <a:buChar char="•"/>
            </a:pPr>
            <a:r>
              <a:rPr lang="en-US" sz="1500" dirty="0">
                <a:solidFill>
                  <a:srgbClr val="212121"/>
                </a:solidFill>
                <a:latin typeface="Calibri" pitchFamily="34" charset="0"/>
                <a:ea typeface="Calibri" pitchFamily="34" charset="-122"/>
                <a:cs typeface="Calibri" pitchFamily="34" charset="-120"/>
              </a:rPr>
              <a:t>Model/parametre seçimleri CV ile</a:t>
            </a:r>
            <a:endParaRPr lang="en-US" sz="1500" dirty="0"/>
          </a:p>
          <a:p>
            <a:pPr marL="228600" indent="-228600">
              <a:spcAft>
                <a:spcPts val="700"/>
              </a:spcAft>
              <a:buSzPct val="100000"/>
              <a:buChar char="•"/>
            </a:pPr>
            <a:r>
              <a:rPr lang="en-US" sz="1500" dirty="0">
                <a:solidFill>
                  <a:srgbClr val="212121"/>
                </a:solidFill>
                <a:latin typeface="Calibri" pitchFamily="34" charset="0"/>
                <a:ea typeface="Calibri" pitchFamily="34" charset="-122"/>
                <a:cs typeface="Calibri" pitchFamily="34" charset="-120"/>
              </a:rPr>
              <a:t>Her bakış testi biraz daha "eğitim" yapar</a:t>
            </a:r>
            <a:endParaRPr lang="en-US" sz="1500" dirty="0"/>
          </a:p>
        </p:txBody>
      </p:sp>
      <p:sp>
        <p:nvSpPr>
          <p:cNvPr id="6" name="Shape 4"/>
          <p:cNvSpPr/>
          <p:nvPr/>
        </p:nvSpPr>
        <p:spPr>
          <a:xfrm>
            <a:off x="4338218" y="1234440"/>
            <a:ext cx="3515258" cy="2377440"/>
          </a:xfrm>
          <a:prstGeom prst="roundRect">
            <a:avLst>
              <a:gd name="adj" fmla="val 3077"/>
            </a:avLst>
          </a:prstGeom>
          <a:solidFill>
            <a:srgbClr val="F7F9FA"/>
          </a:solidFill>
          <a:ln w="12700">
            <a:solidFill>
              <a:srgbClr val="B0BEC5"/>
            </a:solidFill>
            <a:prstDash val="solid"/>
          </a:ln>
        </p:spPr>
      </p:sp>
      <p:sp>
        <p:nvSpPr>
          <p:cNvPr id="7" name="Text 5"/>
          <p:cNvSpPr txBox="1"/>
          <p:nvPr/>
        </p:nvSpPr>
        <p:spPr>
          <a:xfrm>
            <a:off x="4521098" y="1344168"/>
            <a:ext cx="3149498" cy="457200"/>
          </a:xfrm>
          <a:prstGeom prst="rect">
            <a:avLst/>
          </a:prstGeom>
          <a:noFill/>
          <a:ln/>
        </p:spPr>
        <p:txBody>
          <a:bodyPr wrap="square" lIns="0" tIns="0" rIns="0" bIns="0" rtlCol="0" anchor="t"/>
          <a:lstStyle/>
          <a:p>
            <a:pPr indent="0" marL="0">
              <a:buNone/>
            </a:pPr>
            <a:r>
              <a:rPr lang="en-US" sz="1700" b="1" dirty="0">
                <a:solidFill>
                  <a:srgbClr val="263238"/>
                </a:solidFill>
              </a:rPr>
              <a:t>Ölçeklemede sızıntı</a:t>
            </a:r>
            <a:endParaRPr lang="en-US" sz="1700" dirty="0"/>
          </a:p>
        </p:txBody>
      </p:sp>
      <p:sp>
        <p:nvSpPr>
          <p:cNvPr id="8" name="Text 6"/>
          <p:cNvSpPr txBox="1"/>
          <p:nvPr/>
        </p:nvSpPr>
        <p:spPr>
          <a:xfrm>
            <a:off x="4429658" y="1801368"/>
            <a:ext cx="3332378" cy="1719072"/>
          </a:xfrm>
          <a:prstGeom prst="rect">
            <a:avLst/>
          </a:prstGeom>
          <a:noFill/>
          <a:ln/>
        </p:spPr>
        <p:txBody>
          <a:bodyPr wrap="square" lIns="25400" tIns="25400" rIns="50800" bIns="25400" rtlCol="0" anchor="t"/>
          <a:lstStyle/>
          <a:p>
            <a:pPr marL="228600" indent="-228600">
              <a:spcAft>
                <a:spcPts val="700"/>
              </a:spcAft>
              <a:buSzPct val="100000"/>
              <a:buChar char="•"/>
            </a:pPr>
            <a:r>
              <a:rPr lang="en-US" sz="1500" dirty="0">
                <a:solidFill>
                  <a:srgbClr val="212121"/>
                </a:solidFill>
                <a:latin typeface="Calibri" pitchFamily="34" charset="0"/>
                <a:ea typeface="Calibri" pitchFamily="34" charset="-122"/>
                <a:cs typeface="Calibri" pitchFamily="34" charset="-120"/>
              </a:rPr>
              <a:t>Scaler'ı bölmeden önce tüm veriye fit etmek</a:t>
            </a:r>
            <a:endParaRPr lang="en-US" sz="1500" dirty="0"/>
          </a:p>
          <a:p>
            <a:pPr marL="228600" indent="-228600">
              <a:spcAft>
                <a:spcPts val="700"/>
              </a:spcAft>
              <a:buSzPct val="100000"/>
              <a:buChar char="•"/>
            </a:pPr>
            <a:r>
              <a:rPr lang="en-US" sz="1500" dirty="0">
                <a:solidFill>
                  <a:srgbClr val="212121"/>
                </a:solidFill>
                <a:latin typeface="Calibri" pitchFamily="34" charset="0"/>
                <a:ea typeface="Calibri" pitchFamily="34" charset="-122"/>
                <a:cs typeface="Calibri" pitchFamily="34" charset="-120"/>
              </a:rPr>
              <a:t>Test ortalaması eğitime sızar</a:t>
            </a:r>
            <a:endParaRPr lang="en-US" sz="1500" dirty="0"/>
          </a:p>
          <a:p>
            <a:pPr marL="228600" indent="-228600">
              <a:spcAft>
                <a:spcPts val="700"/>
              </a:spcAft>
              <a:buSzPct val="100000"/>
              <a:buChar char="•"/>
            </a:pPr>
            <a:r>
              <a:rPr lang="en-US" sz="1500" dirty="0">
                <a:solidFill>
                  <a:srgbClr val="212121"/>
                </a:solidFill>
                <a:latin typeface="Calibri" pitchFamily="34" charset="0"/>
                <a:ea typeface="Calibri" pitchFamily="34" charset="-122"/>
                <a:cs typeface="Calibri" pitchFamily="34" charset="-120"/>
              </a:rPr>
              <a:t>Çözüm: </a:t>
            </a:r>
            <a:r>
              <a:rPr lang="en-US" sz="1500" dirty="0">
                <a:solidFill>
                  <a:srgbClr val="455A64"/>
                </a:solidFill>
                <a:latin typeface="Courier New" pitchFamily="34" charset="0"/>
                <a:ea typeface="Courier New" pitchFamily="34" charset="-122"/>
                <a:cs typeface="Courier New" pitchFamily="34" charset="-120"/>
              </a:rPr>
              <a:t>make_pipeline(...)</a:t>
            </a:r>
            <a:endParaRPr lang="en-US" sz="1500" dirty="0"/>
          </a:p>
        </p:txBody>
      </p:sp>
      <p:sp>
        <p:nvSpPr>
          <p:cNvPr id="9" name="Shape 7"/>
          <p:cNvSpPr/>
          <p:nvPr/>
        </p:nvSpPr>
        <p:spPr>
          <a:xfrm>
            <a:off x="8127797" y="1234440"/>
            <a:ext cx="3515258" cy="2377440"/>
          </a:xfrm>
          <a:prstGeom prst="roundRect">
            <a:avLst>
              <a:gd name="adj" fmla="val 3077"/>
            </a:avLst>
          </a:prstGeom>
          <a:solidFill>
            <a:srgbClr val="F7F9FA"/>
          </a:solidFill>
          <a:ln w="12700">
            <a:solidFill>
              <a:srgbClr val="B0BEC5"/>
            </a:solidFill>
            <a:prstDash val="solid"/>
          </a:ln>
        </p:spPr>
      </p:sp>
      <p:sp>
        <p:nvSpPr>
          <p:cNvPr id="10" name="Text 8"/>
          <p:cNvSpPr txBox="1"/>
          <p:nvPr/>
        </p:nvSpPr>
        <p:spPr>
          <a:xfrm>
            <a:off x="8310677" y="1344168"/>
            <a:ext cx="3149498" cy="457200"/>
          </a:xfrm>
          <a:prstGeom prst="rect">
            <a:avLst/>
          </a:prstGeom>
          <a:noFill/>
          <a:ln/>
        </p:spPr>
        <p:txBody>
          <a:bodyPr wrap="square" lIns="0" tIns="0" rIns="0" bIns="0" rtlCol="0" anchor="t"/>
          <a:lstStyle/>
          <a:p>
            <a:pPr indent="0" marL="0">
              <a:buNone/>
            </a:pPr>
            <a:r>
              <a:rPr lang="en-US" sz="1700" b="1" dirty="0">
                <a:solidFill>
                  <a:srgbClr val="263238"/>
                </a:solidFill>
              </a:rPr>
              <a:t>Yalnızca doğruluk</a:t>
            </a:r>
            <a:endParaRPr lang="en-US" sz="1700" dirty="0"/>
          </a:p>
        </p:txBody>
      </p:sp>
      <p:sp>
        <p:nvSpPr>
          <p:cNvPr id="11" name="Text 9"/>
          <p:cNvSpPr txBox="1"/>
          <p:nvPr/>
        </p:nvSpPr>
        <p:spPr>
          <a:xfrm>
            <a:off x="8219237" y="1801368"/>
            <a:ext cx="3332378" cy="1719072"/>
          </a:xfrm>
          <a:prstGeom prst="rect">
            <a:avLst/>
          </a:prstGeom>
          <a:noFill/>
          <a:ln/>
        </p:spPr>
        <p:txBody>
          <a:bodyPr wrap="square" lIns="25400" tIns="25400" rIns="50800" bIns="25400" rtlCol="0" anchor="t"/>
          <a:lstStyle/>
          <a:p>
            <a:pPr marL="228600" indent="-228600">
              <a:spcAft>
                <a:spcPts val="700"/>
              </a:spcAft>
              <a:buSzPct val="100000"/>
              <a:buChar char="•"/>
            </a:pPr>
            <a:r>
              <a:rPr lang="en-US" sz="1500" dirty="0">
                <a:solidFill>
                  <a:srgbClr val="212121"/>
                </a:solidFill>
                <a:latin typeface="Calibri" pitchFamily="34" charset="0"/>
                <a:ea typeface="Calibri" pitchFamily="34" charset="-122"/>
                <a:cs typeface="Calibri" pitchFamily="34" charset="-120"/>
              </a:rPr>
              <a:t>%10 pozitifte "hepsi negatif" = 0.90</a:t>
            </a:r>
            <a:endParaRPr lang="en-US" sz="1500" dirty="0"/>
          </a:p>
          <a:p>
            <a:pPr marL="228600" indent="-228600">
              <a:spcAft>
                <a:spcPts val="700"/>
              </a:spcAft>
              <a:buSzPct val="100000"/>
              <a:buChar char="•"/>
            </a:pPr>
            <a:r>
              <a:rPr lang="en-US" sz="1500" dirty="0">
                <a:solidFill>
                  <a:srgbClr val="212121"/>
                </a:solidFill>
                <a:latin typeface="Calibri" pitchFamily="34" charset="0"/>
                <a:ea typeface="Calibri" pitchFamily="34" charset="-122"/>
                <a:cs typeface="Calibri" pitchFamily="34" charset="-120"/>
              </a:rPr>
              <a:t>Kesinlik, duyarlılık, F1, AUC birlikte</a:t>
            </a:r>
            <a:endParaRPr lang="en-US" sz="1500" dirty="0"/>
          </a:p>
          <a:p>
            <a:pPr marL="228600" indent="-228600">
              <a:spcAft>
                <a:spcPts val="700"/>
              </a:spcAft>
              <a:buSzPct val="100000"/>
              <a:buChar char="•"/>
            </a:pPr>
            <a:r>
              <a:rPr lang="en-US" sz="1500" dirty="0">
                <a:solidFill>
                  <a:srgbClr val="212121"/>
                </a:solidFill>
                <a:latin typeface="Calibri" pitchFamily="34" charset="0"/>
                <a:ea typeface="Calibri" pitchFamily="34" charset="-122"/>
                <a:cs typeface="Calibri" pitchFamily="34" charset="-120"/>
              </a:rPr>
              <a:t>Karışıklık matrisine mutlaka bakın</a:t>
            </a:r>
            <a:endParaRPr lang="en-US" sz="1500" dirty="0"/>
          </a:p>
        </p:txBody>
      </p:sp>
      <p:sp>
        <p:nvSpPr>
          <p:cNvPr id="12" name="Shape 10"/>
          <p:cNvSpPr/>
          <p:nvPr/>
        </p:nvSpPr>
        <p:spPr>
          <a:xfrm>
            <a:off x="548640" y="3886200"/>
            <a:ext cx="3515258" cy="2377440"/>
          </a:xfrm>
          <a:prstGeom prst="roundRect">
            <a:avLst>
              <a:gd name="adj" fmla="val 3077"/>
            </a:avLst>
          </a:prstGeom>
          <a:solidFill>
            <a:srgbClr val="F7F9FA"/>
          </a:solidFill>
          <a:ln w="12700">
            <a:solidFill>
              <a:srgbClr val="B0BEC5"/>
            </a:solidFill>
            <a:prstDash val="solid"/>
          </a:ln>
        </p:spPr>
      </p:sp>
      <p:sp>
        <p:nvSpPr>
          <p:cNvPr id="13" name="Text 11"/>
          <p:cNvSpPr txBox="1"/>
          <p:nvPr/>
        </p:nvSpPr>
        <p:spPr>
          <a:xfrm>
            <a:off x="731520" y="3995928"/>
            <a:ext cx="3149498" cy="457200"/>
          </a:xfrm>
          <a:prstGeom prst="rect">
            <a:avLst/>
          </a:prstGeom>
          <a:noFill/>
          <a:ln/>
        </p:spPr>
        <p:txBody>
          <a:bodyPr wrap="square" lIns="0" tIns="0" rIns="0" bIns="0" rtlCol="0" anchor="t"/>
          <a:lstStyle/>
          <a:p>
            <a:pPr indent="0" marL="0">
              <a:buNone/>
            </a:pPr>
            <a:r>
              <a:rPr lang="en-US" sz="1700" b="1" dirty="0">
                <a:solidFill>
                  <a:srgbClr val="263238"/>
                </a:solidFill>
              </a:rPr>
              <a:t>Eğitim skoruna güven</a:t>
            </a:r>
            <a:endParaRPr lang="en-US" sz="1700" dirty="0"/>
          </a:p>
        </p:txBody>
      </p:sp>
      <p:sp>
        <p:nvSpPr>
          <p:cNvPr id="14" name="Text 12"/>
          <p:cNvSpPr txBox="1"/>
          <p:nvPr/>
        </p:nvSpPr>
        <p:spPr>
          <a:xfrm>
            <a:off x="640080" y="4453128"/>
            <a:ext cx="3332378" cy="1719072"/>
          </a:xfrm>
          <a:prstGeom prst="rect">
            <a:avLst/>
          </a:prstGeom>
          <a:noFill/>
          <a:ln/>
        </p:spPr>
        <p:txBody>
          <a:bodyPr wrap="square" lIns="25400" tIns="25400" rIns="50800" bIns="25400" rtlCol="0" anchor="t"/>
          <a:lstStyle/>
          <a:p>
            <a:pPr marL="228600" indent="-228600">
              <a:spcAft>
                <a:spcPts val="700"/>
              </a:spcAft>
              <a:buSzPct val="100000"/>
              <a:buChar char="•"/>
            </a:pPr>
            <a:r>
              <a:rPr lang="en-US" sz="1500" dirty="0">
                <a:solidFill>
                  <a:srgbClr val="212121"/>
                </a:solidFill>
                <a:latin typeface="Calibri" pitchFamily="34" charset="0"/>
                <a:ea typeface="Calibri" pitchFamily="34" charset="-122"/>
                <a:cs typeface="Calibri" pitchFamily="34" charset="-120"/>
              </a:rPr>
              <a:t>RF ve sınırsız ağaç: eğitim 1.000</a:t>
            </a:r>
            <a:endParaRPr lang="en-US" sz="1500" dirty="0"/>
          </a:p>
          <a:p>
            <a:pPr marL="228600" indent="-228600">
              <a:spcAft>
                <a:spcPts val="700"/>
              </a:spcAft>
              <a:buSzPct val="100000"/>
              <a:buChar char="•"/>
            </a:pPr>
            <a:r>
              <a:rPr lang="en-US" sz="1500" dirty="0">
                <a:solidFill>
                  <a:srgbClr val="212121"/>
                </a:solidFill>
                <a:latin typeface="Calibri" pitchFamily="34" charset="0"/>
                <a:ea typeface="Calibri" pitchFamily="34" charset="-122"/>
                <a:cs typeface="Calibri" pitchFamily="34" charset="-120"/>
              </a:rPr>
              <a:t>Test 0.815 ve 0.710</a:t>
            </a:r>
            <a:endParaRPr lang="en-US" sz="1500" dirty="0"/>
          </a:p>
          <a:p>
            <a:pPr marL="228600" indent="-228600">
              <a:spcAft>
                <a:spcPts val="700"/>
              </a:spcAft>
              <a:buSzPct val="100000"/>
              <a:buChar char="•"/>
            </a:pPr>
            <a:r>
              <a:rPr lang="en-US" sz="1500" dirty="0">
                <a:solidFill>
                  <a:srgbClr val="212121"/>
                </a:solidFill>
                <a:latin typeface="Calibri" pitchFamily="34" charset="0"/>
                <a:ea typeface="Calibri" pitchFamily="34" charset="-122"/>
                <a:cs typeface="Calibri" pitchFamily="34" charset="-120"/>
              </a:rPr>
              <a:t>Görülmemiş veri ölçülmeli</a:t>
            </a:r>
            <a:endParaRPr lang="en-US" sz="1500" dirty="0"/>
          </a:p>
        </p:txBody>
      </p:sp>
      <p:sp>
        <p:nvSpPr>
          <p:cNvPr id="15" name="Shape 13"/>
          <p:cNvSpPr/>
          <p:nvPr/>
        </p:nvSpPr>
        <p:spPr>
          <a:xfrm>
            <a:off x="4338218" y="3886200"/>
            <a:ext cx="3515258" cy="2377440"/>
          </a:xfrm>
          <a:prstGeom prst="roundRect">
            <a:avLst>
              <a:gd name="adj" fmla="val 3077"/>
            </a:avLst>
          </a:prstGeom>
          <a:solidFill>
            <a:srgbClr val="F7F9FA"/>
          </a:solidFill>
          <a:ln w="12700">
            <a:solidFill>
              <a:srgbClr val="B0BEC5"/>
            </a:solidFill>
            <a:prstDash val="solid"/>
          </a:ln>
        </p:spPr>
      </p:sp>
      <p:sp>
        <p:nvSpPr>
          <p:cNvPr id="16" name="Text 14"/>
          <p:cNvSpPr txBox="1"/>
          <p:nvPr/>
        </p:nvSpPr>
        <p:spPr>
          <a:xfrm>
            <a:off x="4521098" y="3995928"/>
            <a:ext cx="3149498" cy="457200"/>
          </a:xfrm>
          <a:prstGeom prst="rect">
            <a:avLst/>
          </a:prstGeom>
          <a:noFill/>
          <a:ln/>
        </p:spPr>
        <p:txBody>
          <a:bodyPr wrap="square" lIns="0" tIns="0" rIns="0" bIns="0" rtlCol="0" anchor="t"/>
          <a:lstStyle/>
          <a:p>
            <a:pPr indent="0" marL="0">
              <a:buNone/>
            </a:pPr>
            <a:r>
              <a:rPr lang="en-US" sz="1700" b="1" dirty="0">
                <a:solidFill>
                  <a:srgbClr val="263238"/>
                </a:solidFill>
              </a:rPr>
              <a:t>Eşik = 0.5 varsaymak</a:t>
            </a:r>
            <a:endParaRPr lang="en-US" sz="1700" dirty="0"/>
          </a:p>
        </p:txBody>
      </p:sp>
      <p:sp>
        <p:nvSpPr>
          <p:cNvPr id="17" name="Text 15"/>
          <p:cNvSpPr txBox="1"/>
          <p:nvPr/>
        </p:nvSpPr>
        <p:spPr>
          <a:xfrm>
            <a:off x="4429658" y="4453128"/>
            <a:ext cx="3332378" cy="1719072"/>
          </a:xfrm>
          <a:prstGeom prst="rect">
            <a:avLst/>
          </a:prstGeom>
          <a:noFill/>
          <a:ln/>
        </p:spPr>
        <p:txBody>
          <a:bodyPr wrap="square" lIns="25400" tIns="25400" rIns="50800" bIns="25400" rtlCol="0" anchor="t"/>
          <a:lstStyle/>
          <a:p>
            <a:pPr marL="228600" indent="-228600">
              <a:spcAft>
                <a:spcPts val="700"/>
              </a:spcAft>
              <a:buSzPct val="100000"/>
              <a:buChar char="•"/>
            </a:pPr>
            <a:r>
              <a:rPr lang="en-US" sz="1500" dirty="0">
                <a:solidFill>
                  <a:srgbClr val="212121"/>
                </a:solidFill>
                <a:latin typeface="Calibri" pitchFamily="34" charset="0"/>
                <a:ea typeface="Calibri" pitchFamily="34" charset="-122"/>
                <a:cs typeface="Calibri" pitchFamily="34" charset="-120"/>
              </a:rPr>
              <a:t>Eşik bir tasarım kararıdır</a:t>
            </a:r>
            <a:endParaRPr lang="en-US" sz="1500" dirty="0"/>
          </a:p>
          <a:p>
            <a:pPr marL="228600" indent="-228600">
              <a:spcAft>
                <a:spcPts val="700"/>
              </a:spcAft>
              <a:buSzPct val="100000"/>
              <a:buChar char="•"/>
            </a:pPr>
            <a:r>
              <a:rPr lang="en-US" sz="1500" dirty="0">
                <a:solidFill>
                  <a:srgbClr val="212121"/>
                </a:solidFill>
                <a:latin typeface="Calibri" pitchFamily="34" charset="0"/>
                <a:ea typeface="Calibri" pitchFamily="34" charset="-122"/>
                <a:cs typeface="Calibri" pitchFamily="34" charset="-120"/>
              </a:rPr>
              <a:t>Maliyete göre seç (kaçırma mı, yanlış alarm mı?)</a:t>
            </a:r>
            <a:endParaRPr lang="en-US" sz="1500" dirty="0"/>
          </a:p>
          <a:p>
            <a:pPr marL="228600" indent="-228600">
              <a:spcAft>
                <a:spcPts val="700"/>
              </a:spcAft>
              <a:buSzPct val="100000"/>
              <a:buChar char="•"/>
            </a:pPr>
            <a:r>
              <a:rPr lang="en-US" sz="1500" dirty="0">
                <a:solidFill>
                  <a:srgbClr val="212121"/>
                </a:solidFill>
                <a:latin typeface="Calibri" pitchFamily="34" charset="0"/>
                <a:ea typeface="Calibri" pitchFamily="34" charset="-122"/>
                <a:cs typeface="Calibri" pitchFamily="34" charset="-120"/>
              </a:rPr>
              <a:t>Seçimi doğrulama verisinde yap</a:t>
            </a:r>
            <a:endParaRPr lang="en-US" sz="1500" dirty="0"/>
          </a:p>
        </p:txBody>
      </p:sp>
      <p:sp>
        <p:nvSpPr>
          <p:cNvPr id="18" name="Shape 16"/>
          <p:cNvSpPr/>
          <p:nvPr/>
        </p:nvSpPr>
        <p:spPr>
          <a:xfrm>
            <a:off x="8127797" y="3886200"/>
            <a:ext cx="3515258" cy="2377440"/>
          </a:xfrm>
          <a:prstGeom prst="roundRect">
            <a:avLst>
              <a:gd name="adj" fmla="val 3077"/>
            </a:avLst>
          </a:prstGeom>
          <a:solidFill>
            <a:srgbClr val="FDECEA"/>
          </a:solidFill>
          <a:ln w="12700">
            <a:solidFill>
              <a:srgbClr val="B0BEC5"/>
            </a:solidFill>
            <a:prstDash val="solid"/>
          </a:ln>
        </p:spPr>
      </p:sp>
      <p:sp>
        <p:nvSpPr>
          <p:cNvPr id="19" name="Text 17"/>
          <p:cNvSpPr txBox="1"/>
          <p:nvPr/>
        </p:nvSpPr>
        <p:spPr>
          <a:xfrm>
            <a:off x="8310677" y="3995928"/>
            <a:ext cx="3149498" cy="457200"/>
          </a:xfrm>
          <a:prstGeom prst="rect">
            <a:avLst/>
          </a:prstGeom>
          <a:noFill/>
          <a:ln/>
        </p:spPr>
        <p:txBody>
          <a:bodyPr wrap="square" lIns="0" tIns="0" rIns="0" bIns="0" rtlCol="0" anchor="t"/>
          <a:lstStyle/>
          <a:p>
            <a:pPr indent="0" marL="0">
              <a:buNone/>
            </a:pPr>
            <a:r>
              <a:rPr lang="en-US" sz="1700" b="1" dirty="0">
                <a:solidFill>
                  <a:srgbClr val="B71C1C"/>
                </a:solidFill>
              </a:rPr>
              <a:t>Sağlama kontrolü</a:t>
            </a:r>
            <a:endParaRPr lang="en-US" sz="1700" dirty="0"/>
          </a:p>
        </p:txBody>
      </p:sp>
      <p:sp>
        <p:nvSpPr>
          <p:cNvPr id="20" name="Text 18"/>
          <p:cNvSpPr txBox="1"/>
          <p:nvPr/>
        </p:nvSpPr>
        <p:spPr>
          <a:xfrm>
            <a:off x="8219237" y="4453128"/>
            <a:ext cx="3332378" cy="1719072"/>
          </a:xfrm>
          <a:prstGeom prst="rect">
            <a:avLst/>
          </a:prstGeom>
          <a:noFill/>
          <a:ln/>
        </p:spPr>
        <p:txBody>
          <a:bodyPr wrap="square" lIns="25400" tIns="25400" rIns="50800" bIns="25400" rtlCol="0" anchor="t"/>
          <a:lstStyle/>
          <a:p>
            <a:pPr marL="228600" indent="-228600">
              <a:spcAft>
                <a:spcPts val="700"/>
              </a:spcAft>
              <a:buSzPct val="100000"/>
              <a:buChar char="•"/>
            </a:pPr>
            <a:r>
              <a:rPr lang="en-US" sz="1500" dirty="0">
                <a:solidFill>
                  <a:srgbClr val="212121"/>
                </a:solidFill>
                <a:latin typeface="Calibri" pitchFamily="34" charset="0"/>
                <a:ea typeface="Calibri" pitchFamily="34" charset="-122"/>
                <a:cs typeface="Calibri" pitchFamily="34" charset="-120"/>
              </a:rPr>
              <a:t>Etiketleri karıştır → AUC ≈ 0.5 olmalı</a:t>
            </a:r>
            <a:endParaRPr lang="en-US" sz="1500" dirty="0"/>
          </a:p>
          <a:p>
            <a:pPr marL="228600" indent="-228600">
              <a:spcAft>
                <a:spcPts val="700"/>
              </a:spcAft>
              <a:buSzPct val="100000"/>
              <a:buChar char="•"/>
            </a:pPr>
            <a:r>
              <a:rPr lang="en-US" sz="1500" dirty="0">
                <a:solidFill>
                  <a:srgbClr val="212121"/>
                </a:solidFill>
                <a:latin typeface="Calibri" pitchFamily="34" charset="0"/>
                <a:ea typeface="Calibri" pitchFamily="34" charset="-122"/>
                <a:cs typeface="Calibri" pitchFamily="34" charset="-120"/>
              </a:rPr>
              <a:t>Notebook: </a:t>
            </a:r>
            <a:r>
              <a:rPr lang="en-US" sz="1500" b="1" dirty="0">
                <a:solidFill>
                  <a:srgbClr val="212121"/>
                </a:solidFill>
                <a:latin typeface="Calibri" pitchFamily="34" charset="0"/>
                <a:ea typeface="Calibri" pitchFamily="34" charset="-122"/>
                <a:cs typeface="Calibri" pitchFamily="34" charset="-120"/>
              </a:rPr>
              <a:t>0.508</a:t>
            </a:r>
            <a:endParaRPr lang="en-US" sz="1500" dirty="0"/>
          </a:p>
          <a:p>
            <a:pPr marL="228600" indent="-228600">
              <a:spcAft>
                <a:spcPts val="700"/>
              </a:spcAft>
              <a:buSzPct val="100000"/>
              <a:buChar char="•"/>
            </a:pPr>
            <a:r>
              <a:rPr lang="en-US" sz="1500" dirty="0">
                <a:solidFill>
                  <a:srgbClr val="212121"/>
                </a:solidFill>
                <a:latin typeface="Calibri" pitchFamily="34" charset="0"/>
                <a:ea typeface="Calibri" pitchFamily="34" charset="-122"/>
                <a:cs typeface="Calibri" pitchFamily="34" charset="-120"/>
              </a:rPr>
              <a:t>0.5'ten belirgin büyükse sızıntı ara</a:t>
            </a:r>
            <a:endParaRPr lang="en-US" sz="1500" dirty="0"/>
          </a:p>
        </p:txBody>
      </p:sp>
      <p:sp>
        <p:nvSpPr>
          <p:cNvPr id="21" name="Text 19"/>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13: ML II: denetimli sınıflandırma</a:t>
            </a:r>
            <a:endParaRPr lang="en-US" sz="900" dirty="0"/>
          </a:p>
        </p:txBody>
      </p:sp>
      <p:sp>
        <p:nvSpPr>
          <p:cNvPr id="22" name="Text 20"/>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Sınav tipi soru</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sınav sorusu</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8 test örneğinin skorları ve etiketleri: 0.95(+), 0.85(+), 0.75(−), 0.65(+), 0.45(+), 0.35(−), 0.25(−), 0.15(−). (a) Eşik 0.5'te karışıklık matrisi, kesinlik, duyarlılık, F1? (b) AUC?</a:t>
            </a:r>
            <a:endParaRPr lang="en-US" sz="1800" dirty="0"/>
          </a:p>
        </p:txBody>
      </p:sp>
      <p:sp>
        <p:nvSpPr>
          <p:cNvPr id="6" name="Text 4"/>
          <p:cNvSpPr txBox="1"/>
          <p:nvPr/>
        </p:nvSpPr>
        <p:spPr>
          <a:xfrm>
            <a:off x="548640" y="2779776"/>
            <a:ext cx="6656649"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(a) p ≥ 0.5 → pozitif tahmin: 0.95, 0.85, 0.75, 0.65</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TP = 3 (0.95, 0.85, 0.65), FP = 1 (0.75), FN = 1 (0.45), TN = 3</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Kesinlik = 3/4 = </a:t>
            </a:r>
            <a:r>
              <a:rPr lang="en-US" sz="1800" b="1" dirty="0">
                <a:solidFill>
                  <a:srgbClr val="212121"/>
                </a:solidFill>
                <a:latin typeface="Calibri" pitchFamily="34" charset="0"/>
                <a:ea typeface="Calibri" pitchFamily="34" charset="-122"/>
                <a:cs typeface="Calibri" pitchFamily="34" charset="-120"/>
              </a:rPr>
              <a:t>0.75</a:t>
            </a:r>
            <a:r>
              <a:rPr lang="en-US" sz="1800" dirty="0">
                <a:solidFill>
                  <a:srgbClr val="212121"/>
                </a:solidFill>
                <a:latin typeface="Calibri" pitchFamily="34" charset="0"/>
                <a:ea typeface="Calibri" pitchFamily="34" charset="-122"/>
                <a:cs typeface="Calibri" pitchFamily="34" charset="-120"/>
              </a:rPr>
              <a:t>; duyarlılık = 3/4 = </a:t>
            </a:r>
            <a:r>
              <a:rPr lang="en-US" sz="1800" b="1" dirty="0">
                <a:solidFill>
                  <a:srgbClr val="212121"/>
                </a:solidFill>
                <a:latin typeface="Calibri" pitchFamily="34" charset="0"/>
                <a:ea typeface="Calibri" pitchFamily="34" charset="-122"/>
                <a:cs typeface="Calibri" pitchFamily="34" charset="-120"/>
              </a:rPr>
              <a:t>0.75</a:t>
            </a:r>
            <a:r>
              <a:rPr lang="en-US" sz="1800" dirty="0">
                <a:solidFill>
                  <a:srgbClr val="212121"/>
                </a:solidFill>
                <a:latin typeface="Calibri" pitchFamily="34" charset="0"/>
                <a:ea typeface="Calibri" pitchFamily="34" charset="-122"/>
                <a:cs typeface="Calibri" pitchFamily="34" charset="-120"/>
              </a:rPr>
              <a:t>; F1 = </a:t>
            </a:r>
            <a:r>
              <a:rPr lang="en-US" sz="1800" b="1" dirty="0">
                <a:solidFill>
                  <a:srgbClr val="212121"/>
                </a:solidFill>
                <a:latin typeface="Calibri" pitchFamily="34" charset="0"/>
                <a:ea typeface="Calibri" pitchFamily="34" charset="-122"/>
                <a:cs typeface="Calibri" pitchFamily="34" charset="-120"/>
              </a:rPr>
              <a:t>0.75</a:t>
            </a:r>
            <a:r>
              <a:rPr lang="en-US" sz="1800" dirty="0">
                <a:solidFill>
                  <a:srgbClr val="212121"/>
                </a:solidFill>
                <a:latin typeface="Calibri" pitchFamily="34" charset="0"/>
                <a:ea typeface="Calibri" pitchFamily="34" charset="-122"/>
                <a:cs typeface="Calibri" pitchFamily="34" charset="-120"/>
              </a:rPr>
              <a:t>; doğruluk = 6/8 = 0.75</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(b) 4 × 4 = 16 çift: 0.95 → 4, 0.85 → 4, 0.65 → 3 (0.75'e kaybeder), 0.45 → 3</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AUC = (4 + 4 + 3 + 3) / 16 = 14/16 = </a:t>
            </a:r>
            <a:r>
              <a:rPr lang="en-US" sz="1800" b="1" dirty="0">
                <a:solidFill>
                  <a:srgbClr val="212121"/>
                </a:solidFill>
                <a:latin typeface="Calibri" pitchFamily="34" charset="0"/>
                <a:ea typeface="Calibri" pitchFamily="34" charset="-122"/>
                <a:cs typeface="Calibri" pitchFamily="34" charset="-120"/>
              </a:rPr>
              <a:t>0.875</a:t>
            </a:r>
            <a:endParaRPr lang="en-US" sz="18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7525329" y="2779776"/>
          <a:ext cx="4117726" cy="914400"/>
        </p:xfrm>
        <a:graphic>
          <a:graphicData uri="http://schemas.openxmlformats.org/drawingml/2006/table">
            <a:tbl>
              <a:tblPr/>
              <a:tblGrid>
                <a:gridCol w="1372575"/>
                <a:gridCol w="1372575"/>
                <a:gridCol w="1372575"/>
              </a:tblGrid>
              <a:tr h="0">
                <a:tc>
                  <a:txBody>
                    <a:bodyPr/>
                    <a:lstStyle/>
                    <a:p>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Tahmin +</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Tahmin −</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Gerçek +</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TP = 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FN = 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Gerçek −</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FP = 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TN = 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Kesinlik = duyarlılık = F1 = 0.75; AUC = </a:t>
            </a:r>
            <a:r>
              <a:rPr lang="en-US" sz="1700" b="1" dirty="0">
                <a:solidFill>
                  <a:srgbClr val="212121"/>
                </a:solidFill>
                <a:latin typeface="Calibri" pitchFamily="34" charset="0"/>
                <a:ea typeface="Calibri" pitchFamily="34" charset="-122"/>
                <a:cs typeface="Calibri" pitchFamily="34" charset="-120"/>
              </a:rPr>
              <a:t>0.875</a:t>
            </a:r>
            <a:r>
              <a:rPr lang="en-US" sz="1700" dirty="0">
                <a:solidFill>
                  <a:srgbClr val="212121"/>
                </a:solidFill>
                <a:latin typeface="Calibri" pitchFamily="34" charset="0"/>
                <a:ea typeface="Calibri" pitchFamily="34" charset="-122"/>
                <a:cs typeface="Calibri" pitchFamily="34" charset="-120"/>
              </a:rPr>
              <a:t>. Eşik 0.4'e inerse duyarlılık 1.0 olur, kesinlik 4/5 = 0.80'e çıkar.</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13: ML II: denetimli sınıflandırma</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Laboratuvar alıştırmaları</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Notebook: hafta13_ml2_denetimli_siniflandirma.ipynb  —  çözümler notebook'un sonunda</a:t>
            </a:r>
            <a:endParaRPr lang="en-US" sz="1500" dirty="0"/>
          </a:p>
        </p:txBody>
      </p:sp>
      <p:sp>
        <p:nvSpPr>
          <p:cNvPr id="4" name="Text 2"/>
          <p:cNvSpPr txBox="1"/>
          <p:nvPr/>
        </p:nvSpPr>
        <p:spPr>
          <a:xfrm>
            <a:off x="548640" y="1463040"/>
            <a:ext cx="11094415" cy="4754880"/>
          </a:xfrm>
          <a:prstGeom prst="rect">
            <a:avLst/>
          </a:prstGeom>
          <a:noFill/>
          <a:ln/>
        </p:spPr>
        <p:txBody>
          <a:bodyPr wrap="square" lIns="25400" tIns="25400" rIns="50800" bIns="25400" rtlCol="0" anchor="t"/>
          <a:lstStyle/>
          <a:p>
            <a:pPr marL="342900" indent="-342900">
              <a:spcAft>
                <a:spcPts val="8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TP = 90, FP = 30, FN = 10, TN = 870 için tüm ölçütleri hesaplayın. Veri dengesiz mi? Doğruluk neden yanıltıcı? (doğruluk 0.960, kesinlik 0.750, duyarlılık 0.900, F1 0.818)</a:t>
            </a:r>
            <a:endParaRPr lang="en-US" sz="1800" dirty="0"/>
          </a:p>
          <a:p>
            <a:pPr marL="342900" indent="-342900">
              <a:spcAft>
                <a:spcPts val="8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12+/4− düğüm (10+, 0−) ve (2+, 4−) olarak bölünüyor. Gini kazancını hesaplayın. (0.208)</a:t>
            </a:r>
            <a:endParaRPr lang="en-US" sz="1800" dirty="0"/>
          </a:p>
          <a:p>
            <a:pPr marL="342900" indent="-342900">
              <a:spcAft>
                <a:spcPts val="8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k-NN için k = 1, 5, 15, 51, 151'de 5 katlı CV doğruluğunu çizin. Küçük ve büyük k'nın riskleri nelerdir?</a:t>
            </a:r>
            <a:endParaRPr lang="en-US" sz="1800" dirty="0"/>
          </a:p>
          <a:p>
            <a:pPr marL="342900" indent="-342900">
              <a:spcAft>
                <a:spcPts val="8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Lojistik regresyonda C = 0.001 … 100 için doğrulama AUC'sini çizin; düzenlileştirmenin etkisini yorumlayın</a:t>
            </a:r>
            <a:endParaRPr lang="en-US" sz="1800" dirty="0"/>
          </a:p>
          <a:p>
            <a:pPr marL="342900" indent="-342900">
              <a:spcAft>
                <a:spcPts val="8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Etiketleri </a:t>
            </a:r>
            <a:r>
              <a:rPr lang="en-US" sz="1800" dirty="0">
                <a:solidFill>
                  <a:srgbClr val="455A64"/>
                </a:solidFill>
                <a:latin typeface="Courier New" pitchFamily="34" charset="0"/>
                <a:ea typeface="Courier New" pitchFamily="34" charset="-122"/>
                <a:cs typeface="Courier New" pitchFamily="34" charset="-120"/>
              </a:rPr>
              <a:t>np.random.permutation</a:t>
            </a:r>
            <a:r>
              <a:rPr lang="en-US" sz="1800" dirty="0">
                <a:solidFill>
                  <a:srgbClr val="212121"/>
                </a:solidFill>
                <a:latin typeface="Calibri" pitchFamily="34" charset="0"/>
                <a:ea typeface="Calibri" pitchFamily="34" charset="-122"/>
                <a:cs typeface="Calibri" pitchFamily="34" charset="-120"/>
              </a:rPr>
              <a:t> ile karıştırıp CV yapın. Ne beklersiniz? (AUC ≈ 0.5)</a:t>
            </a:r>
            <a:endParaRPr lang="en-US" sz="1800" dirty="0"/>
          </a:p>
          <a:p>
            <a:pPr marL="342900" indent="-342900">
              <a:spcAft>
                <a:spcPts val="800"/>
              </a:spcAft>
              <a:buSzPct val="100000"/>
              <a:buFont typeface="+mj-lt"/>
              <a:buAutoNum type="arabicPeriod" startAt="1"/>
            </a:pPr>
            <a:r>
              <a:rPr lang="en-US" sz="1800" b="1" dirty="0">
                <a:solidFill>
                  <a:srgbClr val="212121"/>
                </a:solidFill>
                <a:latin typeface="Calibri" pitchFamily="34" charset="0"/>
                <a:ea typeface="Calibri" pitchFamily="34" charset="-122"/>
                <a:cs typeface="Calibri" pitchFamily="34" charset="-120"/>
              </a:rPr>
              <a:t>Ek:</a:t>
            </a:r>
            <a:r>
              <a:rPr lang="en-US" sz="1800" dirty="0">
                <a:solidFill>
                  <a:srgbClr val="212121"/>
                </a:solidFill>
                <a:latin typeface="Calibri" pitchFamily="34" charset="0"/>
                <a:ea typeface="Calibri" pitchFamily="34" charset="-122"/>
                <a:cs typeface="Calibri" pitchFamily="34" charset="-120"/>
              </a:rPr>
              <a:t> ROC örneğinde 0.4 skorlu pozitifin skoru 0.75 olsaydı AUC ne olurdu? (9/9 = 1.0)</a:t>
            </a:r>
            <a:endParaRPr lang="en-US" sz="1800" dirty="0"/>
          </a:p>
        </p:txBody>
      </p:sp>
      <p:sp>
        <p:nvSpPr>
          <p:cNvPr id="5" name="Text 3"/>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13: ML II: denetimli sınıflandırma</a:t>
            </a:r>
            <a:endParaRPr lang="en-US" sz="900" dirty="0"/>
          </a:p>
        </p:txBody>
      </p:sp>
      <p:sp>
        <p:nvSpPr>
          <p:cNvPr id="6" name="Text 4"/>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263238"/>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000" b="1" dirty="0">
                <a:solidFill>
                  <a:srgbClr val="FFFFFF"/>
                </a:solidFill>
              </a:rPr>
              <a:t>Özet ve sonraki hafta</a:t>
            </a:r>
            <a:endParaRPr lang="en-US" sz="3000" dirty="0"/>
          </a:p>
        </p:txBody>
      </p:sp>
      <p:sp>
        <p:nvSpPr>
          <p:cNvPr id="3" name="Text 1"/>
          <p:cNvSpPr txBox="1"/>
          <p:nvPr/>
        </p:nvSpPr>
        <p:spPr>
          <a:xfrm>
            <a:off x="548640" y="1325880"/>
            <a:ext cx="11094415" cy="4023360"/>
          </a:xfrm>
          <a:prstGeom prst="rect">
            <a:avLst/>
          </a:prstGeom>
          <a:noFill/>
          <a:ln/>
        </p:spPr>
        <p:txBody>
          <a:bodyPr wrap="square" lIns="0" tIns="0" rIns="0" bIns="0" rtlCol="0" anchor="t"/>
          <a:lstStyle/>
          <a:p>
            <a:pPr marL="228600" indent="-228600">
              <a:spcAft>
                <a:spcPts val="800"/>
              </a:spcAft>
              <a:buSzPct val="100000"/>
              <a:buChar char="•"/>
            </a:pPr>
            <a:r>
              <a:rPr lang="en-US" sz="2000" dirty="0">
                <a:solidFill>
                  <a:srgbClr val="ECEFF1"/>
                </a:solidFill>
                <a:latin typeface="Calibri" pitchFamily="34" charset="0"/>
                <a:ea typeface="Calibri" pitchFamily="34" charset="-122"/>
                <a:cs typeface="Calibri" pitchFamily="34" charset="-120"/>
              </a:rPr>
              <a:t>Test verisi geliştirmeye </a:t>
            </a:r>
            <a:r>
              <a:rPr lang="en-US" sz="2000" b="1" dirty="0">
                <a:solidFill>
                  <a:srgbClr val="ECEFF1"/>
                </a:solidFill>
                <a:latin typeface="Calibri" pitchFamily="34" charset="0"/>
                <a:ea typeface="Calibri" pitchFamily="34" charset="-122"/>
                <a:cs typeface="Calibri" pitchFamily="34" charset="-120"/>
              </a:rPr>
              <a:t>karışmaz</a:t>
            </a:r>
            <a:r>
              <a:rPr lang="en-US" sz="2000" dirty="0">
                <a:solidFill>
                  <a:srgbClr val="ECEFF1"/>
                </a:solidFill>
                <a:latin typeface="Calibri" pitchFamily="34" charset="0"/>
                <a:ea typeface="Calibri" pitchFamily="34" charset="-122"/>
                <a:cs typeface="Calibri" pitchFamily="34" charset="-120"/>
              </a:rPr>
              <a:t>; seçimler </a:t>
            </a:r>
            <a:r>
              <a:rPr lang="en-US" sz="2000" b="1" dirty="0">
                <a:solidFill>
                  <a:srgbClr val="ECEFF1"/>
                </a:solidFill>
                <a:latin typeface="Calibri" pitchFamily="34" charset="0"/>
                <a:ea typeface="Calibri" pitchFamily="34" charset="-122"/>
                <a:cs typeface="Calibri" pitchFamily="34" charset="-120"/>
              </a:rPr>
              <a:t>çapraz doğrulama</a:t>
            </a:r>
            <a:r>
              <a:rPr lang="en-US" sz="2000" dirty="0">
                <a:solidFill>
                  <a:srgbClr val="ECEFF1"/>
                </a:solidFill>
                <a:latin typeface="Calibri" pitchFamily="34" charset="0"/>
                <a:ea typeface="Calibri" pitchFamily="34" charset="-122"/>
                <a:cs typeface="Calibri" pitchFamily="34" charset="-120"/>
              </a:rPr>
              <a:t> ile yapılır (ortalama ± std)</a:t>
            </a:r>
            <a:endParaRPr lang="en-US" sz="2000" dirty="0"/>
          </a:p>
          <a:p>
            <a:pPr marL="228600" indent="-228600">
              <a:spcAft>
                <a:spcPts val="800"/>
              </a:spcAft>
              <a:buSzPct val="100000"/>
              <a:buChar char="•"/>
            </a:pPr>
            <a:r>
              <a:rPr lang="en-US" sz="2000" dirty="0">
                <a:solidFill>
                  <a:srgbClr val="ECEFF1"/>
                </a:solidFill>
                <a:latin typeface="Calibri" pitchFamily="34" charset="0"/>
                <a:ea typeface="Calibri" pitchFamily="34" charset="-122"/>
                <a:cs typeface="Calibri" pitchFamily="34" charset="-120"/>
              </a:rPr>
              <a:t>k-NN: komşu oylaması; LR: σ(wᵀx + b) + log-kayıp; ağaç: Gini kazancı; RF: bootstrap + oylama</a:t>
            </a:r>
            <a:endParaRPr lang="en-US" sz="2000" dirty="0"/>
          </a:p>
          <a:p>
            <a:pPr marL="228600" indent="-228600">
              <a:spcAft>
                <a:spcPts val="800"/>
              </a:spcAft>
              <a:buSzPct val="100000"/>
              <a:buChar char="•"/>
            </a:pPr>
            <a:r>
              <a:rPr lang="en-US" sz="2000" dirty="0">
                <a:solidFill>
                  <a:srgbClr val="ECEFF1"/>
                </a:solidFill>
                <a:latin typeface="Calibri" pitchFamily="34" charset="0"/>
                <a:ea typeface="Calibri" pitchFamily="34" charset="-122"/>
                <a:cs typeface="Calibri" pitchFamily="34" charset="-120"/>
              </a:rPr>
              <a:t>Doğruluk yetmez: </a:t>
            </a:r>
            <a:r>
              <a:rPr lang="en-US" sz="2000" b="1" dirty="0">
                <a:solidFill>
                  <a:srgbClr val="ECEFF1"/>
                </a:solidFill>
                <a:latin typeface="Calibri" pitchFamily="34" charset="0"/>
                <a:ea typeface="Calibri" pitchFamily="34" charset="-122"/>
                <a:cs typeface="Calibri" pitchFamily="34" charset="-120"/>
              </a:rPr>
              <a:t>kesinlik, duyarlılık, F1</a:t>
            </a:r>
            <a:r>
              <a:rPr lang="en-US" sz="2000" dirty="0">
                <a:solidFill>
                  <a:srgbClr val="ECEFF1"/>
                </a:solidFill>
                <a:latin typeface="Calibri" pitchFamily="34" charset="0"/>
                <a:ea typeface="Calibri" pitchFamily="34" charset="-122"/>
                <a:cs typeface="Calibri" pitchFamily="34" charset="-120"/>
              </a:rPr>
              <a:t>; AUC = bir pozitifin bir negatiften yüksek skor alma olasılığı</a:t>
            </a:r>
            <a:endParaRPr lang="en-US" sz="2000" dirty="0"/>
          </a:p>
          <a:p>
            <a:pPr marL="228600" indent="-228600">
              <a:spcAft>
                <a:spcPts val="800"/>
              </a:spcAft>
              <a:buSzPct val="100000"/>
              <a:buChar char="•"/>
            </a:pPr>
            <a:r>
              <a:rPr lang="en-US" sz="2000" dirty="0">
                <a:solidFill>
                  <a:srgbClr val="ECEFF1"/>
                </a:solidFill>
                <a:latin typeface="Calibri" pitchFamily="34" charset="0"/>
                <a:ea typeface="Calibri" pitchFamily="34" charset="-122"/>
                <a:cs typeface="Calibri" pitchFamily="34" charset="-120"/>
              </a:rPr>
              <a:t>Sınırsız ağaç eğitimde 1.000, testte 0.710 → aşırı öğrenme; RF testte en iyi (0.815)</a:t>
            </a:r>
            <a:endParaRPr lang="en-US" sz="2000" dirty="0"/>
          </a:p>
          <a:p>
            <a:pPr marL="228600" indent="-228600">
              <a:spcAft>
                <a:spcPts val="800"/>
              </a:spcAft>
              <a:buSzPct val="100000"/>
              <a:buChar char="•"/>
            </a:pPr>
            <a:r>
              <a:rPr lang="en-US" sz="2000" dirty="0">
                <a:solidFill>
                  <a:srgbClr val="ECEFF1"/>
                </a:solidFill>
                <a:latin typeface="Calibri" pitchFamily="34" charset="0"/>
                <a:ea typeface="Calibri" pitchFamily="34" charset="-122"/>
                <a:cs typeface="Calibri" pitchFamily="34" charset="-120"/>
              </a:rPr>
              <a:t>3 motif özelliği ≈ 64–256 k-mer; birleşim en iyisi (</a:t>
            </a:r>
            <a:r>
              <a:rPr lang="en-US" sz="2000" b="1" dirty="0">
                <a:solidFill>
                  <a:srgbClr val="ECEFF1"/>
                </a:solidFill>
                <a:latin typeface="Calibri" pitchFamily="34" charset="0"/>
                <a:ea typeface="Calibri" pitchFamily="34" charset="-122"/>
                <a:cs typeface="Calibri" pitchFamily="34" charset="-120"/>
              </a:rPr>
              <a:t>AUC ≈ 0.90</a:t>
            </a:r>
            <a:r>
              <a:rPr lang="en-US" sz="2000" dirty="0">
                <a:solidFill>
                  <a:srgbClr val="ECEFF1"/>
                </a:solidFill>
                <a:latin typeface="Calibri" pitchFamily="34" charset="0"/>
                <a:ea typeface="Calibri" pitchFamily="34" charset="-122"/>
                <a:cs typeface="Calibri" pitchFamily="34" charset="-120"/>
              </a:rPr>
              <a:t>); yorumlama ve hata analizi yeni hipotez üretir</a:t>
            </a:r>
            <a:endParaRPr lang="en-US" sz="2000" dirty="0"/>
          </a:p>
        </p:txBody>
      </p:sp>
      <p:sp>
        <p:nvSpPr>
          <p:cNvPr id="4" name="Shape 2"/>
          <p:cNvSpPr/>
          <p:nvPr/>
        </p:nvSpPr>
        <p:spPr>
          <a:xfrm>
            <a:off x="548640" y="5532120"/>
            <a:ext cx="11094415" cy="777240"/>
          </a:xfrm>
          <a:prstGeom prst="roundRect">
            <a:avLst>
              <a:gd name="adj" fmla="val 9412"/>
            </a:avLst>
          </a:prstGeom>
          <a:solidFill>
            <a:srgbClr val="37474F"/>
          </a:solidFill>
          <a:ln/>
        </p:spPr>
      </p:sp>
      <p:sp>
        <p:nvSpPr>
          <p:cNvPr id="5" name="Text 3"/>
          <p:cNvSpPr txBox="1"/>
          <p:nvPr/>
        </p:nvSpPr>
        <p:spPr>
          <a:xfrm>
            <a:off x="731520" y="5532120"/>
            <a:ext cx="10728655" cy="777240"/>
          </a:xfrm>
          <a:prstGeom prst="rect">
            <a:avLst/>
          </a:prstGeom>
          <a:noFill/>
          <a:ln/>
        </p:spPr>
        <p:txBody>
          <a:bodyPr wrap="square" lIns="0" tIns="0" rIns="0" bIns="0" rtlCol="0" anchor="ctr"/>
          <a:lstStyle/>
          <a:p>
            <a:pPr indent="0" marL="0">
              <a:buNone/>
            </a:pPr>
            <a:r>
              <a:rPr lang="en-US" sz="1600" b="1" dirty="0">
                <a:solidFill>
                  <a:srgbClr val="FFCDD2"/>
                </a:solidFill>
              </a:rPr>
              <a:t>Sonraki hafta  </a:t>
            </a:r>
            <a:r>
              <a:rPr lang="en-US" sz="1600" dirty="0">
                <a:solidFill>
                  <a:srgbClr val="FFFFFF"/>
                </a:solidFill>
              </a:rPr>
              <a:t>Güvenilir model kurma: veri sızıntısı, Pipeline, iç içe çapraz doğrulama, dengesiz veri, PR eğrisi, permütasyon önemi</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Hafta 13: Makine Öğrenmesi II: Denetimli Sınıflandırma — Promotör Tahmini</dc:title>
  <dc:subject>PptxGenJS Presentation</dc:subject>
  <dc:creator>Biyoenformatiğe Giriş</dc:creator>
  <cp:lastModifiedBy>Biyoenformatiğe Giriş</cp:lastModifiedBy>
  <cp:revision>1</cp:revision>
  <dcterms:created xsi:type="dcterms:W3CDTF">2026-09-23T18:51:41Z</dcterms:created>
  <dcterms:modified xsi:type="dcterms:W3CDTF">2026-09-23T18:51:41Z</dcterms:modified>
</cp:coreProperties>
</file>