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Geçen hafta denetimli sınıflandırmanın temel araçlarını kurduk: bölme, çapraz doğrulama, ROC. Bu hafta 'modelim gerçekten bu kadar iyi mi?' sorusunu soruyoruz.
Biyoenformatikte yayımlanmış pek çok biyobelirteç imzasının bağımsız veride tekrarlanamamasının başlıca nedenleri bu haftanın konuları: sızıntı, yanlış ölçüt, yığın etkisi.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tahtaya yazın. Bu hafta yeni bir algoritma öğrenmiyoruz; öğrendiğimiz algoritmaları doğru değerlendirmeyi öğreniyoruz. Bunu öğrencilere açıkça söyleyin: sınavda ve projede en çok puan kaybettiren konu budur.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bölümde sızıntıyı tanımlayıp rastgele veride canlı bir gösteri yapacağız. Öğrencilere önce sorun: 'Tamamen rastgele veride bir sınıflandırıcı ne kadar doğruluk alır?'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sinsi olanı özellik seçimi sızıntısı; çünkü kod 'doğru' görünür: cross_val_score çağrılmıştır. Homoloji sızıntısını 8. haftadaki BLAST konusuna bağlayın: eğitim ve testte %95 özdeş diziler varsa model ezberler. Son iki satır genellikle unutulur; öğrencilere 'eşiği test verisine bakarak seçtiniz mi?' diye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Tahtada iki akışı yan yana çizin. Kritik soru: 'Özellik seçimi etiketleri kullanıyor mu?' ANOVA F testi etiketleri kullanır; o hâlde doğrulama katmanının etiketleri seçim adımına sızmıştır. Ölçekleme etiket kullanmaz, bu yüzden onun sızıntısı genellikle daha küçük etkilidir ama yine de yanlıştır.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örnek çoklu test konusunu (11. hafta) hatırlatır: 5000 test yapıldığında p &lt; 0.003 olan 13-14 yanlış pozitif beklenir. Öğrencilere 'p ≫ n' durumunun genomikte kural olduğunu söyleyin: 20 000 gen, birkaç yüz hasta. Sayılar notebook'taki aynı tohumla (default_rng(1)) üretilen veriden hesaplandı.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Kodu canlı çalıştırın ve önce öğrencilere tahmin ettirin: 'rastgele veride doğruluk kaç çıkar?' Çoğu 0.5 der. 0.92 görünce şaşırırlar; bu şaşkınlık dersin geri kalanının motivasyonu. make_pipeline ile Pipeline arasındaki farkı da söyleyin: make_pipeline adımları otomatik adlandırır.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Grafikteki kırmızı çizgi yanlış, gri çizgi doğru yöntem. Öğrencilere sorun: 'Gerçek bir makalede %100 doğruluk görürseniz ilk şüpheniz ne olmalı?' Cevap: sızıntı. k = 5'te sızıntı daha küçük çünkü 5 gen 100 örneği tam ayıracak kadar esnek bir model vermiyor.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Sızıntıyı önlemenin aracı Pipeline; hiperparametre seçiminin kendisi de bir uydurma olduğu için başarıyı ayrı bir dış döngüyle ölçeceğiz. Bu bölüm yaklaşık 30 dakika.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Çift alt çizgi kuralını tahtaya yazın: adım adı + __ + parametre adı. Öğrencilerin en sık hatası ölçekleyiciyi pipeline dışında bir kez fit edip sonra pipeline'a yalnızca modeli koymak. Pipeline'ın ikinci faydası: üretimde yeni örneğe aynı dönüşümler otomatik uygulanır.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Kombinasyon sayısını birlikte sayın: 12 + 12 + 2 = 26. Her biri 5 katlı CV ile değerlendirilir. refit=True varsayılandır; best_estimator_ tüm eğitim verisiyle yeniden eğitilmiş modeldir. Test kümesi (50 tümör) bu aşamada hiç kullanılmadı.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yanlılık–varyans ödünleşiminin özellik sayısı boyutundaki hâli. Öğrencilere sorun: neden SVM k = 1000'de bu kadar düştü? RBF çekirdeği uzaklığa dayanır; 1000 boyutta gürültülü genler uzaklıkları baskılar. Son madde bir sonraki slayta köprü.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GridSearchCV'nin best_score_ değeri iyimserdir çünkü 26 kombinasyonun en iyisini seçtik; seçme işlemi de bir tür uydurmadır (şanslı kombinasyon kazanır).
İç içe CV'de dış test katmanı iç döngüde hiç görülmez. Bizim veride iç içe sonuç 0.931 ± 0.043 çıktı, yani ızgara skoru bu kez iyimser değildi; ama bunu ancak iç içe CV ile bilebiliriz.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İç içe CV'nin koddaki karşılığı şaşırtıcı derecede kısa: GridSearchCV nesnesini cross_val_score'a veriyoruz. Öğrencilere sorun: her dış katmanda seçilen (k, C) aynı mı olmak zorunda? Hayır; iç içe CV bir modeli değil, 'ızgara araması yap ve en iyisini seç' sürecini değerlendirir. 0.931 ± 0.043 sonucu notebook çıktısıyla aynı.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Öğrencilerin kafası burada karışır: iç içe CV bir model üretmez, bir modelleme sürecinin başarısını ölçer. Dış katmanlarda farklı (k, C) seçilmesi normaldir. Hesaplama maliyetini n_jobs=-1 ile paralelleştirebileceğimizi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saatin başı: notebook'un 2. bölümü. C ve D alt tiplerinin 20 belirteç geni paylaştığını, D'nin yalnız 25 örneği olduğunu baştan söyleyin; zorluk buradan gelecek.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Karışıklık matrisinde tek hata türünü gösterin: iki D tümörü C olarak tahmin edilmiş. Bu, C'nin kesinliğini (11/13) ve D'nin duyarlılığını (4/6) düşürür. Biyolojik yorum: C ve D ortak 20 belirteç geni paylaşıyor (C+D), yani gerçekten benzer alt tipler. Kırmızı çerçeveli hücre tek hata türü.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Mikro ortalamayı da bir cümleyle anın: tüm TP, FP, FN toplanarak hesaplanır ve tek etiketli çok sınıflı problemde doğruluğa eşittir. Öğrencilere sorun: nadir bir kanser alt tipini kaçırmak mı daha kötü, sık görüleni mi?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Satırlar gerçek, sütunlar tahmin. Kesinlik sütun boyunca, duyarlılık satır boyunca hesaplanır; bunu tahtada oklarla gösterin. Aynı 2 hata C sütununda FP, D satırında FN olarak iki kez sayılır. Öğrenciler bu tabloyu sınavda elle doldurmayı bilmeli.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Yüksek skor tek başına yeterli değil: model doğru genleri kullanıyor mu ve teknik bir kısayol var mı? Bu soruları sentetik veride doğru cevabı bilerek sınayacağız.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Sentetik verinin avantajı: doğru cevabı biliyoruz. Gerçek hayatta seçilen genleri bilinen yolaklarla karşılaştırırız (zenginleştirme analizi). 60 genin tamamının belirteç olma olasılığı rastgele seçimde yaklaşık 10⁻⁵⁷; öğrencilere bu sayıyı söyleyip hipergeometrik dağılımı 11. haftadaki GO zenginleştirmesine bağlayın.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L1'in neden sıfır ürettiğini geometrik olarak anlatın: L1 cezasının eş-değer eğrisi köşeli bir elmastır, optimum köşelere, yani eksenlere düşer. L2 (ridge) katsayıları küçültür ama sıfırlamaz. Öğrencilere sorun: 1000 genin 63'üyle çalışan bir model klinikte neden daha kullanışlıdır? (Ucuz bir gen paneli.)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Üst panel bu verinin gerçek çapraz tablosu (A 33/37, B 36/24, C 29/16, D 14/11); alt panel varsayımsal kötü bir tasarım. Alttaki durumda merkez bazında doğrulama bile yapılamaz, çünkü Merkez1'de hiç D yok.
Merkez2 daha az örneğe sahip (88'e karşı 112) ve özellikle C ile D'den daha az örnek içeriyor; bu yüzden Merkez2'de eğitilen model Merkez1'de daha kötü. Düzeltme yöntemlerini (ComBat, merkez bazında standartlaştırma) yalnızca isim olarak anın. Asıl mesaj: deney tasarımı analizden önce gelir.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Üçüncü saat: antimikrobiyal peptit verisi. Özellikler 10. haftadaki ProtParam fonksiyonlarıyla (yük, GRAVY, pI) çıkarılıyor; öğrencilere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Gerçek bir genom taramasında AMP oranı %25 değil, binde birler düzeyindedir; o zaman doğruluk tamamen anlamsızlaşır. MCC'yi aslında iki ikili değişken arasındaki Pearson korelasyonu olarak tanıtın. Paydada bir çarpan sıfırsa (ör. hiç pozitif tahmin yoksa) MCC tanımsızdır ve kütüphaneler 0 döndürür.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Paydadaki dört çarpanın tablodaki satır ve sütun toplamları olduğunu gösterin; bu, formülü ezberlemeyi kolaylaştırır. Öğrencilere alıştırma 1'i (TP 45, FN 5, FP 45, TN 405) hemen denettirin: doğruluk 0.90 ama F1 0.643; MCC 0.625.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Ağırlıklı kayıp: L = Σ wᵧᵢ · kayıp(i). Bu, azınlık sınıfını çoğaltmakla (oversampling) yaklaşık eşdeğer ama veri kopyalamadan yapılır. Eğitim kümesinin 420 = 600 × 0.7 olduğunu, katmanlı bölme sayesinde oranın tam %25 kaldığını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Baz model satırını vurgulayın: her ML çalışmasında bir DummyClassifier satırı olmalı. RF balanced'da duyarlılığın düşmesi şaşırtıcı görünebilir; rastgele ormanda sınıf ağırlığı yaprak saflığını etkiler ama 0.5 eşiğindeki olasılıkları kaydırmaya yetmez. Öğrencilere sorun: hangi model 'en iyi'? Cevap: uygulamaya bağlı.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eğrisinde rastgele modelin çizgisi pozitif oranıdır (0.25); ROC'ta ise köşegen. Dengesiz veride PR eğrisi ROC'tan daha bilgilendiricidir çünkü TN'yi kullanmaz.
Sağ panelde eşik yükseldikçe kesinlik artar, duyarlılık düşer; F1 geniş bir platoda. Eşiğin yalnızca eğitim verisinden seçildiğini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Grafikteki dört dikdörtgenin alanları toplamı AP'dir; noktaları birleştiren çizginin altındaki alan (yamuk kuralı) değildir, bu yüzden scikit-learn AP'si AUC-PR'den biraz farklı olabilir. Öğrencilere sorun: 3. sıradaki negatifi en sona taşırsak AP ne olur? (0.25·(1+1+1+0.667) = 0.917).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 ve FP sayıları notebook'taki kesinlik/duyarlılık değerlerinden geri hesaplandı ve dört ölçütün hepsiyle tutarlı. Hangi eşiğin doğru olduğu maliyete bağlıdır: laboratuvarda sentezlenecek aday sayısı sınırlıysa yüksek eşik (kesinlik), hiçbir adayı kaçırmamak istiyorsak düşük eşik (duyarlılık).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 ve duy dizilerinin eşik dizisinden bir eleman uzun olduğunu gösterin; f1[:-1] bu yüzden var. 1e-12 sıfıra bölmeyi önler. Öğrencilere sorun: eşiği tüm eğitim verisinde fit edilmiş modelin eğitim tahminlerinden seçseydik ne olurdu? (Eğitim olasılıkları aşırı güvenli olur, eşik yanlı seçilir.)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Magainin-2'nin sınırda çıkması iyi bir tartışma noktası: bilinen gerçek bir AMP, modelimiz tarafından 0.51 ile zar zor tahmin ediliyor. Sentetik verideki AMP'ler daha katyonik olabilir. Joblib dosyalarının güvenilmeyen kaynaktan yüklenmemesi gerektiğini (pickle kod çalıştırabilir) bir cümleyle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dört kart dönem projesinin 'yöntemlerin doğru uygulanması' ölçütünün (%25) içeriği. Öğrencilere listeyi projelerinde bir kontrol listesi olarak kullanmalarını söyleyin. Her maddeye bu haftadan bir örnek eşleştirmelerini isteyin.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Sınav sorusunun beklenen cevabı: hayır; seçim LOOCV'nin dışında yapıldığı için sızıntı var. p ≫ n durumunda rastgele genlerle bile yüksek doğruluk elde edilir (bugünkü gösteri). Doğrusu: seçimi her LOOCV adımının içinde yapmak ve mümkünse bağımsız bir kohortta doğrulamak.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Alıştırma 5'in sonucu öğretici: fizikokimyasal özellikler bileşimden türetildiği için (yük, GRAVY, pI zaten amino asit oranlarının fonksiyonu) AP neredeyse değişmiyor. Alıştırma 3'te sınıf ağırlığının makro-F1'i 0.929'dan 0.966'ya çıkardığını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sonraki hafta derin öğrenmeye geçiyoruz; ama bu haftanın her kuralı orada da geçerli. Derin modeller daha esnek olduğu için sızıntıya daha da duyarlıdır. Öğrencilerden proje konularını düşünmeye başlamalarını isteyin.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B71C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2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III: Güvenilir Model Kurma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sızıntısı, Pipeline, hiperparametre ayarı, çok sınıflı ölçütler, yığın etkisi ve dengesiz veri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Python ve Biopython ile uygulamalı ders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Colab: hafta14_ml3_guvenilir_model_kurma.ipynb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hedefleri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sızıntısının türlerini tanımak ve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GridSearchCV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hiperparametre ayarlamak;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 içe CV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'nin gerekçesini kavramak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sınıflı problemde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 / ağırlıklı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F1'i elle hesaplamak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Seçilen genleri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bilinen belirteçlerle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doğrulamak; yığın etkisini ve karıştırıcıyı denetlemek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Dengesiz veride MCC, AP, sınıf ağırlığı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eşiği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eşiğiyle birlikte kaydedip yeniden kullanmak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23444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Ders akışı (3 saat)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42255" cy="914400"/>
        </p:xfrm>
        <a:graphic>
          <a:graphicData uri="http://schemas.openxmlformats.org/drawingml/2006/table">
            <a:tbl>
              <a:tblPr/>
              <a:tblGrid>
                <a:gridCol w="1048451"/>
                <a:gridCol w="41938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Sızıntı türleri ve rastgele veri gösterisi; Pipeline; GridSearchCV; iç içe CV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Tümör alt tipi: makro/ağırlıklı F1, belirteç genler, L1, yığın etkisi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 tahmini: dengesiz veri, MCC, sınıf ağırlığı, PR eğrisi, AP, eşik; kontrol listesi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bilgisi eğitim sürecine </a:t>
            </a:r>
            <a:r>
              <a:rPr lang="en-US" sz="17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herhangi bir yoldan</a:t>
            </a: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sızarsa başarı olduğundan yüksek görünür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Sızıntı türleri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nokta: modelin (ya da ön işlemenin) </a:t>
            </a: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göremeyeceği</a:t>
            </a: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bilgiyi eğitim sırasında görmesi. Sonuç: iyimser skor, gerçek veride çöküş.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141027"/>
                <a:gridCol w="4476694"/>
                <a:gridCol w="447669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Sızıntı türü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 işleme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veriyi ölçekleyip (ortalama, s.s.) sonra bölmek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Ölçekleyiciyi yalnızca eğitim katmanında 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fit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etmek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seçimi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veride en ayırt edici genleri seçip sonra CV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Seçimi </a:t>
                      </a: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CV katmanının içinde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yapmak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hastanın örnekleri hem eğitimde hem testte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7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GroupKFold</a:t>
                      </a: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(hasta = grup)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Homoloji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%95 özdeş proteinler eğitim ve testte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Benzerliğe göre kümeleyip küme bazında bölmek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Hiperparametre / eşik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C'yi ya da eşiği test skoruna bakarak seçmek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 CV ile seçmek; test en sonda bir kez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Yığın (batch)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sınıfın örnekleri tek merkezden/tek günden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 deney tasarımı; merkez bazında doğrulama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ve doğru özellik seçimi akışı</a:t>
            </a:r>
            <a:endParaRPr lang="en-US" sz="3000" dirty="0"/>
          </a:p>
        </p:txBody>
      </p:sp>
      <p:pic>
        <p:nvPicPr>
          <p:cNvPr id="3" name="Image 0" descr="p14_sizinti_ak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298" y="1234440"/>
            <a:ext cx="9723100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253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Üstte seçim adımı doğrulama katmanlarının etiketlerini de görür; altta her katmanda yalnızca eğitim katmanıyla yeniden fit edilir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Şans eseri ne kadar güçlü korelasyon bulunur?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örnek, 5000 tamamen rastgele gen ve rastgele ikili etiket. Tek bir genin etiketle korelasyonu sıfır hipotezinde r ~ N(0, 1/√n). Kaç gende |r| &gt; 0.3 bekleriz?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sapma: 1/√100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(simülasyonda gözlenen: 0.100)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&gt; 0.3 ⇔ |Z| &gt; 3; P(|Z| &gt; 3)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0.0027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gen sayısı: 5000 × 0.0027 ≈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(simülasyonda: 15)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|r| ≈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en iyi 20 genin en küçüğü |r| ≈ 0.29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20 gen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100 örnekte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seçildiği için doğrulama katmanlarında da etiketle 'uyumlu'dur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1271473"/>
                <a:gridCol w="1412748"/>
                <a:gridCol w="1130198"/>
                <a:gridCol w="14127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P(|Z| &gt; z)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Gözlenen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|r| &gt; 0.2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|r| &gt; 0.3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iyi 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|r| ≥ 0.29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Binlerce özellik ve az örnekte, rastgele gürültü içinden 'güçlü' belirteçler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bulunur; seçimi CV dışında yapmak bu şansı başarıya çevirir.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Gösteri: rastgele veride sızıntı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12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541264"/>
            <a:ext cx="6656649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614416"/>
            <a:ext cx="643719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Sızıntılı CV doğruluğu : 0.92   &lt;-- rastgele veride imkânsız!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CV doğruluğu  : 0.58   &lt;-- gerçekçi (≈0.5)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4032504"/>
          </a:xfrm>
          <a:prstGeom prst="roundRect">
            <a:avLst>
              <a:gd name="adj" fmla="val 1814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 = np.random.default_rng(1)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Xr = rng.normal(size=(100, 5000))   # 100 "hasta", 5000 "gen"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yr = rng.integers(0, 2, 100)        # rastgele etiket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StratifiedKFold(5, shuffle=True, random_state=0)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YANLIŞ: seçim tüm veride, sonra CV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 = SelectKBest(f_classif, k=20).fit(Xr, yr).get_support()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yanlis = cross_val_score(LogisticRegression(max_iter=2000),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Xr[:, sec], yr, cv=cv).mean()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DOĞRU: seçim pipeline içinde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make_pipeline(SelectKBest(f_classif, k=20),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LogisticRegression(max_iter=2000))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dogru = cross_val_score(pipe, Xr, yr, cv=cv).mean()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başarı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olmalı: etiketler rastgele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fark: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SelectKBest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CV'nin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dışında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mı içinde mi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ile 0.5 arasındaki fark örnekleme dalgalanması (n = 100)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Yayımlanmış biyobelirteç imzalarının tekrarlanamamasının başlıca nedenlerinden biri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Sızıntı, seçilen gen sayısıyla büyür</a:t>
            </a:r>
            <a:endParaRPr lang="en-US" sz="3000" dirty="0"/>
          </a:p>
        </p:txBody>
      </p:sp>
      <p:pic>
        <p:nvPicPr>
          <p:cNvPr id="3" name="Image 0" descr="p14_sizinti_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2089"/>
            <a:ext cx="6434761" cy="41939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03441" y="1234440"/>
            <a:ext cx="4339614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100 ve 500'de sızıntılı CV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doğruluk verir: rastgele gürültü mükemmel ayrılır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ile tüm k değerlerinde ≈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(şans)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büyüdükçe model, seçim sırasında 'görülen' gürültüyü daha çok ezberler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Alıştırma 2'nin çözümü; değerler notebook'taki aynı veriyle hesaplandı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GridSearchCV ve iç içe CV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işleme + seçim + model tek nesne; hiperparametre seçimi ile başarı ölçümü ayrı döngülerde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tüm adımlar tek bir tahminci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64328" cy="5029200"/>
          </a:xfrm>
          <a:prstGeom prst="roundRect">
            <a:avLst>
              <a:gd name="adj" fmla="val 145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</a:rPr>
              <a:t>Nasıl çalışır?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5090008" cy="4297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pipe.fit(X, y)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her adım sırayla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son adım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pipe.predict(X)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her adım yalnızca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(öğrenilmiş parametrelerle)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CV'ye verilince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katmanda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tüm adımlar yeniden fit edilir → sızıntı yok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adı: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adım__parametre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(ör.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sec__k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model__C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nesne olarak kaydedilir: yeni veride aynı ölçek ve aynı genler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8728" y="1234440"/>
            <a:ext cx="5364328" cy="5029200"/>
          </a:xfrm>
          <a:prstGeom prst="roundRect">
            <a:avLst>
              <a:gd name="adj" fmla="val 145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1608" y="1344168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</a:rPr>
              <a:t>Tümör verisi için Pipeline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61608" y="1828800"/>
            <a:ext cx="4998568" cy="4297680"/>
          </a:xfrm>
          <a:prstGeom prst="roundRect">
            <a:avLst>
              <a:gd name="adj" fmla="val 1702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71336" y="1901952"/>
            <a:ext cx="4779112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("olcek", StandardScaler()),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("sec", SelectKBest(f_classif)),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("model", LogisticRegression(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max_iter=5000)),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pipe.set_params(sec__k=200,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model__C=1)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fit:  olcek.fit_transform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-&gt; sec.fit_transform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-&gt; model.fit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predict: olcek.transform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-&gt; sec.transform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-&gt; model.predict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 model + k + C birlikte aranır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11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340096"/>
            <a:ext cx="6656649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413248"/>
            <a:ext cx="643719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iyi parametreler: {'model': 'LogisticRegression',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'model__C': 1, 'sec__k': 200}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iyi CV makro-F1: 0.931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3831336"/>
          </a:xfrm>
          <a:prstGeom prst="roundRect">
            <a:avLst>
              <a:gd name="adj" fmla="val 1909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izgara = [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{"sec__k": [10, 50, 200, 1000],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"model": [LogisticRegression(max_iter=5000)],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"model__C": [0.01, 0.1, 1]},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{"sec__k": [10, 50, 200, 1000],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"model": [SVC(kernel="rbf")], "model__C": [0.1, 1, 10]},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{"sec__k": [50, 200],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"model": [RandomForestClassifier(n_estimators=300)]},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arama = GridSearchCV(pipe, izgara, cv=cv,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scoring="f1_macro", n_jobs=-1)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arama.fit(X_egt, y_egt)          # yalnızca eğitim (150)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Izgara bir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 listesi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olabilir: her sözlük ayrı bir alt ızgara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adımı bile bir hiperparametre gibi değiştirilebilir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Adımlar: her kombinasyon → 5 katlı CV → ortalama skor → en iyisi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eğitim verisiyle yeniden eğit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scoring="f1_macro"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az örnekli D alt tipi de hesaba katılır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Izgara araması sonuçları: 'orta' sayıda gen en iyisi</a:t>
            </a:r>
            <a:endParaRPr lang="en-US" sz="2800" dirty="0"/>
          </a:p>
        </p:txBody>
      </p:sp>
      <p:pic>
        <p:nvPicPr>
          <p:cNvPr id="3" name="Image 0" descr="p14_izg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87686"/>
            <a:ext cx="6212873" cy="332270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081553" y="1234440"/>
            <a:ext cx="4561503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10–50: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 ve D alt tiplerini ayıran zayıf belirteçler kaçırılır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1000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(tüm genler): gürültü eklenir; SVM en çok zarar görür (0.664)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k = 200, C = 1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CV makro-F1 = 0.931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orman bu küçük veride (150 örnek) doğrusal modelin gerisinde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Uyarı: 0.931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iyimser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tahmindir (aynı katmanlar seçim için de kullanıldı)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içe (nested) CV: seçim ve ölçüm ayrı döngülerde</a:t>
            </a:r>
            <a:endParaRPr lang="en-US" sz="2800" dirty="0"/>
          </a:p>
        </p:txBody>
      </p:sp>
      <p:pic>
        <p:nvPicPr>
          <p:cNvPr id="3" name="Image 0" descr="p14_ic_ice_c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138" y="1234440"/>
            <a:ext cx="10767419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2531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İç döngü hiperparametreyi seçer, dış döngü bu seçim sürecinin tamamının başarısını ölçer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içe CV Python'da: GridSearchCV'yi cross_val_score'a vermek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513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742432"/>
            <a:ext cx="6878537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815584"/>
            <a:ext cx="6659081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İç içe CV makro-F1: 0.931 ± 0.043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878537" cy="4233672"/>
          </a:xfrm>
          <a:prstGeom prst="roundRect">
            <a:avLst>
              <a:gd name="adj" fmla="val 1728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659081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kucuk_izgara = {"sec__k": [50, 200],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"model__C": [0.01, 0.1, 1]}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İÇ döngü: hiperparametre seçimi (3 katlı)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 = GridSearchCV(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Pipeline([("olcek", StandardScaler()),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("sec", SelectKBest(f_classif)),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("model", LogisticRegression(max_iter=5000))]),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kucuk_izgara,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cv=StratifiedKFold(3, shuffle=True, random_state=1),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scoring="f1_macro")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DIŞ döngü: seçim sürecinin başarısı (5 katlı)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ic_ice = cross_val_score(ic, X_egt, y_egt, cv=cv,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scoring="f1_macro")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print(f"İç içe CV makro-F1: {ic_ice.mean():.3f}"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 ± {ic_ice.std():.3f}")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47217" y="1234440"/>
            <a:ext cx="3895838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GridSearchCV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nesnesi de bir tahmincidir: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içinde kendi CV'sini yapar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dış katmanda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ic.fit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çağırır → iç ızgara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dış eğitim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kısmında çalışır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test katmanı seçimde hiç kullanılmaz → tarafsız skor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5 dış skorun ortalaması ± s.s.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model eğitilir?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Notebook'taki (a) GridSearchCV (26 kombinasyon, 5 katlı CV, refit) ve (b) iç içe CV (dış 5 katman; iç ızgara k ∈ {50, 200}, C ∈ {0.01, 0.1, 1}, 3 katlı iç CV) kaç kez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çağırır?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Kombinasyon: LR 4 × 3 = 12, SVM 4 × 3 = 12, RF 2 →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Fit: 26 × 5 katman + 1 refit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İç ızgara: 2 × 3 = 6 kombinasyon; iç CV: 6 × 3 + 1 refit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Dış döngü: 5 × 19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fit (her dış katman kendi en iyi modelini seçer)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ızgarayla iç içe CV: 5 × (26 × 3 + 1)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fit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2056591"/>
                <a:gridCol w="856913"/>
                <a:gridCol w="23136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sayısı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verir?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iyi model + iyimser skor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 içe CV (küçük ızgara)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tarafsız skor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 içe CV (tam ızgara)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tarafsız skor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içe CV maliyetlidir ama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tarafsız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başarı tahmini verir; sonuç: makro-F1 = 0.931 ± 0.043. Nihai model yine tüm eğitim verisinde GridSearchCV ile kurulur.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Tümör alt tipi: çok sınıflı değerlendirme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tümör × 1000 gen, 4 alt tip (A 70, B 60, C 45, D 25); C ve D birbirine benzer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Ayrılmış test kümesinde sonuç (50 tümör)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model (LR, k = 200, C = 1) test kümesinde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kez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değerlendirildi. Doğruluk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tüm hatalar D → C (2 örnek): az örnekli ve C'ye benzeyen D en zor sınıf.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434761" cy="914400"/>
        </p:xfrm>
        <a:graphic>
          <a:graphicData uri="http://schemas.openxmlformats.org/drawingml/2006/table">
            <a:tbl>
              <a:tblPr/>
              <a:tblGrid>
                <a:gridCol w="2198367"/>
                <a:gridCol w="1256210"/>
                <a:gridCol w="1570262"/>
                <a:gridCol w="785131"/>
                <a:gridCol w="62479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Kesinlik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Duyarlılık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Makro ort.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Ağırlıklı ort.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14_karisikl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8431" y="2057400"/>
            <a:ext cx="3889635" cy="4160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 ve ağırlıklı F1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sınıfın F1 skorları: A = 0.95 (n = 70), B = 0.90 (n = 60), D = 0.50 (n = 10). Makro ve ağırlıklı F1 nedir? Hangisi D'deki sorunu gösterir?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Makro: her sınıf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eşit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ağırlıkta → (0.95 + 0.90 + 0.50) / 3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2.35 / 3 =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0.783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Ağırlıklı: her sınıf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sayısıyla</a:t>
            </a: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ağırlıklı → (70·0.95 + 60·0.90 + 10·0.50) / 140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(66.5 + 54.0 + 5.0) / 140 = 125.5 / 140 =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0.113: küçük D sınıfının kötü başarısı ağırlıklı ortalamada </a:t>
            </a:r>
            <a:r>
              <a:rPr lang="en-US" sz="16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gizlenir</a:t>
            </a:r>
            <a:endParaRPr lang="en-US" sz="16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1742389"/>
                <a:gridCol w="1161593"/>
                <a:gridCol w="871195"/>
                <a:gridCol w="145199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n·F1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 F1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0.783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ağırlıklı F1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Nadir alt tipler önemliyse (klinikte çoğu zaman öyledir)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ölçüt kullanılır.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Karışıklık matrisinden makro F1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 — test kümesinin gerçek matrisi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karışıklık matrisinde tek hata iki D tümörünün C tahmin edilmesi. C ve D için kesinlik, duyarlılık, F1'i; ardından makro ve ağırlıklı F1'i hesaplayın.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kesinlik = 11 / (11 + 2) =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0.846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duyarlılık = 11 / 11 = 1</a:t>
            </a:r>
            <a:endParaRPr lang="en-US" sz="17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F1(C) = 2 · 0.846 · 1 / 1.846 =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</a:t>
            </a:r>
            <a:endParaRPr lang="en-US" sz="17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kesinlik = 4 / 4 = 1; duyarlılık = 4 / 6 =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0.667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F1(D) = 2 · 0.667 / 1.667 =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7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 F1 = (1 + 1 + 0.917 + 0.800) / 4 =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0.929</a:t>
            </a:r>
            <a:endParaRPr lang="en-US" sz="17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F1 = (18 + 15 + 11·0.917 + 6·0.800) / 50 =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17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2777958"/>
                <a:gridCol w="612302"/>
                <a:gridCol w="612302"/>
                <a:gridCol w="612302"/>
                <a:gridCol w="61230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\ tahmin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hata türü iki sınıfın F1'ini birden düşürür. Hesap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çıktısıyla birebir aynı (0.929 / 0.958).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Biyolojik doğrulama ve yığın etkisi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doğru genleri mi, yoksa teknik bir kısayolu mu öğreniyor?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Seçilen genler gerçek belirteçler mi?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84778" cy="219456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3484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71C1C"/>
                </a:solidFill>
              </a:rPr>
              <a:t>60 / 60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5176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ANOVA F ile seçilen genlerden gerçek belirteç olanlar (kesinlik 1.00)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53458" y="1417320"/>
            <a:ext cx="3484778" cy="219456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53458" y="1554480"/>
            <a:ext cx="3484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71C1C"/>
                </a:solidFill>
              </a:rPr>
              <a:t>8.4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490618" y="265176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Rastgele 60 gen seçilseydi beklenen: 60 × 140 / 1000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58277" y="1417320"/>
            <a:ext cx="3484778" cy="2194560"/>
          </a:xfrm>
          <a:prstGeom prst="roundRect">
            <a:avLst>
              <a:gd name="adj" fmla="val 3333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58277" y="1554480"/>
            <a:ext cx="3484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71C1C"/>
                </a:solidFill>
              </a:rPr>
              <a:t>59 / 63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95437" y="2651760"/>
            <a:ext cx="32104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L1 (lasso) lojistik regresyonun kullandığı genlerden gerçek belirteç olanlar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86200"/>
            <a:ext cx="11094415" cy="23774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üretiminde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belirteç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her alt tip için 30 + C ve D'nin paylaştığı 20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değer hipergeometrik dağılımdan: E = k·M/N = 60·140/1000 = 8.4 (s.s. ≈ 2.6); 60/60 şansla açıklanamaz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veride 'bilinen belirteç' listesi: literatür, MSigDB gen kümeleri, PAM50 (meme kanseri) gibi imzalar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ve gömülü özellik seçimi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64328" cy="5029200"/>
          </a:xfrm>
          <a:prstGeom prst="roundRect">
            <a:avLst>
              <a:gd name="adj" fmla="val 145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</a:rPr>
              <a:t>ANOVA F (filtre) — SelectKBest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5090008" cy="4297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gen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başına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edilir: sınıflar arası / sınıf içi varyans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Hızlı, modelden bağımsız; gen–gen etkileşimini görmez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genin 60'ı belirteç; ama birbirine çok benzeyen (ilişkili) genleri birlikte seçebilir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8728" y="1234440"/>
            <a:ext cx="5364328" cy="5029200"/>
          </a:xfrm>
          <a:prstGeom prst="roundRect">
            <a:avLst>
              <a:gd name="adj" fmla="val 145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1608" y="1344168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</a:rPr>
              <a:t>L1 lojistik regresyon (gömülü)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15888" y="1828800"/>
            <a:ext cx="5090008" cy="4297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Ceza λ·Σ|wⱼ| katsayıların çoğunu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sıfıra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iter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penalty="l1", solver="saga", C=0.2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gen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59'u belirteç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tip başına ilk 10 pozitif katsayıda kendi belirteci: A 10, B 9, C 6, D 5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makro-F1 = 0.889 (seçim + model tek adımda)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ve D'de oranın düşük olması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paylaşılan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 belirteçten kaynaklanır → D → C hatasıyla tutarlı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(batch) etkisi ve karıştırıcı değişken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114721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etkisi:</a:t>
            </a:r>
            <a:r>
              <a:rPr lang="en-US" sz="1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merkez, gün, cihaz, reaktif partisi farkının ifadeye yansıması</a:t>
            </a:r>
            <a:endParaRPr lang="en-US" sz="1850" dirty="0"/>
          </a:p>
          <a:p>
            <a:pPr lvl="1" marL="406400" indent="-203200">
              <a:spcAft>
                <a:spcPts val="300"/>
              </a:spcAft>
              <a:buSzPct val="100000"/>
              <a:buChar char="–"/>
            </a:pPr>
            <a:r>
              <a:rPr lang="en-US" sz="16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veride ifadeden </a:t>
            </a:r>
            <a:r>
              <a:rPr lang="en-US" sz="16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 %100</a:t>
            </a:r>
            <a:r>
              <a:rPr lang="en-US" sz="16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doğrulukla tahmin ediliyor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Karıştırıcı:</a:t>
            </a:r>
            <a:r>
              <a:rPr lang="en-US" sz="1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hem girdiyi hem etiketi etkileyen üçüncü değişken</a:t>
            </a:r>
            <a:endParaRPr lang="en-US" sz="1850" dirty="0"/>
          </a:p>
          <a:p>
            <a:pPr lvl="1" marL="406400" indent="-203200">
              <a:spcAft>
                <a:spcPts val="300"/>
              </a:spcAft>
              <a:buSzPct val="100000"/>
              <a:buChar char="–"/>
            </a:pPr>
            <a:r>
              <a:rPr lang="en-US" sz="16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Alttaki tasarımda 'Merkez2' kuralı D'yi ayırmaya yeter → model biyolojiyi değil merkezi öğrenir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 1:</a:t>
            </a:r>
            <a:r>
              <a:rPr lang="en-US" sz="1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merkez ifadeden tahmin edilebiliyor mu? (Evet)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 2:</a:t>
            </a:r>
            <a:r>
              <a:rPr lang="en-US" sz="1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 tip × merkez tablosu dengeli mi? (Evet → kısayol yok)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 3:</a:t>
            </a:r>
            <a:r>
              <a:rPr lang="en-US" sz="1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merkez bazında doğrulama: M1 → M2 makro-F1 </a:t>
            </a:r>
            <a:r>
              <a:rPr lang="en-US" sz="1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</a:t>
            </a:r>
            <a:r>
              <a:rPr lang="en-US" sz="1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M2 → M1 </a:t>
            </a:r>
            <a:r>
              <a:rPr lang="en-US" sz="1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0.798</a:t>
            </a:r>
            <a:endParaRPr lang="en-US" sz="18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Merkezler arası genelleme rastgele bölmeden (0.929) </a:t>
            </a:r>
            <a:r>
              <a:rPr lang="en-US" sz="1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zordur</a:t>
            </a:r>
            <a:r>
              <a:rPr lang="en-US" sz="18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gerçek dünyaya daha yakın tahmin budur</a:t>
            </a:r>
            <a:endParaRPr lang="en-US" sz="1850" dirty="0"/>
          </a:p>
        </p:txBody>
      </p:sp>
      <p:pic>
        <p:nvPicPr>
          <p:cNvPr id="4" name="Image 0" descr="p14_karistiri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3401" y="1239168"/>
            <a:ext cx="4659654" cy="50197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Dengesiz veri: antimikrobiyal peptit tahmini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peptit, %25 AMP; 20 amino asit oranı + uzunluk, yük, GRAVY, pI, aromatiklik (25 özellik)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Dengesiz veride ölçütler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Kesinlik, duyarlılık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23444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TP/(TP+FP),   R = TP/(TP+FN)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23444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'AMP dediklerimin ne kadarı AMP?'  R: 'AMP'lerin ne kadarını buldum?'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886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886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F1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0886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= 2PR / (P + R)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30886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ve R'nin harmonik ortalaması; TN'yi hiç kullanmaz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8328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Dengeli doğruluk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38328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 + TN/(TN+FP)) / 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38328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 ve özgüllüğün ortalaması; 'hepsi negatif' = 0.5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5770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5770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MCC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45770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(TP·TN − FP·FN) / √[(TP+FP)(TP+FN)(TN+FP)(TN+FN)]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45770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hücrenin tamamı; −1 … +1, rastgele ≈ 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yanıltıcıdır: 'hepsi negatif' diyen model %75 alır. Pozitif sınıf odaklı ölçütler: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AP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tüm matrisi özetleyen: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MCC'yi elle hesaplamak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795528"/>
          </a:xfrm>
          <a:prstGeom prst="roundRect">
            <a:avLst>
              <a:gd name="adj" fmla="val 9195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20, FN = 10, FP = 5, TN = 85 (120 örnek, 30 pozitif). Doğruluk, F1 ve MCC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5547208" cy="290779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= (20 + 85) / 120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20/25 = 0.80; R = 20/30 = 0.667; F1 = 2·0.8·0.667 / 1.467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0.727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payı: TP·TN − FP·FN = 1700 − 50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Payda: √(25 · 30 · 90 · 95) = √6 412 500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2532.3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1650 / 2532.3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0.652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487168"/>
          <a:ext cx="5227168" cy="914400"/>
        </p:xfrm>
        <a:graphic>
          <a:graphicData uri="http://schemas.openxmlformats.org/drawingml/2006/table">
            <a:tbl>
              <a:tblPr/>
              <a:tblGrid>
                <a:gridCol w="1393911"/>
                <a:gridCol w="1393911"/>
                <a:gridCol w="1393911"/>
                <a:gridCol w="1045434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 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 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= 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= 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= 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= 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=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0.652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matthews_corrcoef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doğrulandı). Paydadaki dört çarpan = satır ve sütun toplamları.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ağırlıkları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kümesi 420 peptit, 105'i AMP. scikit-learn'ün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ağırlıkları wᶜ = n / (K · nᶜ) ile her sınıfın ağırlığını ve kayba toplam katkısını hesaplayın.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 sınıf, n = 420; n₁ = 105 (AMP), n₀ = 315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 = 420 / (2 · 105)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w₀ = 420 / (2 · 315)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0.667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ağırlık: AMP 105 · 2.0 = 210; AMP değil 315 · 0.667 = 210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Etki: bir AMP'yi kaçırmak, bir negatifi yanlış sınıflamaktan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pahalı</a:t>
            </a:r>
            <a:endParaRPr lang="en-US" sz="1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1960188"/>
                <a:gridCol w="653396"/>
                <a:gridCol w="1088993"/>
                <a:gridCol w="152459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nᶜ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wᶜ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nᶜ · wᶜ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 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değil (0)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Ağırlıklandırma, kayıptaki sınıf katkılarını eşitler: model pozitifleri daha çok 'görür'; duyarlılık artar (0.667 → 0.756), kesinlik düşer (0.732 → 0.642).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tahmini: test kümesinde karşılaştırma (180 peptit, 45 AMP)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3525328"/>
                <a:gridCol w="1347920"/>
                <a:gridCol w="1347920"/>
                <a:gridCol w="1451606"/>
                <a:gridCol w="1140547"/>
                <a:gridCol w="1140547"/>
                <a:gridCol w="114054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Doğruluk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Kesinlik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Duyarlılık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Çoğunluk sınıfı (baz)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regresyon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LR, class_weight=balanced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 orman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class_weight=balanced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58444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3584448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 model %75 doğruluk alır ama tek AMP bulamaz.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ağırlık LR'de duyarlılığı artırır; ağaçlarda etkisi zayıftır. AP eşikten bağımsızdır → sıralama kalitesini ölçer.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Kesinlik–duyarlılık eğrisi ve eşik seçimi</a:t>
            </a:r>
            <a:endParaRPr lang="en-US" sz="3000" dirty="0"/>
          </a:p>
        </p:txBody>
      </p:sp>
      <p:pic>
        <p:nvPicPr>
          <p:cNvPr id="3" name="Image 0" descr="g14_p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8574"/>
            <a:ext cx="11094415" cy="37694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0117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Sol: test kümesinde PR eğrisi (LR balanced, AP = 0.803). Sağ: eğitim kümesinde CV tahminleriyle eşik taraması; kesikli çizgi = 0.42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kesinliği (AP) elle hesaplamak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peptit skora göre sıralı: etiketler 1, 1, 0, 1, 0, 0, 1, 0, 0, 0 (4 pozitif). AP = Σₙ (Rₙ − Rₙ₋₁) · Pₙ ile AP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214375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sıralarda R artar (her seferinde 1/4 = 0.25)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1: P = 1/1 = 1; sıra 2: P = 2/2 = 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4: P = 3/4 = 0.750; sıra 7: P = 4/7 = 0.571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= 0.25 · (1 + 1 + 0.750 + 0.571) = 0.25 · 3.321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rastgele sıralamada beklenen ≈ pozitif oranı = 0.4</a:t>
            </a:r>
            <a:endParaRPr lang="en-US" sz="1600" dirty="0"/>
          </a:p>
        </p:txBody>
      </p:sp>
      <p:pic>
        <p:nvPicPr>
          <p:cNvPr id="7" name="Image 0" descr="p14_ap_orn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1144" y="2779776"/>
            <a:ext cx="3303822" cy="2615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average_precision_score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aynı). AP, her pozitifin bulunduğu andaki kesinliklerin ortalamasıdır.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Eşiği 0.50'den 0.42'ye indirmek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kümesi: 180 peptit, 45 AMP (LR balanced). Eşik 0.50'de TP = 34, FP = 19; eşik 0.42'de TP = 37, FP = 20. Kesinlik, duyarlılık, F1 ve MCC nasıl değişir?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10192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0.50: FN = 11, TN = 135 − 19 = 116 → P = 34/53 = 0.642, R = 34/45 = 0.756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0.50: F1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0.694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MCC = (34·116 − 19·11) / √(53·45·135·127)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0.584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0.42: FN = 8, TN = 115 → P = 37/57 = 0.649, R = 37/45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0.42: F1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0.725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MCC = (37·115 − 20·8) / √(57·45·135·123) = </a:t>
            </a:r>
            <a:r>
              <a:rPr lang="en-US" sz="14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0.627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düşünce 3 AMP daha bulundu, yalnızca 1 yanlış pozitif eklendi</a:t>
            </a:r>
            <a:endParaRPr lang="en-US" sz="14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0608" y="2779776"/>
          <a:ext cx="4672447" cy="914400"/>
        </p:xfrm>
        <a:graphic>
          <a:graphicData uri="http://schemas.openxmlformats.org/drawingml/2006/table">
            <a:tbl>
              <a:tblPr/>
              <a:tblGrid>
                <a:gridCol w="661656"/>
                <a:gridCol w="589163"/>
                <a:gridCol w="589163"/>
                <a:gridCol w="589163"/>
                <a:gridCol w="589163"/>
                <a:gridCol w="827070"/>
                <a:gridCol w="82707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verisinin CV tahminlerinden seçildiği için bu iyileşme dürüsttür. Test verisine bakarak eşik seçmek sızıntı olurdu.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Eşiği CV tahminleriyle seçmek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11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340096"/>
            <a:ext cx="6656649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413248"/>
            <a:ext cx="643719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ile seçilen eşik: 0.42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eşik=0.50: kesinlik=0.642 duyarlılık=0.756 F1=0.694 MCC=0.584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eşik=0.42: kesinlik=0.649 duyarlılık=0.822 F1=0.725 MCC=0.627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3831336"/>
          </a:xfrm>
          <a:prstGeom prst="roundRect">
            <a:avLst>
              <a:gd name="adj" fmla="val 1909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make_pipeline(StandardScaler(),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LogisticRegression(max_iter=3000, class_weight="balanced"))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yalnızca eğitim verisi: her örnek, onu görmemiş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bir katman modeliyle tahmin edilir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p_cv = cross_val_predict(model, Fp_egt, yp_egt, cv=cv,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method="predict_proba")[:, 1]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kes, duy, esik = precision_recall_curve(yp_egt, p_cv)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= 2 * kes * duy / (kes + duy + 1e-12)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en_iyi_esik = esik[np.argmax(f1[:-1])]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model.fit(Fp_egt, yp_egt)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p_test = model.predict_proba(Fp_test)[:, 1]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tahmin = (p_test &gt;= en_iyi_esik).astype(int)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cross_val_predict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her eğitim örneği için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dışı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olasılık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precision_recall_curve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olası eşik için P ve R döndürür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f1[:-1]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son (P = 1, R = 0) noktasının eşiği yoktur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kümesi yalnızca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iki satırda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bir kez kullanılır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eşiğiyle birlikte kaydetmek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11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340096"/>
            <a:ext cx="6656649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413248"/>
            <a:ext cx="643719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GIGKFLHSAKKFGKAFVGEIMNS   P(AMP)=0.51 -&gt; AMP adayı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KWKLFKKIGAVLKVL           P(AMP)=1.00 -&gt; AMP adayı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MSTEQDLAANGSPEVD          P(AMP)=0.00 -&gt; değil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3831336"/>
          </a:xfrm>
          <a:prstGeom prst="roundRect">
            <a:avLst>
              <a:gd name="adj" fmla="val 1909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joblib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paket = {"model": model, "esik": float(en_iyi_esik),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"ozellikler": AA + " + uzunluk,yuk,gravy,pI,arom."}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joblib.dump(paket, "amp_modeli.joblib")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yuklenen = joblib.load("amp_modeli.joblib")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yeni = ["GIGKFLHSAKKFGKAFVGEIMNS",   # magainin-2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"KWKLFKKIGAVLKVL",           # sentetik katyonik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"MSTEQDLAANGSPEVD"]          # rastgele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X_yeni = np.array([ozellik(s) for s in yeni])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yuklenen["model"].predict_proba(X_yeni)[:, 1]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s, pi in zip(yeni, p):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karar = "AMP adayı" if pi &gt;= yuklenen["esik"] else "değil"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print(f"{s:25s} P(AMP)={pi:.2f} -&gt; {karar}")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kaydedildiği için ölçekleyici de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içinde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ve özellik tanımı modelle birlikte saklanmalı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Magainin-2 (kurbağa derisi AMP'si) sınırda: 0.51 ≥ 0.42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Katyonik ve hidrofobik peptit kesin aday; asidik rastgele dizi değil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Sürümler de kaydedilmeli: joblib dosyası sklearn sürümüne bağlıdır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Güvenilir ML çalışması: kontrol listesi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1004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Veri bölme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01368"/>
            <a:ext cx="522716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 başta ayrıldı,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sonda bir kez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kullanıldı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Katmanlı (stratified) bölme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/ homoloji / merkez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grupları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dikkate alındı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410048" cy="2377440"/>
          </a:xfrm>
          <a:prstGeom prst="roundRect">
            <a:avLst>
              <a:gd name="adj" fmla="val 3077"/>
            </a:avLst>
          </a:prstGeom>
          <a:solidFill>
            <a:srgbClr val="FDECE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5888" y="134416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</a:rPr>
              <a:t>Model kurma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324448" y="1801368"/>
            <a:ext cx="522716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ön işleme + seçim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içinde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Hiperparametre ve eşik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 CV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dış CV veya test ile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41004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9592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Değerlendirme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53128"/>
            <a:ext cx="522716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Dengesizliğe uygun ölçüt: F1, MCC, AP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 modelle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karşılaştırma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sınıflıda makro ortalama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3886200"/>
            <a:ext cx="541004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5888" y="399592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Yorum ve rapor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24448" y="4453128"/>
            <a:ext cx="522716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özellikler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biyolojik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olarak yorumlandı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/ karıştırıcı denetlendi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Tohumlar ve yazılım sürümleri raporlandı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yapılan hatalar ve sınav tipi soru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1004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Hata: ölçeklemeyi bölmeden önce yapmak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01368"/>
            <a:ext cx="522716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StandardScaler().fit(X)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tüm veride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ortalaması ve s.s. eğitime sızar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ölçekleyiciyi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içine koy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41004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5888" y="134416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Hata: best_score_'u sonuç diye raporlamak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324448" y="1801368"/>
            <a:ext cx="522716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kombinasyonun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iyisi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seçildi → iyimser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Seçim de bir tür uydurmadır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iç içe CV ya da ayrılmış test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410048" cy="2377440"/>
          </a:xfrm>
          <a:prstGeom prst="roundRect">
            <a:avLst>
              <a:gd name="adj" fmla="val 3077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9592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Hata: dengesiz veride doğruluk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53128"/>
            <a:ext cx="522716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%99 negatifte 'hepsi negatif' = %99 doğruluk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verisinde baz model: 0.750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MCC, AP, dengeli doğruluk + baz model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3886200"/>
            <a:ext cx="5410048" cy="2377440"/>
          </a:xfrm>
          <a:prstGeom prst="roundRect">
            <a:avLst>
              <a:gd name="adj" fmla="val 3077"/>
            </a:avLst>
          </a:prstGeom>
          <a:solidFill>
            <a:srgbClr val="FDECE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5888" y="399592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</a:rPr>
              <a:t>Sınav sorusu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4453128"/>
            <a:ext cx="5044288" cy="17190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makale 50 hastada 20 000 gen arasından seçilen 10 genlik imzayla LOOCV doğruluğu %96 bildiriyor. Seçim tüm veride yapılmış. Bu sonuca güvenir misiniz? Nasıl yeniden değerlendirirsiniz?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Laboratuvar alıştırmaları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hafta14_ml3_guvenilir_model_kurma.ipynb  —  çözümler notebook'un sonunda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45, FN = 5, FP = 45, TN = 405 için doğruluk, kesinlik, duyarlılık, F1 ve MCC'yi elle hesaplayın. (Cevap: 0.90, 0.50, 0.90, 0.643, 0.625)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Sızıntı deneyini k = 5, 20, 100, 500 için tekrarlayıp iki eğriyi aynı grafikte çizin. (Sızıntılı: 0.75 → 1.00; Pipeline: ≈ 0.5)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Tümör modelinde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class_weight="balanced"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D alt tipinin duyarlılığını artırın. (Makro-F1 0.966, D duyarlılığı 0.833)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 bazında doğrulama yapın: Merkez1'de eğitip Merkez2'de test edin ve tersi. Rastgele bölmeyle karşılaştırın. (0.917 ve 0.798)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Peptit modelinde yalnızca 20 amino asit bileşimini kullanın. AP ne kadar değişti? (0.809; tüm özelliklerle 0.803)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14: ML III: güvenilir model kurma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Özet ve sonraki hafta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Sızıntı: etiketi kullanan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adım (seçim, ölçekleme, eşik, hiperparametre) CV katmanının içinde olmalı →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iyi modeli seçer;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 içe CV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 sürecin tarafsız başarısını ölçer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sınıflıda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 F1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nadir sınıfı görünür kılar (0.783 vs 0.896)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Seçilen genleri biyolojik belirteçlerle doğrula; merkez/yığın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karıştırıcısını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denetle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Dengesiz veride MCC, AP, sınıf ağırlığı ve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eğitimde seçilmiş eşik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3747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53212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DD2"/>
                </a:solidFill>
              </a:rPr>
              <a:t>Sonraki hafta  </a:t>
            </a:r>
            <a:r>
              <a:rPr lang="en-US" sz="1600" dirty="0">
                <a:solidFill>
                  <a:srgbClr val="FFFFFF"/>
                </a:solidFill>
              </a:rPr>
              <a:t>Yapay sinir ağları: nöron, MLP, geri yayılım; 1B CNN = öğrenilebilir PWM; PyTorch; dönem projesi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14: Makine Öğrenmesi III: Güvenilir Model Kurma</dc:title>
  <dc:subject>PptxGenJS Presentation</dc:subject>
  <dc:creator>Biyoenformatiğe Giriş</dc:creator>
  <cp:lastModifiedBy>Biyoenformatiğe Giriş</cp:lastModifiedBy>
  <cp:revision>1</cp:revision>
  <dcterms:created xsi:type="dcterms:W3CDTF">2026-09-23T18:53:09Z</dcterms:created>
  <dcterms:modified xsi:type="dcterms:W3CDTF">2026-09-23T18:53:09Z</dcterms:modified>
</cp:coreProperties>
</file>